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9E034656-405A-491E-9966-D4A6783FB56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1143000" y="685800"/>
            <a:ext cx="4571640" cy="3428640"/>
          </a:xfrm>
          <a:prstGeom prst="rect">
            <a:avLst/>
          </a:prstGeom>
          <a:ln w="0">
            <a:noFill/>
          </a:ln>
        </p:spPr>
      </p:sp>
      <p:sp>
        <p:nvSpPr>
          <p:cNvPr id="33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Thuận (TV1) · 0:45. Only 3 points: who, what pain, why AI-First. Hero statement: coach toward the answer instead of giving it. Do NOT mention p95/cost/components here.</a:t>
            </a:r>
            <a:endParaRPr b="0" lang="en-US" sz="2000" strike="noStrike" u="none">
              <a:solidFill>
                <a:srgbClr val="000000"/>
              </a:solidFill>
              <a:effectLst/>
              <a:uFillTx/>
              <a:latin typeface="Arial"/>
            </a:endParaRPr>
          </a:p>
        </p:txBody>
      </p:sp>
      <p:sp>
        <p:nvSpPr>
          <p:cNvPr id="336"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B6F155A-323A-4120-A64B-8F379F3497F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1143000" y="685800"/>
            <a:ext cx="4571640" cy="3428640"/>
          </a:xfrm>
          <a:prstGeom prst="rect">
            <a:avLst/>
          </a:prstGeom>
          <a:ln w="0">
            <a:noFill/>
          </a:ln>
        </p:spPr>
      </p:sp>
      <p:sp>
        <p:nvSpPr>
          <p:cNvPr id="33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Phú (TV2) · 1:00. Answer 'Why not ChatGPT with a prompt?' head-on. Every pedagogical/safety property has a mechanism OUTSIDE the model. Bottom line: the LLM generates language; the system controls.</a:t>
            </a:r>
            <a:endParaRPr b="0" lang="en-US" sz="2000" strike="noStrike" u="none">
              <a:solidFill>
                <a:srgbClr val="000000"/>
              </a:solidFill>
              <a:effectLst/>
              <a:uFillTx/>
              <a:latin typeface="Arial"/>
            </a:endParaRPr>
          </a:p>
        </p:txBody>
      </p:sp>
      <p:sp>
        <p:nvSpPr>
          <p:cNvPr id="339"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13179ED-0B3F-4429-AF81-91EE243DE0E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43000" y="685800"/>
            <a:ext cx="4571640" cy="3428640"/>
          </a:xfrm>
          <a:prstGeom prst="rect">
            <a:avLst/>
          </a:prstGeom>
          <a:ln w="0">
            <a:noFill/>
          </a:ln>
        </p:spPr>
      </p:sp>
      <p:sp>
        <p:nvSpPr>
          <p:cNvPr id="34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Hòa (TV3) · 1:45. Narrative: 'The key choice is that the LLM is NOT trusted as system of record or policy engine. The orchestrator owns tutoring state, deterministic tools handle precise checks, RAG grounds responses, and the validator is the last gate before anything reaches the child.' Point at the orange box.</a:t>
            </a:r>
            <a:endParaRPr b="0" lang="en-US" sz="2000" strike="noStrike" u="none">
              <a:solidFill>
                <a:srgbClr val="000000"/>
              </a:solidFill>
              <a:effectLst/>
              <a:uFillTx/>
              <a:latin typeface="Arial"/>
            </a:endParaRPr>
          </a:p>
        </p:txBody>
      </p:sp>
      <p:sp>
        <p:nvSpPr>
          <p:cNvPr id="342"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ED59EF5-9CCC-4FCA-8C98-EED877E4589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1143000" y="685800"/>
            <a:ext cx="4571640" cy="3428640"/>
          </a:xfrm>
          <a:prstGeom prst="rect">
            <a:avLst/>
          </a:prstGeom>
          <a:ln w="0">
            <a:noFill/>
          </a:ln>
        </p:spPr>
      </p:sp>
      <p:sp>
        <p:nvSpPr>
          <p:cNvPr id="34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Phú (TV2) · 1:45. Answers Q2 + Q3 together. Left: state machine is code, LLM only phrases — read the 2x+5=15 example. Right: store / don't-store table; stress 'no long-term transcript, no PII in prompt'.</a:t>
            </a:r>
            <a:endParaRPr b="0" lang="en-US" sz="2000" strike="noStrike" u="none">
              <a:solidFill>
                <a:srgbClr val="000000"/>
              </a:solidFill>
              <a:effectLst/>
              <a:uFillTx/>
              <a:latin typeface="Arial"/>
            </a:endParaRPr>
          </a:p>
        </p:txBody>
      </p:sp>
      <p:sp>
        <p:nvSpPr>
          <p:cNvPr id="345"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B45B2CE-8E3C-4426-9C86-71CFEC26D4EC}"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1143000" y="685800"/>
            <a:ext cx="4571640" cy="3428640"/>
          </a:xfrm>
          <a:prstGeom prst="rect">
            <a:avLst/>
          </a:prstGeom>
          <a:ln w="0">
            <a:noFill/>
          </a:ln>
        </p:spPr>
      </p:sp>
      <p:sp>
        <p:nvSpPr>
          <p:cNvPr id="34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Hòa (TV3) · 1:30. Scores rubric 4.1 (30%). Read the table by column 3 'why not the LLM'. Right: 5-step grounding, stress teacher review and the separate Vault. Close with the two why-nots. Full matrix: Appendix A.</a:t>
            </a:r>
            <a:endParaRPr b="0" lang="en-US" sz="2000" strike="noStrike" u="none">
              <a:solidFill>
                <a:srgbClr val="000000"/>
              </a:solidFill>
              <a:effectLst/>
              <a:uFillTx/>
              <a:latin typeface="Arial"/>
            </a:endParaRPr>
          </a:p>
        </p:txBody>
      </p:sp>
      <p:sp>
        <p:nvSpPr>
          <p:cNvPr id="348"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D01730A-4A61-4597-BB02-81B72FD20F8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1143000" y="685800"/>
            <a:ext cx="4571640" cy="3428640"/>
          </a:xfrm>
          <a:prstGeom prst="rect">
            <a:avLst/>
          </a:prstGeom>
          <a:ln w="0">
            <a:noFill/>
          </a:ln>
        </p:spPr>
      </p:sp>
      <p:sp>
        <p:nvSpPr>
          <p:cNvPr id="35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Phụng (TV5) · 1:45. Main Responsible AI slide. Walk the 4 layers top-down, pause on layer 3 (orange). Read the callout. Right: 2 risks + controls + targets. Don't read the standards — footer only. Full threat register: Appendix C.</a:t>
            </a:r>
            <a:endParaRPr b="0" lang="en-US" sz="2000" strike="noStrike" u="none">
              <a:solidFill>
                <a:srgbClr val="000000"/>
              </a:solidFill>
              <a:effectLst/>
              <a:uFillTx/>
              <a:latin typeface="Arial"/>
            </a:endParaRPr>
          </a:p>
        </p:txBody>
      </p:sp>
      <p:sp>
        <p:nvSpPr>
          <p:cNvPr id="351"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2E09453-7C96-4475-853D-3F389A10EDF4}"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1143000" y="685800"/>
            <a:ext cx="4571640" cy="3428640"/>
          </a:xfrm>
          <a:prstGeom prst="rect">
            <a:avLst/>
          </a:prstGeom>
          <a:ln w="0">
            <a:noFill/>
          </a:ln>
        </p:spPr>
      </p:sp>
      <p:sp>
        <p:nvSpPr>
          <p:cNvPr id="35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Bình (TV6) · 1:30. Answers 'how do you know it's good'. 8 dimensions, each with a threshold. Right: 5 data sources. Stress the release gate: 4 simultaneous conditions. Close with real learning outcomes.</a:t>
            </a:r>
            <a:endParaRPr b="0" lang="en-US" sz="2000" strike="noStrike" u="none">
              <a:solidFill>
                <a:srgbClr val="000000"/>
              </a:solidFill>
              <a:effectLst/>
              <a:uFillTx/>
              <a:latin typeface="Arial"/>
            </a:endParaRPr>
          </a:p>
        </p:txBody>
      </p:sp>
      <p:sp>
        <p:nvSpPr>
          <p:cNvPr id="354"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342EEB0-66E6-40F6-94FF-8BF60275087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1143000" y="685800"/>
            <a:ext cx="4571640" cy="3428640"/>
          </a:xfrm>
          <a:prstGeom prst="rect">
            <a:avLst/>
          </a:prstGeom>
          <a:ln w="0">
            <a:noFill/>
          </a:ln>
        </p:spPr>
      </p:sp>
      <p:sp>
        <p:nvSpPr>
          <p:cNvPr id="35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Dũng (TV4) · 1:45. Left: load numbers — be explicit that 11/s is the average and 400/s is the 8× design target of the peak hour. Middle: 5 scaling tiers, which are stateless. Right: 4-line budget, stress 'budget, not benchmark'. Bottom line: the bottleneck is the provider. Deployment details in Appendix B.</a:t>
            </a:r>
            <a:endParaRPr b="0" lang="en-US" sz="2000" strike="noStrike" u="none">
              <a:solidFill>
                <a:srgbClr val="000000"/>
              </a:solidFill>
              <a:effectLst/>
              <a:uFillTx/>
              <a:latin typeface="Arial"/>
            </a:endParaRPr>
          </a:p>
        </p:txBody>
      </p:sp>
      <p:sp>
        <p:nvSpPr>
          <p:cNvPr id="357"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F4EE047F-5217-402E-8A7F-D809B2DC3364}"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1143000" y="685800"/>
            <a:ext cx="4571640" cy="3428640"/>
          </a:xfrm>
          <a:prstGeom prst="rect">
            <a:avLst/>
          </a:prstGeom>
          <a:ln w="0">
            <a:noFill/>
          </a:ln>
        </p:spPr>
      </p:sp>
      <p:sp>
        <p:nvSpPr>
          <p:cNvPr id="35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Huyền (TV7) · 1:15. Read the equation, 5 drivers + controls. Right: 6 ops capabilities — stress canary &amp; kill switch. Don't read the pricing table (ATAD §10). Bottom line: fail safely, degrade gracefully, within budget.</a:t>
            </a:r>
            <a:endParaRPr b="0" lang="en-US" sz="2000" strike="noStrike" u="none">
              <a:solidFill>
                <a:srgbClr val="000000"/>
              </a:solidFill>
              <a:effectLst/>
              <a:uFillTx/>
              <a:latin typeface="Arial"/>
            </a:endParaRPr>
          </a:p>
        </p:txBody>
      </p:sp>
      <p:sp>
        <p:nvSpPr>
          <p:cNvPr id="360"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8232F29-49E8-403B-B041-0E2FD76569A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1143000" y="685800"/>
            <a:ext cx="4571640" cy="3428640"/>
          </a:xfrm>
          <a:prstGeom prst="rect">
            <a:avLst/>
          </a:prstGeom>
          <a:ln w="0">
            <a:noFill/>
          </a:ln>
        </p:spPr>
      </p:sp>
      <p:sp>
        <p:nvSpPr>
          <p:cNvPr id="36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Thuận (TV1) · 0:45. No empty 'Thank you' slide. Read the 5 decisions. Close with the thesis. Hand over to Q&amp;A: 4.1 → Phú · 4.2 → Hòa · 4.3 → Dũng · 4.4 → Phụng · Eval/Risk → Bình · Ops/Docs → Huyền. Appendix A–D on request.</a:t>
            </a:r>
            <a:endParaRPr b="0" lang="en-US" sz="2000" strike="noStrike" u="none">
              <a:solidFill>
                <a:srgbClr val="000000"/>
              </a:solidFill>
              <a:effectLst/>
              <a:uFillTx/>
              <a:latin typeface="Arial"/>
            </a:endParaRPr>
          </a:p>
        </p:txBody>
      </p:sp>
      <p:sp>
        <p:nvSpPr>
          <p:cNvPr id="363"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B5E0FD8-D823-480F-91F4-49AEBE409652}"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1143000" y="685800"/>
            <a:ext cx="4571640" cy="3428640"/>
          </a:xfrm>
          <a:prstGeom prst="rect">
            <a:avLst/>
          </a:prstGeom>
          <a:ln w="0">
            <a:noFill/>
          </a:ln>
        </p:spPr>
      </p:sp>
      <p:sp>
        <p:nvSpPr>
          <p:cNvPr id="36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Backup — use when asked 'why this technology'. Phú answers pattern/model; Dũng answers cloud/vector store. Full matrix: ATAD §3.</a:t>
            </a:r>
            <a:endParaRPr b="0" lang="en-US" sz="2000" strike="noStrike" u="none">
              <a:solidFill>
                <a:srgbClr val="000000"/>
              </a:solidFill>
              <a:effectLst/>
              <a:uFillTx/>
              <a:latin typeface="Arial"/>
            </a:endParaRPr>
          </a:p>
        </p:txBody>
      </p:sp>
      <p:sp>
        <p:nvSpPr>
          <p:cNvPr id="366"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75F6D3B-A55B-4797-ACD1-9DF65966653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1143000" y="685800"/>
            <a:ext cx="4571640" cy="3428640"/>
          </a:xfrm>
          <a:prstGeom prst="rect">
            <a:avLst/>
          </a:prstGeom>
          <a:ln w="0">
            <a:noFill/>
          </a:ln>
        </p:spPr>
      </p:sp>
      <p:sp>
        <p:nvSpPr>
          <p:cNvPr id="36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Backup 4.3 — Dũng. Stress: every layer has a neutral alternative; LLM egress only via the gateway; Vault is IAM-scoped.</a:t>
            </a:r>
            <a:endParaRPr b="0" lang="en-US" sz="2000" strike="noStrike" u="none">
              <a:solidFill>
                <a:srgbClr val="000000"/>
              </a:solidFill>
              <a:effectLst/>
              <a:uFillTx/>
              <a:latin typeface="Arial"/>
            </a:endParaRPr>
          </a:p>
        </p:txBody>
      </p:sp>
      <p:sp>
        <p:nvSpPr>
          <p:cNvPr id="369"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7E70A60-B75B-48EE-B10F-07658CDF7EC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1143000" y="685800"/>
            <a:ext cx="4571640" cy="3428640"/>
          </a:xfrm>
          <a:prstGeom prst="rect">
            <a:avLst/>
          </a:prstGeom>
          <a:ln w="0">
            <a:noFill/>
          </a:ln>
        </p:spPr>
      </p:sp>
      <p:sp>
        <p:nvSpPr>
          <p:cNvPr id="37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Backup — Bình. When asked 'biggest risk': R-01 &amp; R-02, both with daily KRIs and release gates.</a:t>
            </a:r>
            <a:endParaRPr b="0" lang="en-US" sz="2000" strike="noStrike" u="none">
              <a:solidFill>
                <a:srgbClr val="000000"/>
              </a:solidFill>
              <a:effectLst/>
              <a:uFillTx/>
              <a:latin typeface="Arial"/>
            </a:endParaRPr>
          </a:p>
        </p:txBody>
      </p:sp>
      <p:sp>
        <p:nvSpPr>
          <p:cNvPr id="372"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3DE54A4-237C-490D-B46C-6D70BBF6E59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1143000" y="685800"/>
            <a:ext cx="4571640" cy="3428640"/>
          </a:xfrm>
          <a:prstGeom prst="rect">
            <a:avLst/>
          </a:prstGeom>
          <a:ln w="0">
            <a:noFill/>
          </a:ln>
        </p:spPr>
      </p:sp>
      <p:sp>
        <p:nvSpPr>
          <p:cNvPr id="3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Backup — Thuận. Answers Q10. Read by column: what the brief imposes (R), what we assume (A), what we propose and can debate (P), what needs data first (D).</a:t>
            </a:r>
            <a:endParaRPr b="0" lang="en-US" sz="2000" strike="noStrike" u="none">
              <a:solidFill>
                <a:srgbClr val="000000"/>
              </a:solidFill>
              <a:effectLst/>
              <a:uFillTx/>
              <a:latin typeface="Arial"/>
            </a:endParaRPr>
          </a:p>
        </p:txBody>
      </p:sp>
      <p:sp>
        <p:nvSpPr>
          <p:cNvPr id="375"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501FD51-92A8-4B6C-8570-F611A25C3D7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7C014B9-6FE7-4E7F-BF3B-410BCBECE52A}"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A36AFDB-3EDF-403C-AA87-CA4D270EA7C1}"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D3E276E3-ACB8-46A5-80B2-E29A77ACB5EC}"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8F45BDCA-1353-4C25-BA15-300772F88219}"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trike="noStrike" u="none" cap="all">
                <a:solidFill>
                  <a:schemeClr val="dk1"/>
                </a:solidFill>
                <a:effectLst/>
                <a:uFillTx/>
                <a:latin typeface="Calibri"/>
              </a:rPr>
              <a:t>Click to edit Master title style</a:t>
            </a:r>
            <a:endParaRPr b="0" lang="en-US" sz="4000" strike="noStrike" u="non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EA8D41FD-9EED-44CD-9BF2-5768D09B9DE0}"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3FE16969-A1DE-4763-8A0B-AE78618932DA}"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7E8C6C7D-681C-4441-95CA-FE5352045E4F}"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A58195BB-91DC-49F9-BCD4-238562A0FEA2}"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A9F0693D-D805-43BE-B91E-F3A863426E3D}" type="slidenum">
              <a:rPr b="0" lang="en-US" sz="1200" strike="noStrike" u="none">
                <a:solidFill>
                  <a:schemeClr val="dk1">
                    <a:tint val="75000"/>
                  </a:schemeClr>
                </a:solidFill>
                <a:effectLst/>
                <a:uFillTx/>
                <a:latin typeface="Calibri"/>
              </a:rPr>
              <a:t>1</a:t>
            </a:fld>
            <a:endParaRPr b="0" lang="en-US" sz="1200" strike="noStrike" u="non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27A7CEAE-4013-40F3-9767-EEBFB5C4585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AEA602D2-35E7-418F-9372-E0D330535652}"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8" name="Rectangle 2"/>
          <p:cNvSpPr/>
          <p:nvPr/>
        </p:nvSpPr>
        <p:spPr>
          <a:xfrm>
            <a:off x="0" y="960120"/>
            <a:ext cx="12191400" cy="54360"/>
          </a:xfrm>
          <a:prstGeom prst="rect">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9" name="TextBox 3"/>
          <p:cNvSpPr/>
          <p:nvPr/>
        </p:nvSpPr>
        <p:spPr>
          <a:xfrm>
            <a:off x="548640" y="228600"/>
            <a:ext cx="7314840" cy="73116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4000" strike="noStrike" u="none">
                <a:solidFill>
                  <a:srgbClr val="ffffff"/>
                </a:solidFill>
                <a:effectLst/>
                <a:uFillTx/>
                <a:latin typeface="Calibri"/>
              </a:rPr>
              <a:t>TutorMate</a:t>
            </a:r>
            <a:endParaRPr b="0" lang="en-US" sz="4000" strike="noStrike" u="none">
              <a:solidFill>
                <a:srgbClr val="000000"/>
              </a:solidFill>
              <a:effectLst/>
              <a:uFillTx/>
              <a:latin typeface="Arial"/>
            </a:endParaRPr>
          </a:p>
        </p:txBody>
      </p:sp>
      <p:sp>
        <p:nvSpPr>
          <p:cNvPr id="70" name="TextBox 4"/>
          <p:cNvSpPr/>
          <p:nvPr/>
        </p:nvSpPr>
        <p:spPr>
          <a:xfrm>
            <a:off x="7589520" y="274320"/>
            <a:ext cx="4205880" cy="63972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200" strike="noStrike" u="none">
                <a:solidFill>
                  <a:srgbClr val="b8c4d6"/>
                </a:solidFill>
                <a:effectLst/>
                <a:uFillTx/>
                <a:latin typeface="Calibri"/>
              </a:rPr>
              <a:t>Group 4 · Scenario B (AI-First)</a:t>
            </a:r>
            <a:endParaRPr b="0" lang="en-US" sz="1200" strike="noStrike" u="none">
              <a:solidFill>
                <a:srgbClr val="000000"/>
              </a:solidFill>
              <a:effectLst/>
              <a:uFillTx/>
              <a:latin typeface="Arial"/>
            </a:endParaRPr>
          </a:p>
          <a:p>
            <a:pPr algn="r" defTabSz="457200">
              <a:lnSpc>
                <a:spcPct val="100000"/>
              </a:lnSpc>
              <a:spcAft>
                <a:spcPts val="400"/>
              </a:spcAft>
            </a:pPr>
            <a:r>
              <a:rPr b="0" lang="en-US" sz="1200" strike="noStrike" u="none">
                <a:solidFill>
                  <a:srgbClr val="b8c4d6"/>
                </a:solidFill>
                <a:effectLst/>
                <a:uFillTx/>
                <a:latin typeface="Calibri"/>
              </a:rPr>
              <a:t>AI Technical Architect Training · Workshop 2</a:t>
            </a:r>
            <a:endParaRPr b="0" lang="en-US" sz="1200" strike="noStrike" u="none">
              <a:solidFill>
                <a:srgbClr val="000000"/>
              </a:solidFill>
              <a:effectLst/>
              <a:uFillTx/>
              <a:latin typeface="Arial"/>
            </a:endParaRPr>
          </a:p>
        </p:txBody>
      </p:sp>
      <p:sp>
        <p:nvSpPr>
          <p:cNvPr id="71" name="TextBox 5"/>
          <p:cNvSpPr/>
          <p:nvPr/>
        </p:nvSpPr>
        <p:spPr>
          <a:xfrm>
            <a:off x="548640" y="1280160"/>
            <a:ext cx="603468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Context &amp; pain point</a:t>
            </a:r>
            <a:endParaRPr b="0" lang="en-US" sz="1500" strike="noStrike" u="none">
              <a:solidFill>
                <a:srgbClr val="000000"/>
              </a:solidFill>
              <a:effectLst/>
              <a:uFillTx/>
              <a:latin typeface="Arial"/>
            </a:endParaRPr>
          </a:p>
        </p:txBody>
      </p:sp>
      <p:sp>
        <p:nvSpPr>
          <p:cNvPr id="72" name="Rectangle 6"/>
          <p:cNvSpPr/>
          <p:nvPr/>
        </p:nvSpPr>
        <p:spPr>
          <a:xfrm>
            <a:off x="548640" y="1691640"/>
            <a:ext cx="109440" cy="685440"/>
          </a:xfrm>
          <a:prstGeom prst="rect">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3" name="TextBox 7"/>
          <p:cNvSpPr/>
          <p:nvPr/>
        </p:nvSpPr>
        <p:spPr>
          <a:xfrm>
            <a:off x="777240" y="1645920"/>
            <a:ext cx="5668920" cy="4111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2000" strike="noStrike" u="none">
                <a:solidFill>
                  <a:srgbClr val="ffffff"/>
                </a:solidFill>
                <a:effectLst/>
                <a:uFillTx/>
                <a:latin typeface="Calibri"/>
              </a:rPr>
              <a:t>400k MAU</a:t>
            </a:r>
            <a:endParaRPr b="0" lang="en-US" sz="2000" strike="noStrike" u="none">
              <a:solidFill>
                <a:srgbClr val="000000"/>
              </a:solidFill>
              <a:effectLst/>
              <a:uFillTx/>
              <a:latin typeface="Arial"/>
            </a:endParaRPr>
          </a:p>
        </p:txBody>
      </p:sp>
      <p:sp>
        <p:nvSpPr>
          <p:cNvPr id="74" name="TextBox 8"/>
          <p:cNvSpPr/>
          <p:nvPr/>
        </p:nvSpPr>
        <p:spPr>
          <a:xfrm>
            <a:off x="777240" y="2011680"/>
            <a:ext cx="566892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300" strike="noStrike" u="none">
                <a:solidFill>
                  <a:srgbClr val="b8c4d6"/>
                </a:solidFill>
                <a:effectLst/>
                <a:uFillTx/>
                <a:latin typeface="Calibri"/>
              </a:rPr>
              <a:t>EduNova Math &amp; Science learning platform</a:t>
            </a:r>
            <a:endParaRPr b="0" lang="en-US" sz="1300" strike="noStrike" u="none">
              <a:solidFill>
                <a:srgbClr val="000000"/>
              </a:solidFill>
              <a:effectLst/>
              <a:uFillTx/>
              <a:latin typeface="Arial"/>
            </a:endParaRPr>
          </a:p>
        </p:txBody>
      </p:sp>
      <p:sp>
        <p:nvSpPr>
          <p:cNvPr id="75" name="Rectangle 9"/>
          <p:cNvSpPr/>
          <p:nvPr/>
        </p:nvSpPr>
        <p:spPr>
          <a:xfrm>
            <a:off x="548640" y="2560320"/>
            <a:ext cx="109440" cy="685440"/>
          </a:xfrm>
          <a:prstGeom prst="rect">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6" name="TextBox 10"/>
          <p:cNvSpPr/>
          <p:nvPr/>
        </p:nvSpPr>
        <p:spPr>
          <a:xfrm>
            <a:off x="777240" y="2514600"/>
            <a:ext cx="5668920" cy="4111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2000" strike="noStrike" u="none">
                <a:solidFill>
                  <a:srgbClr val="ffffff"/>
                </a:solidFill>
                <a:effectLst/>
                <a:uFillTx/>
                <a:latin typeface="Calibri"/>
              </a:rPr>
              <a:t>Students aged 11–16</a:t>
            </a:r>
            <a:endParaRPr b="0" lang="en-US" sz="2000" strike="noStrike" u="none">
              <a:solidFill>
                <a:srgbClr val="000000"/>
              </a:solidFill>
              <a:effectLst/>
              <a:uFillTx/>
              <a:latin typeface="Arial"/>
            </a:endParaRPr>
          </a:p>
        </p:txBody>
      </p:sp>
      <p:sp>
        <p:nvSpPr>
          <p:cNvPr id="77" name="TextBox 11"/>
          <p:cNvSpPr/>
          <p:nvPr/>
        </p:nvSpPr>
        <p:spPr>
          <a:xfrm>
            <a:off x="777240" y="2880360"/>
            <a:ext cx="566892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300" strike="noStrike" u="none">
                <a:solidFill>
                  <a:srgbClr val="b8c4d6"/>
                </a:solidFill>
                <a:effectLst/>
                <a:uFillTx/>
                <a:latin typeface="Calibri"/>
              </a:rPr>
              <a:t>middle school, mostly on mobile</a:t>
            </a:r>
            <a:endParaRPr b="0" lang="en-US" sz="1300" strike="noStrike" u="none">
              <a:solidFill>
                <a:srgbClr val="000000"/>
              </a:solidFill>
              <a:effectLst/>
              <a:uFillTx/>
              <a:latin typeface="Arial"/>
            </a:endParaRPr>
          </a:p>
        </p:txBody>
      </p:sp>
      <p:sp>
        <p:nvSpPr>
          <p:cNvPr id="78" name="Rectangle 12"/>
          <p:cNvSpPr/>
          <p:nvPr/>
        </p:nvSpPr>
        <p:spPr>
          <a:xfrm>
            <a:off x="548640" y="3429000"/>
            <a:ext cx="109440" cy="685440"/>
          </a:xfrm>
          <a:prstGeom prst="rect">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9" name="TextBox 13"/>
          <p:cNvSpPr/>
          <p:nvPr/>
        </p:nvSpPr>
        <p:spPr>
          <a:xfrm>
            <a:off x="777240" y="3383280"/>
            <a:ext cx="5668920" cy="4111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2000" strike="noStrike" u="none">
                <a:solidFill>
                  <a:srgbClr val="ffffff"/>
                </a:solidFill>
                <a:effectLst/>
                <a:uFillTx/>
                <a:latin typeface="Calibri"/>
              </a:rPr>
              <a:t>Current gap</a:t>
            </a:r>
            <a:endParaRPr b="0" lang="en-US" sz="2000" strike="noStrike" u="none">
              <a:solidFill>
                <a:srgbClr val="000000"/>
              </a:solidFill>
              <a:effectLst/>
              <a:uFillTx/>
              <a:latin typeface="Arial"/>
            </a:endParaRPr>
          </a:p>
        </p:txBody>
      </p:sp>
      <p:sp>
        <p:nvSpPr>
          <p:cNvPr id="80" name="TextBox 14"/>
          <p:cNvSpPr/>
          <p:nvPr/>
        </p:nvSpPr>
        <p:spPr>
          <a:xfrm>
            <a:off x="777240" y="3749040"/>
            <a:ext cx="566892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300" strike="noStrike" u="none">
                <a:solidFill>
                  <a:srgbClr val="b8c4d6"/>
                </a:solidFill>
                <a:effectLst/>
                <a:uFillTx/>
                <a:latin typeface="Calibri"/>
              </a:rPr>
              <a:t>worked solutions do not teach reasoning — stuck → abandon</a:t>
            </a:r>
            <a:endParaRPr b="0" lang="en-US" sz="1300" strike="noStrike" u="none">
              <a:solidFill>
                <a:srgbClr val="000000"/>
              </a:solidFill>
              <a:effectLst/>
              <a:uFillTx/>
              <a:latin typeface="Arial"/>
            </a:endParaRPr>
          </a:p>
        </p:txBody>
      </p:sp>
      <p:sp>
        <p:nvSpPr>
          <p:cNvPr id="81" name="Rounded Rectangle 15"/>
          <p:cNvSpPr/>
          <p:nvPr/>
        </p:nvSpPr>
        <p:spPr>
          <a:xfrm>
            <a:off x="548640" y="4434840"/>
            <a:ext cx="6034680" cy="1051200"/>
          </a:xfrm>
          <a:prstGeom prst="roundRect">
            <a:avLst>
              <a:gd name="adj" fmla="val 16667"/>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800" strike="noStrike" u="none">
                <a:solidFill>
                  <a:srgbClr val="ffffff"/>
                </a:solidFill>
                <a:effectLst/>
                <a:uFillTx/>
                <a:latin typeface="Calibri"/>
              </a:rPr>
              <a:t>TutorMate coaches students toward the answer instead of simply giving it.</a:t>
            </a:r>
            <a:endParaRPr b="0" lang="en-US" sz="1800" strike="noStrike" u="none">
              <a:solidFill>
                <a:srgbClr val="ffffff"/>
              </a:solidFill>
              <a:effectLst/>
              <a:uFillTx/>
              <a:latin typeface="Arial"/>
            </a:endParaRPr>
          </a:p>
        </p:txBody>
      </p:sp>
      <p:sp>
        <p:nvSpPr>
          <p:cNvPr id="82" name="TextBox 16"/>
          <p:cNvSpPr/>
          <p:nvPr/>
        </p:nvSpPr>
        <p:spPr>
          <a:xfrm>
            <a:off x="548640" y="5623560"/>
            <a:ext cx="6034680" cy="8226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200" strike="noStrike" u="none">
                <a:solidFill>
                  <a:srgbClr val="b8c4d6"/>
                </a:solidFill>
                <a:effectLst/>
                <a:uFillTx/>
                <a:latin typeface="Calibri"/>
              </a:rPr>
              <a:t>AI-First: remove the AI and there is no tutor left — only the old quiz app. All new value lives in the loop on the right.</a:t>
            </a:r>
            <a:endParaRPr b="0" lang="en-US" sz="1200" strike="noStrike" u="none">
              <a:solidFill>
                <a:srgbClr val="000000"/>
              </a:solidFill>
              <a:effectLst/>
              <a:uFillTx/>
              <a:latin typeface="Arial"/>
            </a:endParaRPr>
          </a:p>
        </p:txBody>
      </p:sp>
      <p:sp>
        <p:nvSpPr>
          <p:cNvPr id="83" name="TextBox 17"/>
          <p:cNvSpPr/>
          <p:nvPr/>
        </p:nvSpPr>
        <p:spPr>
          <a:xfrm>
            <a:off x="7223760" y="1280160"/>
            <a:ext cx="438876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Value loop</a:t>
            </a:r>
            <a:endParaRPr b="0" lang="en-US" sz="1500" strike="noStrike" u="none">
              <a:solidFill>
                <a:srgbClr val="000000"/>
              </a:solidFill>
              <a:effectLst/>
              <a:uFillTx/>
              <a:latin typeface="Arial"/>
            </a:endParaRPr>
          </a:p>
        </p:txBody>
      </p:sp>
      <p:sp>
        <p:nvSpPr>
          <p:cNvPr id="84" name="Rounded Rectangle 18"/>
          <p:cNvSpPr/>
          <p:nvPr/>
        </p:nvSpPr>
        <p:spPr>
          <a:xfrm>
            <a:off x="7406640" y="1737360"/>
            <a:ext cx="4023000" cy="822600"/>
          </a:xfrm>
          <a:prstGeom prst="roundRect">
            <a:avLst>
              <a:gd name="adj" fmla="val 16667"/>
            </a:avLst>
          </a:prstGeom>
          <a:solidFill>
            <a:srgbClr val="ffffff"/>
          </a:solidFill>
          <a:ln w="127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Student stuck</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“I don't know where to start”</a:t>
            </a:r>
            <a:endParaRPr b="0" lang="en-US" sz="900" strike="noStrike" u="none">
              <a:solidFill>
                <a:srgbClr val="000000"/>
              </a:solidFill>
              <a:effectLst/>
              <a:uFillTx/>
              <a:latin typeface="Arial"/>
            </a:endParaRPr>
          </a:p>
        </p:txBody>
      </p:sp>
      <p:cxnSp>
        <p:nvCxnSpPr>
          <p:cNvPr id="85" name="Connector 19"/>
          <p:cNvCxnSpPr/>
          <p:nvPr/>
        </p:nvCxnSpPr>
        <p:spPr>
          <a:xfrm>
            <a:off x="9418320" y="2560320"/>
            <a:ext cx="360" cy="256320"/>
          </a:xfrm>
          <a:prstGeom prst="straightConnector1">
            <a:avLst/>
          </a:prstGeom>
          <a:ln w="19050">
            <a:solidFill>
              <a:srgbClr val="5f6b7a"/>
            </a:solidFill>
            <a:round/>
            <a:tailEnd len="med" type="triangle" w="med"/>
          </a:ln>
        </p:spPr>
      </p:cxnSp>
      <p:sp>
        <p:nvSpPr>
          <p:cNvPr id="86" name="Rounded Rectangle 20"/>
          <p:cNvSpPr/>
          <p:nvPr/>
        </p:nvSpPr>
        <p:spPr>
          <a:xfrm>
            <a:off x="7406640" y="2816280"/>
            <a:ext cx="4023000" cy="822600"/>
          </a:xfrm>
          <a:prstGeom prst="roundRect">
            <a:avLst>
              <a:gd name="adj" fmla="val 16667"/>
            </a:avLst>
          </a:prstGeom>
          <a:solidFill>
            <a:srgbClr val="00a39b"/>
          </a:solidFill>
          <a:ln w="127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ffffff"/>
                </a:solidFill>
                <a:effectLst/>
                <a:uFillTx/>
                <a:latin typeface="Calibri"/>
              </a:rPr>
              <a:t>TutorMate guides reasoning</a:t>
            </a:r>
            <a:endParaRPr b="0" lang="en-US" sz="1100" strike="noStrike" u="none">
              <a:solidFill>
                <a:srgbClr val="ffffff"/>
              </a:solidFill>
              <a:effectLst/>
              <a:uFillTx/>
              <a:latin typeface="Arial"/>
            </a:endParaRPr>
          </a:p>
          <a:p>
            <a:pPr algn="ctr" defTabSz="457200">
              <a:lnSpc>
                <a:spcPct val="100000"/>
              </a:lnSpc>
            </a:pPr>
            <a:r>
              <a:rPr b="0" lang="en-US" sz="900" strike="noStrike" u="none">
                <a:solidFill>
                  <a:srgbClr val="ffffff"/>
                </a:solidFill>
                <a:effectLst/>
                <a:uFillTx/>
                <a:latin typeface="Calibri"/>
              </a:rPr>
              <a:t>next question, no answer reveal</a:t>
            </a:r>
            <a:endParaRPr b="0" lang="en-US" sz="900" strike="noStrike" u="none">
              <a:solidFill>
                <a:srgbClr val="ffffff"/>
              </a:solidFill>
              <a:effectLst/>
              <a:uFillTx/>
              <a:latin typeface="Arial"/>
            </a:endParaRPr>
          </a:p>
        </p:txBody>
      </p:sp>
      <p:cxnSp>
        <p:nvCxnSpPr>
          <p:cNvPr id="87" name="Connector 21"/>
          <p:cNvCxnSpPr/>
          <p:nvPr/>
        </p:nvCxnSpPr>
        <p:spPr>
          <a:xfrm>
            <a:off x="9418320" y="3639240"/>
            <a:ext cx="360" cy="256320"/>
          </a:xfrm>
          <a:prstGeom prst="straightConnector1">
            <a:avLst/>
          </a:prstGeom>
          <a:ln w="19050">
            <a:solidFill>
              <a:srgbClr val="5f6b7a"/>
            </a:solidFill>
            <a:round/>
            <a:tailEnd len="med" type="triangle" w="med"/>
          </a:ln>
        </p:spPr>
      </p:cxnSp>
      <p:sp>
        <p:nvSpPr>
          <p:cNvPr id="88" name="Rounded Rectangle 22"/>
          <p:cNvSpPr/>
          <p:nvPr/>
        </p:nvSpPr>
        <p:spPr>
          <a:xfrm>
            <a:off x="7406640" y="3895200"/>
            <a:ext cx="4023000" cy="822600"/>
          </a:xfrm>
          <a:prstGeom prst="roundRect">
            <a:avLst>
              <a:gd name="adj" fmla="val 16667"/>
            </a:avLst>
          </a:prstGeom>
          <a:solidFill>
            <a:srgbClr val="ffffff"/>
          </a:solidFill>
          <a:ln w="127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Student reaches the answer</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graded &amp; consolidated</a:t>
            </a:r>
            <a:endParaRPr b="0" lang="en-US" sz="900" strike="noStrike" u="none">
              <a:solidFill>
                <a:srgbClr val="000000"/>
              </a:solidFill>
              <a:effectLst/>
              <a:uFillTx/>
              <a:latin typeface="Arial"/>
            </a:endParaRPr>
          </a:p>
        </p:txBody>
      </p:sp>
      <p:cxnSp>
        <p:nvCxnSpPr>
          <p:cNvPr id="89" name="Connector 23"/>
          <p:cNvCxnSpPr/>
          <p:nvPr/>
        </p:nvCxnSpPr>
        <p:spPr>
          <a:xfrm>
            <a:off x="9418320" y="4718160"/>
            <a:ext cx="360" cy="256320"/>
          </a:xfrm>
          <a:prstGeom prst="straightConnector1">
            <a:avLst/>
          </a:prstGeom>
          <a:ln w="19050">
            <a:solidFill>
              <a:srgbClr val="5f6b7a"/>
            </a:solidFill>
            <a:round/>
            <a:tailEnd len="med" type="triangle" w="med"/>
          </a:ln>
        </p:spPr>
      </p:cxnSp>
      <p:sp>
        <p:nvSpPr>
          <p:cNvPr id="90" name="Rounded Rectangle 24"/>
          <p:cNvSpPr/>
          <p:nvPr/>
        </p:nvSpPr>
        <p:spPr>
          <a:xfrm>
            <a:off x="7406640" y="4974480"/>
            <a:ext cx="4023000" cy="822600"/>
          </a:xfrm>
          <a:prstGeom prst="roundRect">
            <a:avLst>
              <a:gd name="adj" fmla="val 16667"/>
            </a:avLst>
          </a:prstGeom>
          <a:solidFill>
            <a:srgbClr val="ffffff"/>
          </a:solidFill>
          <a:ln w="127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Learner model improves</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next interaction more personalized</a:t>
            </a:r>
            <a:endParaRPr b="0" lang="en-US" sz="900" strike="noStrike" u="none">
              <a:solidFill>
                <a:srgbClr val="000000"/>
              </a:solidFill>
              <a:effectLst/>
              <a:uFillTx/>
              <a:latin typeface="Arial"/>
            </a:endParaRPr>
          </a:p>
        </p:txBody>
      </p:sp>
      <p:sp>
        <p:nvSpPr>
          <p:cNvPr id="91" name="TextBox 25"/>
          <p:cNvSpPr/>
          <p:nvPr/>
        </p:nvSpPr>
        <p:spPr>
          <a:xfrm>
            <a:off x="548640" y="6446520"/>
            <a:ext cx="10972440" cy="31968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000" strike="noStrike" u="none">
                <a:solidFill>
                  <a:srgbClr val="5f6b7a"/>
                </a:solidFill>
                <a:effectLst/>
                <a:uFillTx/>
                <a:latin typeface="Calibri"/>
              </a:rPr>
              <a:t>Thuận · Phú · Hòa · Phụng · Bình · Dũng · Huyền</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3"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TutorMate ≠ ChatGPT with a prompt</a:t>
            </a:r>
            <a:endParaRPr b="0" lang="en-US" sz="2600" strike="noStrike" u="none">
              <a:solidFill>
                <a:srgbClr val="000000"/>
              </a:solidFill>
              <a:effectLst/>
              <a:uFillTx/>
              <a:latin typeface="Arial"/>
            </a:endParaRPr>
          </a:p>
        </p:txBody>
      </p:sp>
      <p:sp>
        <p:nvSpPr>
          <p:cNvPr id="94"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Hòa (M3)</a:t>
            </a:r>
            <a:endParaRPr b="0" lang="en-US" sz="1200" strike="noStrike" u="none">
              <a:solidFill>
                <a:srgbClr val="000000"/>
              </a:solidFill>
              <a:effectLst/>
              <a:uFillTx/>
              <a:latin typeface="Arial"/>
            </a:endParaRPr>
          </a:p>
        </p:txBody>
      </p:sp>
      <p:sp>
        <p:nvSpPr>
          <p:cNvPr id="95"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4.1 · 4.2</a:t>
            </a:r>
            <a:endParaRPr b="0" lang="en-US" sz="1100" strike="noStrike" u="none">
              <a:solidFill>
                <a:srgbClr val="000000"/>
              </a:solidFill>
              <a:effectLst/>
              <a:uFillTx/>
              <a:latin typeface="Arial"/>
            </a:endParaRPr>
          </a:p>
        </p:txBody>
      </p:sp>
      <p:sp>
        <p:nvSpPr>
          <p:cNvPr id="96"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7"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98"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2 / 14</a:t>
            </a:r>
            <a:endParaRPr b="0" lang="en-US" sz="1000" strike="noStrike" u="none">
              <a:solidFill>
                <a:srgbClr val="000000"/>
              </a:solidFill>
              <a:effectLst/>
              <a:uFillTx/>
              <a:latin typeface="Arial"/>
            </a:endParaRPr>
          </a:p>
        </p:txBody>
      </p:sp>
      <p:graphicFrame>
        <p:nvGraphicFramePr>
          <p:cNvPr id="99" name="Table 8"/>
          <p:cNvGraphicFramePr/>
          <p:nvPr/>
        </p:nvGraphicFramePr>
        <p:xfrm>
          <a:off x="365760" y="1143000"/>
          <a:ext cx="11429640" cy="3291840"/>
        </p:xfrm>
        <a:graphic>
          <a:graphicData uri="http://schemas.openxmlformats.org/drawingml/2006/table">
            <a:tbl>
              <a:tblPr/>
              <a:tblGrid>
                <a:gridCol w="3108960"/>
                <a:gridCol w="4206240"/>
                <a:gridCol w="4114800"/>
              </a:tblGrid>
              <a:tr h="548640">
                <a:tc>
                  <a:txBody>
                    <a:bodyPr lIns="45720" rIns="45720" tIns="18000" bIns="18000" anchor="t">
                      <a:noAutofit/>
                    </a:bodyPr>
                    <a:p>
                      <a:pPr defTabSz="457200">
                        <a:lnSpc>
                          <a:spcPct val="100000"/>
                        </a:lnSpc>
                      </a:pPr>
                      <a:r>
                        <a:rPr b="1" lang="en-US" sz="1200" strike="noStrike" u="none">
                          <a:solidFill>
                            <a:srgbClr val="ffffff"/>
                          </a:solidFill>
                          <a:effectLst/>
                          <a:uFillTx/>
                          <a:latin typeface="Calibri"/>
                        </a:rPr>
                        <a:t>General ChatGPT / generic chatbot</a:t>
                      </a:r>
                      <a:endParaRPr b="0" lang="en-US" sz="12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200" strike="noStrike" u="none">
                          <a:solidFill>
                            <a:srgbClr val="ffffff"/>
                          </a:solidFill>
                          <a:effectLst/>
                          <a:uFillTx/>
                          <a:latin typeface="Calibri"/>
                        </a:rPr>
                        <a:t>TutorMate</a:t>
                      </a:r>
                      <a:endParaRPr b="0" lang="en-US" sz="12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200" strike="noStrike" u="none">
                          <a:solidFill>
                            <a:srgbClr val="ffffff"/>
                          </a:solidFill>
                          <a:effectLst/>
                          <a:uFillTx/>
                          <a:latin typeface="Calibri"/>
                        </a:rPr>
                        <a:t>Architectural mechanism</a:t>
                      </a:r>
                      <a:endParaRPr b="0" lang="en-US" sz="12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548640">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General-purpose</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Bounded Math/Science tutor (domain-locked)</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Input Guard + topic classifier rejects off-scope</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640">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Optimizes for ANSWERING</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Optimizes for LEARNING — next question, minimal reveal</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Dialogue Policy picks the action; LLM only phrases it</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548640">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General model knowledge</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Approved curriculum grounding (Hint Ladder)</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RAG over teacher-reviewed, versioned corpus</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640">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Prompt-driven</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Explicit tutoring state machine</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Orient→Elicit→Hint→Check→Consolidate→Escalate (ADR-001)</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548640">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Output straight from model</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Output VALIDATED before it reaches the student</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200" strike="noStrike" u="none">
                          <a:solidFill>
                            <a:srgbClr val="1e252f"/>
                          </a:solidFill>
                          <a:effectLst/>
                          <a:uFillTx/>
                          <a:latin typeface="Calibri"/>
                        </a:rPr>
                        <a:t>Response Validator: safety · leak · grounding · age (ADR-004)</a:t>
                      </a:r>
                      <a:endParaRPr b="0" lang="en-US" sz="12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00" name="Rounded Rectangle 9"/>
          <p:cNvSpPr/>
          <p:nvPr/>
        </p:nvSpPr>
        <p:spPr>
          <a:xfrm>
            <a:off x="365760" y="4663440"/>
            <a:ext cx="3657240" cy="1051200"/>
          </a:xfrm>
          <a:prstGeom prst="roundRect">
            <a:avLst>
              <a:gd name="adj" fmla="val 16667"/>
            </a:avLst>
          </a:prstGeom>
          <a:solidFill>
            <a:srgbClr val="f4f6f9"/>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300" strike="noStrike" u="none">
                <a:solidFill>
                  <a:srgbClr val="1e252f"/>
                </a:solidFill>
                <a:effectLst/>
                <a:uFillTx/>
                <a:latin typeface="Calibri"/>
              </a:rPr>
              <a:t>LLM generates tutoring LANGUAGE</a:t>
            </a:r>
            <a:endParaRPr b="0" lang="en-US" sz="1300" strike="noStrike" u="none">
              <a:solidFill>
                <a:srgbClr val="000000"/>
              </a:solidFill>
              <a:effectLst/>
              <a:uFillTx/>
              <a:latin typeface="Arial"/>
            </a:endParaRPr>
          </a:p>
          <a:p>
            <a:pPr algn="ctr" defTabSz="457200">
              <a:lnSpc>
                <a:spcPct val="100000"/>
              </a:lnSpc>
            </a:pPr>
            <a:r>
              <a:rPr b="0" lang="en-US" sz="1000" strike="noStrike" u="none">
                <a:solidFill>
                  <a:srgbClr val="5f6b7a"/>
                </a:solidFill>
                <a:effectLst/>
                <a:uFillTx/>
                <a:latin typeface="Calibri"/>
              </a:rPr>
              <a:t>phrases the next hint in the student's voice</a:t>
            </a:r>
            <a:endParaRPr b="0" lang="en-US" sz="1000" strike="noStrike" u="none">
              <a:solidFill>
                <a:srgbClr val="000000"/>
              </a:solidFill>
              <a:effectLst/>
              <a:uFillTx/>
              <a:latin typeface="Arial"/>
            </a:endParaRPr>
          </a:p>
        </p:txBody>
      </p:sp>
      <p:sp>
        <p:nvSpPr>
          <p:cNvPr id="101" name="TextBox 10"/>
          <p:cNvSpPr/>
          <p:nvPr/>
        </p:nvSpPr>
        <p:spPr>
          <a:xfrm>
            <a:off x="4069080" y="4892040"/>
            <a:ext cx="548280" cy="548280"/>
          </a:xfrm>
          <a:prstGeom prst="rect">
            <a:avLst/>
          </a:prstGeom>
          <a:noFill/>
          <a:ln w="0">
            <a:noFill/>
          </a:ln>
        </p:spPr>
        <p:style>
          <a:lnRef idx="0"/>
          <a:fillRef idx="0"/>
          <a:effectRef idx="0"/>
          <a:fontRef idx="minor"/>
        </p:style>
        <p:txBody>
          <a:bodyPr lIns="73080" rIns="73080" tIns="36720" bIns="36720" anchor="t">
            <a:spAutoFit/>
          </a:bodyPr>
          <a:p>
            <a:pPr algn="ctr" defTabSz="457200">
              <a:lnSpc>
                <a:spcPct val="100000"/>
              </a:lnSpc>
              <a:spcAft>
                <a:spcPts val="400"/>
              </a:spcAft>
            </a:pPr>
            <a:r>
              <a:rPr b="1" lang="en-US" sz="2800" strike="noStrike" u="none">
                <a:solidFill>
                  <a:srgbClr val="5f6b7a"/>
                </a:solidFill>
                <a:effectLst/>
                <a:uFillTx/>
                <a:latin typeface="Calibri"/>
              </a:rPr>
              <a:t>+</a:t>
            </a:r>
            <a:endParaRPr b="0" lang="en-US" sz="2800" strike="noStrike" u="none">
              <a:solidFill>
                <a:srgbClr val="000000"/>
              </a:solidFill>
              <a:effectLst/>
              <a:uFillTx/>
              <a:latin typeface="Arial"/>
            </a:endParaRPr>
          </a:p>
        </p:txBody>
      </p:sp>
      <p:sp>
        <p:nvSpPr>
          <p:cNvPr id="102" name="Rounded Rectangle 11"/>
          <p:cNvSpPr/>
          <p:nvPr/>
        </p:nvSpPr>
        <p:spPr>
          <a:xfrm>
            <a:off x="4617720" y="4663440"/>
            <a:ext cx="7177680" cy="105120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300" strike="noStrike" u="none">
                <a:solidFill>
                  <a:srgbClr val="ffffff"/>
                </a:solidFill>
                <a:effectLst/>
                <a:uFillTx/>
                <a:latin typeface="Calibri"/>
              </a:rPr>
              <a:t>SYSTEM controls pedagogy · grounding · personalization · safety</a:t>
            </a:r>
            <a:endParaRPr b="0" lang="en-US" sz="1300" strike="noStrike" u="none">
              <a:solidFill>
                <a:srgbClr val="ffffff"/>
              </a:solidFill>
              <a:effectLst/>
              <a:uFillTx/>
              <a:latin typeface="Arial"/>
            </a:endParaRPr>
          </a:p>
          <a:p>
            <a:pPr algn="ctr" defTabSz="457200">
              <a:lnSpc>
                <a:spcPct val="100000"/>
              </a:lnSpc>
            </a:pPr>
            <a:r>
              <a:rPr b="0" lang="en-US" sz="1000" strike="noStrike" u="none">
                <a:solidFill>
                  <a:srgbClr val="ffffff"/>
                </a:solidFill>
                <a:effectLst/>
                <a:uFillTx/>
                <a:latin typeface="Calibri"/>
              </a:rPr>
              <a:t>state machine · Hint Ladder RAG · BKT learner model · CAS grader · validator — all outside the LLM, testable as code</a:t>
            </a:r>
            <a:endParaRPr b="0" lang="en-US" sz="1000" strike="noStrike" u="none">
              <a:solidFill>
                <a:srgbClr val="ffffff"/>
              </a:solidFill>
              <a:effectLst/>
              <a:uFillTx/>
              <a:latin typeface="Arial"/>
            </a:endParaRPr>
          </a:p>
        </p:txBody>
      </p:sp>
      <p:sp>
        <p:nvSpPr>
          <p:cNvPr id="103" name="Rounded Rectangle 12"/>
          <p:cNvSpPr/>
          <p:nvPr/>
        </p:nvSpPr>
        <p:spPr>
          <a:xfrm>
            <a:off x="365760" y="5852160"/>
            <a:ext cx="11429640" cy="594000"/>
          </a:xfrm>
          <a:prstGeom prst="roundRect">
            <a:avLst>
              <a:gd name="adj" fmla="val 16667"/>
            </a:avLst>
          </a:prstGeom>
          <a:solidFill>
            <a:srgbClr val="f28c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300" strike="noStrike" u="none">
                <a:solidFill>
                  <a:srgbClr val="ffffff"/>
                </a:solidFill>
                <a:effectLst/>
                <a:uFillTx/>
                <a:latin typeface="Calibri"/>
              </a:rPr>
              <a:t>The runtime LLM NEVER receives the final answer (Answer Vault readable only by Grader/Validator) → it cannot be talked into leaking it.</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5"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Target architecture: LLM ≠ policy engine</a:t>
            </a:r>
            <a:endParaRPr b="0" lang="en-US" sz="2600" strike="noStrike" u="none">
              <a:solidFill>
                <a:srgbClr val="000000"/>
              </a:solidFill>
              <a:effectLst/>
              <a:uFillTx/>
              <a:latin typeface="Arial"/>
            </a:endParaRPr>
          </a:p>
        </p:txBody>
      </p:sp>
      <p:sp>
        <p:nvSpPr>
          <p:cNvPr id="106"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Huyền (M2)</a:t>
            </a:r>
            <a:endParaRPr b="0" lang="en-US" sz="1200" strike="noStrike" u="none">
              <a:solidFill>
                <a:srgbClr val="000000"/>
              </a:solidFill>
              <a:effectLst/>
              <a:uFillTx/>
              <a:latin typeface="Arial"/>
            </a:endParaRPr>
          </a:p>
        </p:txBody>
      </p:sp>
      <p:sp>
        <p:nvSpPr>
          <p:cNvPr id="107"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4.2 · 4.3</a:t>
            </a:r>
            <a:endParaRPr b="0" lang="en-US" sz="1100" strike="noStrike" u="none">
              <a:solidFill>
                <a:srgbClr val="000000"/>
              </a:solidFill>
              <a:effectLst/>
              <a:uFillTx/>
              <a:latin typeface="Arial"/>
            </a:endParaRPr>
          </a:p>
        </p:txBody>
      </p:sp>
      <p:sp>
        <p:nvSpPr>
          <p:cNvPr id="108"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9"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110"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3 / 14</a:t>
            </a:r>
            <a:endParaRPr b="0" lang="en-US" sz="1000" strike="noStrike" u="none">
              <a:solidFill>
                <a:srgbClr val="000000"/>
              </a:solidFill>
              <a:effectLst/>
              <a:uFillTx/>
              <a:latin typeface="Arial"/>
            </a:endParaRPr>
          </a:p>
        </p:txBody>
      </p:sp>
      <p:sp>
        <p:nvSpPr>
          <p:cNvPr id="111" name="Rounded Rectangle 8"/>
          <p:cNvSpPr/>
          <p:nvPr/>
        </p:nvSpPr>
        <p:spPr>
          <a:xfrm>
            <a:off x="3840480" y="1097280"/>
            <a:ext cx="2925720" cy="420120"/>
          </a:xfrm>
          <a:prstGeom prst="roundRect">
            <a:avLst>
              <a:gd name="adj" fmla="val 16667"/>
            </a:avLst>
          </a:prstGeom>
          <a:solidFill>
            <a:srgbClr val="f4f6f9"/>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Student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web / mobile · chat + formula input</a:t>
            </a:r>
            <a:endParaRPr b="0" lang="en-US" sz="900" strike="noStrike" u="none">
              <a:solidFill>
                <a:srgbClr val="000000"/>
              </a:solidFill>
              <a:effectLst/>
              <a:uFillTx/>
              <a:latin typeface="Arial"/>
            </a:endParaRPr>
          </a:p>
        </p:txBody>
      </p:sp>
      <p:cxnSp>
        <p:nvCxnSpPr>
          <p:cNvPr id="112" name="Connector 9"/>
          <p:cNvCxnSpPr/>
          <p:nvPr/>
        </p:nvCxnSpPr>
        <p:spPr>
          <a:xfrm>
            <a:off x="5303520" y="1517760"/>
            <a:ext cx="360" cy="110160"/>
          </a:xfrm>
          <a:prstGeom prst="straightConnector1">
            <a:avLst/>
          </a:prstGeom>
          <a:ln w="19050">
            <a:solidFill>
              <a:srgbClr val="5f6b7a"/>
            </a:solidFill>
            <a:round/>
            <a:tailEnd len="med" type="triangle" w="med"/>
          </a:ln>
        </p:spPr>
      </p:cxnSp>
      <p:sp>
        <p:nvSpPr>
          <p:cNvPr id="113" name="Rounded Rectangle 10"/>
          <p:cNvSpPr/>
          <p:nvPr/>
        </p:nvSpPr>
        <p:spPr>
          <a:xfrm>
            <a:off x="3840480" y="1627560"/>
            <a:ext cx="2925720" cy="4201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API · Identity · Consent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auth, parental consent gate, quota</a:t>
            </a:r>
            <a:endParaRPr b="0" lang="en-US" sz="900" strike="noStrike" u="none">
              <a:solidFill>
                <a:srgbClr val="000000"/>
              </a:solidFill>
              <a:effectLst/>
              <a:uFillTx/>
              <a:latin typeface="Arial"/>
            </a:endParaRPr>
          </a:p>
        </p:txBody>
      </p:sp>
      <p:cxnSp>
        <p:nvCxnSpPr>
          <p:cNvPr id="114" name="Connector 11"/>
          <p:cNvCxnSpPr/>
          <p:nvPr/>
        </p:nvCxnSpPr>
        <p:spPr>
          <a:xfrm>
            <a:off x="5303520" y="2048040"/>
            <a:ext cx="360" cy="110160"/>
          </a:xfrm>
          <a:prstGeom prst="straightConnector1">
            <a:avLst/>
          </a:prstGeom>
          <a:ln w="19050">
            <a:solidFill>
              <a:srgbClr val="5f6b7a"/>
            </a:solidFill>
            <a:round/>
            <a:tailEnd len="med" type="triangle" w="med"/>
          </a:ln>
        </p:spPr>
      </p:cxnSp>
      <p:sp>
        <p:nvSpPr>
          <p:cNvPr id="115" name="Rounded Rectangle 12"/>
          <p:cNvSpPr/>
          <p:nvPr/>
        </p:nvSpPr>
        <p:spPr>
          <a:xfrm>
            <a:off x="3840480" y="2157840"/>
            <a:ext cx="2925720" cy="4201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Input Safety</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moderation · injection · topic lock</a:t>
            </a:r>
            <a:endParaRPr b="0" lang="en-US" sz="900" strike="noStrike" u="none">
              <a:solidFill>
                <a:srgbClr val="000000"/>
              </a:solidFill>
              <a:effectLst/>
              <a:uFillTx/>
              <a:latin typeface="Arial"/>
            </a:endParaRPr>
          </a:p>
        </p:txBody>
      </p:sp>
      <p:sp>
        <p:nvSpPr>
          <p:cNvPr id="116" name="Rounded Rectangle 13"/>
          <p:cNvSpPr/>
          <p:nvPr/>
        </p:nvSpPr>
        <p:spPr>
          <a:xfrm>
            <a:off x="914400" y="2688480"/>
            <a:ext cx="8777880" cy="56664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200" strike="noStrike" u="none">
                <a:solidFill>
                  <a:srgbClr val="ffffff"/>
                </a:solidFill>
                <a:effectLst/>
                <a:uFillTx/>
                <a:latin typeface="Calibri"/>
              </a:rPr>
              <a:t>Tutor Orchestrator (Dialogue Policy · owns tutoring state)</a:t>
            </a:r>
            <a:endParaRPr b="0" lang="en-US" sz="1200" strike="noStrike" u="none">
              <a:solidFill>
                <a:srgbClr val="ffffff"/>
              </a:solidFill>
              <a:effectLst/>
              <a:uFillTx/>
              <a:latin typeface="Arial"/>
            </a:endParaRPr>
          </a:p>
          <a:p>
            <a:pPr algn="ctr" defTabSz="457200">
              <a:lnSpc>
                <a:spcPct val="100000"/>
              </a:lnSpc>
            </a:pPr>
            <a:r>
              <a:rPr b="0" lang="en-US" sz="900" strike="noStrike" u="none">
                <a:solidFill>
                  <a:srgbClr val="ffffff"/>
                </a:solidFill>
                <a:effectLst/>
                <a:uFillTx/>
                <a:latin typeface="Calibri"/>
              </a:rPr>
              <a:t>decides: advance · hint level · check · consolidate · escalate — deterministic, unit-testable</a:t>
            </a:r>
            <a:endParaRPr b="0" lang="en-US" sz="900" strike="noStrike" u="none">
              <a:solidFill>
                <a:srgbClr val="ffffff"/>
              </a:solidFill>
              <a:effectLst/>
              <a:uFillTx/>
              <a:latin typeface="Arial"/>
            </a:endParaRPr>
          </a:p>
        </p:txBody>
      </p:sp>
      <p:cxnSp>
        <p:nvCxnSpPr>
          <p:cNvPr id="117" name="Connector 14"/>
          <p:cNvCxnSpPr/>
          <p:nvPr/>
        </p:nvCxnSpPr>
        <p:spPr>
          <a:xfrm>
            <a:off x="5303520" y="2578320"/>
            <a:ext cx="360" cy="110160"/>
          </a:xfrm>
          <a:prstGeom prst="straightConnector1">
            <a:avLst/>
          </a:prstGeom>
          <a:ln w="19050">
            <a:solidFill>
              <a:srgbClr val="5f6b7a"/>
            </a:solidFill>
            <a:round/>
            <a:tailEnd len="med" type="triangle" w="med"/>
          </a:ln>
        </p:spPr>
      </p:cxnSp>
      <p:sp>
        <p:nvSpPr>
          <p:cNvPr id="118" name="Rounded Rectangle 15"/>
          <p:cNvSpPr/>
          <p:nvPr/>
        </p:nvSpPr>
        <p:spPr>
          <a:xfrm>
            <a:off x="914400" y="3401640"/>
            <a:ext cx="2925720" cy="511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Learner Profile (BKT)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P(mastery)/skill · pseudonymous</a:t>
            </a:r>
            <a:endParaRPr b="0" lang="en-US" sz="900" strike="noStrike" u="none">
              <a:solidFill>
                <a:srgbClr val="000000"/>
              </a:solidFill>
              <a:effectLst/>
              <a:uFillTx/>
              <a:latin typeface="Arial"/>
            </a:endParaRPr>
          </a:p>
        </p:txBody>
      </p:sp>
      <p:cxnSp>
        <p:nvCxnSpPr>
          <p:cNvPr id="119" name="Connector 16"/>
          <p:cNvCxnSpPr/>
          <p:nvPr/>
        </p:nvCxnSpPr>
        <p:spPr>
          <a:xfrm>
            <a:off x="2377440" y="3255120"/>
            <a:ext cx="360" cy="146520"/>
          </a:xfrm>
          <a:prstGeom prst="straightConnector1">
            <a:avLst/>
          </a:prstGeom>
          <a:ln w="19050">
            <a:solidFill>
              <a:srgbClr val="5f6b7a"/>
            </a:solidFill>
            <a:round/>
            <a:tailEnd len="med" type="triangle" w="med"/>
          </a:ln>
        </p:spPr>
      </p:cxnSp>
      <p:sp>
        <p:nvSpPr>
          <p:cNvPr id="120" name="Rounded Rectangle 17"/>
          <p:cNvSpPr/>
          <p:nvPr/>
        </p:nvSpPr>
        <p:spPr>
          <a:xfrm>
            <a:off x="3840480" y="3401640"/>
            <a:ext cx="2925720" cy="511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Hint Ladder RAG</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pgvector · teacher-reviewed corpus</a:t>
            </a:r>
            <a:endParaRPr b="0" lang="en-US" sz="900" strike="noStrike" u="none">
              <a:solidFill>
                <a:srgbClr val="000000"/>
              </a:solidFill>
              <a:effectLst/>
              <a:uFillTx/>
              <a:latin typeface="Arial"/>
            </a:endParaRPr>
          </a:p>
        </p:txBody>
      </p:sp>
      <p:cxnSp>
        <p:nvCxnSpPr>
          <p:cNvPr id="121" name="Connector 18"/>
          <p:cNvCxnSpPr/>
          <p:nvPr/>
        </p:nvCxnSpPr>
        <p:spPr>
          <a:xfrm>
            <a:off x="5303520" y="3255120"/>
            <a:ext cx="360" cy="146520"/>
          </a:xfrm>
          <a:prstGeom prst="straightConnector1">
            <a:avLst/>
          </a:prstGeom>
          <a:ln w="19050">
            <a:solidFill>
              <a:srgbClr val="5f6b7a"/>
            </a:solidFill>
            <a:round/>
            <a:tailEnd len="med" type="triangle" w="med"/>
          </a:ln>
        </p:spPr>
      </p:cxnSp>
      <p:sp>
        <p:nvSpPr>
          <p:cNvPr id="122" name="Rounded Rectangle 19"/>
          <p:cNvSpPr/>
          <p:nvPr/>
        </p:nvSpPr>
        <p:spPr>
          <a:xfrm>
            <a:off x="6766560" y="3401640"/>
            <a:ext cx="2925720" cy="511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Deterministic Tools</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CAS/SymPy grader · rules</a:t>
            </a:r>
            <a:endParaRPr b="0" lang="en-US" sz="900" strike="noStrike" u="none">
              <a:solidFill>
                <a:srgbClr val="000000"/>
              </a:solidFill>
              <a:effectLst/>
              <a:uFillTx/>
              <a:latin typeface="Arial"/>
            </a:endParaRPr>
          </a:p>
        </p:txBody>
      </p:sp>
      <p:cxnSp>
        <p:nvCxnSpPr>
          <p:cNvPr id="123" name="Connector 20"/>
          <p:cNvCxnSpPr/>
          <p:nvPr/>
        </p:nvCxnSpPr>
        <p:spPr>
          <a:xfrm>
            <a:off x="8229600" y="3255120"/>
            <a:ext cx="360" cy="146520"/>
          </a:xfrm>
          <a:prstGeom prst="straightConnector1">
            <a:avLst/>
          </a:prstGeom>
          <a:ln w="19050">
            <a:solidFill>
              <a:srgbClr val="5f6b7a"/>
            </a:solidFill>
            <a:round/>
            <a:tailEnd len="med" type="triangle" w="med"/>
          </a:ln>
        </p:spPr>
      </p:cxnSp>
      <p:cxnSp>
        <p:nvCxnSpPr>
          <p:cNvPr id="124" name="Connector 21"/>
          <p:cNvCxnSpPr/>
          <p:nvPr/>
        </p:nvCxnSpPr>
        <p:spPr>
          <a:xfrm>
            <a:off x="5303520" y="3913560"/>
            <a:ext cx="360" cy="128160"/>
          </a:xfrm>
          <a:prstGeom prst="straightConnector1">
            <a:avLst/>
          </a:prstGeom>
          <a:ln w="19050">
            <a:solidFill>
              <a:srgbClr val="5f6b7a"/>
            </a:solidFill>
            <a:round/>
            <a:tailEnd len="med" type="triangle" w="med"/>
          </a:ln>
        </p:spPr>
      </p:cxnSp>
      <p:sp>
        <p:nvSpPr>
          <p:cNvPr id="125" name="Rounded Rectangle 22"/>
          <p:cNvSpPr/>
          <p:nvPr/>
        </p:nvSpPr>
        <p:spPr>
          <a:xfrm>
            <a:off x="3840480" y="4041720"/>
            <a:ext cx="2925720" cy="4201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Model Gateway</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tiering T1/T2 · fallback · cache · budget</a:t>
            </a:r>
            <a:endParaRPr b="0" lang="en-US" sz="900" strike="noStrike" u="none">
              <a:solidFill>
                <a:srgbClr val="000000"/>
              </a:solidFill>
              <a:effectLst/>
              <a:uFillTx/>
              <a:latin typeface="Arial"/>
            </a:endParaRPr>
          </a:p>
        </p:txBody>
      </p:sp>
      <p:cxnSp>
        <p:nvCxnSpPr>
          <p:cNvPr id="126" name="Connector 23"/>
          <p:cNvCxnSpPr/>
          <p:nvPr/>
        </p:nvCxnSpPr>
        <p:spPr>
          <a:xfrm>
            <a:off x="5303520" y="4462200"/>
            <a:ext cx="360" cy="110160"/>
          </a:xfrm>
          <a:prstGeom prst="straightConnector1">
            <a:avLst/>
          </a:prstGeom>
          <a:ln w="19050">
            <a:solidFill>
              <a:srgbClr val="5f6b7a"/>
            </a:solidFill>
            <a:round/>
            <a:tailEnd len="med" type="triangle" w="med"/>
          </a:ln>
        </p:spPr>
      </p:cxnSp>
      <p:sp>
        <p:nvSpPr>
          <p:cNvPr id="127" name="Rounded Rectangle 24"/>
          <p:cNvSpPr/>
          <p:nvPr/>
        </p:nvSpPr>
        <p:spPr>
          <a:xfrm>
            <a:off x="3840480" y="4572000"/>
            <a:ext cx="2925720" cy="4201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LLM (managed small model)</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gets ladder ≤ level + last 6 turns only — NO answer</a:t>
            </a:r>
            <a:endParaRPr b="0" lang="en-US" sz="900" strike="noStrike" u="none">
              <a:solidFill>
                <a:srgbClr val="000000"/>
              </a:solidFill>
              <a:effectLst/>
              <a:uFillTx/>
              <a:latin typeface="Arial"/>
            </a:endParaRPr>
          </a:p>
        </p:txBody>
      </p:sp>
      <p:cxnSp>
        <p:nvCxnSpPr>
          <p:cNvPr id="128" name="Connector 25"/>
          <p:cNvCxnSpPr/>
          <p:nvPr/>
        </p:nvCxnSpPr>
        <p:spPr>
          <a:xfrm>
            <a:off x="5303520" y="4992480"/>
            <a:ext cx="360" cy="110160"/>
          </a:xfrm>
          <a:prstGeom prst="straightConnector1">
            <a:avLst/>
          </a:prstGeom>
          <a:ln w="19050">
            <a:solidFill>
              <a:srgbClr val="5f6b7a"/>
            </a:solidFill>
            <a:round/>
            <a:tailEnd len="med" type="triangle" w="med"/>
          </a:ln>
        </p:spPr>
      </p:cxnSp>
      <p:sp>
        <p:nvSpPr>
          <p:cNvPr id="129" name="Rounded Rectangle 26"/>
          <p:cNvSpPr/>
          <p:nvPr/>
        </p:nvSpPr>
        <p:spPr>
          <a:xfrm>
            <a:off x="3840480" y="5102280"/>
            <a:ext cx="2925720" cy="420120"/>
          </a:xfrm>
          <a:prstGeom prst="roundRect">
            <a:avLst>
              <a:gd name="adj" fmla="val 16667"/>
            </a:avLst>
          </a:prstGeom>
          <a:solidFill>
            <a:srgbClr val="f28c28"/>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ffffff"/>
                </a:solidFill>
                <a:effectLst/>
                <a:uFillTx/>
                <a:latin typeface="Calibri"/>
              </a:rPr>
              <a:t>Response Validator</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ffffff"/>
                </a:solidFill>
                <a:effectLst/>
                <a:uFillTx/>
                <a:latin typeface="Calibri"/>
              </a:rPr>
              <a:t>safety · answer-leak (CAS vs Vault) · grounding · age → fail = static hint</a:t>
            </a:r>
            <a:endParaRPr b="0" lang="en-US" sz="900" strike="noStrike" u="none">
              <a:solidFill>
                <a:srgbClr val="000000"/>
              </a:solidFill>
              <a:effectLst/>
              <a:uFillTx/>
              <a:latin typeface="Arial"/>
            </a:endParaRPr>
          </a:p>
        </p:txBody>
      </p:sp>
      <p:cxnSp>
        <p:nvCxnSpPr>
          <p:cNvPr id="130" name="Connector 27"/>
          <p:cNvCxnSpPr/>
          <p:nvPr/>
        </p:nvCxnSpPr>
        <p:spPr>
          <a:xfrm>
            <a:off x="5303520" y="5522760"/>
            <a:ext cx="360" cy="110160"/>
          </a:xfrm>
          <a:prstGeom prst="straightConnector1">
            <a:avLst/>
          </a:prstGeom>
          <a:ln w="19050">
            <a:solidFill>
              <a:srgbClr val="5f6b7a"/>
            </a:solidFill>
            <a:round/>
            <a:tailEnd len="med" type="triangle" w="med"/>
          </a:ln>
        </p:spPr>
      </p:cxnSp>
      <p:sp>
        <p:nvSpPr>
          <p:cNvPr id="131" name="Rounded Rectangle 28"/>
          <p:cNvSpPr/>
          <p:nvPr/>
        </p:nvSpPr>
        <p:spPr>
          <a:xfrm>
            <a:off x="3840480" y="5632560"/>
            <a:ext cx="2925720" cy="420120"/>
          </a:xfrm>
          <a:prstGeom prst="roundRect">
            <a:avLst>
              <a:gd name="adj" fmla="val 16667"/>
            </a:avLst>
          </a:prstGeom>
          <a:solidFill>
            <a:srgbClr val="f4f6f9"/>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Student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receives validated output only</a:t>
            </a:r>
            <a:endParaRPr b="0" lang="en-US" sz="900" strike="noStrike" u="none">
              <a:solidFill>
                <a:srgbClr val="000000"/>
              </a:solidFill>
              <a:effectLst/>
              <a:uFillTx/>
              <a:latin typeface="Arial"/>
            </a:endParaRPr>
          </a:p>
        </p:txBody>
      </p:sp>
      <p:sp>
        <p:nvSpPr>
          <p:cNvPr id="132" name="Rectangle 29"/>
          <p:cNvSpPr/>
          <p:nvPr/>
        </p:nvSpPr>
        <p:spPr>
          <a:xfrm>
            <a:off x="9966960" y="1097280"/>
            <a:ext cx="1919880" cy="530316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3" name="TextBox 30"/>
          <p:cNvSpPr/>
          <p:nvPr/>
        </p:nvSpPr>
        <p:spPr>
          <a:xfrm>
            <a:off x="10012680" y="1143000"/>
            <a:ext cx="182844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200" strike="noStrike" u="none">
                <a:solidFill>
                  <a:srgbClr val="0f1f3d"/>
                </a:solidFill>
                <a:effectLst/>
                <a:uFillTx/>
                <a:latin typeface="Calibri"/>
              </a:rPr>
              <a:t>Async (Kafka)</a:t>
            </a:r>
            <a:endParaRPr b="0" lang="en-US" sz="1200" strike="noStrike" u="none">
              <a:solidFill>
                <a:srgbClr val="000000"/>
              </a:solidFill>
              <a:effectLst/>
              <a:uFillTx/>
              <a:latin typeface="Arial"/>
            </a:endParaRPr>
          </a:p>
        </p:txBody>
      </p:sp>
      <p:sp>
        <p:nvSpPr>
          <p:cNvPr id="134" name="TextBox 31"/>
          <p:cNvSpPr/>
          <p:nvPr/>
        </p:nvSpPr>
        <p:spPr>
          <a:xfrm>
            <a:off x="9966960" y="1508760"/>
            <a:ext cx="1919880" cy="274284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1e252f"/>
                </a:solidFill>
                <a:effectLst/>
                <a:uFillTx/>
                <a:latin typeface="Calibri"/>
              </a:rPr>
              <a:t>•  Telemetry / events</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Evaluation sampling (LLM-judge + teachers)</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Monitoring · alerting</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Cost tracking / turn</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Learner model update</a:t>
            </a:r>
            <a:endParaRPr b="0" lang="en-US" sz="1000" strike="noStrike" u="none">
              <a:solidFill>
                <a:srgbClr val="000000"/>
              </a:solidFill>
              <a:effectLst/>
              <a:uFillTx/>
              <a:latin typeface="Arial"/>
            </a:endParaRPr>
          </a:p>
        </p:txBody>
      </p:sp>
      <p:sp>
        <p:nvSpPr>
          <p:cNvPr id="135" name="TextBox 32"/>
          <p:cNvSpPr/>
          <p:nvPr/>
        </p:nvSpPr>
        <p:spPr>
          <a:xfrm>
            <a:off x="10012680" y="4297680"/>
            <a:ext cx="1828440" cy="20113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100" strike="noStrike" u="none">
                <a:solidFill>
                  <a:srgbClr val="0f1f3d"/>
                </a:solidFill>
                <a:effectLst/>
                <a:uFillTx/>
                <a:latin typeface="Calibri"/>
              </a:rPr>
              <a:t>Platform</a:t>
            </a:r>
            <a:endParaRPr b="0" lang="en-US" sz="1100" strike="noStrike" u="none">
              <a:solidFill>
                <a:srgbClr val="000000"/>
              </a:solidFill>
              <a:effectLst/>
              <a:uFillTx/>
              <a:latin typeface="Arial"/>
            </a:endParaRPr>
          </a:p>
          <a:p>
            <a:pPr defTabSz="457200">
              <a:lnSpc>
                <a:spcPct val="100000"/>
              </a:lnSpc>
              <a:spcAft>
                <a:spcPts val="400"/>
              </a:spcAft>
            </a:pPr>
            <a:r>
              <a:rPr b="0" lang="en-US" sz="900" strike="noStrike" u="none">
                <a:solidFill>
                  <a:srgbClr val="5f6b7a"/>
                </a:solidFill>
                <a:effectLst/>
                <a:uFillTx/>
                <a:latin typeface="Calibri"/>
              </a:rPr>
              <a:t>AWS · EKS (stateless, HPA/KEDA) · Aurora Postgres + pgvector · ElastiCache Redis · MSK Kafka · S3 · Bedrock/OpenAI via LiteLLM gateway</a:t>
            </a:r>
            <a:endParaRPr b="0" lang="en-US" sz="900" strike="noStrike" u="none">
              <a:solidFill>
                <a:srgbClr val="000000"/>
              </a:solidFill>
              <a:effectLst/>
              <a:uFillTx/>
              <a:latin typeface="Arial"/>
            </a:endParaRPr>
          </a:p>
          <a:p>
            <a:pPr defTabSz="457200">
              <a:lnSpc>
                <a:spcPct val="100000"/>
              </a:lnSpc>
              <a:spcAft>
                <a:spcPts val="400"/>
              </a:spcAft>
            </a:pPr>
            <a:r>
              <a:rPr b="0" lang="en-US" sz="900" strike="noStrike" u="none">
                <a:solidFill>
                  <a:srgbClr val="00a39b"/>
                </a:solidFill>
                <a:effectLst/>
                <a:uFillTx/>
                <a:latin typeface="Calibri"/>
              </a:rPr>
              <a:t>Details: Appendix B</a:t>
            </a:r>
            <a:endParaRPr b="0" lang="en-US" sz="900" strike="noStrike" u="none">
              <a:solidFill>
                <a:srgbClr val="000000"/>
              </a:solidFill>
              <a:effectLst/>
              <a:uFillTx/>
              <a:latin typeface="Arial"/>
            </a:endParaRPr>
          </a:p>
        </p:txBody>
      </p:sp>
      <p:sp>
        <p:nvSpPr>
          <p:cNvPr id="136" name="TextBox 33"/>
          <p:cNvSpPr/>
          <p:nvPr/>
        </p:nvSpPr>
        <p:spPr>
          <a:xfrm>
            <a:off x="365760" y="1097280"/>
            <a:ext cx="3200040" cy="12798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200" strike="noStrike" u="none">
                <a:solidFill>
                  <a:srgbClr val="00a39b"/>
                </a:solidFill>
                <a:effectLst/>
                <a:uFillTx/>
                <a:latin typeface="Calibri"/>
              </a:rPr>
              <a:t>Principles</a:t>
            </a:r>
            <a:endParaRPr b="0" lang="en-US" sz="12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Orchestrator owns the state</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Tools handle precise checks</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RAG grounds responses</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Validator is the last gate before the child</a:t>
            </a:r>
            <a:endParaRPr b="0" lang="en-US" sz="1000" strike="noStrike" u="none">
              <a:solidFill>
                <a:srgbClr val="000000"/>
              </a:solidFill>
              <a:effectLst/>
              <a:uFillTx/>
              <a:latin typeface="Arial"/>
            </a:endParaRPr>
          </a:p>
        </p:txBody>
      </p:sp>
      <p:sp>
        <p:nvSpPr>
          <p:cNvPr id="137" name="TextBox 34"/>
          <p:cNvSpPr/>
          <p:nvPr/>
        </p:nvSpPr>
        <p:spPr>
          <a:xfrm>
            <a:off x="365760" y="5669280"/>
            <a:ext cx="3291480" cy="8226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Full C4 L1–L3: ATAD §2</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5f6b7a"/>
                </a:solidFill>
                <a:effectLst/>
                <a:uFillTx/>
                <a:latin typeface="Calibri"/>
              </a:rPr>
              <a:t>Only ~10 boxes: each has one reason to exist</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9"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Enforced pedagogy · Bounded personalization</a:t>
            </a:r>
            <a:endParaRPr b="0" lang="en-US" sz="2600" strike="noStrike" u="none">
              <a:solidFill>
                <a:srgbClr val="000000"/>
              </a:solidFill>
              <a:effectLst/>
              <a:uFillTx/>
              <a:latin typeface="Arial"/>
            </a:endParaRPr>
          </a:p>
        </p:txBody>
      </p:sp>
      <p:sp>
        <p:nvSpPr>
          <p:cNvPr id="140"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Huyền (M2)</a:t>
            </a:r>
            <a:endParaRPr b="0" lang="en-US" sz="1200" strike="noStrike" u="none">
              <a:solidFill>
                <a:srgbClr val="000000"/>
              </a:solidFill>
              <a:effectLst/>
              <a:uFillTx/>
              <a:latin typeface="Arial"/>
            </a:endParaRPr>
          </a:p>
        </p:txBody>
      </p:sp>
      <p:sp>
        <p:nvSpPr>
          <p:cNvPr id="141"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4.1 · 4.4</a:t>
            </a:r>
            <a:endParaRPr b="0" lang="en-US" sz="1100" strike="noStrike" u="none">
              <a:solidFill>
                <a:srgbClr val="000000"/>
              </a:solidFill>
              <a:effectLst/>
              <a:uFillTx/>
              <a:latin typeface="Arial"/>
            </a:endParaRPr>
          </a:p>
        </p:txBody>
      </p:sp>
      <p:sp>
        <p:nvSpPr>
          <p:cNvPr id="142"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3"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144"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4 / 14</a:t>
            </a:r>
            <a:endParaRPr b="0" lang="en-US" sz="1000" strike="noStrike" u="none">
              <a:solidFill>
                <a:srgbClr val="000000"/>
              </a:solidFill>
              <a:effectLst/>
              <a:uFillTx/>
              <a:latin typeface="Arial"/>
            </a:endParaRPr>
          </a:p>
        </p:txBody>
      </p:sp>
      <p:sp>
        <p:nvSpPr>
          <p:cNvPr id="145" name="TextBox 8"/>
          <p:cNvSpPr/>
          <p:nvPr/>
        </p:nvSpPr>
        <p:spPr>
          <a:xfrm>
            <a:off x="365760" y="1051560"/>
            <a:ext cx="566892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Socratic state machine (Dialogue Policy)</a:t>
            </a:r>
            <a:endParaRPr b="0" lang="en-US" sz="1500" strike="noStrike" u="none">
              <a:solidFill>
                <a:srgbClr val="000000"/>
              </a:solidFill>
              <a:effectLst/>
              <a:uFillTx/>
              <a:latin typeface="Arial"/>
            </a:endParaRPr>
          </a:p>
        </p:txBody>
      </p:sp>
      <p:sp>
        <p:nvSpPr>
          <p:cNvPr id="146" name="Rounded Rectangle 9"/>
          <p:cNvSpPr/>
          <p:nvPr/>
        </p:nvSpPr>
        <p:spPr>
          <a:xfrm>
            <a:off x="365760" y="1463040"/>
            <a:ext cx="895680" cy="45684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900" strike="noStrike" u="none">
                <a:solidFill>
                  <a:srgbClr val="1e252f"/>
                </a:solidFill>
                <a:effectLst/>
                <a:uFillTx/>
                <a:latin typeface="Calibri"/>
              </a:rPr>
              <a:t>Orient</a:t>
            </a:r>
            <a:endParaRPr b="0" lang="en-US" sz="900" strike="noStrike" u="none">
              <a:solidFill>
                <a:srgbClr val="000000"/>
              </a:solidFill>
              <a:effectLst/>
              <a:uFillTx/>
              <a:latin typeface="Arial"/>
            </a:endParaRPr>
          </a:p>
        </p:txBody>
      </p:sp>
      <p:cxnSp>
        <p:nvCxnSpPr>
          <p:cNvPr id="147" name="Connector 10"/>
          <p:cNvCxnSpPr/>
          <p:nvPr/>
        </p:nvCxnSpPr>
        <p:spPr>
          <a:xfrm>
            <a:off x="1261800" y="1691640"/>
            <a:ext cx="64440" cy="360"/>
          </a:xfrm>
          <a:prstGeom prst="straightConnector1">
            <a:avLst/>
          </a:prstGeom>
          <a:ln w="19050">
            <a:solidFill>
              <a:srgbClr val="5f6b7a"/>
            </a:solidFill>
            <a:round/>
            <a:tailEnd len="med" type="triangle" w="med"/>
          </a:ln>
        </p:spPr>
      </p:cxnSp>
      <p:sp>
        <p:nvSpPr>
          <p:cNvPr id="148" name="Rounded Rectangle 11"/>
          <p:cNvSpPr/>
          <p:nvPr/>
        </p:nvSpPr>
        <p:spPr>
          <a:xfrm>
            <a:off x="1325880" y="1463040"/>
            <a:ext cx="895680" cy="45684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900" strike="noStrike" u="none">
                <a:solidFill>
                  <a:srgbClr val="1e252f"/>
                </a:solidFill>
                <a:effectLst/>
                <a:uFillTx/>
                <a:latin typeface="Calibri"/>
              </a:rPr>
              <a:t>Elicit</a:t>
            </a:r>
            <a:endParaRPr b="0" lang="en-US" sz="900" strike="noStrike" u="none">
              <a:solidFill>
                <a:srgbClr val="000000"/>
              </a:solidFill>
              <a:effectLst/>
              <a:uFillTx/>
              <a:latin typeface="Arial"/>
            </a:endParaRPr>
          </a:p>
        </p:txBody>
      </p:sp>
      <p:cxnSp>
        <p:nvCxnSpPr>
          <p:cNvPr id="149" name="Connector 12"/>
          <p:cNvCxnSpPr/>
          <p:nvPr/>
        </p:nvCxnSpPr>
        <p:spPr>
          <a:xfrm>
            <a:off x="2221920" y="1691640"/>
            <a:ext cx="64440" cy="360"/>
          </a:xfrm>
          <a:prstGeom prst="straightConnector1">
            <a:avLst/>
          </a:prstGeom>
          <a:ln w="19050">
            <a:solidFill>
              <a:srgbClr val="5f6b7a"/>
            </a:solidFill>
            <a:round/>
            <a:tailEnd len="med" type="triangle" w="med"/>
          </a:ln>
        </p:spPr>
      </p:cxnSp>
      <p:sp>
        <p:nvSpPr>
          <p:cNvPr id="150" name="Rounded Rectangle 13"/>
          <p:cNvSpPr/>
          <p:nvPr/>
        </p:nvSpPr>
        <p:spPr>
          <a:xfrm>
            <a:off x="2286000" y="1463040"/>
            <a:ext cx="895680" cy="45684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900" strike="noStrike" u="none">
                <a:solidFill>
                  <a:srgbClr val="ffffff"/>
                </a:solidFill>
                <a:effectLst/>
                <a:uFillTx/>
                <a:latin typeface="Calibri"/>
              </a:rPr>
              <a:t>Hint</a:t>
            </a:r>
            <a:endParaRPr b="0" lang="en-US" sz="900" strike="noStrike" u="none">
              <a:solidFill>
                <a:srgbClr val="ffffff"/>
              </a:solidFill>
              <a:effectLst/>
              <a:uFillTx/>
              <a:latin typeface="Arial"/>
            </a:endParaRPr>
          </a:p>
        </p:txBody>
      </p:sp>
      <p:cxnSp>
        <p:nvCxnSpPr>
          <p:cNvPr id="151" name="Connector 14"/>
          <p:cNvCxnSpPr/>
          <p:nvPr/>
        </p:nvCxnSpPr>
        <p:spPr>
          <a:xfrm>
            <a:off x="3182040" y="1691640"/>
            <a:ext cx="64440" cy="360"/>
          </a:xfrm>
          <a:prstGeom prst="straightConnector1">
            <a:avLst/>
          </a:prstGeom>
          <a:ln w="19050">
            <a:solidFill>
              <a:srgbClr val="5f6b7a"/>
            </a:solidFill>
            <a:round/>
            <a:tailEnd len="med" type="triangle" w="med"/>
          </a:ln>
        </p:spPr>
      </p:cxnSp>
      <p:sp>
        <p:nvSpPr>
          <p:cNvPr id="152" name="Rounded Rectangle 15"/>
          <p:cNvSpPr/>
          <p:nvPr/>
        </p:nvSpPr>
        <p:spPr>
          <a:xfrm>
            <a:off x="3246120" y="1463040"/>
            <a:ext cx="895680" cy="45684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900" strike="noStrike" u="none">
                <a:solidFill>
                  <a:srgbClr val="ffffff"/>
                </a:solidFill>
                <a:effectLst/>
                <a:uFillTx/>
                <a:latin typeface="Calibri"/>
              </a:rPr>
              <a:t>Check</a:t>
            </a:r>
            <a:endParaRPr b="0" lang="en-US" sz="900" strike="noStrike" u="none">
              <a:solidFill>
                <a:srgbClr val="ffffff"/>
              </a:solidFill>
              <a:effectLst/>
              <a:uFillTx/>
              <a:latin typeface="Arial"/>
            </a:endParaRPr>
          </a:p>
        </p:txBody>
      </p:sp>
      <p:cxnSp>
        <p:nvCxnSpPr>
          <p:cNvPr id="153" name="Connector 16"/>
          <p:cNvCxnSpPr/>
          <p:nvPr/>
        </p:nvCxnSpPr>
        <p:spPr>
          <a:xfrm>
            <a:off x="4142160" y="1691640"/>
            <a:ext cx="64440" cy="360"/>
          </a:xfrm>
          <a:prstGeom prst="straightConnector1">
            <a:avLst/>
          </a:prstGeom>
          <a:ln w="19050">
            <a:solidFill>
              <a:srgbClr val="5f6b7a"/>
            </a:solidFill>
            <a:round/>
            <a:tailEnd len="med" type="triangle" w="med"/>
          </a:ln>
        </p:spPr>
      </p:cxnSp>
      <p:sp>
        <p:nvSpPr>
          <p:cNvPr id="154" name="Rounded Rectangle 17"/>
          <p:cNvSpPr/>
          <p:nvPr/>
        </p:nvSpPr>
        <p:spPr>
          <a:xfrm>
            <a:off x="4206240" y="1463040"/>
            <a:ext cx="895680" cy="45684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800" strike="noStrike" u="none">
                <a:solidFill>
                  <a:srgbClr val="1e252f"/>
                </a:solidFill>
                <a:effectLst/>
                <a:uFillTx/>
                <a:latin typeface="Calibri"/>
              </a:rPr>
              <a:t>Consolidate</a:t>
            </a:r>
            <a:endParaRPr b="0" lang="en-US" sz="800" strike="noStrike" u="none">
              <a:solidFill>
                <a:srgbClr val="000000"/>
              </a:solidFill>
              <a:effectLst/>
              <a:uFillTx/>
              <a:latin typeface="Arial"/>
            </a:endParaRPr>
          </a:p>
        </p:txBody>
      </p:sp>
      <p:cxnSp>
        <p:nvCxnSpPr>
          <p:cNvPr id="155" name="Connector 18"/>
          <p:cNvCxnSpPr/>
          <p:nvPr/>
        </p:nvCxnSpPr>
        <p:spPr>
          <a:xfrm>
            <a:off x="5102280" y="1691640"/>
            <a:ext cx="64440" cy="360"/>
          </a:xfrm>
          <a:prstGeom prst="straightConnector1">
            <a:avLst/>
          </a:prstGeom>
          <a:ln w="19050">
            <a:solidFill>
              <a:srgbClr val="5f6b7a"/>
            </a:solidFill>
            <a:round/>
            <a:tailEnd len="med" type="triangle" w="med"/>
          </a:ln>
        </p:spPr>
      </p:cxnSp>
      <p:sp>
        <p:nvSpPr>
          <p:cNvPr id="156" name="Rounded Rectangle 19"/>
          <p:cNvSpPr/>
          <p:nvPr/>
        </p:nvSpPr>
        <p:spPr>
          <a:xfrm>
            <a:off x="5166360" y="1463040"/>
            <a:ext cx="895680" cy="45684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900" strike="noStrike" u="none">
                <a:solidFill>
                  <a:srgbClr val="1e252f"/>
                </a:solidFill>
                <a:effectLst/>
                <a:uFillTx/>
                <a:latin typeface="Calibri"/>
              </a:rPr>
              <a:t>Escalate</a:t>
            </a:r>
            <a:endParaRPr b="0" lang="en-US" sz="900" strike="noStrike" u="none">
              <a:solidFill>
                <a:srgbClr val="000000"/>
              </a:solidFill>
              <a:effectLst/>
              <a:uFillTx/>
              <a:latin typeface="Arial"/>
            </a:endParaRPr>
          </a:p>
        </p:txBody>
      </p:sp>
      <p:sp>
        <p:nvSpPr>
          <p:cNvPr id="157" name="TextBox 20"/>
          <p:cNvSpPr/>
          <p:nvPr/>
        </p:nvSpPr>
        <p:spPr>
          <a:xfrm>
            <a:off x="365760" y="2011680"/>
            <a:ext cx="5668920" cy="118836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1e252f"/>
                </a:solidFill>
                <a:effectLst/>
                <a:uFillTx/>
                <a:latin typeface="Calibri"/>
              </a:rPr>
              <a:t>•  Hint level +1 ONLY after ≥ 2 distinct errors (graded by CAS) — a rule in code, not in the prompt</a:t>
            </a:r>
            <a:endParaRPr b="0" lang="en-US" sz="1100" strike="noStrike" u="none">
              <a:solidFill>
                <a:srgbClr val="000000"/>
              </a:solidFill>
              <a:effectLst/>
              <a:uFillTx/>
              <a:latin typeface="Arial"/>
            </a:endParaRPr>
          </a:p>
          <a:p>
            <a:pPr defTabSz="457200">
              <a:lnSpc>
                <a:spcPct val="100000"/>
              </a:lnSpc>
              <a:spcAft>
                <a:spcPts val="400"/>
              </a:spcAft>
            </a:pPr>
            <a:r>
              <a:rPr b="0" lang="en-US" sz="1100" strike="noStrike" u="none">
                <a:solidFill>
                  <a:srgbClr val="1e252f"/>
                </a:solidFill>
                <a:effectLst/>
                <a:uFillTx/>
                <a:latin typeface="Calibri"/>
              </a:rPr>
              <a:t>•  Escalate (conditional reveal / hand-off to teacher) only when the ladder is exhausted or a safety flag fires</a:t>
            </a:r>
            <a:endParaRPr b="0" lang="en-US" sz="1100" strike="noStrike" u="none">
              <a:solidFill>
                <a:srgbClr val="000000"/>
              </a:solidFill>
              <a:effectLst/>
              <a:uFillTx/>
              <a:latin typeface="Arial"/>
            </a:endParaRPr>
          </a:p>
          <a:p>
            <a:pPr defTabSz="457200">
              <a:lnSpc>
                <a:spcPct val="100000"/>
              </a:lnSpc>
              <a:spcAft>
                <a:spcPts val="400"/>
              </a:spcAft>
            </a:pPr>
            <a:r>
              <a:rPr b="0" lang="en-US" sz="1100" strike="noStrike" u="none">
                <a:solidFill>
                  <a:srgbClr val="1e252f"/>
                </a:solidFill>
                <a:effectLst/>
                <a:uFillTx/>
                <a:latin typeface="Calibri"/>
              </a:rPr>
              <a:t>•  LLM receives: action + ladder ≤ current level + last 6 turns → it only phrases</a:t>
            </a:r>
            <a:endParaRPr b="0" lang="en-US" sz="1100" strike="noStrike" u="none">
              <a:solidFill>
                <a:srgbClr val="000000"/>
              </a:solidFill>
              <a:effectLst/>
              <a:uFillTx/>
              <a:latin typeface="Arial"/>
            </a:endParaRPr>
          </a:p>
        </p:txBody>
      </p:sp>
      <p:sp>
        <p:nvSpPr>
          <p:cNvPr id="158" name="Rectangle 21"/>
          <p:cNvSpPr/>
          <p:nvPr/>
        </p:nvSpPr>
        <p:spPr>
          <a:xfrm>
            <a:off x="365760" y="3291840"/>
            <a:ext cx="5668920" cy="223992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9" name="TextBox 22"/>
          <p:cNvSpPr/>
          <p:nvPr/>
        </p:nvSpPr>
        <p:spPr>
          <a:xfrm>
            <a:off x="457200" y="3337560"/>
            <a:ext cx="5486040" cy="21942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200" strike="noStrike" u="none">
                <a:solidFill>
                  <a:srgbClr val="0f1f3d"/>
                </a:solidFill>
                <a:effectLst/>
                <a:uFillTx/>
                <a:latin typeface="Calibri"/>
              </a:rPr>
              <a:t>Example</a:t>
            </a:r>
            <a:endParaRPr b="0" lang="en-US" sz="1200" strike="noStrike" u="none">
              <a:solidFill>
                <a:srgbClr val="000000"/>
              </a:solidFill>
              <a:effectLst/>
              <a:uFillTx/>
              <a:latin typeface="Arial"/>
            </a:endParaRPr>
          </a:p>
          <a:p>
            <a:pPr defTabSz="457200">
              <a:lnSpc>
                <a:spcPct val="100000"/>
              </a:lnSpc>
              <a:spcAft>
                <a:spcPts val="400"/>
              </a:spcAft>
            </a:pPr>
            <a:r>
              <a:rPr b="0" lang="en-US" sz="1200" strike="noStrike" u="none">
                <a:solidFill>
                  <a:srgbClr val="1e252f"/>
                </a:solidFill>
                <a:effectLst/>
                <a:uFillTx/>
                <a:latin typeface="Calibri"/>
              </a:rPr>
              <a:t>Student:  2x + 5 = 15 — “I don't know how to do this”</a:t>
            </a:r>
            <a:endParaRPr b="0" lang="en-US" sz="1200" strike="noStrike" u="none">
              <a:solidFill>
                <a:srgbClr val="000000"/>
              </a:solidFill>
              <a:effectLst/>
              <a:uFillTx/>
              <a:latin typeface="Arial"/>
            </a:endParaRPr>
          </a:p>
          <a:p>
            <a:pPr defTabSz="457200">
              <a:lnSpc>
                <a:spcPct val="100000"/>
              </a:lnSpc>
              <a:spcAft>
                <a:spcPts val="400"/>
              </a:spcAft>
            </a:pPr>
            <a:r>
              <a:rPr b="1" lang="en-US" sz="1200" strike="noStrike" u="none">
                <a:solidFill>
                  <a:srgbClr val="d93b3b"/>
                </a:solidFill>
                <a:effectLst/>
                <a:uFillTx/>
                <a:latin typeface="Calibri"/>
              </a:rPr>
              <a:t>✗ Chatbot:  x = 5</a:t>
            </a:r>
            <a:endParaRPr b="0" lang="en-US" sz="1200" strike="noStrike" u="none">
              <a:solidFill>
                <a:srgbClr val="000000"/>
              </a:solidFill>
              <a:effectLst/>
              <a:uFillTx/>
              <a:latin typeface="Arial"/>
            </a:endParaRPr>
          </a:p>
          <a:p>
            <a:pPr defTabSz="457200">
              <a:lnSpc>
                <a:spcPct val="100000"/>
              </a:lnSpc>
              <a:spcAft>
                <a:spcPts val="400"/>
              </a:spcAft>
            </a:pPr>
            <a:r>
              <a:rPr b="1" lang="en-US" sz="1200" strike="noStrike" u="none">
                <a:solidFill>
                  <a:srgbClr val="00a39b"/>
                </a:solidFill>
                <a:effectLst/>
                <a:uFillTx/>
                <a:latin typeface="Calibri"/>
              </a:rPr>
              <a:t>✓ TutorMate (Elicit):  “What could you do first to remove the +5 on the left side?”</a:t>
            </a:r>
            <a:endParaRPr b="0" lang="en-US" sz="12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5f6b7a"/>
                </a:solidFill>
                <a:effectLst/>
                <a:uFillTx/>
                <a:latin typeface="Calibri"/>
              </a:rPr>
              <a:t>→ 1st wrong try (“divide by 2”): Check → misconception ‘order of operations’ → Hint L1, step not revealed</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5f6b7a"/>
                </a:solidFill>
                <a:effectLst/>
                <a:uFillTx/>
                <a:latin typeface="Calibri"/>
              </a:rPr>
              <a:t>→ Correct: Consolidate — “Why does subtracting 5 from both sides keep the equation balanced?” then mastery update</a:t>
            </a:r>
            <a:endParaRPr b="0" lang="en-US" sz="1000" strike="noStrike" u="none">
              <a:solidFill>
                <a:srgbClr val="000000"/>
              </a:solidFill>
              <a:effectLst/>
              <a:uFillTx/>
              <a:latin typeface="Arial"/>
            </a:endParaRPr>
          </a:p>
        </p:txBody>
      </p:sp>
      <p:sp>
        <p:nvSpPr>
          <p:cNvPr id="160" name="TextBox 23"/>
          <p:cNvSpPr/>
          <p:nvPr/>
        </p:nvSpPr>
        <p:spPr>
          <a:xfrm>
            <a:off x="6309360" y="1051560"/>
            <a:ext cx="548604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Learner profile — what we store / don't store</a:t>
            </a:r>
            <a:endParaRPr b="0" lang="en-US" sz="1500" strike="noStrike" u="none">
              <a:solidFill>
                <a:srgbClr val="000000"/>
              </a:solidFill>
              <a:effectLst/>
              <a:uFillTx/>
              <a:latin typeface="Arial"/>
            </a:endParaRPr>
          </a:p>
        </p:txBody>
      </p:sp>
      <p:graphicFrame>
        <p:nvGraphicFramePr>
          <p:cNvPr id="161" name="Table 24"/>
          <p:cNvGraphicFramePr/>
          <p:nvPr/>
        </p:nvGraphicFramePr>
        <p:xfrm>
          <a:off x="6309360" y="1463040"/>
          <a:ext cx="5486040" cy="2651400"/>
        </p:xfrm>
        <a:graphic>
          <a:graphicData uri="http://schemas.openxmlformats.org/drawingml/2006/table">
            <a:tbl>
              <a:tblPr/>
              <a:tblGrid>
                <a:gridCol w="2743200"/>
                <a:gridCol w="2743200"/>
              </a:tblGrid>
              <a:tr h="44172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STORE (bounded learning signals)</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DO NOT STORE by default</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4417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P(mastery) per skill — BKT, pseudonymous ID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Full long-term transcript (redacted raw: 30 days, then deleted)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17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Most recent error category (misconception tag)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Raw child identity in the prompt (token only)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417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Hint history per skill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Psychological, emotional or non-learning behavioral profiling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17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Confidence (optional self-report)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Location, device, parent contact in the learner store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417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profile_version + consent_version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Data used for training without separate consent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62" name="TextBox 25"/>
          <p:cNvSpPr/>
          <p:nvPr/>
        </p:nvSpPr>
        <p:spPr>
          <a:xfrm>
            <a:off x="6309360" y="4206240"/>
            <a:ext cx="5486040" cy="118836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1e252f"/>
                </a:solidFill>
                <a:effectLst/>
                <a:uFillTx/>
                <a:latin typeface="Calibri"/>
              </a:rPr>
              <a:t>•  Personalization = next skill/exercise, difficulty, starting hint level — derived from the mastery vector</a:t>
            </a:r>
            <a:endParaRPr b="0" lang="en-US" sz="1100" strike="noStrike" u="none">
              <a:solidFill>
                <a:srgbClr val="000000"/>
              </a:solidFill>
              <a:effectLst/>
              <a:uFillTx/>
              <a:latin typeface="Arial"/>
            </a:endParaRPr>
          </a:p>
          <a:p>
            <a:pPr defTabSz="457200">
              <a:lnSpc>
                <a:spcPct val="100000"/>
              </a:lnSpc>
              <a:spcAft>
                <a:spcPts val="400"/>
              </a:spcAft>
            </a:pPr>
            <a:r>
              <a:rPr b="0" lang="en-US" sz="1100" strike="noStrike" u="none">
                <a:solidFill>
                  <a:srgbClr val="1e252f"/>
                </a:solidFill>
                <a:effectLst/>
                <a:uFillTx/>
                <a:latin typeface="Calibri"/>
              </a:rPr>
              <a:t>•  Student / parent can view &amp; reset the profile; deletion on request ≤ 30 days (ADR-002, §5.7)</a:t>
            </a:r>
            <a:endParaRPr b="0" lang="en-US" sz="1100" strike="noStrike" u="none">
              <a:solidFill>
                <a:srgbClr val="000000"/>
              </a:solidFill>
              <a:effectLst/>
              <a:uFillTx/>
              <a:latin typeface="Arial"/>
            </a:endParaRPr>
          </a:p>
        </p:txBody>
      </p:sp>
      <p:sp>
        <p:nvSpPr>
          <p:cNvPr id="163" name="Rounded Rectangle 26"/>
          <p:cNvSpPr/>
          <p:nvPr/>
        </p:nvSpPr>
        <p:spPr>
          <a:xfrm>
            <a:off x="365760" y="5669280"/>
            <a:ext cx="11429640" cy="685440"/>
          </a:xfrm>
          <a:prstGeom prst="roundRect">
            <a:avLst>
              <a:gd name="adj" fmla="val 16667"/>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trike="noStrike" u="none">
                <a:solidFill>
                  <a:srgbClr val="ffffff"/>
                </a:solidFill>
                <a:effectLst/>
                <a:uFillTx/>
                <a:latin typeface="Calibri"/>
              </a:rPr>
              <a:t>Personalization is based on bounded learning signals — not unrestricted memory.</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5"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Why Hybrid AI · Curriculum grounding</a:t>
            </a:r>
            <a:endParaRPr b="0" lang="en-US" sz="2600" strike="noStrike" u="none">
              <a:solidFill>
                <a:srgbClr val="000000"/>
              </a:solidFill>
              <a:effectLst/>
              <a:uFillTx/>
              <a:latin typeface="Arial"/>
            </a:endParaRPr>
          </a:p>
        </p:txBody>
      </p:sp>
      <p:sp>
        <p:nvSpPr>
          <p:cNvPr id="166"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Hòa (M3)</a:t>
            </a:r>
            <a:endParaRPr b="0" lang="en-US" sz="1200" strike="noStrike" u="none">
              <a:solidFill>
                <a:srgbClr val="000000"/>
              </a:solidFill>
              <a:effectLst/>
              <a:uFillTx/>
              <a:latin typeface="Arial"/>
            </a:endParaRPr>
          </a:p>
        </p:txBody>
      </p:sp>
      <p:sp>
        <p:nvSpPr>
          <p:cNvPr id="167"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4.1</a:t>
            </a:r>
            <a:endParaRPr b="0" lang="en-US" sz="1100" strike="noStrike" u="none">
              <a:solidFill>
                <a:srgbClr val="000000"/>
              </a:solidFill>
              <a:effectLst/>
              <a:uFillTx/>
              <a:latin typeface="Arial"/>
            </a:endParaRPr>
          </a:p>
        </p:txBody>
      </p:sp>
      <p:sp>
        <p:nvSpPr>
          <p:cNvPr id="168"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9" name="TextBox 6"/>
          <p:cNvSpPr/>
          <p:nvPr/>
        </p:nvSpPr>
        <p:spPr>
          <a:xfrm>
            <a:off x="365760" y="6537960"/>
            <a:ext cx="8229240" cy="31968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 · ATAD v1.0 · EN</a:t>
            </a:r>
            <a:endParaRPr b="0" lang="en-US" sz="1000" strike="noStrike" u="none">
              <a:solidFill>
                <a:srgbClr val="000000"/>
              </a:solidFill>
              <a:effectLst/>
              <a:uFillTx/>
              <a:latin typeface="Arial"/>
            </a:endParaRPr>
          </a:p>
        </p:txBody>
      </p:sp>
      <p:sp>
        <p:nvSpPr>
          <p:cNvPr id="170"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5 / 14</a:t>
            </a:r>
            <a:endParaRPr b="0" lang="en-US" sz="1000" strike="noStrike" u="none">
              <a:solidFill>
                <a:srgbClr val="000000"/>
              </a:solidFill>
              <a:effectLst/>
              <a:uFillTx/>
              <a:latin typeface="Arial"/>
            </a:endParaRPr>
          </a:p>
        </p:txBody>
      </p:sp>
      <p:sp>
        <p:nvSpPr>
          <p:cNvPr id="171" name="TextBox 8"/>
          <p:cNvSpPr/>
          <p:nvPr/>
        </p:nvSpPr>
        <p:spPr>
          <a:xfrm>
            <a:off x="365760" y="1051560"/>
            <a:ext cx="5851800" cy="45684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300" strike="noStrike" u="none">
                <a:solidFill>
                  <a:srgbClr val="0f1f3d"/>
                </a:solidFill>
                <a:effectLst/>
                <a:uFillTx/>
                <a:latin typeface="Calibri"/>
              </a:rPr>
              <a:t>Chosen pattern: Hybrid — policy + RAG + tools + LLM</a:t>
            </a:r>
            <a:endParaRPr b="0" lang="en-US" sz="1300" strike="noStrike" u="none">
              <a:solidFill>
                <a:srgbClr val="000000"/>
              </a:solidFill>
              <a:effectLst/>
              <a:uFillTx/>
              <a:latin typeface="Arial"/>
            </a:endParaRPr>
          </a:p>
        </p:txBody>
      </p:sp>
      <p:graphicFrame>
        <p:nvGraphicFramePr>
          <p:cNvPr id="172" name="Table 9"/>
          <p:cNvGraphicFramePr/>
          <p:nvPr/>
        </p:nvGraphicFramePr>
        <p:xfrm>
          <a:off x="365760" y="1554480"/>
          <a:ext cx="6766200" cy="3017160"/>
        </p:xfrm>
        <a:graphic>
          <a:graphicData uri="http://schemas.openxmlformats.org/drawingml/2006/table">
            <a:tbl>
              <a:tblPr/>
              <a:tblGrid>
                <a:gridCol w="2011680"/>
                <a:gridCol w="2286000"/>
                <a:gridCol w="2468880"/>
              </a:tblGrid>
              <a:tr h="43092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Capability</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Technology pattern</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Why not let the LLM do it</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4309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Natural-language tutoring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 (managed small, T1)</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this is the genuinely linguistic part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309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Curriculum grounding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RAG over teacher-reviewed Hint Ladder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Model doesn't know EduNova's curriculum; needs versioning &amp; audit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309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Correctness, formula equivalence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Deterministic tool (CAS/SymPy)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 arithmetic is unreliable; zero token cost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309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Mastery update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Deterministic logic (BKT)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Must be explainable, stable, auditable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309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Pedagogical control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State machine (Dialogue Policy)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Prompts can't enforce; code is unit-testable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309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Safety / answer leakage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Validator (rules + classifier + safety API)</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Never let the model grade itself</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sp>
        <p:nvSpPr>
          <p:cNvPr id="173" name="TextBox 10"/>
          <p:cNvSpPr/>
          <p:nvPr/>
        </p:nvSpPr>
        <p:spPr>
          <a:xfrm>
            <a:off x="7315200" y="1051560"/>
            <a:ext cx="448020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Curriculum grounding — offline lane</a:t>
            </a:r>
            <a:endParaRPr b="0" lang="en-US" sz="1500" strike="noStrike" u="none">
              <a:solidFill>
                <a:srgbClr val="000000"/>
              </a:solidFill>
              <a:effectLst/>
              <a:uFillTx/>
              <a:latin typeface="Arial"/>
            </a:endParaRPr>
          </a:p>
        </p:txBody>
      </p:sp>
      <p:sp>
        <p:nvSpPr>
          <p:cNvPr id="174" name="Rounded Rectangle 11"/>
          <p:cNvSpPr/>
          <p:nvPr/>
        </p:nvSpPr>
        <p:spPr>
          <a:xfrm>
            <a:off x="7498080" y="1463040"/>
            <a:ext cx="4114440" cy="502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EduNova content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exercises · worked solutions · chapter/skill tags</a:t>
            </a:r>
            <a:endParaRPr b="0" lang="en-US" sz="900" strike="noStrike" u="none">
              <a:solidFill>
                <a:srgbClr val="000000"/>
              </a:solidFill>
              <a:effectLst/>
              <a:uFillTx/>
              <a:latin typeface="Arial"/>
            </a:endParaRPr>
          </a:p>
        </p:txBody>
      </p:sp>
      <p:cxnSp>
        <p:nvCxnSpPr>
          <p:cNvPr id="175" name="Connector 12"/>
          <p:cNvCxnSpPr/>
          <p:nvPr/>
        </p:nvCxnSpPr>
        <p:spPr>
          <a:xfrm>
            <a:off x="9555120" y="1965960"/>
            <a:ext cx="360" cy="119160"/>
          </a:xfrm>
          <a:prstGeom prst="straightConnector1">
            <a:avLst/>
          </a:prstGeom>
          <a:ln w="19050">
            <a:solidFill>
              <a:srgbClr val="5f6b7a"/>
            </a:solidFill>
            <a:round/>
            <a:tailEnd len="med" type="triangle" w="med"/>
          </a:ln>
        </p:spPr>
      </p:cxnSp>
      <p:sp>
        <p:nvSpPr>
          <p:cNvPr id="176" name="Rounded Rectangle 13"/>
          <p:cNvSpPr/>
          <p:nvPr/>
        </p:nvSpPr>
        <p:spPr>
          <a:xfrm>
            <a:off x="7498080" y="2084760"/>
            <a:ext cx="4114440" cy="502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Large LLM (offline) drafts Hint Ladder</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L0 nudge → L3 near-solution; Answer Vault split off</a:t>
            </a:r>
            <a:endParaRPr b="0" lang="en-US" sz="900" strike="noStrike" u="none">
              <a:solidFill>
                <a:srgbClr val="000000"/>
              </a:solidFill>
              <a:effectLst/>
              <a:uFillTx/>
              <a:latin typeface="Arial"/>
            </a:endParaRPr>
          </a:p>
        </p:txBody>
      </p:sp>
      <p:cxnSp>
        <p:nvCxnSpPr>
          <p:cNvPr id="177" name="Connector 14"/>
          <p:cNvCxnSpPr/>
          <p:nvPr/>
        </p:nvCxnSpPr>
        <p:spPr>
          <a:xfrm>
            <a:off x="9555120" y="2587680"/>
            <a:ext cx="360" cy="119160"/>
          </a:xfrm>
          <a:prstGeom prst="straightConnector1">
            <a:avLst/>
          </a:prstGeom>
          <a:ln w="19050">
            <a:solidFill>
              <a:srgbClr val="5f6b7a"/>
            </a:solidFill>
            <a:round/>
            <a:tailEnd len="med" type="triangle" w="med"/>
          </a:ln>
        </p:spPr>
      </p:cxnSp>
      <p:sp>
        <p:nvSpPr>
          <p:cNvPr id="178" name="Rounded Rectangle 15"/>
          <p:cNvSpPr/>
          <p:nvPr/>
        </p:nvSpPr>
        <p:spPr>
          <a:xfrm>
            <a:off x="7498080" y="2706480"/>
            <a:ext cx="4114440" cy="50256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ffffff"/>
                </a:solidFill>
                <a:effectLst/>
                <a:uFillTx/>
                <a:latin typeface="Calibri"/>
              </a:rPr>
              <a:t>Teacher review &amp; versioning</a:t>
            </a:r>
            <a:endParaRPr b="0" lang="en-US" sz="1100" strike="noStrike" u="none">
              <a:solidFill>
                <a:srgbClr val="ffffff"/>
              </a:solidFill>
              <a:effectLst/>
              <a:uFillTx/>
              <a:latin typeface="Arial"/>
            </a:endParaRPr>
          </a:p>
          <a:p>
            <a:pPr algn="ctr" defTabSz="457200">
              <a:lnSpc>
                <a:spcPct val="100000"/>
              </a:lnSpc>
            </a:pPr>
            <a:r>
              <a:rPr b="0" lang="en-US" sz="900" strike="noStrike" u="none">
                <a:solidFill>
                  <a:srgbClr val="ffffff"/>
                </a:solidFill>
                <a:effectLst/>
                <a:uFillTx/>
                <a:latin typeface="Calibri"/>
              </a:rPr>
              <a:t>≥ 2 reviewers · reject → fix generation prompt</a:t>
            </a:r>
            <a:endParaRPr b="0" lang="en-US" sz="900" strike="noStrike" u="none">
              <a:solidFill>
                <a:srgbClr val="ffffff"/>
              </a:solidFill>
              <a:effectLst/>
              <a:uFillTx/>
              <a:latin typeface="Arial"/>
            </a:endParaRPr>
          </a:p>
        </p:txBody>
      </p:sp>
      <p:cxnSp>
        <p:nvCxnSpPr>
          <p:cNvPr id="179" name="Connector 16"/>
          <p:cNvCxnSpPr/>
          <p:nvPr/>
        </p:nvCxnSpPr>
        <p:spPr>
          <a:xfrm>
            <a:off x="9555120" y="3209400"/>
            <a:ext cx="360" cy="119160"/>
          </a:xfrm>
          <a:prstGeom prst="straightConnector1">
            <a:avLst/>
          </a:prstGeom>
          <a:ln w="19050">
            <a:solidFill>
              <a:srgbClr val="5f6b7a"/>
            </a:solidFill>
            <a:round/>
            <a:tailEnd len="med" type="triangle" w="med"/>
          </a:ln>
        </p:spPr>
      </p:cxnSp>
      <p:sp>
        <p:nvSpPr>
          <p:cNvPr id="180" name="Rounded Rectangle 17"/>
          <p:cNvSpPr/>
          <p:nvPr/>
        </p:nvSpPr>
        <p:spPr>
          <a:xfrm>
            <a:off x="7498080" y="3328560"/>
            <a:ext cx="4114440" cy="502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Index in pgvector (HNSW)</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chunk = one hint level · skill/level metadata</a:t>
            </a:r>
            <a:endParaRPr b="0" lang="en-US" sz="900" strike="noStrike" u="none">
              <a:solidFill>
                <a:srgbClr val="000000"/>
              </a:solidFill>
              <a:effectLst/>
              <a:uFillTx/>
              <a:latin typeface="Arial"/>
            </a:endParaRPr>
          </a:p>
        </p:txBody>
      </p:sp>
      <p:cxnSp>
        <p:nvCxnSpPr>
          <p:cNvPr id="181" name="Connector 18"/>
          <p:cNvCxnSpPr/>
          <p:nvPr/>
        </p:nvCxnSpPr>
        <p:spPr>
          <a:xfrm>
            <a:off x="9555120" y="3831120"/>
            <a:ext cx="360" cy="119160"/>
          </a:xfrm>
          <a:prstGeom prst="straightConnector1">
            <a:avLst/>
          </a:prstGeom>
          <a:ln w="19050">
            <a:solidFill>
              <a:srgbClr val="5f6b7a"/>
            </a:solidFill>
            <a:round/>
            <a:tailEnd len="med" type="triangle" w="med"/>
          </a:ln>
        </p:spPr>
      </p:cxnSp>
      <p:sp>
        <p:nvSpPr>
          <p:cNvPr id="182" name="Rounded Rectangle 19"/>
          <p:cNvSpPr/>
          <p:nvPr/>
        </p:nvSpPr>
        <p:spPr>
          <a:xfrm>
            <a:off x="7498080" y="3950280"/>
            <a:ext cx="4114440" cy="5025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Runtime retrieves ≤ allowed level</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LLM gets the ladder, never the Vault</a:t>
            </a:r>
            <a:endParaRPr b="0" lang="en-US" sz="900" strike="noStrike" u="none">
              <a:solidFill>
                <a:srgbClr val="000000"/>
              </a:solidFill>
              <a:effectLst/>
              <a:uFillTx/>
              <a:latin typeface="Arial"/>
            </a:endParaRPr>
          </a:p>
        </p:txBody>
      </p:sp>
      <p:sp>
        <p:nvSpPr>
          <p:cNvPr id="183" name="Rectangle 20"/>
          <p:cNvSpPr/>
          <p:nvPr/>
        </p:nvSpPr>
        <p:spPr>
          <a:xfrm>
            <a:off x="365760" y="4663440"/>
            <a:ext cx="6766200" cy="12340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4" name="TextBox 21"/>
          <p:cNvSpPr/>
          <p:nvPr/>
        </p:nvSpPr>
        <p:spPr>
          <a:xfrm>
            <a:off x="457200" y="4681800"/>
            <a:ext cx="6583320" cy="118836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100" strike="noStrike" u="none">
                <a:solidFill>
                  <a:srgbClr val="0f1f3d"/>
                </a:solidFill>
                <a:effectLst/>
                <a:uFillTx/>
                <a:latin typeface="Calibri"/>
              </a:rPr>
              <a:t>Why not fine-tune first?  </a:t>
            </a:r>
            <a:endParaRPr b="0" lang="en-US" sz="11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No trusted tutoring dialogue corpus (~0) + curriculum changes frequently → RAG updates in place, fine-tuning must retrain. SFT/DPO of an 8B model is Phase 2, once ≥ 50k labelled turns exist (ADR-005).</a:t>
            </a:r>
            <a:endParaRPr b="0" lang="en-US" sz="1000" strike="noStrike" u="none">
              <a:solidFill>
                <a:srgbClr val="000000"/>
              </a:solidFill>
              <a:effectLst/>
              <a:uFillTx/>
              <a:latin typeface="Arial"/>
            </a:endParaRPr>
          </a:p>
          <a:p>
            <a:pPr defTabSz="457200">
              <a:lnSpc>
                <a:spcPct val="100000"/>
              </a:lnSpc>
              <a:spcAft>
                <a:spcPts val="400"/>
              </a:spcAft>
            </a:pPr>
            <a:r>
              <a:rPr b="1" lang="en-US" sz="1100" strike="noStrike" u="none">
                <a:solidFill>
                  <a:srgbClr val="0f1f3d"/>
                </a:solidFill>
                <a:effectLst/>
                <a:uFillTx/>
                <a:latin typeface="Calibri"/>
              </a:rPr>
              <a:t>Why not autonomous agents?  </a:t>
            </a:r>
            <a:endParaRPr b="0" lang="en-US" sz="11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Unnecessary autonomy — the tutoring flow is finite; agents add latency, cost and safety surface.</a:t>
            </a:r>
            <a:endParaRPr b="0" lang="en-US" sz="1000" strike="noStrike" u="none">
              <a:solidFill>
                <a:srgbClr val="000000"/>
              </a:solidFill>
              <a:effectLst/>
              <a:uFillTx/>
              <a:latin typeface="Arial"/>
            </a:endParaRPr>
          </a:p>
        </p:txBody>
      </p:sp>
      <p:sp>
        <p:nvSpPr>
          <p:cNvPr id="185" name="Rounded Rectangle 22"/>
          <p:cNvSpPr/>
          <p:nvPr/>
        </p:nvSpPr>
        <p:spPr>
          <a:xfrm>
            <a:off x="365760" y="5989320"/>
            <a:ext cx="11429640" cy="475200"/>
          </a:xfrm>
          <a:prstGeom prst="roundRect">
            <a:avLst>
              <a:gd name="adj" fmla="val 16667"/>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200" strike="noStrike" u="none">
                <a:solidFill>
                  <a:srgbClr val="ffffff"/>
                </a:solidFill>
                <a:effectLst/>
                <a:uFillTx/>
                <a:latin typeface="Calibri"/>
              </a:rPr>
              <a:t>Use an LLM only where the problem is genuinely linguistic; grounding = an approved corpus, not the model's memory.</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7"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Safety for minors: four layers of defence</a:t>
            </a:r>
            <a:endParaRPr b="0" lang="en-US" sz="2600" strike="noStrike" u="none">
              <a:solidFill>
                <a:srgbClr val="000000"/>
              </a:solidFill>
              <a:effectLst/>
              <a:uFillTx/>
              <a:latin typeface="Arial"/>
            </a:endParaRPr>
          </a:p>
        </p:txBody>
      </p:sp>
      <p:sp>
        <p:nvSpPr>
          <p:cNvPr id="188"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Phụng (M4)</a:t>
            </a:r>
            <a:endParaRPr b="0" lang="en-US" sz="1200" strike="noStrike" u="none">
              <a:solidFill>
                <a:srgbClr val="000000"/>
              </a:solidFill>
              <a:effectLst/>
              <a:uFillTx/>
              <a:latin typeface="Arial"/>
            </a:endParaRPr>
          </a:p>
        </p:txBody>
      </p:sp>
      <p:sp>
        <p:nvSpPr>
          <p:cNvPr id="189"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4.4</a:t>
            </a:r>
            <a:endParaRPr b="0" lang="en-US" sz="1100" strike="noStrike" u="none">
              <a:solidFill>
                <a:srgbClr val="000000"/>
              </a:solidFill>
              <a:effectLst/>
              <a:uFillTx/>
              <a:latin typeface="Arial"/>
            </a:endParaRPr>
          </a:p>
        </p:txBody>
      </p:sp>
      <p:sp>
        <p:nvSpPr>
          <p:cNvPr id="190"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1"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192"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6 / 14</a:t>
            </a:r>
            <a:endParaRPr b="0" lang="en-US" sz="1000" strike="noStrike" u="none">
              <a:solidFill>
                <a:srgbClr val="000000"/>
              </a:solidFill>
              <a:effectLst/>
              <a:uFillTx/>
              <a:latin typeface="Arial"/>
            </a:endParaRPr>
          </a:p>
        </p:txBody>
      </p:sp>
      <p:sp>
        <p:nvSpPr>
          <p:cNvPr id="193" name="Rounded Rectangle 8"/>
          <p:cNvSpPr/>
          <p:nvPr/>
        </p:nvSpPr>
        <p:spPr>
          <a:xfrm>
            <a:off x="365760" y="1097280"/>
            <a:ext cx="6674760" cy="7768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200" strike="noStrike" u="none">
                <a:solidFill>
                  <a:srgbClr val="1e252f"/>
                </a:solidFill>
                <a:effectLst/>
                <a:uFillTx/>
                <a:latin typeface="Calibri"/>
              </a:rPr>
              <a:t>1 · BEFORE THE MODEL</a:t>
            </a:r>
            <a:endParaRPr b="0" lang="en-US" sz="1200" strike="noStrike" u="none">
              <a:solidFill>
                <a:srgbClr val="000000"/>
              </a:solidFill>
              <a:effectLst/>
              <a:uFillTx/>
              <a:latin typeface="Arial"/>
            </a:endParaRPr>
          </a:p>
          <a:p>
            <a:pPr algn="ctr" defTabSz="457200">
              <a:lnSpc>
                <a:spcPct val="100000"/>
              </a:lnSpc>
            </a:pPr>
            <a:r>
              <a:rPr b="0" lang="en-US" sz="1000" strike="noStrike" u="none">
                <a:solidFill>
                  <a:srgbClr val="5f6b7a"/>
                </a:solidFill>
                <a:effectLst/>
                <a:uFillTx/>
                <a:latin typeface="Calibri"/>
              </a:rPr>
              <a:t>Identity · parental consent gate · input moderation · prompt-injection detection · topic lock</a:t>
            </a:r>
            <a:endParaRPr b="0" lang="en-US" sz="1000" strike="noStrike" u="none">
              <a:solidFill>
                <a:srgbClr val="000000"/>
              </a:solidFill>
              <a:effectLst/>
              <a:uFillTx/>
              <a:latin typeface="Arial"/>
            </a:endParaRPr>
          </a:p>
        </p:txBody>
      </p:sp>
      <p:sp>
        <p:nvSpPr>
          <p:cNvPr id="194" name="Rounded Rectangle 9"/>
          <p:cNvSpPr/>
          <p:nvPr/>
        </p:nvSpPr>
        <p:spPr>
          <a:xfrm>
            <a:off x="365760" y="1993320"/>
            <a:ext cx="6674760" cy="7768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200" strike="noStrike" u="none">
                <a:solidFill>
                  <a:srgbClr val="1e252f"/>
                </a:solidFill>
                <a:effectLst/>
                <a:uFillTx/>
                <a:latin typeface="Calibri"/>
              </a:rPr>
              <a:t>2 · DURING TUTORING</a:t>
            </a:r>
            <a:endParaRPr b="0" lang="en-US" sz="1200" strike="noStrike" u="none">
              <a:solidFill>
                <a:srgbClr val="000000"/>
              </a:solidFill>
              <a:effectLst/>
              <a:uFillTx/>
              <a:latin typeface="Arial"/>
            </a:endParaRPr>
          </a:p>
          <a:p>
            <a:pPr algn="ctr" defTabSz="457200">
              <a:lnSpc>
                <a:spcPct val="100000"/>
              </a:lnSpc>
            </a:pPr>
            <a:r>
              <a:rPr b="0" lang="en-US" sz="1000" strike="noStrike" u="none">
                <a:solidFill>
                  <a:srgbClr val="5f6b7a"/>
                </a:solidFill>
                <a:effectLst/>
                <a:uFillTx/>
                <a:latin typeface="Calibri"/>
              </a:rPr>
              <a:t>Bounded tools · approved retrieval only · state policy · token/turn budget · no answer in context</a:t>
            </a:r>
            <a:endParaRPr b="0" lang="en-US" sz="1000" strike="noStrike" u="none">
              <a:solidFill>
                <a:srgbClr val="000000"/>
              </a:solidFill>
              <a:effectLst/>
              <a:uFillTx/>
              <a:latin typeface="Arial"/>
            </a:endParaRPr>
          </a:p>
        </p:txBody>
      </p:sp>
      <p:sp>
        <p:nvSpPr>
          <p:cNvPr id="195" name="Rounded Rectangle 10"/>
          <p:cNvSpPr/>
          <p:nvPr/>
        </p:nvSpPr>
        <p:spPr>
          <a:xfrm>
            <a:off x="365760" y="2889360"/>
            <a:ext cx="6674760" cy="776880"/>
          </a:xfrm>
          <a:prstGeom prst="roundRect">
            <a:avLst>
              <a:gd name="adj" fmla="val 16667"/>
            </a:avLst>
          </a:prstGeom>
          <a:solidFill>
            <a:srgbClr val="f28c28"/>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200" strike="noStrike" u="none">
                <a:solidFill>
                  <a:srgbClr val="ffffff"/>
                </a:solidFill>
                <a:effectLst/>
                <a:uFillTx/>
                <a:latin typeface="Calibri"/>
              </a:rPr>
              <a:t>3 · BEFORE DELIVERY</a:t>
            </a:r>
            <a:endParaRPr b="0" lang="en-US" sz="1200" strike="noStrike" u="none">
              <a:solidFill>
                <a:srgbClr val="000000"/>
              </a:solidFill>
              <a:effectLst/>
              <a:uFillTx/>
              <a:latin typeface="Arial"/>
            </a:endParaRPr>
          </a:p>
          <a:p>
            <a:pPr algn="ctr" defTabSz="457200">
              <a:lnSpc>
                <a:spcPct val="100000"/>
              </a:lnSpc>
            </a:pPr>
            <a:r>
              <a:rPr b="0" lang="en-US" sz="1000" strike="noStrike" u="none">
                <a:solidFill>
                  <a:srgbClr val="ffffff"/>
                </a:solidFill>
                <a:effectLst/>
                <a:uFillTx/>
                <a:latin typeface="Calibri"/>
              </a:rPr>
              <a:t>Validator: safety · grounding · age-appropriateness · answer-leak (CAS vs Vault + paraphrase clf) → fail = static hint</a:t>
            </a:r>
            <a:endParaRPr b="0" lang="en-US" sz="1000" strike="noStrike" u="none">
              <a:solidFill>
                <a:srgbClr val="000000"/>
              </a:solidFill>
              <a:effectLst/>
              <a:uFillTx/>
              <a:latin typeface="Arial"/>
            </a:endParaRPr>
          </a:p>
        </p:txBody>
      </p:sp>
      <p:sp>
        <p:nvSpPr>
          <p:cNvPr id="196" name="Rounded Rectangle 11"/>
          <p:cNvSpPr/>
          <p:nvPr/>
        </p:nvSpPr>
        <p:spPr>
          <a:xfrm>
            <a:off x="365760" y="3785760"/>
            <a:ext cx="6674760" cy="7768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200" strike="noStrike" u="none">
                <a:solidFill>
                  <a:srgbClr val="1e252f"/>
                </a:solidFill>
                <a:effectLst/>
                <a:uFillTx/>
                <a:latin typeface="Calibri"/>
              </a:rPr>
              <a:t>4 · AFTER DELIVERY</a:t>
            </a:r>
            <a:endParaRPr b="0" lang="en-US" sz="1200" strike="noStrike" u="none">
              <a:solidFill>
                <a:srgbClr val="000000"/>
              </a:solidFill>
              <a:effectLst/>
              <a:uFillTx/>
              <a:latin typeface="Arial"/>
            </a:endParaRPr>
          </a:p>
          <a:p>
            <a:pPr algn="ctr" defTabSz="457200">
              <a:lnSpc>
                <a:spcPct val="100000"/>
              </a:lnSpc>
            </a:pPr>
            <a:r>
              <a:rPr b="0" lang="en-US" sz="1000" strike="noStrike" u="none">
                <a:solidFill>
                  <a:srgbClr val="5f6b7a"/>
                </a:solidFill>
                <a:effectLst/>
                <a:uFillTx/>
                <a:latin typeface="Calibri"/>
              </a:rPr>
              <a:t>Monitoring · continuous red-team · canary/rollback 5 min · kill switch → Static Ladder Mode</a:t>
            </a:r>
            <a:endParaRPr b="0" lang="en-US" sz="1000" strike="noStrike" u="none">
              <a:solidFill>
                <a:srgbClr val="000000"/>
              </a:solidFill>
              <a:effectLst/>
              <a:uFillTx/>
              <a:latin typeface="Arial"/>
            </a:endParaRPr>
          </a:p>
        </p:txBody>
      </p:sp>
      <p:sp>
        <p:nvSpPr>
          <p:cNvPr id="197" name="Rounded Rectangle 12"/>
          <p:cNvSpPr/>
          <p:nvPr/>
        </p:nvSpPr>
        <p:spPr>
          <a:xfrm>
            <a:off x="365760" y="4754880"/>
            <a:ext cx="6674760" cy="822600"/>
          </a:xfrm>
          <a:prstGeom prst="roundRect">
            <a:avLst>
              <a:gd name="adj" fmla="val 16667"/>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600" strike="noStrike" u="none">
                <a:solidFill>
                  <a:srgbClr val="ffffff"/>
                </a:solidFill>
                <a:effectLst/>
                <a:uFillTx/>
                <a:latin typeface="Calibri"/>
              </a:rPr>
              <a:t>UNVALIDATED MODEL OUTPUT NEVER REACHES THE STUDENT</a:t>
            </a:r>
            <a:endParaRPr b="0" lang="en-US" sz="1600" strike="noStrike" u="none">
              <a:solidFill>
                <a:srgbClr val="ffffff"/>
              </a:solidFill>
              <a:effectLst/>
              <a:uFillTx/>
              <a:latin typeface="Arial"/>
            </a:endParaRPr>
          </a:p>
        </p:txBody>
      </p:sp>
      <p:sp>
        <p:nvSpPr>
          <p:cNvPr id="198" name="TextBox 13"/>
          <p:cNvSpPr/>
          <p:nvPr/>
        </p:nvSpPr>
        <p:spPr>
          <a:xfrm>
            <a:off x="7269480" y="1051560"/>
            <a:ext cx="457164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d93b3b"/>
                </a:solidFill>
                <a:effectLst/>
                <a:uFillTx/>
                <a:latin typeface="Calibri"/>
              </a:rPr>
              <a:t>The two most important risks</a:t>
            </a:r>
            <a:endParaRPr b="0" lang="en-US" sz="1500" strike="noStrike" u="none">
              <a:solidFill>
                <a:srgbClr val="000000"/>
              </a:solidFill>
              <a:effectLst/>
              <a:uFillTx/>
              <a:latin typeface="Arial"/>
            </a:endParaRPr>
          </a:p>
        </p:txBody>
      </p:sp>
      <p:graphicFrame>
        <p:nvGraphicFramePr>
          <p:cNvPr id="199" name="Table 14"/>
          <p:cNvGraphicFramePr/>
          <p:nvPr/>
        </p:nvGraphicFramePr>
        <p:xfrm>
          <a:off x="7269480" y="1463040"/>
          <a:ext cx="4571640" cy="2377080"/>
        </p:xfrm>
        <a:graphic>
          <a:graphicData uri="http://schemas.openxmlformats.org/drawingml/2006/table">
            <a:tbl>
              <a:tblPr/>
              <a:tblGrid>
                <a:gridCol w="1371600"/>
                <a:gridCol w="2103120"/>
                <a:gridCol w="1097280"/>
              </a:tblGrid>
              <a:tr h="792360">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Risk</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Controls</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Target</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7923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Harmful content (self-harm, violence, adult, grooming)</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Layers 1 + 3: classifier + managed safety API; self-harm → protocol: stop tutoring, show hotline, notify parent</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0 red-team pass-through · &lt; 0.01% prod</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923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Answer leakage (“just give me the answer”, jailbreak, paraphrase)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State machine + canonical answer check (CAS) + leak classifier + adversarial eval every release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ALR ≤ 1.0% golden set · ≤ 0.5% production</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sp>
        <p:nvSpPr>
          <p:cNvPr id="200" name="TextBox 15"/>
          <p:cNvSpPr/>
          <p:nvPr/>
        </p:nvSpPr>
        <p:spPr>
          <a:xfrm>
            <a:off x="7269480" y="3931920"/>
            <a:ext cx="4571640" cy="164556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1e252f"/>
                </a:solidFill>
                <a:effectLst/>
                <a:uFillTx/>
                <a:latin typeface="Calibri"/>
              </a:rPr>
              <a:t>•  Data minimisation: pseudonymous, redacted raw 30 days, no training without consent</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Bias/fairness: ALR &amp; pedagogy score sliced by gender, region, free/paid</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XAI: every hint has a trace → ladder version · policy state · validator verdict</a:t>
            </a:r>
            <a:endParaRPr b="0" lang="en-US" sz="1000" strike="noStrike" u="none">
              <a:solidFill>
                <a:srgbClr val="000000"/>
              </a:solidFill>
              <a:effectLst/>
              <a:uFillTx/>
              <a:latin typeface="Arial"/>
            </a:endParaRPr>
          </a:p>
        </p:txBody>
      </p:sp>
      <p:sp>
        <p:nvSpPr>
          <p:cNvPr id="201" name="TextBox 16"/>
          <p:cNvSpPr/>
          <p:nvPr/>
        </p:nvSpPr>
        <p:spPr>
          <a:xfrm>
            <a:off x="365760" y="5760720"/>
            <a:ext cx="11429640" cy="6397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Governance mapped to NIST AI RMF · ISO/IEC 42001 · Vietnam Decree 13/2023 (PDP) · COPPA/GDPR-K if expanding — jurisdiction-specific compliance remains an ASSUMPTION pending legal confirmation (ATAD §11).</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3"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Evaluation: how we know TutorMate teaches well</a:t>
            </a:r>
            <a:endParaRPr b="0" lang="en-US" sz="2600" strike="noStrike" u="none">
              <a:solidFill>
                <a:srgbClr val="000000"/>
              </a:solidFill>
              <a:effectLst/>
              <a:uFillTx/>
              <a:latin typeface="Arial"/>
            </a:endParaRPr>
          </a:p>
        </p:txBody>
      </p:sp>
      <p:sp>
        <p:nvSpPr>
          <p:cNvPr id="204"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Phú (M6)</a:t>
            </a:r>
            <a:endParaRPr b="0" lang="en-US" sz="1200" strike="noStrike" u="none">
              <a:solidFill>
                <a:srgbClr val="000000"/>
              </a:solidFill>
              <a:effectLst/>
              <a:uFillTx/>
              <a:latin typeface="Arial"/>
            </a:endParaRPr>
          </a:p>
        </p:txBody>
      </p:sp>
      <p:sp>
        <p:nvSpPr>
          <p:cNvPr id="205"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4.1 · 4.4</a:t>
            </a:r>
            <a:endParaRPr b="0" lang="en-US" sz="1100" strike="noStrike" u="none">
              <a:solidFill>
                <a:srgbClr val="000000"/>
              </a:solidFill>
              <a:effectLst/>
              <a:uFillTx/>
              <a:latin typeface="Arial"/>
            </a:endParaRPr>
          </a:p>
        </p:txBody>
      </p:sp>
      <p:sp>
        <p:nvSpPr>
          <p:cNvPr id="206"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7" name="TextBox 6"/>
          <p:cNvSpPr/>
          <p:nvPr/>
        </p:nvSpPr>
        <p:spPr>
          <a:xfrm>
            <a:off x="365760" y="6537960"/>
            <a:ext cx="8229240" cy="31968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 · ATAD v1.0 · EN</a:t>
            </a:r>
            <a:endParaRPr b="0" lang="en-US" sz="1000" strike="noStrike" u="none">
              <a:solidFill>
                <a:srgbClr val="000000"/>
              </a:solidFill>
              <a:effectLst/>
              <a:uFillTx/>
              <a:latin typeface="Arial"/>
            </a:endParaRPr>
          </a:p>
        </p:txBody>
      </p:sp>
      <p:sp>
        <p:nvSpPr>
          <p:cNvPr id="208"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7 / 14</a:t>
            </a:r>
            <a:endParaRPr b="0" lang="en-US" sz="1000" strike="noStrike" u="none">
              <a:solidFill>
                <a:srgbClr val="000000"/>
              </a:solidFill>
              <a:effectLst/>
              <a:uFillTx/>
              <a:latin typeface="Arial"/>
            </a:endParaRPr>
          </a:p>
        </p:txBody>
      </p:sp>
      <p:graphicFrame>
        <p:nvGraphicFramePr>
          <p:cNvPr id="209" name="Table 8"/>
          <p:cNvGraphicFramePr/>
          <p:nvPr/>
        </p:nvGraphicFramePr>
        <p:xfrm>
          <a:off x="365760" y="1097280"/>
          <a:ext cx="7589160" cy="3748680"/>
        </p:xfrm>
        <a:graphic>
          <a:graphicData uri="http://schemas.openxmlformats.org/drawingml/2006/table">
            <a:tbl>
              <a:tblPr/>
              <a:tblGrid>
                <a:gridCol w="1188720"/>
                <a:gridCol w="2377440"/>
                <a:gridCol w="2377440"/>
                <a:gridCol w="1645920"/>
              </a:tblGrid>
              <a:tr h="41652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Dimension</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Metric</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How measured</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Release threshold</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Correctness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Answer / step correctness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CAS + golden set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98% grader accuracy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Grounding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Hint has a valid source in the ladder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Citation check</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97%</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Pedagogy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State adherence · hint usefulness (Pedagogy Score)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LLM-judge calibrated vs teachers (κ ≥ 0.7)</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4.0/5</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Leakage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Answer Leak Rate (ALR)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CAS vs Vault + clf, adversarial set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1.0% golden · ≤ 0.5% prod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Safety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Critical escape · false refusal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Red-team suite 300+ cases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0 escapes · FR &lt; 3%</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Adaptation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Mastery update in the right direction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Offline BKT replay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AUC ≥ 0.75</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Performance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Full-turn latency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Load test + prod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p95 &lt; 3s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652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Blended cost / turn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Gateway ledger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$0.0007</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sp>
        <p:nvSpPr>
          <p:cNvPr id="210" name="TextBox 9"/>
          <p:cNvSpPr/>
          <p:nvPr/>
        </p:nvSpPr>
        <p:spPr>
          <a:xfrm>
            <a:off x="8183880" y="1051560"/>
            <a:ext cx="365724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Datasets &amp; process</a:t>
            </a:r>
            <a:endParaRPr b="0" lang="en-US" sz="1500" strike="noStrike" u="none">
              <a:solidFill>
                <a:srgbClr val="000000"/>
              </a:solidFill>
              <a:effectLst/>
              <a:uFillTx/>
              <a:latin typeface="Arial"/>
            </a:endParaRPr>
          </a:p>
        </p:txBody>
      </p:sp>
      <p:sp>
        <p:nvSpPr>
          <p:cNvPr id="211" name="Rounded Rectangle 10"/>
          <p:cNvSpPr/>
          <p:nvPr/>
        </p:nvSpPr>
        <p:spPr>
          <a:xfrm>
            <a:off x="8275320" y="1463040"/>
            <a:ext cx="3565800" cy="5482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Golden set ≥ 1,000</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exercise × dialogue state, teacher-labelled</a:t>
            </a:r>
            <a:endParaRPr b="0" lang="en-US" sz="900" strike="noStrike" u="none">
              <a:solidFill>
                <a:srgbClr val="000000"/>
              </a:solidFill>
              <a:effectLst/>
              <a:uFillTx/>
              <a:latin typeface="Arial"/>
            </a:endParaRPr>
          </a:p>
        </p:txBody>
      </p:sp>
      <p:cxnSp>
        <p:nvCxnSpPr>
          <p:cNvPr id="212" name="Connector 11"/>
          <p:cNvCxnSpPr/>
          <p:nvPr/>
        </p:nvCxnSpPr>
        <p:spPr>
          <a:xfrm>
            <a:off x="10058400" y="2011680"/>
            <a:ext cx="360" cy="109800"/>
          </a:xfrm>
          <a:prstGeom prst="straightConnector1">
            <a:avLst/>
          </a:prstGeom>
          <a:ln w="19050">
            <a:solidFill>
              <a:srgbClr val="5f6b7a"/>
            </a:solidFill>
            <a:round/>
            <a:tailEnd len="med" type="triangle" w="med"/>
          </a:ln>
        </p:spPr>
      </p:cxnSp>
      <p:sp>
        <p:nvSpPr>
          <p:cNvPr id="213" name="Rounded Rectangle 12"/>
          <p:cNvSpPr/>
          <p:nvPr/>
        </p:nvSpPr>
        <p:spPr>
          <a:xfrm>
            <a:off x="8275320" y="2121480"/>
            <a:ext cx="3565800" cy="5482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Frozen holdout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never used to tune prompt/model</a:t>
            </a:r>
            <a:endParaRPr b="0" lang="en-US" sz="900" strike="noStrike" u="none">
              <a:solidFill>
                <a:srgbClr val="000000"/>
              </a:solidFill>
              <a:effectLst/>
              <a:uFillTx/>
              <a:latin typeface="Arial"/>
            </a:endParaRPr>
          </a:p>
        </p:txBody>
      </p:sp>
      <p:cxnSp>
        <p:nvCxnSpPr>
          <p:cNvPr id="214" name="Connector 13"/>
          <p:cNvCxnSpPr/>
          <p:nvPr/>
        </p:nvCxnSpPr>
        <p:spPr>
          <a:xfrm>
            <a:off x="10058400" y="2669760"/>
            <a:ext cx="360" cy="110160"/>
          </a:xfrm>
          <a:prstGeom prst="straightConnector1">
            <a:avLst/>
          </a:prstGeom>
          <a:ln w="19050">
            <a:solidFill>
              <a:srgbClr val="5f6b7a"/>
            </a:solidFill>
            <a:round/>
            <a:tailEnd len="med" type="triangle" w="med"/>
          </a:ln>
        </p:spPr>
      </p:cxnSp>
      <p:sp>
        <p:nvSpPr>
          <p:cNvPr id="215" name="Rounded Rectangle 14"/>
          <p:cNvSpPr/>
          <p:nvPr/>
        </p:nvSpPr>
        <p:spPr>
          <a:xfrm>
            <a:off x="8275320" y="2779920"/>
            <a:ext cx="3565800" cy="5482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Adversarial red-team</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jailbreak · answer-fishing · harmful · injection</a:t>
            </a:r>
            <a:endParaRPr b="0" lang="en-US" sz="900" strike="noStrike" u="none">
              <a:solidFill>
                <a:srgbClr val="000000"/>
              </a:solidFill>
              <a:effectLst/>
              <a:uFillTx/>
              <a:latin typeface="Arial"/>
            </a:endParaRPr>
          </a:p>
        </p:txBody>
      </p:sp>
      <p:cxnSp>
        <p:nvCxnSpPr>
          <p:cNvPr id="216" name="Connector 15"/>
          <p:cNvCxnSpPr/>
          <p:nvPr/>
        </p:nvCxnSpPr>
        <p:spPr>
          <a:xfrm>
            <a:off x="10058400" y="3328200"/>
            <a:ext cx="360" cy="110160"/>
          </a:xfrm>
          <a:prstGeom prst="straightConnector1">
            <a:avLst/>
          </a:prstGeom>
          <a:ln w="19050">
            <a:solidFill>
              <a:srgbClr val="5f6b7a"/>
            </a:solidFill>
            <a:round/>
            <a:tailEnd len="med" type="triangle" w="med"/>
          </a:ln>
        </p:spPr>
      </p:cxnSp>
      <p:sp>
        <p:nvSpPr>
          <p:cNvPr id="217" name="Rounded Rectangle 16"/>
          <p:cNvSpPr/>
          <p:nvPr/>
        </p:nvSpPr>
        <p:spPr>
          <a:xfrm>
            <a:off x="8275320" y="3438000"/>
            <a:ext cx="3565800" cy="5482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Human educator review</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200 sessions/week, κ vs judge</a:t>
            </a:r>
            <a:endParaRPr b="0" lang="en-US" sz="900" strike="noStrike" u="none">
              <a:solidFill>
                <a:srgbClr val="000000"/>
              </a:solidFill>
              <a:effectLst/>
              <a:uFillTx/>
              <a:latin typeface="Arial"/>
            </a:endParaRPr>
          </a:p>
        </p:txBody>
      </p:sp>
      <p:cxnSp>
        <p:nvCxnSpPr>
          <p:cNvPr id="218" name="Connector 17"/>
          <p:cNvCxnSpPr/>
          <p:nvPr/>
        </p:nvCxnSpPr>
        <p:spPr>
          <a:xfrm>
            <a:off x="10058400" y="3986640"/>
            <a:ext cx="360" cy="110160"/>
          </a:xfrm>
          <a:prstGeom prst="straightConnector1">
            <a:avLst/>
          </a:prstGeom>
          <a:ln w="19050">
            <a:solidFill>
              <a:srgbClr val="5f6b7a"/>
            </a:solidFill>
            <a:round/>
            <a:tailEnd len="med" type="triangle" w="med"/>
          </a:ln>
        </p:spPr>
      </p:cxnSp>
      <p:sp>
        <p:nvSpPr>
          <p:cNvPr id="219" name="Rounded Rectangle 18"/>
          <p:cNvSpPr/>
          <p:nvPr/>
        </p:nvSpPr>
        <p:spPr>
          <a:xfrm>
            <a:off x="8275320" y="4096440"/>
            <a:ext cx="3565800" cy="54828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Production sampling</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5% of turns → async judge; drift alerts</a:t>
            </a:r>
            <a:endParaRPr b="0" lang="en-US" sz="900" strike="noStrike" u="none">
              <a:solidFill>
                <a:srgbClr val="000000"/>
              </a:solidFill>
              <a:effectLst/>
              <a:uFillTx/>
              <a:latin typeface="Arial"/>
            </a:endParaRPr>
          </a:p>
        </p:txBody>
      </p:sp>
      <p:sp>
        <p:nvSpPr>
          <p:cNvPr id="220" name="Rounded Rectangle 19"/>
          <p:cNvSpPr/>
          <p:nvPr/>
        </p:nvSpPr>
        <p:spPr>
          <a:xfrm>
            <a:off x="365760" y="5029200"/>
            <a:ext cx="7589160" cy="685440"/>
          </a:xfrm>
          <a:prstGeom prst="roundRect">
            <a:avLst>
              <a:gd name="adj" fmla="val 16667"/>
            </a:avLst>
          </a:prstGeom>
          <a:solidFill>
            <a:srgbClr val="f28c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300" strike="noStrike" u="none">
                <a:solidFill>
                  <a:srgbClr val="ffffff"/>
                </a:solidFill>
                <a:effectLst/>
                <a:uFillTx/>
                <a:latin typeface="Calibri"/>
              </a:rPr>
              <a:t>RELEASE GATE: quality + safety + latency + cost — ALL FOUR must pass before promotion (shadow → 5% → 25% → 50% → 100%)</a:t>
            </a:r>
            <a:endParaRPr b="0" lang="en-US" sz="1300" strike="noStrike" u="none">
              <a:solidFill>
                <a:srgbClr val="000000"/>
              </a:solidFill>
              <a:effectLst/>
              <a:uFillTx/>
              <a:latin typeface="Arial"/>
            </a:endParaRPr>
          </a:p>
        </p:txBody>
      </p:sp>
      <p:sp>
        <p:nvSpPr>
          <p:cNvPr id="221" name="TextBox 20"/>
          <p:cNvSpPr/>
          <p:nvPr/>
        </p:nvSpPr>
        <p:spPr>
          <a:xfrm>
            <a:off x="365760" y="5806440"/>
            <a:ext cx="11429640" cy="6397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1e252f"/>
                </a:solidFill>
                <a:effectLst/>
                <a:uFillTx/>
                <a:latin typeface="Calibri"/>
              </a:rPr>
              <a:t>•  Real outcomes (not proxies): abandonment 35% → ≤ 22% · next-day same-skill accuracy 48% → ≥ 60% · Free→Paid 5% → ≥ 7% — measured by A/B in prod</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3"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Performance &amp; Scale: p95 &lt; 3s and 5–8× peak</a:t>
            </a:r>
            <a:endParaRPr b="0" lang="en-US" sz="2600" strike="noStrike" u="none">
              <a:solidFill>
                <a:srgbClr val="000000"/>
              </a:solidFill>
              <a:effectLst/>
              <a:uFillTx/>
              <a:latin typeface="Arial"/>
            </a:endParaRPr>
          </a:p>
        </p:txBody>
      </p:sp>
      <p:sp>
        <p:nvSpPr>
          <p:cNvPr id="224"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Bình (M5)</a:t>
            </a:r>
            <a:endParaRPr b="0" lang="en-US" sz="1200" strike="noStrike" u="none">
              <a:solidFill>
                <a:srgbClr val="000000"/>
              </a:solidFill>
              <a:effectLst/>
              <a:uFillTx/>
              <a:latin typeface="Arial"/>
            </a:endParaRPr>
          </a:p>
        </p:txBody>
      </p:sp>
      <p:sp>
        <p:nvSpPr>
          <p:cNvPr id="225"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4.2 · 4.3</a:t>
            </a:r>
            <a:endParaRPr b="0" lang="en-US" sz="1100" strike="noStrike" u="none">
              <a:solidFill>
                <a:srgbClr val="000000"/>
              </a:solidFill>
              <a:effectLst/>
              <a:uFillTx/>
              <a:latin typeface="Arial"/>
            </a:endParaRPr>
          </a:p>
        </p:txBody>
      </p:sp>
      <p:sp>
        <p:nvSpPr>
          <p:cNvPr id="226"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7"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228"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8 / 14</a:t>
            </a:r>
            <a:endParaRPr b="0" lang="en-US" sz="1000" strike="noStrike" u="none">
              <a:solidFill>
                <a:srgbClr val="000000"/>
              </a:solidFill>
              <a:effectLst/>
              <a:uFillTx/>
              <a:latin typeface="Arial"/>
            </a:endParaRPr>
          </a:p>
        </p:txBody>
      </p:sp>
      <p:sp>
        <p:nvSpPr>
          <p:cNvPr id="229" name="TextBox 8"/>
          <p:cNvSpPr/>
          <p:nvPr/>
        </p:nvSpPr>
        <p:spPr>
          <a:xfrm>
            <a:off x="365760" y="1051560"/>
            <a:ext cx="356580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Load (turns/s)</a:t>
            </a:r>
            <a:endParaRPr b="0" lang="en-US" sz="1500" strike="noStrike" u="none">
              <a:solidFill>
                <a:srgbClr val="000000"/>
              </a:solidFill>
              <a:effectLst/>
              <a:uFillTx/>
              <a:latin typeface="Arial"/>
            </a:endParaRPr>
          </a:p>
        </p:txBody>
      </p:sp>
      <p:graphicFrame>
        <p:nvGraphicFramePr>
          <p:cNvPr id="230" name="Table 9"/>
          <p:cNvGraphicFramePr/>
          <p:nvPr/>
        </p:nvGraphicFramePr>
        <p:xfrm>
          <a:off x="365760" y="1463040"/>
          <a:ext cx="3565800" cy="1980720"/>
        </p:xfrm>
        <a:graphic>
          <a:graphicData uri="http://schemas.openxmlformats.org/drawingml/2006/table">
            <a:tbl>
              <a:tblPr/>
              <a:tblGrid>
                <a:gridCol w="2377440"/>
                <a:gridCol w="1188720"/>
              </a:tblGrid>
              <a:tr h="396000">
                <a:tc>
                  <a:txBody>
                    <a:bodyPr lIns="45720" rIns="45720" tIns="18000" bIns="18000" anchor="t">
                      <a:noAutofit/>
                    </a:bodyPr>
                    <a:p>
                      <a:pPr defTabSz="457200">
                        <a:lnSpc>
                          <a:spcPct val="100000"/>
                        </a:lnSpc>
                      </a:pPr>
                      <a:r>
                        <a:rPr b="1" lang="en-US" sz="1100" strike="noStrike" u="none">
                          <a:solidFill>
                            <a:srgbClr val="ffffff"/>
                          </a:solidFill>
                          <a:effectLst/>
                          <a:uFillTx/>
                          <a:latin typeface="Calibri"/>
                        </a:rPr>
                        <a:t>Level</a:t>
                      </a:r>
                      <a:endParaRPr b="0" lang="en-US" sz="11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100" strike="noStrike" u="none">
                          <a:solidFill>
                            <a:srgbClr val="ffffff"/>
                          </a:solidFill>
                          <a:effectLst/>
                          <a:uFillTx/>
                          <a:latin typeface="Calibri"/>
                        </a:rPr>
                        <a:t>Turns/s</a:t>
                      </a:r>
                      <a:endParaRPr b="0" lang="en-US" sz="11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39600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Average (960k/day)</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 11</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600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5× peak</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 56</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600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8× peak (design target)</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 89</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600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10× load test</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 111</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31" name="TextBox 10"/>
          <p:cNvSpPr/>
          <p:nvPr/>
        </p:nvSpPr>
        <p:spPr>
          <a:xfrm>
            <a:off x="365760" y="3886200"/>
            <a:ext cx="3565800" cy="8226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900" strike="noStrike" u="none">
                <a:solidFill>
                  <a:srgbClr val="5f6b7a"/>
                </a:solidFill>
                <a:effectLst/>
                <a:uFillTx/>
                <a:latin typeface="Calibri"/>
              </a:rPr>
              <a:t>[A] 30% of DAU use the tutor × 8 turns; re-measure in 2k-student beta. Peak = 19–22h on exam days.</a:t>
            </a:r>
            <a:endParaRPr b="0" lang="en-US" sz="900" strike="noStrike" u="none">
              <a:solidFill>
                <a:srgbClr val="000000"/>
              </a:solidFill>
              <a:effectLst/>
              <a:uFillTx/>
              <a:latin typeface="Arial"/>
            </a:endParaRPr>
          </a:p>
        </p:txBody>
      </p:sp>
      <p:sp>
        <p:nvSpPr>
          <p:cNvPr id="232" name="TextBox 11"/>
          <p:cNvSpPr/>
          <p:nvPr/>
        </p:nvSpPr>
        <p:spPr>
          <a:xfrm>
            <a:off x="4160520" y="1051560"/>
            <a:ext cx="384012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Scaling strategy</a:t>
            </a:r>
            <a:endParaRPr b="0" lang="en-US" sz="1500" strike="noStrike" u="none">
              <a:solidFill>
                <a:srgbClr val="000000"/>
              </a:solidFill>
              <a:effectLst/>
              <a:uFillTx/>
              <a:latin typeface="Arial"/>
            </a:endParaRPr>
          </a:p>
        </p:txBody>
      </p:sp>
      <p:sp>
        <p:nvSpPr>
          <p:cNvPr id="233" name="Rounded Rectangle 12"/>
          <p:cNvSpPr/>
          <p:nvPr/>
        </p:nvSpPr>
        <p:spPr>
          <a:xfrm>
            <a:off x="4206240" y="1463040"/>
            <a:ext cx="3748680" cy="5299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Stateless API / Orchestrator</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EKS HPA + KEDA on Kafka lag → horizontal autoscale</a:t>
            </a:r>
            <a:endParaRPr b="0" lang="en-US" sz="900" strike="noStrike" u="none">
              <a:solidFill>
                <a:srgbClr val="000000"/>
              </a:solidFill>
              <a:effectLst/>
              <a:uFillTx/>
              <a:latin typeface="Arial"/>
            </a:endParaRPr>
          </a:p>
        </p:txBody>
      </p:sp>
      <p:cxnSp>
        <p:nvCxnSpPr>
          <p:cNvPr id="234" name="Connector 13"/>
          <p:cNvCxnSpPr/>
          <p:nvPr/>
        </p:nvCxnSpPr>
        <p:spPr>
          <a:xfrm>
            <a:off x="6080400" y="1993320"/>
            <a:ext cx="360" cy="91800"/>
          </a:xfrm>
          <a:prstGeom prst="straightConnector1">
            <a:avLst/>
          </a:prstGeom>
          <a:ln w="19050">
            <a:solidFill>
              <a:srgbClr val="5f6b7a"/>
            </a:solidFill>
            <a:round/>
            <a:tailEnd len="med" type="triangle" w="med"/>
          </a:ln>
        </p:spPr>
      </p:cxnSp>
      <p:sp>
        <p:nvSpPr>
          <p:cNvPr id="235" name="Rounded Rectangle 14"/>
          <p:cNvSpPr/>
          <p:nvPr/>
        </p:nvSpPr>
        <p:spPr>
          <a:xfrm>
            <a:off x="4206240" y="2084760"/>
            <a:ext cx="3748680" cy="5299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Session / profile</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Redis + Aurora Postgres (read replicas) — managed state store</a:t>
            </a:r>
            <a:endParaRPr b="0" lang="en-US" sz="900" strike="noStrike" u="none">
              <a:solidFill>
                <a:srgbClr val="000000"/>
              </a:solidFill>
              <a:effectLst/>
              <a:uFillTx/>
              <a:latin typeface="Arial"/>
            </a:endParaRPr>
          </a:p>
        </p:txBody>
      </p:sp>
      <p:cxnSp>
        <p:nvCxnSpPr>
          <p:cNvPr id="236" name="Connector 15"/>
          <p:cNvCxnSpPr/>
          <p:nvPr/>
        </p:nvCxnSpPr>
        <p:spPr>
          <a:xfrm>
            <a:off x="6080400" y="2615040"/>
            <a:ext cx="360" cy="91800"/>
          </a:xfrm>
          <a:prstGeom prst="straightConnector1">
            <a:avLst/>
          </a:prstGeom>
          <a:ln w="19050">
            <a:solidFill>
              <a:srgbClr val="5f6b7a"/>
            </a:solidFill>
            <a:round/>
            <a:tailEnd len="med" type="triangle" w="med"/>
          </a:ln>
        </p:spPr>
      </p:cxnSp>
      <p:sp>
        <p:nvSpPr>
          <p:cNvPr id="237" name="Rounded Rectangle 16"/>
          <p:cNvSpPr/>
          <p:nvPr/>
        </p:nvSpPr>
        <p:spPr>
          <a:xfrm>
            <a:off x="4206240" y="2706480"/>
            <a:ext cx="3748680" cy="5299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Retrieval</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pgvector HNSW, per-exercise ladder cache, independently scalable</a:t>
            </a:r>
            <a:endParaRPr b="0" lang="en-US" sz="900" strike="noStrike" u="none">
              <a:solidFill>
                <a:srgbClr val="000000"/>
              </a:solidFill>
              <a:effectLst/>
              <a:uFillTx/>
              <a:latin typeface="Arial"/>
            </a:endParaRPr>
          </a:p>
        </p:txBody>
      </p:sp>
      <p:cxnSp>
        <p:nvCxnSpPr>
          <p:cNvPr id="238" name="Connector 17"/>
          <p:cNvCxnSpPr/>
          <p:nvPr/>
        </p:nvCxnSpPr>
        <p:spPr>
          <a:xfrm>
            <a:off x="6080400" y="3236760"/>
            <a:ext cx="360" cy="91800"/>
          </a:xfrm>
          <a:prstGeom prst="straightConnector1">
            <a:avLst/>
          </a:prstGeom>
          <a:ln w="19050">
            <a:solidFill>
              <a:srgbClr val="5f6b7a"/>
            </a:solidFill>
            <a:round/>
            <a:tailEnd len="med" type="triangle" w="med"/>
          </a:ln>
        </p:spPr>
      </p:cxnSp>
      <p:sp>
        <p:nvSpPr>
          <p:cNvPr id="239" name="Rounded Rectangle 18"/>
          <p:cNvSpPr/>
          <p:nvPr/>
        </p:nvSpPr>
        <p:spPr>
          <a:xfrm>
            <a:off x="4206240" y="3328560"/>
            <a:ext cx="3748680" cy="5299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LLM</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Gateway tiering T1/T2 · 2-provider fallback · provisioned throughput</a:t>
            </a:r>
            <a:endParaRPr b="0" lang="en-US" sz="900" strike="noStrike" u="none">
              <a:solidFill>
                <a:srgbClr val="000000"/>
              </a:solidFill>
              <a:effectLst/>
              <a:uFillTx/>
              <a:latin typeface="Arial"/>
            </a:endParaRPr>
          </a:p>
        </p:txBody>
      </p:sp>
      <p:cxnSp>
        <p:nvCxnSpPr>
          <p:cNvPr id="240" name="Connector 19"/>
          <p:cNvCxnSpPr/>
          <p:nvPr/>
        </p:nvCxnSpPr>
        <p:spPr>
          <a:xfrm>
            <a:off x="6080400" y="3858480"/>
            <a:ext cx="360" cy="91800"/>
          </a:xfrm>
          <a:prstGeom prst="straightConnector1">
            <a:avLst/>
          </a:prstGeom>
          <a:ln w="19050">
            <a:solidFill>
              <a:srgbClr val="5f6b7a"/>
            </a:solidFill>
            <a:round/>
            <a:tailEnd len="med" type="triangle" w="med"/>
          </a:ln>
        </p:spPr>
      </p:cxnSp>
      <p:sp>
        <p:nvSpPr>
          <p:cNvPr id="241" name="Rounded Rectangle 20"/>
          <p:cNvSpPr/>
          <p:nvPr/>
        </p:nvSpPr>
        <p:spPr>
          <a:xfrm>
            <a:off x="4206240" y="3950280"/>
            <a:ext cx="3748680" cy="52992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Evaluation / analytics</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Async via Kafka — off the critical path</a:t>
            </a:r>
            <a:endParaRPr b="0" lang="en-US" sz="900" strike="noStrike" u="none">
              <a:solidFill>
                <a:srgbClr val="000000"/>
              </a:solidFill>
              <a:effectLst/>
              <a:uFillTx/>
              <a:latin typeface="Arial"/>
            </a:endParaRPr>
          </a:p>
        </p:txBody>
      </p:sp>
      <p:sp>
        <p:nvSpPr>
          <p:cNvPr id="242" name="TextBox 21"/>
          <p:cNvSpPr/>
          <p:nvPr/>
        </p:nvSpPr>
        <p:spPr>
          <a:xfrm>
            <a:off x="8229600" y="1051560"/>
            <a:ext cx="356580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Latency budget (p95 &lt; 3s)</a:t>
            </a:r>
            <a:endParaRPr b="0" lang="en-US" sz="1500" strike="noStrike" u="none">
              <a:solidFill>
                <a:srgbClr val="000000"/>
              </a:solidFill>
              <a:effectLst/>
              <a:uFillTx/>
              <a:latin typeface="Arial"/>
            </a:endParaRPr>
          </a:p>
        </p:txBody>
      </p:sp>
      <p:graphicFrame>
        <p:nvGraphicFramePr>
          <p:cNvPr id="243" name="Table 22"/>
          <p:cNvGraphicFramePr/>
          <p:nvPr/>
        </p:nvGraphicFramePr>
        <p:xfrm>
          <a:off x="8229600" y="1463040"/>
          <a:ext cx="3565800" cy="1919880"/>
        </p:xfrm>
        <a:graphic>
          <a:graphicData uri="http://schemas.openxmlformats.org/drawingml/2006/table">
            <a:tbl>
              <a:tblPr/>
              <a:tblGrid>
                <a:gridCol w="2560320"/>
                <a:gridCol w="1005840"/>
              </a:tblGrid>
              <a:tr h="383760">
                <a:tc>
                  <a:txBody>
                    <a:bodyPr lIns="45720" rIns="45720" tIns="18000" bIns="18000" anchor="t">
                      <a:noAutofit/>
                    </a:bodyPr>
                    <a:p>
                      <a:pPr defTabSz="457200">
                        <a:lnSpc>
                          <a:spcPct val="100000"/>
                        </a:lnSpc>
                      </a:pPr>
                      <a:r>
                        <a:rPr b="1" lang="en-US" sz="1100" strike="noStrike" u="none">
                          <a:solidFill>
                            <a:srgbClr val="ffffff"/>
                          </a:solidFill>
                          <a:effectLst/>
                          <a:uFillTx/>
                          <a:latin typeface="Calibri"/>
                        </a:rPr>
                        <a:t>Step</a:t>
                      </a:r>
                      <a:endParaRPr b="0" lang="en-US" sz="11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100" strike="noStrike" u="none">
                          <a:solidFill>
                            <a:srgbClr val="ffffff"/>
                          </a:solidFill>
                          <a:effectLst/>
                          <a:uFillTx/>
                          <a:latin typeface="Calibri"/>
                        </a:rPr>
                        <a:t>Budget</a:t>
                      </a:r>
                      <a:endParaRPr b="0" lang="en-US" sz="11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38376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Policy · profile · retrieval · input guard</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&lt; 0.7s</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8376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LLM generation (T1, ~120 tokens)</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1.5–1.8s</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8376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Validation + mobile network</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&lt; 0.5s</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83760">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Headroom</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100" strike="noStrike" u="none">
                          <a:solidFill>
                            <a:srgbClr val="1e252f"/>
                          </a:solidFill>
                          <a:effectLst/>
                          <a:uFillTx/>
                          <a:latin typeface="Calibri"/>
                        </a:rPr>
                        <a:t>≈ 0.2–0.4s</a:t>
                      </a:r>
                      <a:endParaRPr b="0" lang="en-US" sz="11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sp>
        <p:nvSpPr>
          <p:cNvPr id="244" name="TextBox 23"/>
          <p:cNvSpPr/>
          <p:nvPr/>
        </p:nvSpPr>
        <p:spPr>
          <a:xfrm>
            <a:off x="8229600" y="3474720"/>
            <a:ext cx="3565800" cy="137124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1e252f"/>
                </a:solidFill>
                <a:effectLst/>
                <a:uFillTx/>
                <a:latin typeface="Calibri"/>
              </a:rPr>
              <a:t>•  First token streamed &lt; 1s for perceived speed</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12% of turns skip the LLM (CAS correct → static hint)</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Staging model p95 ≈ 2.6s — an architecture BUDGET, not a measured benchmark</a:t>
            </a:r>
            <a:endParaRPr b="0" lang="en-US" sz="1000" strike="noStrike" u="none">
              <a:solidFill>
                <a:srgbClr val="000000"/>
              </a:solidFill>
              <a:effectLst/>
              <a:uFillTx/>
              <a:latin typeface="Arial"/>
            </a:endParaRPr>
          </a:p>
        </p:txBody>
      </p:sp>
      <p:sp>
        <p:nvSpPr>
          <p:cNvPr id="245" name="Rounded Rectangle 24"/>
          <p:cNvSpPr/>
          <p:nvPr/>
        </p:nvSpPr>
        <p:spPr>
          <a:xfrm>
            <a:off x="365760" y="4892040"/>
            <a:ext cx="11429640" cy="685440"/>
          </a:xfrm>
          <a:prstGeom prst="roundRect">
            <a:avLst>
              <a:gd name="adj" fmla="val 16667"/>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300" strike="noStrike" u="none">
                <a:solidFill>
                  <a:srgbClr val="ffffff"/>
                </a:solidFill>
                <a:effectLst/>
                <a:uFillTx/>
                <a:latin typeface="Calibri"/>
              </a:rPr>
              <a:t>First expected bottleneck: model-provider concurrency / latency — not the stateless API tier → tiering + fallback + provisioned throughput.</a:t>
            </a:r>
            <a:endParaRPr b="0" lang="en-US" sz="1300" strike="noStrike" u="none">
              <a:solidFill>
                <a:srgbClr val="ffffff"/>
              </a:solidFill>
              <a:effectLst/>
              <a:uFillTx/>
              <a:latin typeface="Arial"/>
            </a:endParaRPr>
          </a:p>
        </p:txBody>
      </p:sp>
      <p:sp>
        <p:nvSpPr>
          <p:cNvPr id="246" name="TextBox 25"/>
          <p:cNvSpPr/>
          <p:nvPr/>
        </p:nvSpPr>
        <p:spPr>
          <a:xfrm>
            <a:off x="365760" y="5669280"/>
            <a:ext cx="11429640" cy="8226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1e252f"/>
                </a:solidFill>
                <a:effectLst/>
                <a:uFillTx/>
                <a:latin typeface="Calibri"/>
              </a:rPr>
              <a:t>•  Graceful degradation: provider failure → T2 on provider 2 → Static Ladder Mode (tutor SLO 99.5% incl. degraded; LLM-mode 99.0%)</a:t>
            </a:r>
            <a:endParaRPr b="0" lang="en-US" sz="1100" strike="noStrike" u="none">
              <a:solidFill>
                <a:srgbClr val="000000"/>
              </a:solidFill>
              <a:effectLst/>
              <a:uFillTx/>
              <a:latin typeface="Arial"/>
            </a:endParaRPr>
          </a:p>
          <a:p>
            <a:pPr defTabSz="457200">
              <a:lnSpc>
                <a:spcPct val="100000"/>
              </a:lnSpc>
              <a:spcAft>
                <a:spcPts val="400"/>
              </a:spcAft>
            </a:pPr>
            <a:r>
              <a:rPr b="0" lang="en-US" sz="1100" strike="noStrike" u="none">
                <a:solidFill>
                  <a:srgbClr val="1e252f"/>
                </a:solidFill>
                <a:effectLst/>
                <a:uFillTx/>
                <a:latin typeface="Calibri"/>
              </a:rPr>
              <a:t>•  Vendor-neutral: Kubernetes · Postgres · Kafka · S3 API · LiteLLM — switching cloud/provider does not change the application</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48"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Cost model &amp; production operability</a:t>
            </a:r>
            <a:endParaRPr b="0" lang="en-US" sz="2600" strike="noStrike" u="none">
              <a:solidFill>
                <a:srgbClr val="000000"/>
              </a:solidFill>
              <a:effectLst/>
              <a:uFillTx/>
              <a:latin typeface="Arial"/>
            </a:endParaRPr>
          </a:p>
        </p:txBody>
      </p:sp>
      <p:sp>
        <p:nvSpPr>
          <p:cNvPr id="249"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Dũng (M7)</a:t>
            </a:r>
            <a:endParaRPr b="0" lang="en-US" sz="1200" strike="noStrike" u="none">
              <a:solidFill>
                <a:srgbClr val="000000"/>
              </a:solidFill>
              <a:effectLst/>
              <a:uFillTx/>
              <a:latin typeface="Arial"/>
            </a:endParaRPr>
          </a:p>
        </p:txBody>
      </p:sp>
      <p:sp>
        <p:nvSpPr>
          <p:cNvPr id="250"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4.3 · 4.2</a:t>
            </a:r>
            <a:endParaRPr b="0" lang="en-US" sz="1100" strike="noStrike" u="none">
              <a:solidFill>
                <a:srgbClr val="000000"/>
              </a:solidFill>
              <a:effectLst/>
              <a:uFillTx/>
              <a:latin typeface="Arial"/>
            </a:endParaRPr>
          </a:p>
        </p:txBody>
      </p:sp>
      <p:sp>
        <p:nvSpPr>
          <p:cNvPr id="251"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2"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253"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9 / 14</a:t>
            </a:r>
            <a:endParaRPr b="0" lang="en-US" sz="1000" strike="noStrike" u="none">
              <a:solidFill>
                <a:srgbClr val="000000"/>
              </a:solidFill>
              <a:effectLst/>
              <a:uFillTx/>
              <a:latin typeface="Arial"/>
            </a:endParaRPr>
          </a:p>
        </p:txBody>
      </p:sp>
      <p:sp>
        <p:nvSpPr>
          <p:cNvPr id="254" name="TextBox 8"/>
          <p:cNvSpPr/>
          <p:nvPr/>
        </p:nvSpPr>
        <p:spPr>
          <a:xfrm>
            <a:off x="365760" y="1051560"/>
            <a:ext cx="585180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Cost equation</a:t>
            </a:r>
            <a:endParaRPr b="0" lang="en-US" sz="1500" strike="noStrike" u="none">
              <a:solidFill>
                <a:srgbClr val="000000"/>
              </a:solidFill>
              <a:effectLst/>
              <a:uFillTx/>
              <a:latin typeface="Arial"/>
            </a:endParaRPr>
          </a:p>
        </p:txBody>
      </p:sp>
      <p:sp>
        <p:nvSpPr>
          <p:cNvPr id="255" name="Rectangle 9"/>
          <p:cNvSpPr/>
          <p:nvPr/>
        </p:nvSpPr>
        <p:spPr>
          <a:xfrm>
            <a:off x="365760" y="1417320"/>
            <a:ext cx="5851800" cy="91404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6" name="TextBox 10"/>
          <p:cNvSpPr/>
          <p:nvPr/>
        </p:nvSpPr>
        <p:spPr>
          <a:xfrm>
            <a:off x="457200" y="1463040"/>
            <a:ext cx="5668920" cy="8683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400" strike="noStrike" u="none">
                <a:solidFill>
                  <a:srgbClr val="0f1f3d"/>
                </a:solidFill>
                <a:effectLst/>
                <a:uFillTx/>
                <a:latin typeface="Calibri"/>
              </a:rPr>
              <a:t>Monthly AI cost  =  turn volume  ×  cost/turn  +  shared infra</a:t>
            </a:r>
            <a:endParaRPr b="0" lang="en-US" sz="1400" strike="noStrike" u="none">
              <a:solidFill>
                <a:srgbClr val="000000"/>
              </a:solidFill>
              <a:effectLst/>
              <a:uFillTx/>
              <a:latin typeface="Arial"/>
            </a:endParaRPr>
          </a:p>
          <a:p>
            <a:pPr defTabSz="457200">
              <a:lnSpc>
                <a:spcPct val="100000"/>
              </a:lnSpc>
              <a:spcAft>
                <a:spcPts val="400"/>
              </a:spcAft>
            </a:pPr>
            <a:r>
              <a:rPr b="0" lang="en-US" sz="1100" strike="noStrike" u="none">
                <a:solidFill>
                  <a:srgbClr val="5f6b7a"/>
                </a:solidFill>
                <a:effectLst/>
                <a:uFillTx/>
                <a:latin typeface="Calibri"/>
              </a:rPr>
              <a:t>≈ 29M turns × $0.00069  ≈  $18.4k/month AI  ·  + infra ≈ $11k  ·  budget = 8,000×P → P ≥ ~$2.30</a:t>
            </a:r>
            <a:endParaRPr b="0" lang="en-US" sz="1100" strike="noStrike" u="none">
              <a:solidFill>
                <a:srgbClr val="000000"/>
              </a:solidFill>
              <a:effectLst/>
              <a:uFillTx/>
              <a:latin typeface="Arial"/>
            </a:endParaRPr>
          </a:p>
        </p:txBody>
      </p:sp>
      <p:graphicFrame>
        <p:nvGraphicFramePr>
          <p:cNvPr id="257" name="Table 11"/>
          <p:cNvGraphicFramePr/>
          <p:nvPr/>
        </p:nvGraphicFramePr>
        <p:xfrm>
          <a:off x="365760" y="2468880"/>
          <a:ext cx="5851800" cy="2377080"/>
        </p:xfrm>
        <a:graphic>
          <a:graphicData uri="http://schemas.openxmlformats.org/drawingml/2006/table">
            <a:tbl>
              <a:tblPr/>
              <a:tblGrid>
                <a:gridCol w="365760"/>
                <a:gridCol w="2377440"/>
                <a:gridCol w="3108960"/>
              </a:tblGrid>
              <a:tr h="39600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Cost driver</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Control</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3960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1</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 tokens (prompt + history + output)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Model tiering T1/T2 · context limits · prompt cache · 12% of turns skip the LLM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60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2</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Moderation / safety API</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Rules + small classifiers first; API only as backstop</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60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3</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Retrieval / embeddings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Embed offline once per ladder version · per-exercise cache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60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4</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Retries / fallback / judge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Turn budget · 5% judge sampling · quota-capped T2 fallback</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60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5</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Infrastructure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Spot for batch · scale-to-zero off-hours · managed services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58" name="TextBox 12"/>
          <p:cNvSpPr/>
          <p:nvPr/>
        </p:nvSpPr>
        <p:spPr>
          <a:xfrm>
            <a:off x="365760" y="4937760"/>
            <a:ext cx="5851800" cy="6397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Free tier: 20 turns/day quota; paid unlimited · cost alert at 80% / kill at 120% of daily budget · [A] provider prices &amp; 10% paying mix (sens. 5/15%) re-checked weekly</a:t>
            </a:r>
            <a:endParaRPr b="0" lang="en-US" sz="1000" strike="noStrike" u="none">
              <a:solidFill>
                <a:srgbClr val="000000"/>
              </a:solidFill>
              <a:effectLst/>
              <a:uFillTx/>
              <a:latin typeface="Arial"/>
            </a:endParaRPr>
          </a:p>
        </p:txBody>
      </p:sp>
      <p:sp>
        <p:nvSpPr>
          <p:cNvPr id="259" name="TextBox 13"/>
          <p:cNvSpPr/>
          <p:nvPr/>
        </p:nvSpPr>
        <p:spPr>
          <a:xfrm>
            <a:off x="6446520" y="1051560"/>
            <a:ext cx="5394600" cy="3654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500" strike="noStrike" u="none">
                <a:solidFill>
                  <a:srgbClr val="00a39b"/>
                </a:solidFill>
                <a:effectLst/>
                <a:uFillTx/>
                <a:latin typeface="Calibri"/>
              </a:rPr>
              <a:t>Production operations</a:t>
            </a:r>
            <a:endParaRPr b="0" lang="en-US" sz="1500" strike="noStrike" u="none">
              <a:solidFill>
                <a:srgbClr val="000000"/>
              </a:solidFill>
              <a:effectLst/>
              <a:uFillTx/>
              <a:latin typeface="Arial"/>
            </a:endParaRPr>
          </a:p>
        </p:txBody>
      </p:sp>
      <p:sp>
        <p:nvSpPr>
          <p:cNvPr id="260" name="Rounded Rectangle 14"/>
          <p:cNvSpPr/>
          <p:nvPr/>
        </p:nvSpPr>
        <p:spPr>
          <a:xfrm>
            <a:off x="6446520" y="1463040"/>
            <a:ext cx="2651400" cy="9597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Model Gateway fallback</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T1 → T2 → provider 2 → Static Ladder Mode</a:t>
            </a:r>
            <a:endParaRPr b="0" lang="en-US" sz="900" strike="noStrike" u="none">
              <a:solidFill>
                <a:srgbClr val="000000"/>
              </a:solidFill>
              <a:effectLst/>
              <a:uFillTx/>
              <a:latin typeface="Arial"/>
            </a:endParaRPr>
          </a:p>
        </p:txBody>
      </p:sp>
      <p:sp>
        <p:nvSpPr>
          <p:cNvPr id="261" name="Rounded Rectangle 15"/>
          <p:cNvSpPr/>
          <p:nvPr/>
        </p:nvSpPr>
        <p:spPr>
          <a:xfrm>
            <a:off x="9189720" y="1463040"/>
            <a:ext cx="2651400" cy="9597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Release manifest</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model + prompt + ladder + policy version, signed &amp; stored</a:t>
            </a:r>
            <a:endParaRPr b="0" lang="en-US" sz="900" strike="noStrike" u="none">
              <a:solidFill>
                <a:srgbClr val="000000"/>
              </a:solidFill>
              <a:effectLst/>
              <a:uFillTx/>
              <a:latin typeface="Arial"/>
            </a:endParaRPr>
          </a:p>
        </p:txBody>
      </p:sp>
      <p:sp>
        <p:nvSpPr>
          <p:cNvPr id="262" name="Rounded Rectangle 16"/>
          <p:cNvSpPr/>
          <p:nvPr/>
        </p:nvSpPr>
        <p:spPr>
          <a:xfrm>
            <a:off x="6446520" y="2560320"/>
            <a:ext cx="2651400" cy="95976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ffffff"/>
                </a:solidFill>
                <a:effectLst/>
                <a:uFillTx/>
                <a:latin typeface="Calibri"/>
              </a:rPr>
              <a:t>Canary rollout</a:t>
            </a:r>
            <a:endParaRPr b="0" lang="en-US" sz="1100" strike="noStrike" u="none">
              <a:solidFill>
                <a:srgbClr val="ffffff"/>
              </a:solidFill>
              <a:effectLst/>
              <a:uFillTx/>
              <a:latin typeface="Arial"/>
            </a:endParaRPr>
          </a:p>
          <a:p>
            <a:pPr algn="ctr" defTabSz="457200">
              <a:lnSpc>
                <a:spcPct val="100000"/>
              </a:lnSpc>
            </a:pPr>
            <a:r>
              <a:rPr b="0" lang="en-US" sz="900" strike="noStrike" u="none">
                <a:solidFill>
                  <a:srgbClr val="ffffff"/>
                </a:solidFill>
                <a:effectLst/>
                <a:uFillTx/>
                <a:latin typeface="Calibri"/>
              </a:rPr>
              <a:t>shadow → 5% → 25% → 50% → 100%, 4-condition gate</a:t>
            </a:r>
            <a:endParaRPr b="0" lang="en-US" sz="900" strike="noStrike" u="none">
              <a:solidFill>
                <a:srgbClr val="ffffff"/>
              </a:solidFill>
              <a:effectLst/>
              <a:uFillTx/>
              <a:latin typeface="Arial"/>
            </a:endParaRPr>
          </a:p>
        </p:txBody>
      </p:sp>
      <p:sp>
        <p:nvSpPr>
          <p:cNvPr id="263" name="Rounded Rectangle 17"/>
          <p:cNvSpPr/>
          <p:nvPr/>
        </p:nvSpPr>
        <p:spPr>
          <a:xfrm>
            <a:off x="9189720" y="2560320"/>
            <a:ext cx="2651400" cy="9597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Rollback ≤ 5 min</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flip alias / prompt pointer, no redeploy</a:t>
            </a:r>
            <a:endParaRPr b="0" lang="en-US" sz="900" strike="noStrike" u="none">
              <a:solidFill>
                <a:srgbClr val="000000"/>
              </a:solidFill>
              <a:effectLst/>
              <a:uFillTx/>
              <a:latin typeface="Arial"/>
            </a:endParaRPr>
          </a:p>
        </p:txBody>
      </p:sp>
      <p:sp>
        <p:nvSpPr>
          <p:cNvPr id="264" name="Rounded Rectangle 18"/>
          <p:cNvSpPr/>
          <p:nvPr/>
        </p:nvSpPr>
        <p:spPr>
          <a:xfrm>
            <a:off x="6446520" y="3657600"/>
            <a:ext cx="2651400" cy="959760"/>
          </a:xfrm>
          <a:prstGeom prst="roundRect">
            <a:avLst>
              <a:gd name="adj" fmla="val 16667"/>
            </a:avLst>
          </a:prstGeom>
          <a:solidFill>
            <a:srgbClr val="0f1f3d"/>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ffffff"/>
                </a:solidFill>
                <a:effectLst/>
                <a:uFillTx/>
                <a:latin typeface="Calibri"/>
              </a:rPr>
              <a:t>Kill switch</a:t>
            </a:r>
            <a:endParaRPr b="0" lang="en-US" sz="1100" strike="noStrike" u="none">
              <a:solidFill>
                <a:srgbClr val="ffffff"/>
              </a:solidFill>
              <a:effectLst/>
              <a:uFillTx/>
              <a:latin typeface="Arial"/>
            </a:endParaRPr>
          </a:p>
          <a:p>
            <a:pPr algn="ctr" defTabSz="457200">
              <a:lnSpc>
                <a:spcPct val="100000"/>
              </a:lnSpc>
            </a:pPr>
            <a:r>
              <a:rPr b="0" lang="en-US" sz="900" strike="noStrike" u="none">
                <a:solidFill>
                  <a:srgbClr val="ffffff"/>
                </a:solidFill>
                <a:effectLst/>
                <a:uFillTx/>
                <a:latin typeface="Calibri"/>
              </a:rPr>
              <a:t>disable LLM-mode globally or per cohort</a:t>
            </a:r>
            <a:endParaRPr b="0" lang="en-US" sz="900" strike="noStrike" u="none">
              <a:solidFill>
                <a:srgbClr val="ffffff"/>
              </a:solidFill>
              <a:effectLst/>
              <a:uFillTx/>
              <a:latin typeface="Arial"/>
            </a:endParaRPr>
          </a:p>
        </p:txBody>
      </p:sp>
      <p:sp>
        <p:nvSpPr>
          <p:cNvPr id="265" name="Rounded Rectangle 19"/>
          <p:cNvSpPr/>
          <p:nvPr/>
        </p:nvSpPr>
        <p:spPr>
          <a:xfrm>
            <a:off x="9189720" y="3657600"/>
            <a:ext cx="2651400" cy="959760"/>
          </a:xfrm>
          <a:prstGeom prst="roundRect">
            <a:avLst>
              <a:gd name="adj" fmla="val 16667"/>
            </a:avLst>
          </a:prstGeom>
          <a:solidFill>
            <a:srgbClr val="ffffff"/>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1100" strike="noStrike" u="none">
                <a:solidFill>
                  <a:srgbClr val="1e252f"/>
                </a:solidFill>
                <a:effectLst/>
                <a:uFillTx/>
                <a:latin typeface="Calibri"/>
              </a:rPr>
              <a:t>Cost &amp; drift alerts</a:t>
            </a:r>
            <a:endParaRPr b="0" lang="en-US" sz="1100" strike="noStrike" u="none">
              <a:solidFill>
                <a:srgbClr val="000000"/>
              </a:solidFill>
              <a:effectLst/>
              <a:uFillTx/>
              <a:latin typeface="Arial"/>
            </a:endParaRPr>
          </a:p>
          <a:p>
            <a:pPr algn="ctr" defTabSz="457200">
              <a:lnSpc>
                <a:spcPct val="100000"/>
              </a:lnSpc>
            </a:pPr>
            <a:r>
              <a:rPr b="0" lang="en-US" sz="900" strike="noStrike" u="none">
                <a:solidFill>
                  <a:srgbClr val="5f6b7a"/>
                </a:solidFill>
                <a:effectLst/>
                <a:uFillTx/>
                <a:latin typeface="Calibri"/>
              </a:rPr>
              <a:t>ledger / turn · ALR · daily judge score</a:t>
            </a:r>
            <a:endParaRPr b="0" lang="en-US" sz="900" strike="noStrike" u="none">
              <a:solidFill>
                <a:srgbClr val="000000"/>
              </a:solidFill>
              <a:effectLst/>
              <a:uFillTx/>
              <a:latin typeface="Arial"/>
            </a:endParaRPr>
          </a:p>
        </p:txBody>
      </p:sp>
      <p:sp>
        <p:nvSpPr>
          <p:cNvPr id="266" name="TextBox 20"/>
          <p:cNvSpPr/>
          <p:nvPr/>
        </p:nvSpPr>
        <p:spPr>
          <a:xfrm>
            <a:off x="6446520" y="4800600"/>
            <a:ext cx="5394600" cy="82260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1e252f"/>
                </a:solidFill>
                <a:effectLst/>
                <a:uFillTx/>
                <a:latin typeface="Calibri"/>
              </a:rPr>
              <a:t>•  MLOps/LLMOps: eval CI on the golden set for every prompt/ladder PR · versioned registry · audit log</a:t>
            </a:r>
            <a:endParaRPr b="0" lang="en-US" sz="1000" strike="noStrike" u="none">
              <a:solidFill>
                <a:srgbClr val="000000"/>
              </a:solidFill>
              <a:effectLst/>
              <a:uFillTx/>
              <a:latin typeface="Arial"/>
            </a:endParaRPr>
          </a:p>
          <a:p>
            <a:pPr defTabSz="457200">
              <a:lnSpc>
                <a:spcPct val="100000"/>
              </a:lnSpc>
              <a:spcAft>
                <a:spcPts val="400"/>
              </a:spcAft>
            </a:pPr>
            <a:r>
              <a:rPr b="0" lang="en-US" sz="1000" strike="noStrike" u="none">
                <a:solidFill>
                  <a:srgbClr val="1e252f"/>
                </a:solidFill>
                <a:effectLst/>
                <a:uFillTx/>
                <a:latin typeface="Calibri"/>
              </a:rPr>
              <a:t>•  On-call runbooks: leak spike, provider outage, harmful escape, cost spike</a:t>
            </a:r>
            <a:endParaRPr b="0" lang="en-US" sz="1000" strike="noStrike" u="none">
              <a:solidFill>
                <a:srgbClr val="000000"/>
              </a:solidFill>
              <a:effectLst/>
              <a:uFillTx/>
              <a:latin typeface="Arial"/>
            </a:endParaRPr>
          </a:p>
        </p:txBody>
      </p:sp>
      <p:sp>
        <p:nvSpPr>
          <p:cNvPr id="267" name="Rounded Rectangle 21"/>
          <p:cNvSpPr/>
          <p:nvPr/>
        </p:nvSpPr>
        <p:spPr>
          <a:xfrm>
            <a:off x="365760" y="5669280"/>
            <a:ext cx="11429640" cy="685440"/>
          </a:xfrm>
          <a:prstGeom prst="roundRect">
            <a:avLst>
              <a:gd name="adj" fmla="val 16667"/>
            </a:avLst>
          </a:prstGeom>
          <a:solidFill>
            <a:srgbClr val="00a39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trike="noStrike" u="none">
                <a:solidFill>
                  <a:srgbClr val="ffffff"/>
                </a:solidFill>
                <a:effectLst/>
                <a:uFillTx/>
                <a:latin typeface="Calibri"/>
              </a:rPr>
              <a:t>Production readiness = the system fails safely, degrades gracefully, and stays within budget.</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9"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Five architecture decisions to remember</a:t>
            </a:r>
            <a:endParaRPr b="0" lang="en-US" sz="2600" strike="noStrike" u="none">
              <a:solidFill>
                <a:srgbClr val="000000"/>
              </a:solidFill>
              <a:effectLst/>
              <a:uFillTx/>
              <a:latin typeface="Arial"/>
            </a:endParaRPr>
          </a:p>
        </p:txBody>
      </p:sp>
      <p:sp>
        <p:nvSpPr>
          <p:cNvPr id="270"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Thuận (M1)</a:t>
            </a:r>
            <a:endParaRPr b="0" lang="en-US" sz="1200" strike="noStrike" u="none">
              <a:solidFill>
                <a:srgbClr val="000000"/>
              </a:solidFill>
              <a:effectLst/>
              <a:uFillTx/>
              <a:latin typeface="Arial"/>
            </a:endParaRPr>
          </a:p>
        </p:txBody>
      </p:sp>
      <p:sp>
        <p:nvSpPr>
          <p:cNvPr id="271"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4.2 · 4.5</a:t>
            </a:r>
            <a:endParaRPr b="0" lang="en-US" sz="1100" strike="noStrike" u="none">
              <a:solidFill>
                <a:srgbClr val="000000"/>
              </a:solidFill>
              <a:effectLst/>
              <a:uFillTx/>
              <a:latin typeface="Arial"/>
            </a:endParaRPr>
          </a:p>
        </p:txBody>
      </p:sp>
      <p:sp>
        <p:nvSpPr>
          <p:cNvPr id="272"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3"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274"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10 / 14</a:t>
            </a:r>
            <a:endParaRPr b="0" lang="en-US" sz="1000" strike="noStrike" u="none">
              <a:solidFill>
                <a:srgbClr val="000000"/>
              </a:solidFill>
              <a:effectLst/>
              <a:uFillTx/>
              <a:latin typeface="Arial"/>
            </a:endParaRPr>
          </a:p>
        </p:txBody>
      </p:sp>
      <p:sp>
        <p:nvSpPr>
          <p:cNvPr id="275" name="Rounded Rectangle 8"/>
          <p:cNvSpPr/>
          <p:nvPr/>
        </p:nvSpPr>
        <p:spPr>
          <a:xfrm>
            <a:off x="365760" y="1143000"/>
            <a:ext cx="639720" cy="658080"/>
          </a:xfrm>
          <a:prstGeom prst="roundRect">
            <a:avLst>
              <a:gd name="adj" fmla="val 16667"/>
            </a:avLst>
          </a:prstGeom>
          <a:solidFill>
            <a:srgbClr val="00a39b"/>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2000" strike="noStrike" u="none">
                <a:solidFill>
                  <a:srgbClr val="ffffff"/>
                </a:solidFill>
                <a:effectLst/>
                <a:uFillTx/>
                <a:latin typeface="Calibri"/>
              </a:rPr>
              <a:t>1</a:t>
            </a:r>
            <a:endParaRPr b="0" lang="en-US" sz="2000" strike="noStrike" u="none">
              <a:solidFill>
                <a:srgbClr val="ffffff"/>
              </a:solidFill>
              <a:effectLst/>
              <a:uFillTx/>
              <a:latin typeface="Arial"/>
            </a:endParaRPr>
          </a:p>
        </p:txBody>
      </p:sp>
      <p:sp>
        <p:nvSpPr>
          <p:cNvPr id="276" name="Rectangle 9"/>
          <p:cNvSpPr/>
          <p:nvPr/>
        </p:nvSpPr>
        <p:spPr>
          <a:xfrm>
            <a:off x="1097280" y="1143000"/>
            <a:ext cx="10698120" cy="658080"/>
          </a:xfrm>
          <a:prstGeom prst="rect">
            <a:avLst/>
          </a:prstGeom>
          <a:solidFill>
            <a:srgbClr val="ffffff"/>
          </a:solidFill>
          <a:ln w="12700">
            <a:solidFill>
              <a:srgbClr val="f4f6f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7" name="TextBox 10"/>
          <p:cNvSpPr/>
          <p:nvPr/>
        </p:nvSpPr>
        <p:spPr>
          <a:xfrm>
            <a:off x="1188720" y="116136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400" strike="noStrike" u="none">
                <a:solidFill>
                  <a:srgbClr val="0f1f3d"/>
                </a:solidFill>
                <a:effectLst/>
                <a:uFillTx/>
                <a:latin typeface="Calibri"/>
              </a:rPr>
              <a:t>Hybrid AI, not prompt-only</a:t>
            </a:r>
            <a:endParaRPr b="0" lang="en-US" sz="1400" strike="noStrike" u="none">
              <a:solidFill>
                <a:srgbClr val="000000"/>
              </a:solidFill>
              <a:effectLst/>
              <a:uFillTx/>
              <a:latin typeface="Arial"/>
            </a:endParaRPr>
          </a:p>
        </p:txBody>
      </p:sp>
      <p:sp>
        <p:nvSpPr>
          <p:cNvPr id="278" name="TextBox 11"/>
          <p:cNvSpPr/>
          <p:nvPr/>
        </p:nvSpPr>
        <p:spPr>
          <a:xfrm>
            <a:off x="1188720" y="147204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5f6b7a"/>
                </a:solidFill>
                <a:effectLst/>
                <a:uFillTx/>
                <a:latin typeface="Calibri"/>
              </a:rPr>
              <a:t>LLM only generates language; RAG + CAS + BKT + state machine do the rest (ADR-003, -005)</a:t>
            </a:r>
            <a:endParaRPr b="0" lang="en-US" sz="1100" strike="noStrike" u="none">
              <a:solidFill>
                <a:srgbClr val="000000"/>
              </a:solidFill>
              <a:effectLst/>
              <a:uFillTx/>
              <a:latin typeface="Arial"/>
            </a:endParaRPr>
          </a:p>
        </p:txBody>
      </p:sp>
      <p:sp>
        <p:nvSpPr>
          <p:cNvPr id="279" name="Rounded Rectangle 12"/>
          <p:cNvSpPr/>
          <p:nvPr/>
        </p:nvSpPr>
        <p:spPr>
          <a:xfrm>
            <a:off x="365760" y="1929240"/>
            <a:ext cx="639720" cy="658080"/>
          </a:xfrm>
          <a:prstGeom prst="roundRect">
            <a:avLst>
              <a:gd name="adj" fmla="val 16667"/>
            </a:avLst>
          </a:prstGeom>
          <a:solidFill>
            <a:srgbClr val="00a39b"/>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2000" strike="noStrike" u="none">
                <a:solidFill>
                  <a:srgbClr val="ffffff"/>
                </a:solidFill>
                <a:effectLst/>
                <a:uFillTx/>
                <a:latin typeface="Calibri"/>
              </a:rPr>
              <a:t>2</a:t>
            </a:r>
            <a:endParaRPr b="0" lang="en-US" sz="2000" strike="noStrike" u="none">
              <a:solidFill>
                <a:srgbClr val="ffffff"/>
              </a:solidFill>
              <a:effectLst/>
              <a:uFillTx/>
              <a:latin typeface="Arial"/>
            </a:endParaRPr>
          </a:p>
        </p:txBody>
      </p:sp>
      <p:sp>
        <p:nvSpPr>
          <p:cNvPr id="280" name="Rectangle 13"/>
          <p:cNvSpPr/>
          <p:nvPr/>
        </p:nvSpPr>
        <p:spPr>
          <a:xfrm>
            <a:off x="1097280" y="1929240"/>
            <a:ext cx="10698120" cy="658080"/>
          </a:xfrm>
          <a:prstGeom prst="rect">
            <a:avLst/>
          </a:prstGeom>
          <a:solidFill>
            <a:srgbClr val="f4f6f9"/>
          </a:solidFill>
          <a:ln w="12700">
            <a:solidFill>
              <a:srgbClr val="f4f6f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1" name="TextBox 14"/>
          <p:cNvSpPr/>
          <p:nvPr/>
        </p:nvSpPr>
        <p:spPr>
          <a:xfrm>
            <a:off x="1188720" y="194760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400" strike="noStrike" u="none">
                <a:solidFill>
                  <a:srgbClr val="0f1f3d"/>
                </a:solidFill>
                <a:effectLst/>
                <a:uFillTx/>
                <a:latin typeface="Calibri"/>
              </a:rPr>
              <a:t>Explicit Socratic state machine</a:t>
            </a:r>
            <a:endParaRPr b="0" lang="en-US" sz="1400" strike="noStrike" u="none">
              <a:solidFill>
                <a:srgbClr val="000000"/>
              </a:solidFill>
              <a:effectLst/>
              <a:uFillTx/>
              <a:latin typeface="Arial"/>
            </a:endParaRPr>
          </a:p>
        </p:txBody>
      </p:sp>
      <p:sp>
        <p:nvSpPr>
          <p:cNvPr id="282" name="TextBox 15"/>
          <p:cNvSpPr/>
          <p:nvPr/>
        </p:nvSpPr>
        <p:spPr>
          <a:xfrm>
            <a:off x="1188720" y="225864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5f6b7a"/>
                </a:solidFill>
                <a:effectLst/>
                <a:uFillTx/>
                <a:latin typeface="Calibri"/>
              </a:rPr>
              <a:t>Policy decides what is revealed; hint level is code, testable (ADR-001)</a:t>
            </a:r>
            <a:endParaRPr b="0" lang="en-US" sz="1100" strike="noStrike" u="none">
              <a:solidFill>
                <a:srgbClr val="000000"/>
              </a:solidFill>
              <a:effectLst/>
              <a:uFillTx/>
              <a:latin typeface="Arial"/>
            </a:endParaRPr>
          </a:p>
        </p:txBody>
      </p:sp>
      <p:sp>
        <p:nvSpPr>
          <p:cNvPr id="283" name="Rounded Rectangle 16"/>
          <p:cNvSpPr/>
          <p:nvPr/>
        </p:nvSpPr>
        <p:spPr>
          <a:xfrm>
            <a:off x="365760" y="2715840"/>
            <a:ext cx="639720" cy="658080"/>
          </a:xfrm>
          <a:prstGeom prst="roundRect">
            <a:avLst>
              <a:gd name="adj" fmla="val 16667"/>
            </a:avLst>
          </a:prstGeom>
          <a:solidFill>
            <a:srgbClr val="00a39b"/>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2000" strike="noStrike" u="none">
                <a:solidFill>
                  <a:srgbClr val="ffffff"/>
                </a:solidFill>
                <a:effectLst/>
                <a:uFillTx/>
                <a:latin typeface="Calibri"/>
              </a:rPr>
              <a:t>3</a:t>
            </a:r>
            <a:endParaRPr b="0" lang="en-US" sz="2000" strike="noStrike" u="none">
              <a:solidFill>
                <a:srgbClr val="ffffff"/>
              </a:solidFill>
              <a:effectLst/>
              <a:uFillTx/>
              <a:latin typeface="Arial"/>
            </a:endParaRPr>
          </a:p>
        </p:txBody>
      </p:sp>
      <p:sp>
        <p:nvSpPr>
          <p:cNvPr id="284" name="Rectangle 17"/>
          <p:cNvSpPr/>
          <p:nvPr/>
        </p:nvSpPr>
        <p:spPr>
          <a:xfrm>
            <a:off x="1097280" y="2715840"/>
            <a:ext cx="10698120" cy="658080"/>
          </a:xfrm>
          <a:prstGeom prst="rect">
            <a:avLst/>
          </a:prstGeom>
          <a:solidFill>
            <a:srgbClr val="ffffff"/>
          </a:solidFill>
          <a:ln w="12700">
            <a:solidFill>
              <a:srgbClr val="f4f6f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5" name="TextBox 18"/>
          <p:cNvSpPr/>
          <p:nvPr/>
        </p:nvSpPr>
        <p:spPr>
          <a:xfrm>
            <a:off x="1188720" y="273420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400" strike="noStrike" u="none">
                <a:solidFill>
                  <a:srgbClr val="0f1f3d"/>
                </a:solidFill>
                <a:effectLst/>
                <a:uFillTx/>
                <a:latin typeface="Calibri"/>
              </a:rPr>
              <a:t>Minimal learner profile</a:t>
            </a:r>
            <a:endParaRPr b="0" lang="en-US" sz="1400" strike="noStrike" u="none">
              <a:solidFill>
                <a:srgbClr val="000000"/>
              </a:solidFill>
              <a:effectLst/>
              <a:uFillTx/>
              <a:latin typeface="Arial"/>
            </a:endParaRPr>
          </a:p>
        </p:txBody>
      </p:sp>
      <p:sp>
        <p:nvSpPr>
          <p:cNvPr id="286" name="TextBox 19"/>
          <p:cNvSpPr/>
          <p:nvPr/>
        </p:nvSpPr>
        <p:spPr>
          <a:xfrm>
            <a:off x="1188720" y="304488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5f6b7a"/>
                </a:solidFill>
                <a:effectLst/>
                <a:uFillTx/>
                <a:latin typeface="Calibri"/>
              </a:rPr>
              <a:t>Pseudonymous P(mastery)/skill; no long-term transcript, no PII in the prompt (ADR-002)</a:t>
            </a:r>
            <a:endParaRPr b="0" lang="en-US" sz="1100" strike="noStrike" u="none">
              <a:solidFill>
                <a:srgbClr val="000000"/>
              </a:solidFill>
              <a:effectLst/>
              <a:uFillTx/>
              <a:latin typeface="Arial"/>
            </a:endParaRPr>
          </a:p>
        </p:txBody>
      </p:sp>
      <p:sp>
        <p:nvSpPr>
          <p:cNvPr id="287" name="Rounded Rectangle 20"/>
          <p:cNvSpPr/>
          <p:nvPr/>
        </p:nvSpPr>
        <p:spPr>
          <a:xfrm>
            <a:off x="365760" y="3502080"/>
            <a:ext cx="639720" cy="658080"/>
          </a:xfrm>
          <a:prstGeom prst="roundRect">
            <a:avLst>
              <a:gd name="adj" fmla="val 16667"/>
            </a:avLst>
          </a:prstGeom>
          <a:solidFill>
            <a:srgbClr val="00a39b"/>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2000" strike="noStrike" u="none">
                <a:solidFill>
                  <a:srgbClr val="ffffff"/>
                </a:solidFill>
                <a:effectLst/>
                <a:uFillTx/>
                <a:latin typeface="Calibri"/>
              </a:rPr>
              <a:t>4</a:t>
            </a:r>
            <a:endParaRPr b="0" lang="en-US" sz="2000" strike="noStrike" u="none">
              <a:solidFill>
                <a:srgbClr val="ffffff"/>
              </a:solidFill>
              <a:effectLst/>
              <a:uFillTx/>
              <a:latin typeface="Arial"/>
            </a:endParaRPr>
          </a:p>
        </p:txBody>
      </p:sp>
      <p:sp>
        <p:nvSpPr>
          <p:cNvPr id="288" name="Rectangle 21"/>
          <p:cNvSpPr/>
          <p:nvPr/>
        </p:nvSpPr>
        <p:spPr>
          <a:xfrm>
            <a:off x="1097280" y="3502080"/>
            <a:ext cx="10698120" cy="658080"/>
          </a:xfrm>
          <a:prstGeom prst="rect">
            <a:avLst/>
          </a:prstGeom>
          <a:solidFill>
            <a:srgbClr val="f4f6f9"/>
          </a:solidFill>
          <a:ln w="12700">
            <a:solidFill>
              <a:srgbClr val="f4f6f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9" name="TextBox 22"/>
          <p:cNvSpPr/>
          <p:nvPr/>
        </p:nvSpPr>
        <p:spPr>
          <a:xfrm>
            <a:off x="1188720" y="352044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400" strike="noStrike" u="none">
                <a:solidFill>
                  <a:srgbClr val="0f1f3d"/>
                </a:solidFill>
                <a:effectLst/>
                <a:uFillTx/>
                <a:latin typeface="Calibri"/>
              </a:rPr>
              <a:t>Safety + validation BEFORE delivery</a:t>
            </a:r>
            <a:endParaRPr b="0" lang="en-US" sz="1400" strike="noStrike" u="none">
              <a:solidFill>
                <a:srgbClr val="000000"/>
              </a:solidFill>
              <a:effectLst/>
              <a:uFillTx/>
              <a:latin typeface="Arial"/>
            </a:endParaRPr>
          </a:p>
        </p:txBody>
      </p:sp>
      <p:sp>
        <p:nvSpPr>
          <p:cNvPr id="290" name="TextBox 23"/>
          <p:cNvSpPr/>
          <p:nvPr/>
        </p:nvSpPr>
        <p:spPr>
          <a:xfrm>
            <a:off x="1188720" y="383148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5f6b7a"/>
                </a:solidFill>
                <a:effectLst/>
                <a:uFillTx/>
                <a:latin typeface="Calibri"/>
              </a:rPr>
              <a:t>Four defence layers; LLM never sees the answer; unvalidated output never reaches the child (ADR-004)</a:t>
            </a:r>
            <a:endParaRPr b="0" lang="en-US" sz="1100" strike="noStrike" u="none">
              <a:solidFill>
                <a:srgbClr val="000000"/>
              </a:solidFill>
              <a:effectLst/>
              <a:uFillTx/>
              <a:latin typeface="Arial"/>
            </a:endParaRPr>
          </a:p>
        </p:txBody>
      </p:sp>
      <p:sp>
        <p:nvSpPr>
          <p:cNvPr id="291" name="Rounded Rectangle 24"/>
          <p:cNvSpPr/>
          <p:nvPr/>
        </p:nvSpPr>
        <p:spPr>
          <a:xfrm>
            <a:off x="365760" y="4288680"/>
            <a:ext cx="639720" cy="658080"/>
          </a:xfrm>
          <a:prstGeom prst="roundRect">
            <a:avLst>
              <a:gd name="adj" fmla="val 16667"/>
            </a:avLst>
          </a:prstGeom>
          <a:solidFill>
            <a:srgbClr val="00a39b"/>
          </a:solidFill>
          <a:ln w="12700">
            <a:solidFill>
              <a:srgbClr val="0f1f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18360" bIns="18360" anchor="ctr">
            <a:noAutofit/>
          </a:bodyPr>
          <a:p>
            <a:pPr algn="ctr" defTabSz="457200">
              <a:lnSpc>
                <a:spcPct val="100000"/>
              </a:lnSpc>
            </a:pPr>
            <a:r>
              <a:rPr b="1" lang="en-US" sz="2000" strike="noStrike" u="none">
                <a:solidFill>
                  <a:srgbClr val="ffffff"/>
                </a:solidFill>
                <a:effectLst/>
                <a:uFillTx/>
                <a:latin typeface="Calibri"/>
              </a:rPr>
              <a:t>5</a:t>
            </a:r>
            <a:endParaRPr b="0" lang="en-US" sz="2000" strike="noStrike" u="none">
              <a:solidFill>
                <a:srgbClr val="ffffff"/>
              </a:solidFill>
              <a:effectLst/>
              <a:uFillTx/>
              <a:latin typeface="Arial"/>
            </a:endParaRPr>
          </a:p>
        </p:txBody>
      </p:sp>
      <p:sp>
        <p:nvSpPr>
          <p:cNvPr id="292" name="Rectangle 25"/>
          <p:cNvSpPr/>
          <p:nvPr/>
        </p:nvSpPr>
        <p:spPr>
          <a:xfrm>
            <a:off x="1097280" y="4288680"/>
            <a:ext cx="10698120" cy="658080"/>
          </a:xfrm>
          <a:prstGeom prst="rect">
            <a:avLst/>
          </a:prstGeom>
          <a:solidFill>
            <a:srgbClr val="ffffff"/>
          </a:solidFill>
          <a:ln w="12700">
            <a:solidFill>
              <a:srgbClr val="f4f6f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3" name="TextBox 26"/>
          <p:cNvSpPr/>
          <p:nvPr/>
        </p:nvSpPr>
        <p:spPr>
          <a:xfrm>
            <a:off x="1188720" y="430668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400" strike="noStrike" u="none">
                <a:solidFill>
                  <a:srgbClr val="0f1f3d"/>
                </a:solidFill>
                <a:effectLst/>
                <a:uFillTx/>
                <a:latin typeface="Calibri"/>
              </a:rPr>
              <a:t>Eval-gated, scalable, cost-controlled</a:t>
            </a:r>
            <a:endParaRPr b="0" lang="en-US" sz="1400" strike="noStrike" u="none">
              <a:solidFill>
                <a:srgbClr val="000000"/>
              </a:solidFill>
              <a:effectLst/>
              <a:uFillTx/>
              <a:latin typeface="Arial"/>
            </a:endParaRPr>
          </a:p>
        </p:txBody>
      </p:sp>
      <p:sp>
        <p:nvSpPr>
          <p:cNvPr id="294" name="TextBox 27"/>
          <p:cNvSpPr/>
          <p:nvPr/>
        </p:nvSpPr>
        <p:spPr>
          <a:xfrm>
            <a:off x="1188720" y="4617720"/>
            <a:ext cx="10515240" cy="3196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100" strike="noStrike" u="none">
                <a:solidFill>
                  <a:srgbClr val="5f6b7a"/>
                </a:solidFill>
                <a:effectLst/>
                <a:uFillTx/>
                <a:latin typeface="Calibri"/>
              </a:rPr>
              <a:t>4-condition release gate · stateless autoscale · tiering + quotas ≤ $0.0007/turn</a:t>
            </a:r>
            <a:endParaRPr b="0" lang="en-US" sz="1100" strike="noStrike" u="none">
              <a:solidFill>
                <a:srgbClr val="000000"/>
              </a:solidFill>
              <a:effectLst/>
              <a:uFillTx/>
              <a:latin typeface="Arial"/>
            </a:endParaRPr>
          </a:p>
        </p:txBody>
      </p:sp>
      <p:sp>
        <p:nvSpPr>
          <p:cNvPr id="295" name="Rounded Rectangle 28"/>
          <p:cNvSpPr/>
          <p:nvPr/>
        </p:nvSpPr>
        <p:spPr>
          <a:xfrm>
            <a:off x="365760" y="5166360"/>
            <a:ext cx="11429640" cy="776880"/>
          </a:xfrm>
          <a:prstGeom prst="roundRect">
            <a:avLst>
              <a:gd name="adj" fmla="val 16667"/>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500" strike="noStrike" u="none">
                <a:solidFill>
                  <a:srgbClr val="ffffff"/>
                </a:solidFill>
                <a:effectLst/>
                <a:uFillTx/>
                <a:latin typeface="Calibri"/>
              </a:rPr>
              <a:t>TutorMate is therefore not just an LLM chatbot. It is a controlled AI tutoring platform designed to be safe for children, measurable, and operable at scale.</a:t>
            </a:r>
            <a:endParaRPr b="0" lang="en-US" sz="1500" strike="noStrike" u="none">
              <a:solidFill>
                <a:srgbClr val="ffffff"/>
              </a:solidFill>
              <a:effectLst/>
              <a:uFillTx/>
              <a:latin typeface="Arial"/>
            </a:endParaRPr>
          </a:p>
        </p:txBody>
      </p:sp>
      <p:sp>
        <p:nvSpPr>
          <p:cNvPr id="296" name="TextBox 29"/>
          <p:cNvSpPr/>
          <p:nvPr/>
        </p:nvSpPr>
        <p:spPr>
          <a:xfrm>
            <a:off x="365760" y="6035040"/>
            <a:ext cx="11429640" cy="45684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Team ownership:  Thuận (Req &amp; Integration) · Huyền (Logical &amp; Data) · Hòa (AI/ML) · Phụng (Responsible AI) · Bình (Cloud &amp; Scale) · Phú (Eval &amp; Cost) · Dũng (Slides &amp; Q&amp;A)   —   Q&amp;A moderated by Dũng; detailed allocation: Appendix D &amp; ATAD</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8"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Appendix A · Technology Selection Matrix</a:t>
            </a:r>
            <a:endParaRPr b="0" lang="en-US" sz="2600" strike="noStrike" u="none">
              <a:solidFill>
                <a:srgbClr val="000000"/>
              </a:solidFill>
              <a:effectLst/>
              <a:uFillTx/>
              <a:latin typeface="Arial"/>
            </a:endParaRPr>
          </a:p>
        </p:txBody>
      </p:sp>
      <p:sp>
        <p:nvSpPr>
          <p:cNvPr id="299"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Hòa (M3)</a:t>
            </a:r>
            <a:endParaRPr b="0" lang="en-US" sz="1200" strike="noStrike" u="none">
              <a:solidFill>
                <a:srgbClr val="000000"/>
              </a:solidFill>
              <a:effectLst/>
              <a:uFillTx/>
              <a:latin typeface="Arial"/>
            </a:endParaRPr>
          </a:p>
        </p:txBody>
      </p:sp>
      <p:sp>
        <p:nvSpPr>
          <p:cNvPr id="300"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4.1 · 4.3</a:t>
            </a:r>
            <a:endParaRPr b="0" lang="en-US" sz="1100" strike="noStrike" u="none">
              <a:solidFill>
                <a:srgbClr val="000000"/>
              </a:solidFill>
              <a:effectLst/>
              <a:uFillTx/>
              <a:latin typeface="Arial"/>
            </a:endParaRPr>
          </a:p>
        </p:txBody>
      </p:sp>
      <p:sp>
        <p:nvSpPr>
          <p:cNvPr id="301"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2"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303"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A / 14</a:t>
            </a:r>
            <a:endParaRPr b="0" lang="en-US" sz="1000" strike="noStrike" u="none">
              <a:solidFill>
                <a:srgbClr val="000000"/>
              </a:solidFill>
              <a:effectLst/>
              <a:uFillTx/>
              <a:latin typeface="Arial"/>
            </a:endParaRPr>
          </a:p>
        </p:txBody>
      </p:sp>
      <p:graphicFrame>
        <p:nvGraphicFramePr>
          <p:cNvPr id="304" name="Table 8"/>
          <p:cNvGraphicFramePr/>
          <p:nvPr/>
        </p:nvGraphicFramePr>
        <p:xfrm>
          <a:off x="365760" y="1097280"/>
          <a:ext cx="11429640" cy="1737000"/>
        </p:xfrm>
        <a:graphic>
          <a:graphicData uri="http://schemas.openxmlformats.org/drawingml/2006/table">
            <a:tbl>
              <a:tblPr/>
              <a:tblGrid>
                <a:gridCol w="2377440"/>
                <a:gridCol w="1280160"/>
                <a:gridCol w="1920240"/>
                <a:gridCol w="2103120"/>
                <a:gridCol w="1463040"/>
                <a:gridCol w="2286000"/>
              </a:tblGrid>
              <a:tr h="34740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Pattern</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Fit</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Cold-start (~0 dialogue)</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Answer-leak control</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Latency/Cost</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Decision</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3474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Pure RAG + prompt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Medium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Good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Weak (prompt-only)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Good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cannot enforce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74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Fine-tune first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High (given data)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No data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Medium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Good (self-host)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Phase 2 (D-04)</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474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Autonomous agent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Low</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Good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Weak, hard to audit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Poor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74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Hybrid: policy + RAG + tools + LLM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High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Good (synthesised ladders)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Strong (least-privilege)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Good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Accepted (ADR-003)</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graphicFrame>
        <p:nvGraphicFramePr>
          <p:cNvPr id="305" name="Table 9"/>
          <p:cNvGraphicFramePr/>
          <p:nvPr/>
        </p:nvGraphicFramePr>
        <p:xfrm>
          <a:off x="365760" y="2971800"/>
          <a:ext cx="11429640" cy="3382920"/>
        </p:xfrm>
        <a:graphic>
          <a:graphicData uri="http://schemas.openxmlformats.org/drawingml/2006/table">
            <a:tbl>
              <a:tblPr/>
              <a:tblGrid>
                <a:gridCol w="1554480"/>
                <a:gridCol w="3657600"/>
                <a:gridCol w="2834640"/>
                <a:gridCol w="3383280"/>
              </a:tblGrid>
              <a:tr h="42264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Layer</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Candidates</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MVP choice</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Rationale</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Runtime LLM (T1)</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GPT-4o-mini · Claude Haiku · Gemini Flash · Llama 8B self-host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Managed small model via LiteLLM, 2 providers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Latency, cost, no early GPU ops; self-host once ≥ 50k labelled turns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Offline LLM (T3)</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GPT-4o · Claude Sonnet · Gemini Pro</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Frontier for ladder generation / judge / synthetic</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Quality matters more than cost; runs in batch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Vector store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pgvector · Pinecone · Weaviate · OpenSearch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Postgres + pgvector (HNSW)</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Small corpus (&lt; 5M chunks), one system, ACID with metadata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Grader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 · SymPy/CAS · Wolfram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SymPy + rules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Deterministic, free, explainable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Learner model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BKT · DKT (deep) · IRT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BKT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Little data, explainable; DKT once enough events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Cloud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AWS · GCP · Azure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AWS (EKS, Aurora, MSK, Bedrock)</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Team experience; portable via K8s/Postgres/Kafka/S3 API</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2264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Gateway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LiteLLM · Portkey · in-house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LiteLLM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OSS, tiering, fallback, cache, cost ledger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7"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Appendix B · Cloud deployment (AWS, neutral)</a:t>
            </a:r>
            <a:endParaRPr b="0" lang="en-US" sz="2600" strike="noStrike" u="none">
              <a:solidFill>
                <a:srgbClr val="000000"/>
              </a:solidFill>
              <a:effectLst/>
              <a:uFillTx/>
              <a:latin typeface="Arial"/>
            </a:endParaRPr>
          </a:p>
        </p:txBody>
      </p:sp>
      <p:sp>
        <p:nvSpPr>
          <p:cNvPr id="308"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Bình (M5)</a:t>
            </a:r>
            <a:endParaRPr b="0" lang="en-US" sz="1200" strike="noStrike" u="none">
              <a:solidFill>
                <a:srgbClr val="000000"/>
              </a:solidFill>
              <a:effectLst/>
              <a:uFillTx/>
              <a:latin typeface="Arial"/>
            </a:endParaRPr>
          </a:p>
        </p:txBody>
      </p:sp>
      <p:sp>
        <p:nvSpPr>
          <p:cNvPr id="309"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4.3</a:t>
            </a:r>
            <a:endParaRPr b="0" lang="en-US" sz="1100" strike="noStrike" u="none">
              <a:solidFill>
                <a:srgbClr val="000000"/>
              </a:solidFill>
              <a:effectLst/>
              <a:uFillTx/>
              <a:latin typeface="Arial"/>
            </a:endParaRPr>
          </a:p>
        </p:txBody>
      </p:sp>
      <p:sp>
        <p:nvSpPr>
          <p:cNvPr id="310"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1"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312"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B / 14</a:t>
            </a:r>
            <a:endParaRPr b="0" lang="en-US" sz="1000" strike="noStrike" u="none">
              <a:solidFill>
                <a:srgbClr val="000000"/>
              </a:solidFill>
              <a:effectLst/>
              <a:uFillTx/>
              <a:latin typeface="Arial"/>
            </a:endParaRPr>
          </a:p>
        </p:txBody>
      </p:sp>
      <p:graphicFrame>
        <p:nvGraphicFramePr>
          <p:cNvPr id="313" name="Table 8"/>
          <p:cNvGraphicFramePr/>
          <p:nvPr/>
        </p:nvGraphicFramePr>
        <p:xfrm>
          <a:off x="365760" y="1097280"/>
          <a:ext cx="11429640" cy="4845960"/>
        </p:xfrm>
        <a:graphic>
          <a:graphicData uri="http://schemas.openxmlformats.org/drawingml/2006/table">
            <a:tbl>
              <a:tblPr/>
              <a:tblGrid>
                <a:gridCol w="1463040"/>
                <a:gridCol w="3657600"/>
                <a:gridCol w="3566160"/>
                <a:gridCol w="2743200"/>
              </a:tblGrid>
              <a:tr h="403560">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Layer</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AWS component</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MVP → 8× peak configuration</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900" strike="noStrike" u="none">
                          <a:solidFill>
                            <a:srgbClr val="ffffff"/>
                          </a:solidFill>
                          <a:effectLst/>
                          <a:uFillTx/>
                          <a:latin typeface="Calibri"/>
                        </a:rPr>
                        <a:t>Neutral alternative</a:t>
                      </a:r>
                      <a:endParaRPr b="0" lang="en-US" sz="9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Region / HA</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ap-southeast-1, 3 AZ</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Multi-AZ; warm DR in ap-northeast-1 (RPO 15 min)</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Any 3-AZ region</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Network</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VPC private subnets · NAT · PrivateLink to Bedrock</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Egress only via gateway allowlist</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Equivalent on any cloud</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Edge / API</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CloudFront · WAF · ALB · API Gateway (WebSocket streaming)</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Rate-limit / quota per user &amp; cohort</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Cloud LB + WAF</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Compute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EKS (Graviton) · HPA + KEDA (Kafka lag)</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Orchestrator 6 → 48 pods · Guard 4 → 32 · Grader 4 → 24</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Any Kubernetes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State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Aurora PostgreSQL + pgvector · read replicas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r7g.xlarge ×2 → ×4; ladder cache in Redis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Any Postgres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Cache / session</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ElastiCache Redis cluster</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6 shards · 2h session TTL</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Redis / Valkey</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Streaming</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MSK (Kafka)</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3 brokers · topics events/eval/cost</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Kafka / Redpanda</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Object storage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S3 (ladder versions, redacted transcripts 30d, eval sets)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Lifecycle 30d → glacier / delete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Any S3 API</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LLM</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Bedrock (T1/T2) + OpenAI (fallback) via LiteLLM</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Provisioned throughput for peak; per-tier quotas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Provider swap = config change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Observability</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CloudWatch · OpenTelemetry · Grafana · Langfuse-style tracing</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Trace per turn: policy state · ladder ver · validator verdict</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OTel-native</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03560">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Security</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KMS · Secrets Manager · IAM least-privilege · GuardDuty</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Vault readable only by Grader/Validator roles</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900" strike="noStrike" u="none">
                          <a:solidFill>
                            <a:srgbClr val="1e252f"/>
                          </a:solidFill>
                          <a:effectLst/>
                          <a:uFillTx/>
                          <a:latin typeface="Calibri"/>
                        </a:rPr>
                        <a:t>Equivalent</a:t>
                      </a:r>
                      <a:endParaRPr b="0" lang="en-US" sz="9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314" name="TextBox 9"/>
          <p:cNvSpPr/>
          <p:nvPr/>
        </p:nvSpPr>
        <p:spPr>
          <a:xfrm>
            <a:off x="365760" y="6035040"/>
            <a:ext cx="11429640" cy="45684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GPU strategy: MVP owns no GPUs (managed inference). Phase 2: vLLM on g6/L4 or Inferentia for the 8B SFT model once data allows — decided on measured cost/turn (ADR-005). Details: ATAD §2.3, §10.</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6"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Appendix C · Risk Register (top 8)</a:t>
            </a:r>
            <a:endParaRPr b="0" lang="en-US" sz="2600" strike="noStrike" u="none">
              <a:solidFill>
                <a:srgbClr val="000000"/>
              </a:solidFill>
              <a:effectLst/>
              <a:uFillTx/>
              <a:latin typeface="Arial"/>
            </a:endParaRPr>
          </a:p>
        </p:txBody>
      </p:sp>
      <p:sp>
        <p:nvSpPr>
          <p:cNvPr id="317"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Phụng (M4)</a:t>
            </a:r>
            <a:endParaRPr b="0" lang="en-US" sz="1200" strike="noStrike" u="none">
              <a:solidFill>
                <a:srgbClr val="000000"/>
              </a:solidFill>
              <a:effectLst/>
              <a:uFillTx/>
              <a:latin typeface="Arial"/>
            </a:endParaRPr>
          </a:p>
        </p:txBody>
      </p:sp>
      <p:sp>
        <p:nvSpPr>
          <p:cNvPr id="318"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4.4 · 4.2</a:t>
            </a:r>
            <a:endParaRPr b="0" lang="en-US" sz="1100" strike="noStrike" u="none">
              <a:solidFill>
                <a:srgbClr val="000000"/>
              </a:solidFill>
              <a:effectLst/>
              <a:uFillTx/>
              <a:latin typeface="Arial"/>
            </a:endParaRPr>
          </a:p>
        </p:txBody>
      </p:sp>
      <p:sp>
        <p:nvSpPr>
          <p:cNvPr id="319"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0"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321"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C / 14</a:t>
            </a:r>
            <a:endParaRPr b="0" lang="en-US" sz="1000" strike="noStrike" u="none">
              <a:solidFill>
                <a:srgbClr val="000000"/>
              </a:solidFill>
              <a:effectLst/>
              <a:uFillTx/>
              <a:latin typeface="Arial"/>
            </a:endParaRPr>
          </a:p>
        </p:txBody>
      </p:sp>
      <p:graphicFrame>
        <p:nvGraphicFramePr>
          <p:cNvPr id="322" name="Table 8"/>
          <p:cNvGraphicFramePr/>
          <p:nvPr/>
        </p:nvGraphicFramePr>
        <p:xfrm>
          <a:off x="365760" y="1097280"/>
          <a:ext cx="11429640" cy="4205880"/>
        </p:xfrm>
        <a:graphic>
          <a:graphicData uri="http://schemas.openxmlformats.org/drawingml/2006/table">
            <a:tbl>
              <a:tblPr/>
              <a:tblGrid>
                <a:gridCol w="640080"/>
                <a:gridCol w="3108960"/>
                <a:gridCol w="457200"/>
                <a:gridCol w="640080"/>
                <a:gridCol w="5486400"/>
                <a:gridCol w="1097280"/>
              </a:tblGrid>
              <a:tr h="46728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ID</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Risk</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L</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I</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Key controls</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Owner</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R-01</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Answer leakage via jailbreak / paraphrase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 never sees the Vault · CAS-leak check · leak clf · adversarial eval per release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Phụng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R-02</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Harmful content reaching a child (self-harm, grooming)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Very 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3-layer guard · self-harm protocol · 0 red-team escape gate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Phụng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R-03</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Factually wrong / off-curriculum hint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Teacher-reviewed ladder · CAS · grounding check ≥ 97%</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Hòa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R-04</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Child-data breach (consent, retention)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Very 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Consent gate · pseudonymous · 30d retention · DPIA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Phụng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R-05</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LLM provider outage / latency spike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2 providers · provisioned throughput · Static Ladder Mode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Bình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R-06</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8× peak exceeds forecast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HPA/KEDA · free-tier quota · 10× load test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Bình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R-07</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Cost exceeds 20%-of-revenue ceiling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Tiering · cache · quotas · alert 80% / kill 120%</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Phú</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R-08</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Cold-start: weak synthesised ladders, low adoption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2k-student beta · teacher review · weekly abandonment KPI</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Hòa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sp>
        <p:nvSpPr>
          <p:cNvPr id="323" name="TextBox 9"/>
          <p:cNvSpPr/>
          <p:nvPr/>
        </p:nvSpPr>
        <p:spPr>
          <a:xfrm>
            <a:off x="365760" y="5440680"/>
            <a:ext cx="11429640" cy="91404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L = likelihood · I = impact. Reviewed every 2 weeks; R-01/R-02 have daily KRIs (ALR, escape count). Full 15-item register + prompt-injection threat model: ATAD §8, §11.5.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Rectangle 1"/>
          <p:cNvSpPr/>
          <p:nvPr/>
        </p:nvSpPr>
        <p:spPr>
          <a:xfrm>
            <a:off x="0" y="0"/>
            <a:ext cx="12191400" cy="914040"/>
          </a:xfrm>
          <a:prstGeom prst="rect">
            <a:avLst/>
          </a:prstGeom>
          <a:solidFill>
            <a:srgbClr val="0f1f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5" name="TextBox 2"/>
          <p:cNvSpPr/>
          <p:nvPr/>
        </p:nvSpPr>
        <p:spPr>
          <a:xfrm>
            <a:off x="365760" y="109800"/>
            <a:ext cx="9600840" cy="73116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1" lang="en-US" sz="2600" strike="noStrike" u="none">
                <a:solidFill>
                  <a:srgbClr val="ffffff"/>
                </a:solidFill>
                <a:effectLst/>
                <a:uFillTx/>
                <a:latin typeface="Calibri"/>
              </a:rPr>
              <a:t>Appendix D · Requirement · Assumption · Proposal</a:t>
            </a:r>
            <a:endParaRPr b="0" lang="en-US" sz="2600" strike="noStrike" u="none">
              <a:solidFill>
                <a:srgbClr val="000000"/>
              </a:solidFill>
              <a:effectLst/>
              <a:uFillTx/>
              <a:latin typeface="Arial"/>
            </a:endParaRPr>
          </a:p>
        </p:txBody>
      </p:sp>
      <p:sp>
        <p:nvSpPr>
          <p:cNvPr id="326" name="TextBox 3"/>
          <p:cNvSpPr/>
          <p:nvPr/>
        </p:nvSpPr>
        <p:spPr>
          <a:xfrm>
            <a:off x="9692640" y="1098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1" lang="en-US" sz="1200" strike="noStrike" u="none">
                <a:solidFill>
                  <a:srgbClr val="00a39b"/>
                </a:solidFill>
                <a:effectLst/>
                <a:uFillTx/>
                <a:latin typeface="Calibri"/>
              </a:rPr>
              <a:t>PIC: Thuận (M1)</a:t>
            </a:r>
            <a:endParaRPr b="0" lang="en-US" sz="1200" strike="noStrike" u="none">
              <a:solidFill>
                <a:srgbClr val="000000"/>
              </a:solidFill>
              <a:effectLst/>
              <a:uFillTx/>
              <a:latin typeface="Arial"/>
            </a:endParaRPr>
          </a:p>
        </p:txBody>
      </p:sp>
      <p:sp>
        <p:nvSpPr>
          <p:cNvPr id="327" name="TextBox 4"/>
          <p:cNvSpPr/>
          <p:nvPr/>
        </p:nvSpPr>
        <p:spPr>
          <a:xfrm>
            <a:off x="9692640" y="457200"/>
            <a:ext cx="2285640" cy="365400"/>
          </a:xfrm>
          <a:prstGeom prst="rect">
            <a:avLst/>
          </a:prstGeom>
          <a:noFill/>
          <a:ln w="0">
            <a:noFill/>
          </a:ln>
        </p:spPr>
        <p:style>
          <a:lnRef idx="0"/>
          <a:fillRef idx="0"/>
          <a:effectRef idx="0"/>
          <a:fontRef idx="minor"/>
        </p:style>
        <p:txBody>
          <a:bodyPr lIns="73080" rIns="73080" tIns="36720" bIns="36720" anchor="t">
            <a:spAutoFit/>
          </a:bodyPr>
          <a:p>
            <a:pPr algn="r" defTabSz="457200">
              <a:lnSpc>
                <a:spcPct val="100000"/>
              </a:lnSpc>
              <a:spcAft>
                <a:spcPts val="400"/>
              </a:spcAft>
            </a:pPr>
            <a:r>
              <a:rPr b="0" lang="en-US" sz="1100" strike="noStrike" u="none">
                <a:solidFill>
                  <a:srgbClr val="f28c28"/>
                </a:solidFill>
                <a:effectLst/>
                <a:uFillTx/>
                <a:latin typeface="Calibri"/>
              </a:rPr>
              <a:t>Rubric 4.5 · 4.2</a:t>
            </a:r>
            <a:endParaRPr b="0" lang="en-US" sz="1100" strike="noStrike" u="none">
              <a:solidFill>
                <a:srgbClr val="000000"/>
              </a:solidFill>
              <a:effectLst/>
              <a:uFillTx/>
              <a:latin typeface="Arial"/>
            </a:endParaRPr>
          </a:p>
        </p:txBody>
      </p:sp>
      <p:sp>
        <p:nvSpPr>
          <p:cNvPr id="328" name="Rectangle 5"/>
          <p:cNvSpPr/>
          <p:nvPr/>
        </p:nvSpPr>
        <p:spPr>
          <a:xfrm>
            <a:off x="0" y="6537960"/>
            <a:ext cx="12191400" cy="319680"/>
          </a:xfrm>
          <a:prstGeom prst="rect">
            <a:avLst/>
          </a:prstGeom>
          <a:solidFill>
            <a:srgbClr val="f4f6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9" name="TextBox 6"/>
          <p:cNvSpPr/>
          <p:nvPr/>
        </p:nvSpPr>
        <p:spPr>
          <a:xfrm>
            <a:off x="365760" y="6584400"/>
            <a:ext cx="8229240" cy="226800"/>
          </a:xfrm>
          <a:prstGeom prst="rect">
            <a:avLst/>
          </a:prstGeom>
          <a:noFill/>
          <a:ln w="0">
            <a:noFill/>
          </a:ln>
        </p:spPr>
        <p:style>
          <a:lnRef idx="0"/>
          <a:fillRef idx="0"/>
          <a:effectRef idx="0"/>
          <a:fontRef idx="minor"/>
        </p:style>
        <p:txBody>
          <a:bodyPr lIns="73080" rIns="73080" tIns="36720" bIns="36720" anchor="ctr">
            <a:spAutoFit/>
          </a:bodyPr>
          <a:p>
            <a:pPr defTabSz="457200">
              <a:lnSpc>
                <a:spcPct val="100000"/>
              </a:lnSpc>
              <a:spcAft>
                <a:spcPts val="400"/>
              </a:spcAft>
            </a:pPr>
            <a:r>
              <a:rPr b="0" lang="en-US" sz="1000" strike="noStrike" u="none">
                <a:solidFill>
                  <a:srgbClr val="5f6b7a"/>
                </a:solidFill>
                <a:effectLst/>
                <a:uFillTx/>
                <a:latin typeface="Calibri"/>
              </a:rPr>
              <a:t>TutorMate · EduNova · Workshop 2 – Scenario B</a:t>
            </a:r>
            <a:endParaRPr b="0" lang="en-US" sz="1000" strike="noStrike" u="none">
              <a:solidFill>
                <a:srgbClr val="000000"/>
              </a:solidFill>
              <a:effectLst/>
              <a:uFillTx/>
              <a:latin typeface="Arial"/>
            </a:endParaRPr>
          </a:p>
        </p:txBody>
      </p:sp>
      <p:sp>
        <p:nvSpPr>
          <p:cNvPr id="330" name="TextBox 7"/>
          <p:cNvSpPr/>
          <p:nvPr/>
        </p:nvSpPr>
        <p:spPr>
          <a:xfrm>
            <a:off x="10972800" y="6537960"/>
            <a:ext cx="914040" cy="319680"/>
          </a:xfrm>
          <a:prstGeom prst="rect">
            <a:avLst/>
          </a:prstGeom>
          <a:noFill/>
          <a:ln w="0">
            <a:noFill/>
          </a:ln>
        </p:spPr>
        <p:style>
          <a:lnRef idx="0"/>
          <a:fillRef idx="0"/>
          <a:effectRef idx="0"/>
          <a:fontRef idx="minor"/>
        </p:style>
        <p:txBody>
          <a:bodyPr lIns="73080" rIns="73080" tIns="36720" bIns="36720" anchor="ctr">
            <a:spAutoFit/>
          </a:bodyPr>
          <a:p>
            <a:pPr algn="r" defTabSz="457200">
              <a:lnSpc>
                <a:spcPct val="100000"/>
              </a:lnSpc>
              <a:spcAft>
                <a:spcPts val="400"/>
              </a:spcAft>
            </a:pPr>
            <a:r>
              <a:rPr b="0" lang="en-US" sz="1000" strike="noStrike" u="none">
                <a:solidFill>
                  <a:srgbClr val="5f6b7a"/>
                </a:solidFill>
                <a:effectLst/>
                <a:uFillTx/>
                <a:latin typeface="Calibri"/>
              </a:rPr>
              <a:t>D / 14</a:t>
            </a:r>
            <a:endParaRPr b="0" lang="en-US" sz="1000" strike="noStrike" u="none">
              <a:solidFill>
                <a:srgbClr val="000000"/>
              </a:solidFill>
              <a:effectLst/>
              <a:uFillTx/>
              <a:latin typeface="Arial"/>
            </a:endParaRPr>
          </a:p>
        </p:txBody>
      </p:sp>
      <p:sp>
        <p:nvSpPr>
          <p:cNvPr id="331" name="TextBox 8"/>
          <p:cNvSpPr/>
          <p:nvPr/>
        </p:nvSpPr>
        <p:spPr>
          <a:xfrm>
            <a:off x="365760" y="1051560"/>
            <a:ext cx="11429640" cy="41112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1" lang="en-US" sz="1000" strike="noStrike" u="none">
                <a:solidFill>
                  <a:srgbClr val="00a39b"/>
                </a:solidFill>
                <a:effectLst/>
                <a:uFillTx/>
                <a:latin typeface="Calibri"/>
              </a:rPr>
              <a:t>[R] Requirement = given by the workshop brief, non-negotiable  ·  [A] Working assumption = ours, to be validated in beta  ·  [P] Architect proposal = ours, backed by an ADR  ·  [D] Data/training prerequisite = condition to enable a component</a:t>
            </a:r>
            <a:endParaRPr b="0" lang="en-US" sz="1000" strike="noStrike" u="none">
              <a:solidFill>
                <a:srgbClr val="000000"/>
              </a:solidFill>
              <a:effectLst/>
              <a:uFillTx/>
              <a:latin typeface="Arial"/>
            </a:endParaRPr>
          </a:p>
        </p:txBody>
      </p:sp>
      <p:graphicFrame>
        <p:nvGraphicFramePr>
          <p:cNvPr id="332" name="Table 9"/>
          <p:cNvGraphicFramePr/>
          <p:nvPr/>
        </p:nvGraphicFramePr>
        <p:xfrm>
          <a:off x="365760" y="1508760"/>
          <a:ext cx="11429640" cy="4297320"/>
        </p:xfrm>
        <a:graphic>
          <a:graphicData uri="http://schemas.openxmlformats.org/drawingml/2006/table">
            <a:tbl>
              <a:tblPr/>
              <a:tblGrid>
                <a:gridCol w="1463040"/>
                <a:gridCol w="5120640"/>
                <a:gridCol w="3657600"/>
                <a:gridCol w="1188720"/>
              </a:tblGrid>
              <a:tr h="390600">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Type</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Statement</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Source / validation</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c>
                  <a:txBody>
                    <a:bodyPr lIns="45720" rIns="45720" tIns="18000" bIns="18000" anchor="t">
                      <a:noAutofit/>
                    </a:bodyPr>
                    <a:p>
                      <a:pPr defTabSz="457200">
                        <a:lnSpc>
                          <a:spcPct val="100000"/>
                        </a:lnSpc>
                      </a:pPr>
                      <a:r>
                        <a:rPr b="1" lang="en-US" sz="1000" strike="noStrike" u="none">
                          <a:solidFill>
                            <a:srgbClr val="ffffff"/>
                          </a:solidFill>
                          <a:effectLst/>
                          <a:uFillTx/>
                          <a:latin typeface="Calibri"/>
                        </a:rPr>
                        <a:t>Owner</a:t>
                      </a:r>
                      <a:endParaRPr b="0" lang="en-US" sz="1000" strike="noStrike" u="none">
                        <a:solidFill>
                          <a:srgbClr val="ffffff"/>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39b"/>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 Requirement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Full-turn p95 latency &lt; 3s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Scenario B brief</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Bình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[R] Requirement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Sustain 5–8× peak; no direct answer reveal; parental consent; freemium</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Scenario B brief</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Thuận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 Assumption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30% of DAU use the tutor × 8 turns → 960k turns/day, 29M/month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Measure in 2k-student beta; refresh cost model weekly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Phú</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 Assumption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Vietnam-primary market (Decree 13); 10% paying mix (sens. 5/15%)</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Legal + finance confirmation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Phụng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 Assumption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Managed small model is good enough for Socratic phrasing given ladder + policy</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Golden set ≥ 1,000, Pedagogy ≥ 4.0/5 in beta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Hòa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 Proposal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ALR ≤ 1.0% golden · ≤ 0.5% prod · golden set ≥ 1,000 · 4-condition release gate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ADR-001/-004; panel may challenge thresholds</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Phụng</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 Proposal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Hybrid policy + RAG + tools + managed LLM; AWS + pgvector; BKT</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ADR-001…-005 (Accepted)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Hòa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 Proposal</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Cost ≤ $0.0007/turn; AI ≤ 20% of revenue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Cost model §10; measured via gateway ledger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Phú</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[D] Prerequisite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 50k real labelled turns before SFT/DPO of a self-hosted 8B (Phase 2)</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ADR-005 Proposed — not yet enabled</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Hòa</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0600">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[D] Prerequisite</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Teacher-reviewed ladders for ≥ 80% of top-traffic exercises before launch</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Offline lane, review tracker</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c>
                  <a:txBody>
                    <a:bodyPr lIns="45720" rIns="45720" tIns="18000" bIns="18000" anchor="t">
                      <a:noAutofit/>
                    </a:bodyPr>
                    <a:p>
                      <a:pPr defTabSz="457200">
                        <a:lnSpc>
                          <a:spcPct val="100000"/>
                        </a:lnSpc>
                      </a:pPr>
                      <a:r>
                        <a:rPr b="0" lang="en-US" sz="1000" strike="noStrike" u="none">
                          <a:solidFill>
                            <a:srgbClr val="1e252f"/>
                          </a:solidFill>
                          <a:effectLst/>
                          <a:uFillTx/>
                          <a:latin typeface="Calibri"/>
                        </a:rPr>
                        <a:t>Huyền</a:t>
                      </a:r>
                      <a:endParaRPr b="0" lang="en-US" sz="1000" strike="noStrike" u="none">
                        <a:solidFill>
                          <a:srgbClr val="000000"/>
                        </a:solidFill>
                        <a:effectLst/>
                        <a:uFillTx/>
                        <a:latin typeface="Arial"/>
                      </a:endParaRPr>
                    </a:p>
                  </a:txBody>
                  <a:tcPr anchor="t" marL="45720" marR="45720"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9"/>
                    </a:solidFill>
                  </a:tcPr>
                </a:tc>
              </a:tr>
            </a:tbl>
          </a:graphicData>
        </a:graphic>
      </p:graphicFrame>
      <p:sp>
        <p:nvSpPr>
          <p:cNvPr id="333" name="TextBox 10"/>
          <p:cNvSpPr/>
          <p:nvPr/>
        </p:nvSpPr>
        <p:spPr>
          <a:xfrm>
            <a:off x="365760" y="5897880"/>
            <a:ext cx="11429640" cy="548280"/>
          </a:xfrm>
          <a:prstGeom prst="rect">
            <a:avLst/>
          </a:prstGeom>
          <a:noFill/>
          <a:ln w="0">
            <a:noFill/>
          </a:ln>
        </p:spPr>
        <p:style>
          <a:lnRef idx="0"/>
          <a:fillRef idx="0"/>
          <a:effectRef idx="0"/>
          <a:fontRef idx="minor"/>
        </p:style>
        <p:txBody>
          <a:bodyPr lIns="73080" rIns="73080" tIns="36720" bIns="36720" anchor="t">
            <a:spAutoFit/>
          </a:bodyPr>
          <a:p>
            <a:pPr defTabSz="457200">
              <a:lnSpc>
                <a:spcPct val="100000"/>
              </a:lnSpc>
              <a:spcAft>
                <a:spcPts val="400"/>
              </a:spcAft>
            </a:pPr>
            <a:r>
              <a:rPr b="0" lang="en-US" sz="1000" strike="noStrike" u="none">
                <a:solidFill>
                  <a:srgbClr val="5f6b7a"/>
                </a:solidFill>
                <a:effectLst/>
                <a:uFillTx/>
                <a:latin typeface="Calibri"/>
              </a:rPr>
              <a:t>Full 25+ item register: ATAD Appendix E. Every ADR carries a Status (Accepted / Proposed) and activation condition — nothing is presented as 'measured in production'.</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LibreOffice/25.8.3.2$Windows_X86_64 LibreOffice_project/8ca8d55c161d602844f5428fa4b58097424e324e</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2026-09-24T14:34:34Z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