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Thuận (TV1) · 0:45. Chỉ 3 ý: ai dùng, đau ở đâu, vì sao AI-First. Hero statement: coach tới đáp án thay vì đưa đáp án. KHÔNG nói p95/cost/component ở đây — để slide sau.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Phú (TV2) · 1:00. Trả lời thẳng câu 'Why not ChatGPT with a prompt?'. Nhấn dòng cuối: mọi thuộc tính sư phạm/an toàn có cơ chế NGOÀI model. Bottom line: LLM sinh ngôn ngữ, hệ thống kiểm soát.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Hòa (TV3) · 1:45. Narrative: 'Lựa chọn then chốt là KHÔNG tin LLM làm system of record hay policy engine. Orchestrator sở hữu tutoring state, deterministic tools làm kiểm tra chính xác, RAG grounding, Validator là cổng cuối trước khi bất cứ gì tới trẻ em.' Chỉ vào ô cam.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Phú (TV2) · 1:45. Trả lời Q2 + Q3 cùng lúc. Trái: state machine là code, LLM chỉ diễn đạt — đọc ví dụ 2x+5=15. Phải: bảng lưu/không lưu; nhấn 'không có transcript dài hạn, không PII trong prompt'.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Hòa (TV3) · 1:30. Slide ăn điểm 4.1 (30%). Đọc bảng theo cột 3 'vì sao không để LLM làm'. Phải: 5 bước grounding, nhấn giáo viên duyệt và Vault tách riêng. Kết: 2 câu why-not. Matrix đầy đủ ở Appendix 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Phụng (TV5) · 1:45. Slide Responsible AI chính. Đi 4 lớp từ trên xuống, dừng ở lớp 3 (cam). Đọc callout. Phải: 2 rủi ro + control + target. Không đọc chuẩn — chỉ footer. Threat register đầy đủ: Appendix 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Bình (TV6) · 1:30. Trả lời 'how do you know it's good'. 8 chiều đo, mỗi chiều có ngưỡng. Phải: 5 nguồn dữ liệu. Nhấn release gate: 4 điều kiện đồng thời. Kết bằng outcome học tập thật.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Dũng (TV4) · 1:45. Trái: số tải — nói rõ 11/s là trung bình, 400/s là design target 8× của giờ cao điểm. Giữa: 5 tầng scale, tầng nào stateless. Phải: budget 4 dòng, nhấn footnote 'budget, not benchmark'. Bottom line: bottleneck là provider. Deployment chi tiết Appendix B.</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Huyền (TV7) · 1:15. Đọc phương trình, 5 driver + control. Phải: 6 ops capability — nhấn canary &amp; kill switch. Không đọc bảng pricing (ATAD §10). Bottom line: fail safely, degrade gracefully, within budget.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Thuận (TV1) · 0:45. Không 'Thank you' trống. Đọc 5 quyết định. Kết bằng câu thesis. Chuyển Q&amp;A: 4.1 → Phú · 4.2 → Hòa · 4.3 → Dũng · 4.4 → Phụng · Eval/Risk → Bình · Ops/Docs → Huyền. Appendix A–D dùng khi được hỏi.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dùng khi hỏi 'why this technology'. Phú trả lời pattern/model; Dũng trả lời cloud/vector store. Full matrix: ATAD §3.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4.3 — Dũng. Nhấn: mọi lớp có thay thế neutral; egress LLM chỉ qua gateway; Vault IAM-scoped.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Bình. Khi panel hỏi 'rủi ro lớn nhất': R-01 &amp; R-02, đều có KRI ngày và gate release.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Thuận. Trả lời Q10. Đọc theo cột: cái gì đề bài ép (R), cái gì chúng tôi giả định (A), cái gì chúng tôi đề xuất và có thể tranh luận (P), cái gì phải có data trước (D).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00A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7315200" cy="731520"/>
          </a:xfrm>
          <a:prstGeom prst="rect">
            <a:avLst/>
          </a:prstGeom>
          <a:noFill/>
        </p:spPr>
        <p:txBody>
          <a:bodyPr wrap="square" lIns="73152" rIns="73152" tIns="36576" bIns="36576" anchor="t">
            <a:spAutoFit/>
          </a:bodyPr>
          <a:lstStyle/>
          <a:p>
            <a:pPr algn="l">
              <a:spcAft>
                <a:spcPts val="400"/>
              </a:spcAft>
            </a:pPr>
            <a:r>
              <a:rPr sz="4000" b="1">
                <a:solidFill>
                  <a:srgbClr val="FFFFFF"/>
                </a:solidFill>
                <a:latin typeface="Calibri"/>
              </a:rPr>
              <a:t>TutorMate</a:t>
            </a:r>
          </a:p>
        </p:txBody>
      </p:sp>
      <p:sp>
        <p:nvSpPr>
          <p:cNvPr id="5" name="TextBox 4"/>
          <p:cNvSpPr txBox="1"/>
          <p:nvPr/>
        </p:nvSpPr>
        <p:spPr>
          <a:xfrm>
            <a:off x="7589520" y="274320"/>
            <a:ext cx="4206240" cy="640080"/>
          </a:xfrm>
          <a:prstGeom prst="rect">
            <a:avLst/>
          </a:prstGeom>
          <a:noFill/>
        </p:spPr>
        <p:txBody>
          <a:bodyPr wrap="square" lIns="73152" rIns="73152" tIns="36576" bIns="36576" anchor="t">
            <a:spAutoFit/>
          </a:bodyPr>
          <a:lstStyle/>
          <a:p>
            <a:pPr algn="r">
              <a:spcAft>
                <a:spcPts val="400"/>
              </a:spcAft>
            </a:pPr>
            <a:r>
              <a:rPr sz="1200" b="0">
                <a:solidFill>
                  <a:srgbClr val="B8C4D6"/>
                </a:solidFill>
                <a:latin typeface="Calibri"/>
              </a:rPr>
              <a:t>Group 4 · Scenario B (AI-First)</a:t>
            </a:r>
          </a:p>
          <a:p>
            <a:pPr algn="r">
              <a:spcAft>
                <a:spcPts val="400"/>
              </a:spcAft>
            </a:pPr>
            <a:r>
              <a:rPr sz="1200" b="0">
                <a:solidFill>
                  <a:srgbClr val="B8C4D6"/>
                </a:solidFill>
                <a:latin typeface="Calibri"/>
              </a:rPr>
              <a:t>AI Technical Architect Training · Workshop 2</a:t>
            </a:r>
          </a:p>
        </p:txBody>
      </p:sp>
      <p:sp>
        <p:nvSpPr>
          <p:cNvPr id="6" name="TextBox 5"/>
          <p:cNvSpPr txBox="1"/>
          <p:nvPr/>
        </p:nvSpPr>
        <p:spPr>
          <a:xfrm>
            <a:off x="548640" y="1280160"/>
            <a:ext cx="6035040" cy="365760"/>
          </a:xfrm>
          <a:prstGeom prst="rect">
            <a:avLst/>
          </a:prstGeom>
          <a:noFill/>
        </p:spPr>
        <p:txBody>
          <a:bodyPr wrap="square" lIns="73152" rIns="73152" tIns="36576" bIns="36576" anchor="t">
            <a:spAutoFit/>
          </a:bodyPr>
          <a:lstStyle/>
          <a:p>
            <a:pPr algn="l">
              <a:spcAft>
                <a:spcPts val="400"/>
              </a:spcAft>
            </a:pPr>
            <a:r>
              <a:rPr sz="1500" b="1">
                <a:solidFill>
                  <a:srgbClr val="00A39B"/>
                </a:solidFill>
                <a:latin typeface="Calibri"/>
              </a:rPr>
              <a:t>Bối cảnh &amp; pain point</a:t>
            </a:r>
          </a:p>
        </p:txBody>
      </p:sp>
      <p:sp>
        <p:nvSpPr>
          <p:cNvPr id="7" name="Rectangle 6"/>
          <p:cNvSpPr/>
          <p:nvPr/>
        </p:nvSpPr>
        <p:spPr>
          <a:xfrm>
            <a:off x="548640" y="1691640"/>
            <a:ext cx="109728" cy="685800"/>
          </a:xfrm>
          <a:prstGeom prst="rect">
            <a:avLst/>
          </a:prstGeom>
          <a:solidFill>
            <a:srgbClr val="00A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45920"/>
            <a:ext cx="5669280" cy="411480"/>
          </a:xfrm>
          <a:prstGeom prst="rect">
            <a:avLst/>
          </a:prstGeom>
          <a:noFill/>
        </p:spPr>
        <p:txBody>
          <a:bodyPr wrap="square" lIns="73152" rIns="73152" tIns="36576" bIns="36576" anchor="t">
            <a:spAutoFit/>
          </a:bodyPr>
          <a:lstStyle/>
          <a:p>
            <a:pPr algn="l">
              <a:spcAft>
                <a:spcPts val="400"/>
              </a:spcAft>
            </a:pPr>
            <a:r>
              <a:rPr sz="2000" b="1">
                <a:solidFill>
                  <a:srgbClr val="FFFFFF"/>
                </a:solidFill>
                <a:latin typeface="Calibri"/>
              </a:rPr>
              <a:t>400k MAU</a:t>
            </a:r>
          </a:p>
        </p:txBody>
      </p:sp>
      <p:sp>
        <p:nvSpPr>
          <p:cNvPr id="9" name="TextBox 8"/>
          <p:cNvSpPr txBox="1"/>
          <p:nvPr/>
        </p:nvSpPr>
        <p:spPr>
          <a:xfrm>
            <a:off x="777240" y="2011680"/>
            <a:ext cx="5669280" cy="365760"/>
          </a:xfrm>
          <a:prstGeom prst="rect">
            <a:avLst/>
          </a:prstGeom>
          <a:noFill/>
        </p:spPr>
        <p:txBody>
          <a:bodyPr wrap="square" lIns="73152" rIns="73152" tIns="36576" bIns="36576" anchor="t">
            <a:spAutoFit/>
          </a:bodyPr>
          <a:lstStyle/>
          <a:p>
            <a:pPr algn="l">
              <a:spcAft>
                <a:spcPts val="400"/>
              </a:spcAft>
            </a:pPr>
            <a:r>
              <a:rPr sz="1300" b="0">
                <a:solidFill>
                  <a:srgbClr val="B8C4D6"/>
                </a:solidFill>
                <a:latin typeface="Calibri"/>
              </a:rPr>
              <a:t>nền tảng Toán &amp; Khoa học của EduNova</a:t>
            </a:r>
          </a:p>
        </p:txBody>
      </p:sp>
      <p:sp>
        <p:nvSpPr>
          <p:cNvPr id="10" name="Rectangle 9"/>
          <p:cNvSpPr/>
          <p:nvPr/>
        </p:nvSpPr>
        <p:spPr>
          <a:xfrm>
            <a:off x="548640" y="2560320"/>
            <a:ext cx="109728" cy="685800"/>
          </a:xfrm>
          <a:prstGeom prst="rect">
            <a:avLst/>
          </a:prstGeom>
          <a:solidFill>
            <a:srgbClr val="00A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514600"/>
            <a:ext cx="5669280" cy="411480"/>
          </a:xfrm>
          <a:prstGeom prst="rect">
            <a:avLst/>
          </a:prstGeom>
          <a:noFill/>
        </p:spPr>
        <p:txBody>
          <a:bodyPr wrap="square" lIns="73152" rIns="73152" tIns="36576" bIns="36576" anchor="t">
            <a:spAutoFit/>
          </a:bodyPr>
          <a:lstStyle/>
          <a:p>
            <a:pPr algn="l">
              <a:spcAft>
                <a:spcPts val="400"/>
              </a:spcAft>
            </a:pPr>
            <a:r>
              <a:rPr sz="2000" b="1">
                <a:solidFill>
                  <a:srgbClr val="FFFFFF"/>
                </a:solidFill>
                <a:latin typeface="Calibri"/>
              </a:rPr>
              <a:t>Học sinh 11–16</a:t>
            </a:r>
          </a:p>
        </p:txBody>
      </p:sp>
      <p:sp>
        <p:nvSpPr>
          <p:cNvPr id="12" name="TextBox 11"/>
          <p:cNvSpPr txBox="1"/>
          <p:nvPr/>
        </p:nvSpPr>
        <p:spPr>
          <a:xfrm>
            <a:off x="777240" y="2880360"/>
            <a:ext cx="5669280" cy="365760"/>
          </a:xfrm>
          <a:prstGeom prst="rect">
            <a:avLst/>
          </a:prstGeom>
          <a:noFill/>
        </p:spPr>
        <p:txBody>
          <a:bodyPr wrap="square" lIns="73152" rIns="73152" tIns="36576" bIns="36576" anchor="t">
            <a:spAutoFit/>
          </a:bodyPr>
          <a:lstStyle/>
          <a:p>
            <a:pPr algn="l">
              <a:spcAft>
                <a:spcPts val="400"/>
              </a:spcAft>
            </a:pPr>
            <a:r>
              <a:rPr sz="1300" b="0">
                <a:solidFill>
                  <a:srgbClr val="B8C4D6"/>
                </a:solidFill>
                <a:latin typeface="Calibri"/>
              </a:rPr>
              <a:t>cấp 2, dùng chủ yếu trên mobile</a:t>
            </a:r>
          </a:p>
        </p:txBody>
      </p:sp>
      <p:sp>
        <p:nvSpPr>
          <p:cNvPr id="13" name="Rectangle 12"/>
          <p:cNvSpPr/>
          <p:nvPr/>
        </p:nvSpPr>
        <p:spPr>
          <a:xfrm>
            <a:off x="548640" y="3429000"/>
            <a:ext cx="109728" cy="685800"/>
          </a:xfrm>
          <a:prstGeom prst="rect">
            <a:avLst/>
          </a:prstGeom>
          <a:solidFill>
            <a:srgbClr val="00A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383280"/>
            <a:ext cx="5669280" cy="411480"/>
          </a:xfrm>
          <a:prstGeom prst="rect">
            <a:avLst/>
          </a:prstGeom>
          <a:noFill/>
        </p:spPr>
        <p:txBody>
          <a:bodyPr wrap="square" lIns="73152" rIns="73152" tIns="36576" bIns="36576" anchor="t">
            <a:spAutoFit/>
          </a:bodyPr>
          <a:lstStyle/>
          <a:p>
            <a:pPr algn="l">
              <a:spcAft>
                <a:spcPts val="400"/>
              </a:spcAft>
            </a:pPr>
            <a:r>
              <a:rPr sz="2000" b="1">
                <a:solidFill>
                  <a:srgbClr val="FFFFFF"/>
                </a:solidFill>
                <a:latin typeface="Calibri"/>
              </a:rPr>
              <a:t>Gap hiện tại</a:t>
            </a:r>
          </a:p>
        </p:txBody>
      </p:sp>
      <p:sp>
        <p:nvSpPr>
          <p:cNvPr id="15" name="TextBox 14"/>
          <p:cNvSpPr txBox="1"/>
          <p:nvPr/>
        </p:nvSpPr>
        <p:spPr>
          <a:xfrm>
            <a:off x="777240" y="3749040"/>
            <a:ext cx="5669280" cy="365760"/>
          </a:xfrm>
          <a:prstGeom prst="rect">
            <a:avLst/>
          </a:prstGeom>
          <a:noFill/>
        </p:spPr>
        <p:txBody>
          <a:bodyPr wrap="square" lIns="73152" rIns="73152" tIns="36576" bIns="36576" anchor="t">
            <a:spAutoFit/>
          </a:bodyPr>
          <a:lstStyle/>
          <a:p>
            <a:pPr algn="l">
              <a:spcAft>
                <a:spcPts val="400"/>
              </a:spcAft>
            </a:pPr>
            <a:r>
              <a:rPr sz="1300" b="0">
                <a:solidFill>
                  <a:srgbClr val="B8C4D6"/>
                </a:solidFill>
                <a:latin typeface="Calibri"/>
              </a:rPr>
              <a:t>lời giải sẵn không dạy cách suy luận — kẹt bài → bỏ cuộc</a:t>
            </a:r>
          </a:p>
        </p:txBody>
      </p:sp>
      <p:sp>
        <p:nvSpPr>
          <p:cNvPr id="16" name="Rounded Rectangle 15"/>
          <p:cNvSpPr/>
          <p:nvPr/>
        </p:nvSpPr>
        <p:spPr>
          <a:xfrm>
            <a:off x="548640" y="4434840"/>
            <a:ext cx="6035040" cy="1051560"/>
          </a:xfrm>
          <a:prstGeom prst="roundRect">
            <a:avLst/>
          </a:prstGeom>
          <a:solidFill>
            <a:srgbClr val="00A3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a:solidFill>
                  <a:srgbClr val="FFFFFF"/>
                </a:solidFill>
                <a:latin typeface="Calibri"/>
              </a:rPr>
              <a:t>TutorMate dẫn dắt học sinh đi tới đáp án — thay vì đưa đáp án.</a:t>
            </a:r>
          </a:p>
        </p:txBody>
      </p:sp>
      <p:sp>
        <p:nvSpPr>
          <p:cNvPr id="17" name="TextBox 16"/>
          <p:cNvSpPr txBox="1"/>
          <p:nvPr/>
        </p:nvSpPr>
        <p:spPr>
          <a:xfrm>
            <a:off x="548640" y="5623560"/>
            <a:ext cx="6035040" cy="822960"/>
          </a:xfrm>
          <a:prstGeom prst="rect">
            <a:avLst/>
          </a:prstGeom>
          <a:noFill/>
        </p:spPr>
        <p:txBody>
          <a:bodyPr wrap="square" lIns="73152" rIns="73152" tIns="36576" bIns="36576" anchor="t">
            <a:spAutoFit/>
          </a:bodyPr>
          <a:lstStyle/>
          <a:p>
            <a:pPr algn="l">
              <a:spcAft>
                <a:spcPts val="400"/>
              </a:spcAft>
            </a:pPr>
            <a:r>
              <a:rPr sz="1200" b="0">
                <a:solidFill>
                  <a:srgbClr val="B8C4D6"/>
                </a:solidFill>
                <a:latin typeface="Calibri"/>
              </a:rPr>
              <a:t>AI-First: bỏ AI đi thì không còn “gia sư” — chỉ còn app trắc nghiệm cũ. Toàn bộ giá trị mới nằm ở vòng lặp bên phải.</a:t>
            </a:r>
          </a:p>
        </p:txBody>
      </p:sp>
      <p:sp>
        <p:nvSpPr>
          <p:cNvPr id="18" name="TextBox 17"/>
          <p:cNvSpPr txBox="1"/>
          <p:nvPr/>
        </p:nvSpPr>
        <p:spPr>
          <a:xfrm>
            <a:off x="7223760" y="1280160"/>
            <a:ext cx="4389120" cy="365760"/>
          </a:xfrm>
          <a:prstGeom prst="rect">
            <a:avLst/>
          </a:prstGeom>
          <a:noFill/>
        </p:spPr>
        <p:txBody>
          <a:bodyPr wrap="square" lIns="73152" rIns="73152" tIns="36576" bIns="36576" anchor="t">
            <a:spAutoFit/>
          </a:bodyPr>
          <a:lstStyle/>
          <a:p>
            <a:pPr algn="l">
              <a:spcAft>
                <a:spcPts val="400"/>
              </a:spcAft>
            </a:pPr>
            <a:r>
              <a:rPr sz="1500" b="1">
                <a:solidFill>
                  <a:srgbClr val="00A39B"/>
                </a:solidFill>
                <a:latin typeface="Calibri"/>
              </a:rPr>
              <a:t>Vòng lặp giá trị</a:t>
            </a:r>
          </a:p>
        </p:txBody>
      </p:sp>
      <p:sp>
        <p:nvSpPr>
          <p:cNvPr id="19" name="Rounded Rectangle 18"/>
          <p:cNvSpPr/>
          <p:nvPr/>
        </p:nvSpPr>
        <p:spPr>
          <a:xfrm>
            <a:off x="7406640" y="1737360"/>
            <a:ext cx="4023360" cy="822960"/>
          </a:xfrm>
          <a:prstGeom prst="roundRect">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Học sinh kẹt bài</a:t>
            </a:r>
          </a:p>
          <a:p>
            <a:pPr algn="ctr"/>
            <a:r>
              <a:rPr sz="900">
                <a:solidFill>
                  <a:srgbClr val="5F6B7A"/>
                </a:solidFill>
                <a:latin typeface="Calibri"/>
              </a:rPr>
              <a:t>“Em không biết bắt đầu từ đâu”</a:t>
            </a:r>
          </a:p>
        </p:txBody>
      </p:sp>
      <p:cxnSp>
        <p:nvCxnSpPr>
          <p:cNvPr id="20" name="Connector 19"/>
          <p:cNvCxnSpPr/>
          <p:nvPr/>
        </p:nvCxnSpPr>
        <p:spPr>
          <a:xfrm>
            <a:off x="9418320" y="2560320"/>
            <a:ext cx="0" cy="256032"/>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406640" y="2816352"/>
            <a:ext cx="4023360" cy="822960"/>
          </a:xfrm>
          <a:prstGeom prst="roundRect">
            <a:avLst/>
          </a:prstGeom>
          <a:solidFill>
            <a:srgbClr val="00A39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FFFFFF"/>
                </a:solidFill>
                <a:latin typeface="Calibri"/>
              </a:rPr>
              <a:t>TutorMate gợi mở suy luận</a:t>
            </a:r>
          </a:p>
          <a:p>
            <a:pPr algn="ctr"/>
            <a:r>
              <a:rPr sz="900">
                <a:solidFill>
                  <a:srgbClr val="FFFFFF"/>
                </a:solidFill>
                <a:latin typeface="Calibri"/>
              </a:rPr>
              <a:t>câu hỏi kế tiếp, không lộ đáp án</a:t>
            </a:r>
          </a:p>
        </p:txBody>
      </p:sp>
      <p:cxnSp>
        <p:nvCxnSpPr>
          <p:cNvPr id="22" name="Connector 21"/>
          <p:cNvCxnSpPr/>
          <p:nvPr/>
        </p:nvCxnSpPr>
        <p:spPr>
          <a:xfrm>
            <a:off x="9418320" y="3639312"/>
            <a:ext cx="0" cy="256032"/>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406640" y="3895344"/>
            <a:ext cx="4023360" cy="822960"/>
          </a:xfrm>
          <a:prstGeom prst="roundRect">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Học sinh tự tới đáp án</a:t>
            </a:r>
          </a:p>
          <a:p>
            <a:pPr algn="ctr"/>
            <a:r>
              <a:rPr sz="900">
                <a:solidFill>
                  <a:srgbClr val="5F6B7A"/>
                </a:solidFill>
                <a:latin typeface="Calibri"/>
              </a:rPr>
              <a:t>được chấm &amp; củng cố</a:t>
            </a:r>
          </a:p>
        </p:txBody>
      </p:sp>
      <p:cxnSp>
        <p:nvCxnSpPr>
          <p:cNvPr id="24" name="Connector 23"/>
          <p:cNvCxnSpPr/>
          <p:nvPr/>
        </p:nvCxnSpPr>
        <p:spPr>
          <a:xfrm>
            <a:off x="9418320" y="4718304"/>
            <a:ext cx="0" cy="256032"/>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406640" y="4974336"/>
            <a:ext cx="4023360" cy="822960"/>
          </a:xfrm>
          <a:prstGeom prst="roundRect">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Learner model cập nhật</a:t>
            </a:r>
          </a:p>
          <a:p>
            <a:pPr algn="ctr"/>
            <a:r>
              <a:rPr sz="900">
                <a:solidFill>
                  <a:srgbClr val="5F6B7A"/>
                </a:solidFill>
                <a:latin typeface="Calibri"/>
              </a:rPr>
              <a:t>lượt sau cá nhân hoá hơn</a:t>
            </a:r>
          </a:p>
        </p:txBody>
      </p:sp>
      <p:sp>
        <p:nvSpPr>
          <p:cNvPr id="26" name="TextBox 25"/>
          <p:cNvSpPr txBox="1"/>
          <p:nvPr/>
        </p:nvSpPr>
        <p:spPr>
          <a:xfrm>
            <a:off x="548640" y="6446520"/>
            <a:ext cx="10972800" cy="320040"/>
          </a:xfrm>
          <a:prstGeom prst="rect">
            <a:avLst/>
          </a:prstGeom>
          <a:noFill/>
        </p:spPr>
        <p:txBody>
          <a:bodyPr wrap="square" lIns="73152" rIns="73152" tIns="36576" bIns="36576" anchor="t">
            <a:spAutoFit/>
          </a:bodyPr>
          <a:lstStyle/>
          <a:p>
            <a:pPr algn="r">
              <a:spcAft>
                <a:spcPts val="400"/>
              </a:spcAft>
            </a:pPr>
            <a:r>
              <a:rPr sz="1000" b="0">
                <a:solidFill>
                  <a:srgbClr val="5F6B7A"/>
                </a:solidFill>
                <a:latin typeface="Calibri"/>
              </a:rPr>
              <a:t>Thuận · Phú · Hòa · Phụng · Bình · Dũng · Huyền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01200" cy="731520"/>
          </a:xfrm>
          <a:prstGeom prst="rect">
            <a:avLst/>
          </a:prstGeom>
          <a:noFill/>
        </p:spPr>
        <p:txBody>
          <a:bodyPr wrap="square" lIns="73152" rIns="73152" tIns="36576" bIns="36576" anchor="ctr">
            <a:spAutoFit/>
          </a:bodyPr>
          <a:lstStyle/>
          <a:p>
            <a:pPr algn="l">
              <a:spcAft>
                <a:spcPts val="400"/>
              </a:spcAft>
            </a:pPr>
            <a:r>
              <a:rPr sz="2600" b="1">
                <a:solidFill>
                  <a:srgbClr val="FFFFFF"/>
                </a:solidFill>
                <a:latin typeface="Calibri"/>
              </a:rPr>
              <a:t>TutorMate ≠ ChatGPT + prompt</a:t>
            </a:r>
          </a:p>
        </p:txBody>
      </p:sp>
      <p:sp>
        <p:nvSpPr>
          <p:cNvPr id="4" name="TextBox 3"/>
          <p:cNvSpPr txBox="1"/>
          <p:nvPr/>
        </p:nvSpPr>
        <p:spPr>
          <a:xfrm>
            <a:off x="9692640" y="109728"/>
            <a:ext cx="2286000" cy="365760"/>
          </a:xfrm>
          <a:prstGeom prst="rect">
            <a:avLst/>
          </a:prstGeom>
          <a:noFill/>
        </p:spPr>
        <p:txBody>
          <a:bodyPr wrap="square" lIns="73152" rIns="73152" tIns="36576" bIns="36576" anchor="t">
            <a:spAutoFit/>
          </a:bodyPr>
          <a:lstStyle/>
          <a:p>
            <a:pPr algn="r">
              <a:spcAft>
                <a:spcPts val="400"/>
              </a:spcAft>
            </a:pPr>
            <a:r>
              <a:rPr sz="1200" b="1">
                <a:solidFill>
                  <a:srgbClr val="00A39B"/>
                </a:solidFill>
                <a:latin typeface="Calibri"/>
              </a:rPr>
              <a:t>PIC: Hòa (M3)</a:t>
            </a:r>
          </a:p>
        </p:txBody>
      </p:sp>
      <p:sp>
        <p:nvSpPr>
          <p:cNvPr id="5" name="TextBox 4"/>
          <p:cNvSpPr txBox="1"/>
          <p:nvPr/>
        </p:nvSpPr>
        <p:spPr>
          <a:xfrm>
            <a:off x="9692640" y="457200"/>
            <a:ext cx="2286000" cy="365760"/>
          </a:xfrm>
          <a:prstGeom prst="rect">
            <a:avLst/>
          </a:prstGeom>
          <a:noFill/>
        </p:spPr>
        <p:txBody>
          <a:bodyPr wrap="square" lIns="73152" rIns="73152" tIns="36576" bIns="36576" anchor="t">
            <a:spAutoFit/>
          </a:bodyPr>
          <a:lstStyle/>
          <a:p>
            <a:pPr algn="r">
              <a:spcAft>
                <a:spcPts val="400"/>
              </a:spcAft>
            </a:pPr>
            <a:r>
              <a:rPr sz="1100" b="0">
                <a:solidFill>
                  <a:srgbClr val="F28C28"/>
                </a:solidFill>
                <a:latin typeface="Calibri"/>
              </a:rPr>
              <a:t>Rubric 4.1 · 4.2</a:t>
            </a:r>
          </a:p>
        </p:txBody>
      </p:sp>
      <p:sp>
        <p:nvSpPr>
          <p:cNvPr id="6" name="Rectangle 5"/>
          <p:cNvSpPr/>
          <p:nvPr/>
        </p:nvSpPr>
        <p:spPr>
          <a:xfrm>
            <a:off x="0" y="6537960"/>
            <a:ext cx="12191695" cy="3200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37960"/>
            <a:ext cx="8229600" cy="320040"/>
          </a:xfrm>
          <a:prstGeom prst="rect">
            <a:avLst/>
          </a:prstGeom>
          <a:noFill/>
        </p:spPr>
        <p:txBody>
          <a:bodyPr wrap="square" lIns="73152" rIns="73152" tIns="36576" bIns="36576" anchor="ctr">
            <a:spAutoFit/>
          </a:bodyPr>
          <a:lstStyle/>
          <a:p>
            <a:pPr algn="l">
              <a:spcAft>
                <a:spcPts val="400"/>
              </a:spcAft>
            </a:pPr>
            <a:r>
              <a:rPr sz="1000" b="0">
                <a:solidFill>
                  <a:srgbClr val="5F6B7A"/>
                </a:solidFill>
                <a:latin typeface="Calibri"/>
              </a:rPr>
              <a:t>TutorMate · EduNova · Workshop 2 – Scenario B · ATAD v1.0</a:t>
            </a:r>
          </a:p>
        </p:txBody>
      </p:sp>
      <p:sp>
        <p:nvSpPr>
          <p:cNvPr id="8" name="TextBox 7"/>
          <p:cNvSpPr txBox="1"/>
          <p:nvPr/>
        </p:nvSpPr>
        <p:spPr>
          <a:xfrm>
            <a:off x="10972800" y="6537960"/>
            <a:ext cx="914400" cy="320040"/>
          </a:xfrm>
          <a:prstGeom prst="rect">
            <a:avLst/>
          </a:prstGeom>
          <a:noFill/>
        </p:spPr>
        <p:txBody>
          <a:bodyPr wrap="square" lIns="73152" rIns="73152" tIns="36576" bIns="36576" anchor="ctr">
            <a:spAutoFit/>
          </a:bodyPr>
          <a:lstStyle/>
          <a:p>
            <a:pPr algn="r">
              <a:spcAft>
                <a:spcPts val="400"/>
              </a:spcAft>
            </a:pPr>
            <a:r>
              <a:rPr sz="1000" b="0">
                <a:solidFill>
                  <a:srgbClr val="5F6B7A"/>
                </a:solidFill>
                <a:latin typeface="Calibri"/>
              </a:rPr>
              <a:t>2 / 14</a:t>
            </a:r>
          </a:p>
        </p:txBody>
      </p:sp>
      <p:graphicFrame>
        <p:nvGraphicFramePr>
          <p:cNvPr id="9" name="Table 8"/>
          <p:cNvGraphicFramePr>
            <a:graphicFrameLocks noGrp="1"/>
          </p:cNvGraphicFramePr>
          <p:nvPr/>
        </p:nvGraphicFramePr>
        <p:xfrm>
          <a:off x="365760" y="1143000"/>
          <a:ext cx="11430000" cy="3291840"/>
        </p:xfrm>
        <a:graphic>
          <a:graphicData uri="http://schemas.openxmlformats.org/drawingml/2006/table">
            <a:tbl>
              <a:tblPr firstRow="1" bandRow="1">
                <a:tableStyleId>{5C22544A-7EE6-4342-B048-85BDC9FD1C3A}</a:tableStyleId>
              </a:tblPr>
              <a:tblGrid>
                <a:gridCol w="3108960"/>
                <a:gridCol w="4206240"/>
                <a:gridCol w="4114800"/>
              </a:tblGrid>
              <a:tr h="548640">
                <a:tc>
                  <a:txBody>
                    <a:bodyPr wrap="square"/>
                    <a:lstStyle/>
                    <a:p>
                      <a:r>
                        <a:rPr sz="1200" b="1">
                          <a:solidFill>
                            <a:srgbClr val="FFFFFF"/>
                          </a:solidFill>
                          <a:latin typeface="Calibri"/>
                        </a:rPr>
                        <a:t>ChatGPT / chatbot generic</a:t>
                      </a:r>
                    </a:p>
                  </a:txBody>
                  <a:tcPr marL="45720" marR="45720" marT="18288" marB="18288">
                    <a:solidFill>
                      <a:srgbClr val="00A39B"/>
                    </a:solidFill>
                  </a:tcPr>
                </a:tc>
                <a:tc>
                  <a:txBody>
                    <a:bodyPr wrap="square"/>
                    <a:lstStyle/>
                    <a:p>
                      <a:r>
                        <a:rPr sz="1200" b="1">
                          <a:solidFill>
                            <a:srgbClr val="FFFFFF"/>
                          </a:solidFill>
                          <a:latin typeface="Calibri"/>
                        </a:rPr>
                        <a:t>TutorMate</a:t>
                      </a:r>
                    </a:p>
                  </a:txBody>
                  <a:tcPr marL="45720" marR="45720" marT="18288" marB="18288">
                    <a:solidFill>
                      <a:srgbClr val="00A39B"/>
                    </a:solidFill>
                  </a:tcPr>
                </a:tc>
                <a:tc>
                  <a:txBody>
                    <a:bodyPr wrap="square"/>
                    <a:lstStyle/>
                    <a:p>
                      <a:r>
                        <a:rPr sz="1200" b="1">
                          <a:solidFill>
                            <a:srgbClr val="FFFFFF"/>
                          </a:solidFill>
                          <a:latin typeface="Calibri"/>
                        </a:rPr>
                        <a:t>Cơ chế trong kiến trúc</a:t>
                      </a:r>
                    </a:p>
                  </a:txBody>
                  <a:tcPr marL="45720" marR="45720" marT="18288" marB="18288">
                    <a:solidFill>
                      <a:srgbClr val="00A39B"/>
                    </a:solidFill>
                  </a:tcPr>
                </a:tc>
              </a:tr>
              <a:tr h="548640">
                <a:tc>
                  <a:txBody>
                    <a:bodyPr wrap="square"/>
                    <a:lstStyle/>
                    <a:p>
                      <a:r>
                        <a:rPr sz="1200">
                          <a:solidFill>
                            <a:srgbClr val="1E252F"/>
                          </a:solidFill>
                          <a:latin typeface="Calibri"/>
                        </a:rPr>
                        <a:t>Mục đích chung</a:t>
                      </a:r>
                    </a:p>
                  </a:txBody>
                  <a:tcPr marL="45720" marR="45720" marT="18288" marB="18288">
                    <a:solidFill>
                      <a:srgbClr val="FFFFFF"/>
                    </a:solidFill>
                  </a:tcPr>
                </a:tc>
                <a:tc>
                  <a:txBody>
                    <a:bodyPr wrap="square"/>
                    <a:lstStyle/>
                    <a:p>
                      <a:r>
                        <a:rPr sz="1200">
                          <a:solidFill>
                            <a:srgbClr val="1E252F"/>
                          </a:solidFill>
                          <a:latin typeface="Calibri"/>
                        </a:rPr>
                        <a:t>Gia sư Toán/Khoa học có phạm vi (domain-locked)</a:t>
                      </a:r>
                    </a:p>
                  </a:txBody>
                  <a:tcPr marL="45720" marR="45720" marT="18288" marB="18288">
                    <a:solidFill>
                      <a:srgbClr val="FFFFFF"/>
                    </a:solidFill>
                  </a:tcPr>
                </a:tc>
                <a:tc>
                  <a:txBody>
                    <a:bodyPr wrap="square"/>
                    <a:lstStyle/>
                    <a:p>
                      <a:r>
                        <a:rPr sz="1200">
                          <a:solidFill>
                            <a:srgbClr val="1E252F"/>
                          </a:solidFill>
                          <a:latin typeface="Calibri"/>
                        </a:rPr>
                        <a:t>Input Guard + topic classifier chặn ngoài phạm vi</a:t>
                      </a:r>
                    </a:p>
                  </a:txBody>
                  <a:tcPr marL="45720" marR="45720" marT="18288" marB="18288">
                    <a:solidFill>
                      <a:srgbClr val="FFFFFF"/>
                    </a:solidFill>
                  </a:tcPr>
                </a:tc>
              </a:tr>
              <a:tr h="548640">
                <a:tc>
                  <a:txBody>
                    <a:bodyPr wrap="square"/>
                    <a:lstStyle/>
                    <a:p>
                      <a:r>
                        <a:rPr sz="1200">
                          <a:solidFill>
                            <a:srgbClr val="1E252F"/>
                          </a:solidFill>
                          <a:latin typeface="Calibri"/>
                        </a:rPr>
                        <a:t>Tối ưu để TRẢ LỜI</a:t>
                      </a:r>
                    </a:p>
                  </a:txBody>
                  <a:tcPr marL="45720" marR="45720" marT="18288" marB="18288">
                    <a:solidFill>
                      <a:srgbClr val="F4F6F9"/>
                    </a:solidFill>
                  </a:tcPr>
                </a:tc>
                <a:tc>
                  <a:txBody>
                    <a:bodyPr wrap="square"/>
                    <a:lstStyle/>
                    <a:p>
                      <a:r>
                        <a:rPr sz="1200">
                          <a:solidFill>
                            <a:srgbClr val="1E252F"/>
                          </a:solidFill>
                          <a:latin typeface="Calibri"/>
                        </a:rPr>
                        <a:t>Tối ưu để HỌC — câu hỏi kế tiếp, hé lộ tối thiểu</a:t>
                      </a:r>
                    </a:p>
                  </a:txBody>
                  <a:tcPr marL="45720" marR="45720" marT="18288" marB="18288">
                    <a:solidFill>
                      <a:srgbClr val="F4F6F9"/>
                    </a:solidFill>
                  </a:tcPr>
                </a:tc>
                <a:tc>
                  <a:txBody>
                    <a:bodyPr wrap="square"/>
                    <a:lstStyle/>
                    <a:p>
                      <a:r>
                        <a:rPr sz="1200">
                          <a:solidFill>
                            <a:srgbClr val="1E252F"/>
                          </a:solidFill>
                          <a:latin typeface="Calibri"/>
                        </a:rPr>
                        <a:t>Dialogue Policy quyết định action; LLM chỉ diễn đạt</a:t>
                      </a:r>
                    </a:p>
                  </a:txBody>
                  <a:tcPr marL="45720" marR="45720" marT="18288" marB="18288">
                    <a:solidFill>
                      <a:srgbClr val="F4F6F9"/>
                    </a:solidFill>
                  </a:tcPr>
                </a:tc>
              </a:tr>
              <a:tr h="548640">
                <a:tc>
                  <a:txBody>
                    <a:bodyPr wrap="square"/>
                    <a:lstStyle/>
                    <a:p>
                      <a:r>
                        <a:rPr sz="1200">
                          <a:solidFill>
                            <a:srgbClr val="1E252F"/>
                          </a:solidFill>
                          <a:latin typeface="Calibri"/>
                        </a:rPr>
                        <a:t>Kiến thức chung của model</a:t>
                      </a:r>
                    </a:p>
                  </a:txBody>
                  <a:tcPr marL="45720" marR="45720" marT="18288" marB="18288">
                    <a:solidFill>
                      <a:srgbClr val="FFFFFF"/>
                    </a:solidFill>
                  </a:tcPr>
                </a:tc>
                <a:tc>
                  <a:txBody>
                    <a:bodyPr wrap="square"/>
                    <a:lstStyle/>
                    <a:p>
                      <a:r>
                        <a:rPr sz="1200">
                          <a:solidFill>
                            <a:srgbClr val="1E252F"/>
                          </a:solidFill>
                          <a:latin typeface="Calibri"/>
                        </a:rPr>
                        <a:t>Grounding trên chương trình đã duyệt (Hint Ladder)</a:t>
                      </a:r>
                    </a:p>
                  </a:txBody>
                  <a:tcPr marL="45720" marR="45720" marT="18288" marB="18288">
                    <a:solidFill>
                      <a:srgbClr val="FFFFFF"/>
                    </a:solidFill>
                  </a:tcPr>
                </a:tc>
                <a:tc>
                  <a:txBody>
                    <a:bodyPr wrap="square"/>
                    <a:lstStyle/>
                    <a:p>
                      <a:r>
                        <a:rPr sz="1200">
                          <a:solidFill>
                            <a:srgbClr val="1E252F"/>
                          </a:solidFill>
                          <a:latin typeface="Calibri"/>
                        </a:rPr>
                        <a:t>RAG trên corpus giáo viên duyệt, có version</a:t>
                      </a:r>
                    </a:p>
                  </a:txBody>
                  <a:tcPr marL="45720" marR="45720" marT="18288" marB="18288">
                    <a:solidFill>
                      <a:srgbClr val="FFFFFF"/>
                    </a:solidFill>
                  </a:tcPr>
                </a:tc>
              </a:tr>
              <a:tr h="548640">
                <a:tc>
                  <a:txBody>
                    <a:bodyPr wrap="square"/>
                    <a:lstStyle/>
                    <a:p>
                      <a:r>
                        <a:rPr sz="1200">
                          <a:solidFill>
                            <a:srgbClr val="1E252F"/>
                          </a:solidFill>
                          <a:latin typeface="Calibri"/>
                        </a:rPr>
                        <a:t>Điều khiển bằng prompt</a:t>
                      </a:r>
                    </a:p>
                  </a:txBody>
                  <a:tcPr marL="45720" marR="45720" marT="18288" marB="18288">
                    <a:solidFill>
                      <a:srgbClr val="F4F6F9"/>
                    </a:solidFill>
                  </a:tcPr>
                </a:tc>
                <a:tc>
                  <a:txBody>
                    <a:bodyPr wrap="square"/>
                    <a:lstStyle/>
                    <a:p>
                      <a:r>
                        <a:rPr sz="1200">
                          <a:solidFill>
                            <a:srgbClr val="1E252F"/>
                          </a:solidFill>
                          <a:latin typeface="Calibri"/>
                        </a:rPr>
                        <a:t>Tutoring state machine tường minh</a:t>
                      </a:r>
                    </a:p>
                  </a:txBody>
                  <a:tcPr marL="45720" marR="45720" marT="18288" marB="18288">
                    <a:solidFill>
                      <a:srgbClr val="F4F6F9"/>
                    </a:solidFill>
                  </a:tcPr>
                </a:tc>
                <a:tc>
                  <a:txBody>
                    <a:bodyPr wrap="square"/>
                    <a:lstStyle/>
                    <a:p>
                      <a:r>
                        <a:rPr sz="1200">
                          <a:solidFill>
                            <a:srgbClr val="1E252F"/>
                          </a:solidFill>
                          <a:latin typeface="Calibri"/>
                        </a:rPr>
                        <a:t>Orient→Elicit→Hint→Check→Consolidate→Escalate (ADR-001)</a:t>
                      </a:r>
                    </a:p>
                  </a:txBody>
                  <a:tcPr marL="45720" marR="45720" marT="18288" marB="18288">
                    <a:solidFill>
                      <a:srgbClr val="F4F6F9"/>
                    </a:solidFill>
                  </a:tcPr>
                </a:tc>
              </a:tr>
              <a:tr h="548640">
                <a:tc>
                  <a:txBody>
                    <a:bodyPr wrap="square"/>
                    <a:lstStyle/>
                    <a:p>
                      <a:r>
                        <a:rPr sz="1200">
                          <a:solidFill>
                            <a:srgbClr val="1E252F"/>
                          </a:solidFill>
                          <a:latin typeface="Calibri"/>
                        </a:rPr>
                        <a:t>Output đi thẳng từ model</a:t>
                      </a:r>
                    </a:p>
                  </a:txBody>
                  <a:tcPr marL="45720" marR="45720" marT="18288" marB="18288">
                    <a:solidFill>
                      <a:srgbClr val="FFFFFF"/>
                    </a:solidFill>
                  </a:tcPr>
                </a:tc>
                <a:tc>
                  <a:txBody>
                    <a:bodyPr wrap="square"/>
                    <a:lstStyle/>
                    <a:p>
                      <a:r>
                        <a:rPr sz="1200">
                          <a:solidFill>
                            <a:srgbClr val="1E252F"/>
                          </a:solidFill>
                          <a:latin typeface="Calibri"/>
                        </a:rPr>
                        <a:t>Output được VALIDATE trước khi tới học sinh</a:t>
                      </a:r>
                    </a:p>
                  </a:txBody>
                  <a:tcPr marL="45720" marR="45720" marT="18288" marB="18288">
                    <a:solidFill>
                      <a:srgbClr val="FFFFFF"/>
                    </a:solidFill>
                  </a:tcPr>
                </a:tc>
                <a:tc>
                  <a:txBody>
                    <a:bodyPr wrap="square"/>
                    <a:lstStyle/>
                    <a:p>
                      <a:r>
                        <a:rPr sz="1200">
                          <a:solidFill>
                            <a:srgbClr val="1E252F"/>
                          </a:solidFill>
                          <a:latin typeface="Calibri"/>
                        </a:rPr>
                        <a:t>Response Validator: safety · leak · grounding · age (ADR-004)</a:t>
                      </a:r>
                    </a:p>
                  </a:txBody>
                  <a:tcPr marL="45720" marR="45720" marT="18288" marB="18288">
                    <a:solidFill>
                      <a:srgbClr val="FFFFFF"/>
                    </a:solidFill>
                  </a:tcPr>
                </a:tc>
              </a:tr>
            </a:tbl>
          </a:graphicData>
        </a:graphic>
      </p:graphicFrame>
      <p:sp>
        <p:nvSpPr>
          <p:cNvPr id="10" name="Rounded Rectangle 9"/>
          <p:cNvSpPr/>
          <p:nvPr/>
        </p:nvSpPr>
        <p:spPr>
          <a:xfrm>
            <a:off x="365760" y="4663440"/>
            <a:ext cx="3657600" cy="1051560"/>
          </a:xfrm>
          <a:prstGeom prst="roundRect">
            <a:avLst/>
          </a:prstGeom>
          <a:solidFill>
            <a:srgbClr val="F4F6F9"/>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1E252F"/>
                </a:solidFill>
                <a:latin typeface="Calibri"/>
              </a:rPr>
              <a:t>LLM sinh NGÔN NGỮ gia sư</a:t>
            </a:r>
          </a:p>
          <a:p>
            <a:pPr algn="ctr"/>
            <a:r>
              <a:rPr sz="1000">
                <a:solidFill>
                  <a:srgbClr val="5F6B7A"/>
                </a:solidFill>
                <a:latin typeface="Calibri"/>
              </a:rPr>
              <a:t>diễn đạt gợi mở theo giọng của em</a:t>
            </a:r>
          </a:p>
        </p:txBody>
      </p:sp>
      <p:sp>
        <p:nvSpPr>
          <p:cNvPr id="11" name="TextBox 10"/>
          <p:cNvSpPr txBox="1"/>
          <p:nvPr/>
        </p:nvSpPr>
        <p:spPr>
          <a:xfrm>
            <a:off x="4069080" y="4892040"/>
            <a:ext cx="548640" cy="548640"/>
          </a:xfrm>
          <a:prstGeom prst="rect">
            <a:avLst/>
          </a:prstGeom>
          <a:noFill/>
        </p:spPr>
        <p:txBody>
          <a:bodyPr wrap="square" lIns="73152" rIns="73152" tIns="36576" bIns="36576" anchor="t">
            <a:spAutoFit/>
          </a:bodyPr>
          <a:lstStyle/>
          <a:p>
            <a:pPr algn="ctr">
              <a:spcAft>
                <a:spcPts val="400"/>
              </a:spcAft>
            </a:pPr>
            <a:r>
              <a:rPr sz="2800" b="1">
                <a:solidFill>
                  <a:srgbClr val="5F6B7A"/>
                </a:solidFill>
                <a:latin typeface="Calibri"/>
              </a:rPr>
              <a:t>+</a:t>
            </a:r>
          </a:p>
        </p:txBody>
      </p:sp>
      <p:sp>
        <p:nvSpPr>
          <p:cNvPr id="12" name="Rounded Rectangle 11"/>
          <p:cNvSpPr/>
          <p:nvPr/>
        </p:nvSpPr>
        <p:spPr>
          <a:xfrm>
            <a:off x="4617720" y="4663440"/>
            <a:ext cx="7178040" cy="1051560"/>
          </a:xfrm>
          <a:prstGeom prst="roundRect">
            <a:avLst/>
          </a:prstGeom>
          <a:solidFill>
            <a:srgbClr val="0F1F3D"/>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latin typeface="Calibri"/>
              </a:rPr>
              <a:t>HỆ THỐNG kiểm soát pedagogy · grounding · personalization · safety</a:t>
            </a:r>
          </a:p>
          <a:p>
            <a:pPr algn="ctr"/>
            <a:r>
              <a:rPr sz="1000">
                <a:solidFill>
                  <a:srgbClr val="FFFFFF"/>
                </a:solidFill>
                <a:latin typeface="Calibri"/>
              </a:rPr>
              <a:t>state machine · Hint Ladder RAG · BKT learner model · CAS grader · validator — đều nằm ngoài LLM, test được như code</a:t>
            </a:r>
          </a:p>
        </p:txBody>
      </p:sp>
      <p:sp>
        <p:nvSpPr>
          <p:cNvPr id="13" name="Rounded Rectangle 12"/>
          <p:cNvSpPr/>
          <p:nvPr/>
        </p:nvSpPr>
        <p:spPr>
          <a:xfrm>
            <a:off x="365760" y="5852160"/>
            <a:ext cx="11430000" cy="594360"/>
          </a:xfrm>
          <a:prstGeom prst="round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300" b="1">
                <a:solidFill>
                  <a:srgbClr val="FFFFFF"/>
                </a:solidFill>
                <a:latin typeface="Calibri"/>
              </a:rPr>
              <a:t>LLM runtime KHÔNG BAO GIỜ nhận đáp án cuối (Answer Vault chỉ Grader/Validator đọc) → không thể “bị gạ” mà lộ.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01200" cy="731520"/>
          </a:xfrm>
          <a:prstGeom prst="rect">
            <a:avLst/>
          </a:prstGeom>
          <a:noFill/>
        </p:spPr>
        <p:txBody>
          <a:bodyPr wrap="square" lIns="73152" rIns="73152" tIns="36576" bIns="36576" anchor="ctr">
            <a:spAutoFit/>
          </a:bodyPr>
          <a:lstStyle/>
          <a:p>
            <a:pPr algn="l">
              <a:spcAft>
                <a:spcPts val="400"/>
              </a:spcAft>
            </a:pPr>
            <a:r>
              <a:rPr sz="2600" b="1">
                <a:solidFill>
                  <a:srgbClr val="FFFFFF"/>
                </a:solidFill>
                <a:latin typeface="Calibri"/>
              </a:rPr>
              <a:t>Kiến trúc mục tiêu: LLM không phải policy engine</a:t>
            </a:r>
          </a:p>
        </p:txBody>
      </p:sp>
      <p:sp>
        <p:nvSpPr>
          <p:cNvPr id="4" name="TextBox 3"/>
          <p:cNvSpPr txBox="1"/>
          <p:nvPr/>
        </p:nvSpPr>
        <p:spPr>
          <a:xfrm>
            <a:off x="9692640" y="109728"/>
            <a:ext cx="2286000" cy="365760"/>
          </a:xfrm>
          <a:prstGeom prst="rect">
            <a:avLst/>
          </a:prstGeom>
          <a:noFill/>
        </p:spPr>
        <p:txBody>
          <a:bodyPr wrap="square" lIns="73152" rIns="73152" tIns="36576" bIns="36576" anchor="t">
            <a:spAutoFit/>
          </a:bodyPr>
          <a:lstStyle/>
          <a:p>
            <a:pPr algn="r">
              <a:spcAft>
                <a:spcPts val="400"/>
              </a:spcAft>
            </a:pPr>
            <a:r>
              <a:rPr sz="1200" b="1">
                <a:solidFill>
                  <a:srgbClr val="00A39B"/>
                </a:solidFill>
                <a:latin typeface="Calibri"/>
              </a:rPr>
              <a:t>PIC: Huyền (M2)</a:t>
            </a:r>
          </a:p>
        </p:txBody>
      </p:sp>
      <p:sp>
        <p:nvSpPr>
          <p:cNvPr id="5" name="TextBox 4"/>
          <p:cNvSpPr txBox="1"/>
          <p:nvPr/>
        </p:nvSpPr>
        <p:spPr>
          <a:xfrm>
            <a:off x="9692640" y="457200"/>
            <a:ext cx="2286000" cy="365760"/>
          </a:xfrm>
          <a:prstGeom prst="rect">
            <a:avLst/>
          </a:prstGeom>
          <a:noFill/>
        </p:spPr>
        <p:txBody>
          <a:bodyPr wrap="square" lIns="73152" rIns="73152" tIns="36576" bIns="36576" anchor="t">
            <a:spAutoFit/>
          </a:bodyPr>
          <a:lstStyle/>
          <a:p>
            <a:pPr algn="r">
              <a:spcAft>
                <a:spcPts val="400"/>
              </a:spcAft>
            </a:pPr>
            <a:r>
              <a:rPr sz="1100" b="0">
                <a:solidFill>
                  <a:srgbClr val="F28C28"/>
                </a:solidFill>
                <a:latin typeface="Calibri"/>
              </a:rPr>
              <a:t>Rubric 4.2 · 4.3</a:t>
            </a:r>
          </a:p>
        </p:txBody>
      </p:sp>
      <p:sp>
        <p:nvSpPr>
          <p:cNvPr id="6" name="Rectangle 5"/>
          <p:cNvSpPr/>
          <p:nvPr/>
        </p:nvSpPr>
        <p:spPr>
          <a:xfrm>
            <a:off x="0" y="6537960"/>
            <a:ext cx="12191695" cy="3200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37960"/>
            <a:ext cx="8229600" cy="320040"/>
          </a:xfrm>
          <a:prstGeom prst="rect">
            <a:avLst/>
          </a:prstGeom>
          <a:noFill/>
        </p:spPr>
        <p:txBody>
          <a:bodyPr wrap="square" lIns="73152" rIns="73152" tIns="36576" bIns="36576" anchor="ctr">
            <a:spAutoFit/>
          </a:bodyPr>
          <a:lstStyle/>
          <a:p>
            <a:pPr algn="l">
              <a:spcAft>
                <a:spcPts val="400"/>
              </a:spcAft>
            </a:pPr>
            <a:r>
              <a:rPr sz="1000" b="0">
                <a:solidFill>
                  <a:srgbClr val="5F6B7A"/>
                </a:solidFill>
                <a:latin typeface="Calibri"/>
              </a:rPr>
              <a:t>TutorMate · EduNova · Workshop 2 – Scenario B · ATAD v1.0</a:t>
            </a:r>
          </a:p>
        </p:txBody>
      </p:sp>
      <p:sp>
        <p:nvSpPr>
          <p:cNvPr id="8" name="TextBox 7"/>
          <p:cNvSpPr txBox="1"/>
          <p:nvPr/>
        </p:nvSpPr>
        <p:spPr>
          <a:xfrm>
            <a:off x="10972800" y="6537960"/>
            <a:ext cx="914400" cy="320040"/>
          </a:xfrm>
          <a:prstGeom prst="rect">
            <a:avLst/>
          </a:prstGeom>
          <a:noFill/>
        </p:spPr>
        <p:txBody>
          <a:bodyPr wrap="square" lIns="73152" rIns="73152" tIns="36576" bIns="36576" anchor="ctr">
            <a:spAutoFit/>
          </a:bodyPr>
          <a:lstStyle/>
          <a:p>
            <a:pPr algn="r">
              <a:spcAft>
                <a:spcPts val="400"/>
              </a:spcAft>
            </a:pPr>
            <a:r>
              <a:rPr sz="1000" b="0">
                <a:solidFill>
                  <a:srgbClr val="5F6B7A"/>
                </a:solidFill>
                <a:latin typeface="Calibri"/>
              </a:rPr>
              <a:t>3 / 14</a:t>
            </a:r>
          </a:p>
        </p:txBody>
      </p:sp>
      <p:sp>
        <p:nvSpPr>
          <p:cNvPr id="9" name="Rounded Rectangle 8"/>
          <p:cNvSpPr/>
          <p:nvPr/>
        </p:nvSpPr>
        <p:spPr>
          <a:xfrm>
            <a:off x="3840480" y="1097280"/>
            <a:ext cx="2926080" cy="420624"/>
          </a:xfrm>
          <a:prstGeom prst="roundRect">
            <a:avLst/>
          </a:prstGeom>
          <a:solidFill>
            <a:srgbClr val="F4F6F9"/>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Học sinh</a:t>
            </a:r>
          </a:p>
          <a:p>
            <a:pPr algn="ctr"/>
            <a:r>
              <a:rPr sz="900">
                <a:solidFill>
                  <a:srgbClr val="5F6B7A"/>
                </a:solidFill>
                <a:latin typeface="Calibri"/>
              </a:rPr>
              <a:t>web / mobile · chat + công thức</a:t>
            </a:r>
          </a:p>
        </p:txBody>
      </p:sp>
      <p:cxnSp>
        <p:nvCxnSpPr>
          <p:cNvPr id="10" name="Connector 9"/>
          <p:cNvCxnSpPr/>
          <p:nvPr/>
        </p:nvCxnSpPr>
        <p:spPr>
          <a:xfrm>
            <a:off x="5303520" y="1517904"/>
            <a:ext cx="0" cy="109728"/>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840480" y="1627632"/>
            <a:ext cx="2926080" cy="420624"/>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API · Identity · Consent</a:t>
            </a:r>
          </a:p>
          <a:p>
            <a:pPr algn="ctr"/>
            <a:r>
              <a:rPr sz="900">
                <a:solidFill>
                  <a:srgbClr val="5F6B7A"/>
                </a:solidFill>
                <a:latin typeface="Calibri"/>
              </a:rPr>
              <a:t>auth, parental consent gate, quota</a:t>
            </a:r>
          </a:p>
        </p:txBody>
      </p:sp>
      <p:cxnSp>
        <p:nvCxnSpPr>
          <p:cNvPr id="12" name="Connector 11"/>
          <p:cNvCxnSpPr/>
          <p:nvPr/>
        </p:nvCxnSpPr>
        <p:spPr>
          <a:xfrm>
            <a:off x="5303520" y="2048256"/>
            <a:ext cx="0" cy="109728"/>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840480" y="2157984"/>
            <a:ext cx="2926080" cy="420624"/>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Input Safety</a:t>
            </a:r>
          </a:p>
          <a:p>
            <a:pPr algn="ctr"/>
            <a:r>
              <a:rPr sz="900">
                <a:solidFill>
                  <a:srgbClr val="5F6B7A"/>
                </a:solidFill>
                <a:latin typeface="Calibri"/>
              </a:rPr>
              <a:t>moderation · injection · topic lock</a:t>
            </a:r>
          </a:p>
        </p:txBody>
      </p:sp>
      <p:sp>
        <p:nvSpPr>
          <p:cNvPr id="14" name="Rounded Rectangle 13"/>
          <p:cNvSpPr/>
          <p:nvPr/>
        </p:nvSpPr>
        <p:spPr>
          <a:xfrm>
            <a:off x="914400" y="2688336"/>
            <a:ext cx="8778240" cy="566928"/>
          </a:xfrm>
          <a:prstGeom prst="roundRect">
            <a:avLst/>
          </a:prstGeom>
          <a:solidFill>
            <a:srgbClr val="0F1F3D"/>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a:solidFill>
                  <a:srgbClr val="FFFFFF"/>
                </a:solidFill>
                <a:latin typeface="Calibri"/>
              </a:rPr>
              <a:t>Tutor Orchestrator (Dialogue Policy · sở hữu tutoring state)</a:t>
            </a:r>
          </a:p>
          <a:p>
            <a:pPr algn="ctr"/>
            <a:r>
              <a:rPr sz="900">
                <a:solidFill>
                  <a:srgbClr val="FFFFFF"/>
                </a:solidFill>
                <a:latin typeface="Calibri"/>
              </a:rPr>
              <a:t>quyết định: advance · hint level · check · consolidate · escalate — deterministic, unit-test được</a:t>
            </a:r>
          </a:p>
        </p:txBody>
      </p:sp>
      <p:cxnSp>
        <p:nvCxnSpPr>
          <p:cNvPr id="15" name="Connector 14"/>
          <p:cNvCxnSpPr/>
          <p:nvPr/>
        </p:nvCxnSpPr>
        <p:spPr>
          <a:xfrm>
            <a:off x="5303520" y="2578608"/>
            <a:ext cx="0" cy="109728"/>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14400" y="3401568"/>
            <a:ext cx="2926080" cy="512064"/>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Learner Profile (BKT)</a:t>
            </a:r>
          </a:p>
          <a:p>
            <a:pPr algn="ctr"/>
            <a:r>
              <a:rPr sz="900">
                <a:solidFill>
                  <a:srgbClr val="5F6B7A"/>
                </a:solidFill>
                <a:latin typeface="Calibri"/>
              </a:rPr>
              <a:t>P(mastery)/skill · pseudonymous</a:t>
            </a:r>
          </a:p>
        </p:txBody>
      </p:sp>
      <p:cxnSp>
        <p:nvCxnSpPr>
          <p:cNvPr id="17" name="Connector 16"/>
          <p:cNvCxnSpPr/>
          <p:nvPr/>
        </p:nvCxnSpPr>
        <p:spPr>
          <a:xfrm>
            <a:off x="2377440" y="3255264"/>
            <a:ext cx="0" cy="146304"/>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840480" y="3401568"/>
            <a:ext cx="2926080" cy="512064"/>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Hint Ladder RAG</a:t>
            </a:r>
          </a:p>
          <a:p>
            <a:pPr algn="ctr"/>
            <a:r>
              <a:rPr sz="900">
                <a:solidFill>
                  <a:srgbClr val="5F6B7A"/>
                </a:solidFill>
                <a:latin typeface="Calibri"/>
              </a:rPr>
              <a:t>pgvector · corpus giáo viên duyệt</a:t>
            </a:r>
          </a:p>
        </p:txBody>
      </p:sp>
      <p:cxnSp>
        <p:nvCxnSpPr>
          <p:cNvPr id="19" name="Connector 18"/>
          <p:cNvCxnSpPr/>
          <p:nvPr/>
        </p:nvCxnSpPr>
        <p:spPr>
          <a:xfrm>
            <a:off x="5303520" y="3255264"/>
            <a:ext cx="0" cy="146304"/>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766560" y="3401568"/>
            <a:ext cx="2926080" cy="512064"/>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Deterministic Tools</a:t>
            </a:r>
          </a:p>
          <a:p>
            <a:pPr algn="ctr"/>
            <a:r>
              <a:rPr sz="900">
                <a:solidFill>
                  <a:srgbClr val="5F6B7A"/>
                </a:solidFill>
                <a:latin typeface="Calibri"/>
              </a:rPr>
              <a:t>CAS/SymPy grader · rules</a:t>
            </a:r>
          </a:p>
        </p:txBody>
      </p:sp>
      <p:cxnSp>
        <p:nvCxnSpPr>
          <p:cNvPr id="21" name="Connector 20"/>
          <p:cNvCxnSpPr/>
          <p:nvPr/>
        </p:nvCxnSpPr>
        <p:spPr>
          <a:xfrm>
            <a:off x="8229600" y="3255264"/>
            <a:ext cx="0" cy="146304"/>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303520" y="3913632"/>
            <a:ext cx="0" cy="128016"/>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840480" y="4041648"/>
            <a:ext cx="2926080" cy="420624"/>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Model Gateway</a:t>
            </a:r>
          </a:p>
          <a:p>
            <a:pPr algn="ctr"/>
            <a:r>
              <a:rPr sz="900">
                <a:solidFill>
                  <a:srgbClr val="5F6B7A"/>
                </a:solidFill>
                <a:latin typeface="Calibri"/>
              </a:rPr>
              <a:t>tiering T1/T2 · fallback · cache · budget</a:t>
            </a:r>
          </a:p>
        </p:txBody>
      </p:sp>
      <p:cxnSp>
        <p:nvCxnSpPr>
          <p:cNvPr id="24" name="Connector 23"/>
          <p:cNvCxnSpPr/>
          <p:nvPr/>
        </p:nvCxnSpPr>
        <p:spPr>
          <a:xfrm>
            <a:off x="5303520" y="4462272"/>
            <a:ext cx="0" cy="109728"/>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840480" y="4572000"/>
            <a:ext cx="2926080" cy="420624"/>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LLM (managed small model)</a:t>
            </a:r>
          </a:p>
          <a:p>
            <a:pPr algn="ctr"/>
            <a:r>
              <a:rPr sz="900">
                <a:solidFill>
                  <a:srgbClr val="5F6B7A"/>
                </a:solidFill>
                <a:latin typeface="Calibri"/>
              </a:rPr>
              <a:t>chỉ nhận ladder ≤ level + 6 lượt gần nhất — KHÔNG có đáp án</a:t>
            </a:r>
          </a:p>
        </p:txBody>
      </p:sp>
      <p:cxnSp>
        <p:nvCxnSpPr>
          <p:cNvPr id="26" name="Connector 25"/>
          <p:cNvCxnSpPr/>
          <p:nvPr/>
        </p:nvCxnSpPr>
        <p:spPr>
          <a:xfrm>
            <a:off x="5303520" y="4992624"/>
            <a:ext cx="0" cy="109728"/>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3840480" y="5102352"/>
            <a:ext cx="2926080" cy="420624"/>
          </a:xfrm>
          <a:prstGeom prst="roundRect">
            <a:avLst/>
          </a:prstGeom>
          <a:solidFill>
            <a:srgbClr val="F28C28"/>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FFFFFF"/>
                </a:solidFill>
                <a:latin typeface="Calibri"/>
              </a:rPr>
              <a:t>Response Validator</a:t>
            </a:r>
          </a:p>
          <a:p>
            <a:pPr algn="ctr"/>
            <a:r>
              <a:rPr sz="900">
                <a:solidFill>
                  <a:srgbClr val="FFFFFF"/>
                </a:solidFill>
                <a:latin typeface="Calibri"/>
              </a:rPr>
              <a:t>safety · answer-leak (CAS vs Vault) · grounding · age → fail = hint tĩnh</a:t>
            </a:r>
          </a:p>
        </p:txBody>
      </p:sp>
      <p:cxnSp>
        <p:nvCxnSpPr>
          <p:cNvPr id="28" name="Connector 27"/>
          <p:cNvCxnSpPr/>
          <p:nvPr/>
        </p:nvCxnSpPr>
        <p:spPr>
          <a:xfrm>
            <a:off x="5303520" y="5522976"/>
            <a:ext cx="0" cy="109728"/>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3840480" y="5632704"/>
            <a:ext cx="2926080" cy="420624"/>
          </a:xfrm>
          <a:prstGeom prst="roundRect">
            <a:avLst/>
          </a:prstGeom>
          <a:solidFill>
            <a:srgbClr val="F4F6F9"/>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Học sinh</a:t>
            </a:r>
          </a:p>
          <a:p>
            <a:pPr algn="ctr"/>
            <a:r>
              <a:rPr sz="900">
                <a:solidFill>
                  <a:srgbClr val="5F6B7A"/>
                </a:solidFill>
                <a:latin typeface="Calibri"/>
              </a:rPr>
              <a:t>chỉ nhận output đã validate</a:t>
            </a:r>
          </a:p>
        </p:txBody>
      </p:sp>
      <p:sp>
        <p:nvSpPr>
          <p:cNvPr id="30" name="Rectangle 29"/>
          <p:cNvSpPr/>
          <p:nvPr/>
        </p:nvSpPr>
        <p:spPr>
          <a:xfrm>
            <a:off x="9966960" y="1097280"/>
            <a:ext cx="1920240" cy="530352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12680" y="1143000"/>
            <a:ext cx="1828800" cy="365760"/>
          </a:xfrm>
          <a:prstGeom prst="rect">
            <a:avLst/>
          </a:prstGeom>
          <a:noFill/>
        </p:spPr>
        <p:txBody>
          <a:bodyPr wrap="square" lIns="73152" rIns="73152" tIns="36576" bIns="36576" anchor="t">
            <a:spAutoFit/>
          </a:bodyPr>
          <a:lstStyle/>
          <a:p>
            <a:pPr algn="l">
              <a:spcAft>
                <a:spcPts val="400"/>
              </a:spcAft>
            </a:pPr>
            <a:r>
              <a:rPr sz="1200" b="1">
                <a:solidFill>
                  <a:srgbClr val="0F1F3D"/>
                </a:solidFill>
                <a:latin typeface="Calibri"/>
              </a:rPr>
              <a:t>Async (Kafka)</a:t>
            </a:r>
          </a:p>
        </p:txBody>
      </p:sp>
      <p:sp>
        <p:nvSpPr>
          <p:cNvPr id="32" name="TextBox 31"/>
          <p:cNvSpPr txBox="1"/>
          <p:nvPr/>
        </p:nvSpPr>
        <p:spPr>
          <a:xfrm>
            <a:off x="9966960" y="1508760"/>
            <a:ext cx="1920240" cy="2743200"/>
          </a:xfrm>
          <a:prstGeom prst="rect">
            <a:avLst/>
          </a:prstGeom>
          <a:noFill/>
        </p:spPr>
        <p:txBody>
          <a:bodyPr wrap="square" lIns="73152" rIns="73152" tIns="36576" bIns="36576" anchor="t">
            <a:spAutoFit/>
          </a:bodyPr>
          <a:lstStyle/>
          <a:p>
            <a:pPr algn="l">
              <a:spcAft>
                <a:spcPts val="400"/>
              </a:spcAft>
            </a:pPr>
            <a:r>
              <a:rPr sz="1000" b="0">
                <a:solidFill>
                  <a:srgbClr val="1E252F"/>
                </a:solidFill>
                <a:latin typeface="Calibri"/>
              </a:rPr>
              <a:t>•  Telemetry / events</a:t>
            </a:r>
          </a:p>
          <a:p>
            <a:pPr algn="l">
              <a:spcAft>
                <a:spcPts val="400"/>
              </a:spcAft>
            </a:pPr>
            <a:r>
              <a:rPr sz="1000" b="0">
                <a:solidFill>
                  <a:srgbClr val="1E252F"/>
                </a:solidFill>
                <a:latin typeface="Calibri"/>
              </a:rPr>
              <a:t>•  Evaluation sampling (LLM-judge + giáo viên)</a:t>
            </a:r>
          </a:p>
          <a:p>
            <a:pPr algn="l">
              <a:spcAft>
                <a:spcPts val="400"/>
              </a:spcAft>
            </a:pPr>
            <a:r>
              <a:rPr sz="1000" b="0">
                <a:solidFill>
                  <a:srgbClr val="1E252F"/>
                </a:solidFill>
                <a:latin typeface="Calibri"/>
              </a:rPr>
              <a:t>•  Monitoring · alert</a:t>
            </a:r>
          </a:p>
          <a:p>
            <a:pPr algn="l">
              <a:spcAft>
                <a:spcPts val="400"/>
              </a:spcAft>
            </a:pPr>
            <a:r>
              <a:rPr sz="1000" b="0">
                <a:solidFill>
                  <a:srgbClr val="1E252F"/>
                </a:solidFill>
                <a:latin typeface="Calibri"/>
              </a:rPr>
              <a:t>•  Cost tracking / turn</a:t>
            </a:r>
          </a:p>
          <a:p>
            <a:pPr algn="l">
              <a:spcAft>
                <a:spcPts val="400"/>
              </a:spcAft>
            </a:pPr>
            <a:r>
              <a:rPr sz="1000" b="0">
                <a:solidFill>
                  <a:srgbClr val="1E252F"/>
                </a:solidFill>
                <a:latin typeface="Calibri"/>
              </a:rPr>
              <a:t>•  Learner model update</a:t>
            </a:r>
          </a:p>
        </p:txBody>
      </p:sp>
      <p:sp>
        <p:nvSpPr>
          <p:cNvPr id="33" name="TextBox 32"/>
          <p:cNvSpPr txBox="1"/>
          <p:nvPr/>
        </p:nvSpPr>
        <p:spPr>
          <a:xfrm>
            <a:off x="10012680" y="4297680"/>
            <a:ext cx="1828800" cy="2011680"/>
          </a:xfrm>
          <a:prstGeom prst="rect">
            <a:avLst/>
          </a:prstGeom>
          <a:noFill/>
        </p:spPr>
        <p:txBody>
          <a:bodyPr wrap="square" lIns="73152" rIns="73152" tIns="36576" bIns="36576" anchor="t">
            <a:spAutoFit/>
          </a:bodyPr>
          <a:lstStyle/>
          <a:p>
            <a:pPr algn="l">
              <a:spcAft>
                <a:spcPts val="400"/>
              </a:spcAft>
            </a:pPr>
            <a:r>
              <a:rPr sz="1100" b="1">
                <a:solidFill>
                  <a:srgbClr val="0F1F3D"/>
                </a:solidFill>
                <a:latin typeface="Calibri"/>
              </a:rPr>
              <a:t>Nền tảng</a:t>
            </a:r>
          </a:p>
          <a:p>
            <a:pPr algn="l">
              <a:spcAft>
                <a:spcPts val="400"/>
              </a:spcAft>
            </a:pPr>
            <a:r>
              <a:rPr sz="900" b="0">
                <a:solidFill>
                  <a:srgbClr val="5F6B7A"/>
                </a:solidFill>
                <a:latin typeface="Calibri"/>
              </a:rPr>
              <a:t>AWS · EKS (stateless, HPA/KEDA) · Aurora Postgres + pgvector · ElastiCache Redis · MSK Kafka · S3 · Bedrock/OpenAI qua LiteLLM gateway</a:t>
            </a:r>
          </a:p>
          <a:p>
            <a:pPr algn="l">
              <a:spcAft>
                <a:spcPts val="400"/>
              </a:spcAft>
            </a:pPr>
            <a:r>
              <a:rPr sz="900" b="0">
                <a:solidFill>
                  <a:srgbClr val="00A39B"/>
                </a:solidFill>
                <a:latin typeface="Calibri"/>
              </a:rPr>
              <a:t>Chi tiết: Appendix B</a:t>
            </a:r>
          </a:p>
        </p:txBody>
      </p:sp>
      <p:sp>
        <p:nvSpPr>
          <p:cNvPr id="34" name="TextBox 33"/>
          <p:cNvSpPr txBox="1"/>
          <p:nvPr/>
        </p:nvSpPr>
        <p:spPr>
          <a:xfrm>
            <a:off x="365760" y="1097280"/>
            <a:ext cx="3200400" cy="1280160"/>
          </a:xfrm>
          <a:prstGeom prst="rect">
            <a:avLst/>
          </a:prstGeom>
          <a:noFill/>
        </p:spPr>
        <p:txBody>
          <a:bodyPr wrap="square" lIns="73152" rIns="73152" tIns="36576" bIns="36576" anchor="t">
            <a:spAutoFit/>
          </a:bodyPr>
          <a:lstStyle/>
          <a:p>
            <a:pPr algn="l">
              <a:spcAft>
                <a:spcPts val="400"/>
              </a:spcAft>
            </a:pPr>
            <a:r>
              <a:rPr sz="1200" b="1">
                <a:solidFill>
                  <a:srgbClr val="00A39B"/>
                </a:solidFill>
                <a:latin typeface="Calibri"/>
              </a:rPr>
              <a:t>Nguyên tắc</a:t>
            </a:r>
          </a:p>
          <a:p>
            <a:pPr algn="l">
              <a:spcAft>
                <a:spcPts val="400"/>
              </a:spcAft>
            </a:pPr>
            <a:r>
              <a:rPr sz="1000" b="0">
                <a:solidFill>
                  <a:srgbClr val="1E252F"/>
                </a:solidFill>
                <a:latin typeface="Calibri"/>
              </a:rPr>
              <a:t>• Orchestrator sở hữu state</a:t>
            </a:r>
          </a:p>
          <a:p>
            <a:pPr algn="l">
              <a:spcAft>
                <a:spcPts val="400"/>
              </a:spcAft>
            </a:pPr>
            <a:r>
              <a:rPr sz="1000" b="0">
                <a:solidFill>
                  <a:srgbClr val="1E252F"/>
                </a:solidFill>
                <a:latin typeface="Calibri"/>
              </a:rPr>
              <a:t>• Tools xử lý phần cần chính xác</a:t>
            </a:r>
          </a:p>
          <a:p>
            <a:pPr algn="l">
              <a:spcAft>
                <a:spcPts val="400"/>
              </a:spcAft>
            </a:pPr>
            <a:r>
              <a:rPr sz="1000" b="0">
                <a:solidFill>
                  <a:srgbClr val="1E252F"/>
                </a:solidFill>
                <a:latin typeface="Calibri"/>
              </a:rPr>
              <a:t>• RAG ground câu trả lời</a:t>
            </a:r>
          </a:p>
          <a:p>
            <a:pPr algn="l">
              <a:spcAft>
                <a:spcPts val="400"/>
              </a:spcAft>
            </a:pPr>
            <a:r>
              <a:rPr sz="1000" b="0">
                <a:solidFill>
                  <a:srgbClr val="1E252F"/>
                </a:solidFill>
                <a:latin typeface="Calibri"/>
              </a:rPr>
              <a:t>• Validator là cổng cuối trước trẻ em</a:t>
            </a:r>
          </a:p>
        </p:txBody>
      </p:sp>
      <p:sp>
        <p:nvSpPr>
          <p:cNvPr id="35" name="TextBox 34"/>
          <p:cNvSpPr txBox="1"/>
          <p:nvPr/>
        </p:nvSpPr>
        <p:spPr>
          <a:xfrm>
            <a:off x="365760" y="5669280"/>
            <a:ext cx="3291840" cy="822960"/>
          </a:xfrm>
          <a:prstGeom prst="rect">
            <a:avLst/>
          </a:prstGeom>
          <a:noFill/>
        </p:spPr>
        <p:txBody>
          <a:bodyPr wrap="square" lIns="73152" rIns="73152" tIns="36576" bIns="36576" anchor="t">
            <a:spAutoFit/>
          </a:bodyPr>
          <a:lstStyle/>
          <a:p>
            <a:pPr algn="l">
              <a:spcAft>
                <a:spcPts val="400"/>
              </a:spcAft>
            </a:pPr>
            <a:r>
              <a:rPr sz="1000" b="0">
                <a:solidFill>
                  <a:srgbClr val="5F6B7A"/>
                </a:solidFill>
                <a:latin typeface="Calibri"/>
              </a:rPr>
              <a:t>C4 L1–L3 đầy đủ: ATAD §2</a:t>
            </a:r>
          </a:p>
          <a:p>
            <a:pPr algn="l">
              <a:spcAft>
                <a:spcPts val="400"/>
              </a:spcAft>
            </a:pPr>
            <a:r>
              <a:rPr sz="1000" b="0">
                <a:solidFill>
                  <a:srgbClr val="5F6B7A"/>
                </a:solidFill>
                <a:latin typeface="Calibri"/>
              </a:rPr>
              <a:t>Chỉ có ~10 box: mỗi box có 1 lý do tồn tại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01200" cy="731520"/>
          </a:xfrm>
          <a:prstGeom prst="rect">
            <a:avLst/>
          </a:prstGeom>
          <a:noFill/>
        </p:spPr>
        <p:txBody>
          <a:bodyPr wrap="square" lIns="73152" rIns="73152" tIns="36576" bIns="36576" anchor="ctr">
            <a:spAutoFit/>
          </a:bodyPr>
          <a:lstStyle/>
          <a:p>
            <a:pPr algn="l">
              <a:spcAft>
                <a:spcPts val="400"/>
              </a:spcAft>
            </a:pPr>
            <a:r>
              <a:rPr sz="2600" b="1">
                <a:solidFill>
                  <a:srgbClr val="FFFFFF"/>
                </a:solidFill>
                <a:latin typeface="Calibri"/>
              </a:rPr>
              <a:t>Pedagogy được enforce · Personalization có giới hạn</a:t>
            </a:r>
          </a:p>
        </p:txBody>
      </p:sp>
      <p:sp>
        <p:nvSpPr>
          <p:cNvPr id="4" name="TextBox 3"/>
          <p:cNvSpPr txBox="1"/>
          <p:nvPr/>
        </p:nvSpPr>
        <p:spPr>
          <a:xfrm>
            <a:off x="9692640" y="109728"/>
            <a:ext cx="2286000" cy="365760"/>
          </a:xfrm>
          <a:prstGeom prst="rect">
            <a:avLst/>
          </a:prstGeom>
          <a:noFill/>
        </p:spPr>
        <p:txBody>
          <a:bodyPr wrap="square" lIns="73152" rIns="73152" tIns="36576" bIns="36576" anchor="t">
            <a:spAutoFit/>
          </a:bodyPr>
          <a:lstStyle/>
          <a:p>
            <a:pPr algn="r">
              <a:spcAft>
                <a:spcPts val="400"/>
              </a:spcAft>
            </a:pPr>
            <a:r>
              <a:rPr sz="1200" b="1">
                <a:solidFill>
                  <a:srgbClr val="00A39B"/>
                </a:solidFill>
                <a:latin typeface="Calibri"/>
              </a:rPr>
              <a:t>PIC: Huyền (M2)</a:t>
            </a:r>
          </a:p>
        </p:txBody>
      </p:sp>
      <p:sp>
        <p:nvSpPr>
          <p:cNvPr id="5" name="TextBox 4"/>
          <p:cNvSpPr txBox="1"/>
          <p:nvPr/>
        </p:nvSpPr>
        <p:spPr>
          <a:xfrm>
            <a:off x="9692640" y="457200"/>
            <a:ext cx="2286000" cy="365760"/>
          </a:xfrm>
          <a:prstGeom prst="rect">
            <a:avLst/>
          </a:prstGeom>
          <a:noFill/>
        </p:spPr>
        <p:txBody>
          <a:bodyPr wrap="square" lIns="73152" rIns="73152" tIns="36576" bIns="36576" anchor="t">
            <a:spAutoFit/>
          </a:bodyPr>
          <a:lstStyle/>
          <a:p>
            <a:pPr algn="r">
              <a:spcAft>
                <a:spcPts val="400"/>
              </a:spcAft>
            </a:pPr>
            <a:r>
              <a:rPr sz="1100" b="0">
                <a:solidFill>
                  <a:srgbClr val="F28C28"/>
                </a:solidFill>
                <a:latin typeface="Calibri"/>
              </a:rPr>
              <a:t>Rubric 4.1 · 4.4</a:t>
            </a:r>
          </a:p>
        </p:txBody>
      </p:sp>
      <p:sp>
        <p:nvSpPr>
          <p:cNvPr id="6" name="Rectangle 5"/>
          <p:cNvSpPr/>
          <p:nvPr/>
        </p:nvSpPr>
        <p:spPr>
          <a:xfrm>
            <a:off x="0" y="6537960"/>
            <a:ext cx="12191695" cy="3200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37960"/>
            <a:ext cx="8229600" cy="320040"/>
          </a:xfrm>
          <a:prstGeom prst="rect">
            <a:avLst/>
          </a:prstGeom>
          <a:noFill/>
        </p:spPr>
        <p:txBody>
          <a:bodyPr wrap="square" lIns="73152" rIns="73152" tIns="36576" bIns="36576" anchor="ctr">
            <a:spAutoFit/>
          </a:bodyPr>
          <a:lstStyle/>
          <a:p>
            <a:pPr algn="l">
              <a:spcAft>
                <a:spcPts val="400"/>
              </a:spcAft>
            </a:pPr>
            <a:r>
              <a:rPr sz="1000" b="0">
                <a:solidFill>
                  <a:srgbClr val="5F6B7A"/>
                </a:solidFill>
                <a:latin typeface="Calibri"/>
              </a:rPr>
              <a:t>TutorMate · EduNova · Workshop 2 – Scenario B · ATAD v1.0</a:t>
            </a:r>
          </a:p>
        </p:txBody>
      </p:sp>
      <p:sp>
        <p:nvSpPr>
          <p:cNvPr id="8" name="TextBox 7"/>
          <p:cNvSpPr txBox="1"/>
          <p:nvPr/>
        </p:nvSpPr>
        <p:spPr>
          <a:xfrm>
            <a:off x="10972800" y="6537960"/>
            <a:ext cx="914400" cy="320040"/>
          </a:xfrm>
          <a:prstGeom prst="rect">
            <a:avLst/>
          </a:prstGeom>
          <a:noFill/>
        </p:spPr>
        <p:txBody>
          <a:bodyPr wrap="square" lIns="73152" rIns="73152" tIns="36576" bIns="36576" anchor="ctr">
            <a:spAutoFit/>
          </a:bodyPr>
          <a:lstStyle/>
          <a:p>
            <a:pPr algn="r">
              <a:spcAft>
                <a:spcPts val="400"/>
              </a:spcAft>
            </a:pPr>
            <a:r>
              <a:rPr sz="1000" b="0">
                <a:solidFill>
                  <a:srgbClr val="5F6B7A"/>
                </a:solidFill>
                <a:latin typeface="Calibri"/>
              </a:rPr>
              <a:t>4 / 14</a:t>
            </a:r>
          </a:p>
        </p:txBody>
      </p:sp>
      <p:sp>
        <p:nvSpPr>
          <p:cNvPr id="9" name="TextBox 8"/>
          <p:cNvSpPr txBox="1"/>
          <p:nvPr/>
        </p:nvSpPr>
        <p:spPr>
          <a:xfrm>
            <a:off x="365760" y="1051560"/>
            <a:ext cx="5669280" cy="365760"/>
          </a:xfrm>
          <a:prstGeom prst="rect">
            <a:avLst/>
          </a:prstGeom>
          <a:noFill/>
        </p:spPr>
        <p:txBody>
          <a:bodyPr wrap="square" lIns="73152" rIns="73152" tIns="36576" bIns="36576" anchor="t">
            <a:spAutoFit/>
          </a:bodyPr>
          <a:lstStyle/>
          <a:p>
            <a:pPr algn="l">
              <a:spcAft>
                <a:spcPts val="400"/>
              </a:spcAft>
            </a:pPr>
            <a:r>
              <a:rPr sz="1500" b="1">
                <a:solidFill>
                  <a:srgbClr val="00A39B"/>
                </a:solidFill>
                <a:latin typeface="Calibri"/>
              </a:rPr>
              <a:t>Socratic state machine (Dialogue Policy)</a:t>
            </a:r>
          </a:p>
        </p:txBody>
      </p:sp>
      <p:sp>
        <p:nvSpPr>
          <p:cNvPr id="10" name="Rounded Rectangle 9"/>
          <p:cNvSpPr/>
          <p:nvPr/>
        </p:nvSpPr>
        <p:spPr>
          <a:xfrm>
            <a:off x="365760" y="1463040"/>
            <a:ext cx="896112" cy="457200"/>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1">
                <a:solidFill>
                  <a:srgbClr val="1E252F"/>
                </a:solidFill>
                <a:latin typeface="Calibri"/>
              </a:rPr>
              <a:t>Orient</a:t>
            </a:r>
          </a:p>
        </p:txBody>
      </p:sp>
      <p:cxnSp>
        <p:nvCxnSpPr>
          <p:cNvPr id="11" name="Connector 10"/>
          <p:cNvCxnSpPr/>
          <p:nvPr/>
        </p:nvCxnSpPr>
        <p:spPr>
          <a:xfrm>
            <a:off x="1261872" y="1691640"/>
            <a:ext cx="64008" cy="0"/>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325880" y="1463040"/>
            <a:ext cx="896112" cy="457200"/>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1">
                <a:solidFill>
                  <a:srgbClr val="1E252F"/>
                </a:solidFill>
                <a:latin typeface="Calibri"/>
              </a:rPr>
              <a:t>Elicit</a:t>
            </a:r>
          </a:p>
        </p:txBody>
      </p:sp>
      <p:cxnSp>
        <p:nvCxnSpPr>
          <p:cNvPr id="13" name="Connector 12"/>
          <p:cNvCxnSpPr/>
          <p:nvPr/>
        </p:nvCxnSpPr>
        <p:spPr>
          <a:xfrm>
            <a:off x="2221992" y="1691640"/>
            <a:ext cx="64008" cy="0"/>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286000" y="1463040"/>
            <a:ext cx="896112" cy="457200"/>
          </a:xfrm>
          <a:prstGeom prst="roundRect">
            <a:avLst/>
          </a:prstGeom>
          <a:solidFill>
            <a:srgbClr val="0F1F3D"/>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1">
                <a:solidFill>
                  <a:srgbClr val="FFFFFF"/>
                </a:solidFill>
                <a:latin typeface="Calibri"/>
              </a:rPr>
              <a:t>Hint</a:t>
            </a:r>
          </a:p>
        </p:txBody>
      </p:sp>
      <p:cxnSp>
        <p:nvCxnSpPr>
          <p:cNvPr id="15" name="Connector 14"/>
          <p:cNvCxnSpPr/>
          <p:nvPr/>
        </p:nvCxnSpPr>
        <p:spPr>
          <a:xfrm>
            <a:off x="3182112" y="1691640"/>
            <a:ext cx="64008" cy="0"/>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246120" y="1463040"/>
            <a:ext cx="896112" cy="457200"/>
          </a:xfrm>
          <a:prstGeom prst="roundRect">
            <a:avLst/>
          </a:prstGeom>
          <a:solidFill>
            <a:srgbClr val="0F1F3D"/>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1">
                <a:solidFill>
                  <a:srgbClr val="FFFFFF"/>
                </a:solidFill>
                <a:latin typeface="Calibri"/>
              </a:rPr>
              <a:t>Check</a:t>
            </a:r>
          </a:p>
        </p:txBody>
      </p:sp>
      <p:cxnSp>
        <p:nvCxnSpPr>
          <p:cNvPr id="17" name="Connector 16"/>
          <p:cNvCxnSpPr/>
          <p:nvPr/>
        </p:nvCxnSpPr>
        <p:spPr>
          <a:xfrm>
            <a:off x="4142232" y="1691640"/>
            <a:ext cx="64008" cy="0"/>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206240" y="1463040"/>
            <a:ext cx="896112" cy="457200"/>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1">
                <a:solidFill>
                  <a:srgbClr val="1E252F"/>
                </a:solidFill>
                <a:latin typeface="Calibri"/>
              </a:rPr>
              <a:t>Consolidate</a:t>
            </a:r>
          </a:p>
        </p:txBody>
      </p:sp>
      <p:cxnSp>
        <p:nvCxnSpPr>
          <p:cNvPr id="19" name="Connector 18"/>
          <p:cNvCxnSpPr/>
          <p:nvPr/>
        </p:nvCxnSpPr>
        <p:spPr>
          <a:xfrm>
            <a:off x="5102352" y="1691640"/>
            <a:ext cx="64008" cy="0"/>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66360" y="1463040"/>
            <a:ext cx="896112" cy="457200"/>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1">
                <a:solidFill>
                  <a:srgbClr val="1E252F"/>
                </a:solidFill>
                <a:latin typeface="Calibri"/>
              </a:rPr>
              <a:t>Escalate</a:t>
            </a:r>
          </a:p>
        </p:txBody>
      </p:sp>
      <p:sp>
        <p:nvSpPr>
          <p:cNvPr id="21" name="TextBox 20"/>
          <p:cNvSpPr txBox="1"/>
          <p:nvPr/>
        </p:nvSpPr>
        <p:spPr>
          <a:xfrm>
            <a:off x="365760" y="2011680"/>
            <a:ext cx="5669280" cy="1188720"/>
          </a:xfrm>
          <a:prstGeom prst="rect">
            <a:avLst/>
          </a:prstGeom>
          <a:noFill/>
        </p:spPr>
        <p:txBody>
          <a:bodyPr wrap="square" lIns="73152" rIns="73152" tIns="36576" bIns="36576" anchor="t">
            <a:spAutoFit/>
          </a:bodyPr>
          <a:lstStyle/>
          <a:p>
            <a:pPr algn="l">
              <a:spcAft>
                <a:spcPts val="400"/>
              </a:spcAft>
            </a:pPr>
            <a:r>
              <a:rPr sz="1100" b="0">
                <a:solidFill>
                  <a:srgbClr val="1E252F"/>
                </a:solidFill>
                <a:latin typeface="Calibri"/>
              </a:rPr>
              <a:t>•  Hint level +1 CHỈ sau ≥ 2 lỗi khác nhau (CAS chấm) — rule trong code, không trong prompt</a:t>
            </a:r>
          </a:p>
          <a:p>
            <a:pPr algn="l">
              <a:spcAft>
                <a:spcPts val="400"/>
              </a:spcAft>
            </a:pPr>
            <a:r>
              <a:rPr sz="1100" b="0">
                <a:solidFill>
                  <a:srgbClr val="1E252F"/>
                </a:solidFill>
                <a:latin typeface="Calibri"/>
              </a:rPr>
              <a:t>•  Escalate (reveal có điều kiện / chuyển giáo viên) chỉ khi hết ladder hoặc cờ an toàn</a:t>
            </a:r>
          </a:p>
          <a:p>
            <a:pPr algn="l">
              <a:spcAft>
                <a:spcPts val="400"/>
              </a:spcAft>
            </a:pPr>
            <a:r>
              <a:rPr sz="1100" b="0">
                <a:solidFill>
                  <a:srgbClr val="1E252F"/>
                </a:solidFill>
                <a:latin typeface="Calibri"/>
              </a:rPr>
              <a:t>•  LLM nhận: action + ladder ≤ level hiện tại + 6 lượt gần nhất → chỉ diễn đạt</a:t>
            </a:r>
          </a:p>
        </p:txBody>
      </p:sp>
      <p:sp>
        <p:nvSpPr>
          <p:cNvPr id="22" name="Rectangle 21"/>
          <p:cNvSpPr/>
          <p:nvPr/>
        </p:nvSpPr>
        <p:spPr>
          <a:xfrm>
            <a:off x="365760" y="3291840"/>
            <a:ext cx="5669280" cy="22402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3337560"/>
            <a:ext cx="5486400" cy="2194560"/>
          </a:xfrm>
          <a:prstGeom prst="rect">
            <a:avLst/>
          </a:prstGeom>
          <a:noFill/>
        </p:spPr>
        <p:txBody>
          <a:bodyPr wrap="square" lIns="73152" rIns="73152" tIns="36576" bIns="36576" anchor="t">
            <a:spAutoFit/>
          </a:bodyPr>
          <a:lstStyle/>
          <a:p>
            <a:pPr algn="l">
              <a:spcAft>
                <a:spcPts val="400"/>
              </a:spcAft>
            </a:pPr>
            <a:r>
              <a:rPr sz="1200" b="1">
                <a:solidFill>
                  <a:srgbClr val="0F1F3D"/>
                </a:solidFill>
                <a:latin typeface="Calibri"/>
              </a:rPr>
              <a:t>Ví dụ</a:t>
            </a:r>
          </a:p>
          <a:p>
            <a:pPr algn="l">
              <a:spcAft>
                <a:spcPts val="400"/>
              </a:spcAft>
            </a:pPr>
            <a:r>
              <a:rPr sz="1200" b="0">
                <a:solidFill>
                  <a:srgbClr val="1E252F"/>
                </a:solidFill>
                <a:latin typeface="Calibri"/>
              </a:rPr>
              <a:t>Học sinh:  2x + 5 = 15 — “em không biết làm”</a:t>
            </a:r>
          </a:p>
          <a:p>
            <a:pPr algn="l">
              <a:spcAft>
                <a:spcPts val="400"/>
              </a:spcAft>
            </a:pPr>
            <a:r>
              <a:rPr sz="1200" b="1">
                <a:solidFill>
                  <a:srgbClr val="D93B3B"/>
                </a:solidFill>
                <a:latin typeface="Calibri"/>
              </a:rPr>
              <a:t>✗ Chatbot:  x = 5</a:t>
            </a:r>
          </a:p>
          <a:p>
            <a:pPr algn="l">
              <a:spcAft>
                <a:spcPts val="400"/>
              </a:spcAft>
            </a:pPr>
            <a:r>
              <a:rPr sz="1200" b="1">
                <a:solidFill>
                  <a:srgbClr val="00A39B"/>
                </a:solidFill>
                <a:latin typeface="Calibri"/>
              </a:rPr>
              <a:t>✓ TutorMate (Elicit):  “Em nghĩ bước đầu tiên nên làm gì để bỏ +5 ở vế trái?”</a:t>
            </a:r>
          </a:p>
          <a:p>
            <a:pPr algn="l">
              <a:spcAft>
                <a:spcPts val="400"/>
              </a:spcAft>
            </a:pPr>
            <a:r>
              <a:rPr sz="1000" b="0">
                <a:solidFill>
                  <a:srgbClr val="5F6B7A"/>
                </a:solidFill>
                <a:latin typeface="Calibri"/>
              </a:rPr>
              <a:t>→ Sai lần 1 (“chia cho 2”): Check → misconception ‘thứ tự phép toán’ → Hint L1, chưa lộ bước</a:t>
            </a:r>
          </a:p>
          <a:p>
            <a:pPr algn="l">
              <a:spcAft>
                <a:spcPts val="400"/>
              </a:spcAft>
            </a:pPr>
            <a:r>
              <a:rPr sz="1000" b="0">
                <a:solidFill>
                  <a:srgbClr val="5F6B7A"/>
                </a:solidFill>
                <a:latin typeface="Calibri"/>
              </a:rPr>
              <a:t>→ Đúng: Consolidate — “Vì sao trừ 5 cả hai vế vẫn giữ đẳng thức?” rồi cập nhật mastery</a:t>
            </a:r>
          </a:p>
        </p:txBody>
      </p:sp>
      <p:sp>
        <p:nvSpPr>
          <p:cNvPr id="24" name="TextBox 23"/>
          <p:cNvSpPr txBox="1"/>
          <p:nvPr/>
        </p:nvSpPr>
        <p:spPr>
          <a:xfrm>
            <a:off x="6309360" y="1051560"/>
            <a:ext cx="5486400" cy="365760"/>
          </a:xfrm>
          <a:prstGeom prst="rect">
            <a:avLst/>
          </a:prstGeom>
          <a:noFill/>
        </p:spPr>
        <p:txBody>
          <a:bodyPr wrap="square" lIns="73152" rIns="73152" tIns="36576" bIns="36576" anchor="t">
            <a:spAutoFit/>
          </a:bodyPr>
          <a:lstStyle/>
          <a:p>
            <a:pPr algn="l">
              <a:spcAft>
                <a:spcPts val="400"/>
              </a:spcAft>
            </a:pPr>
            <a:r>
              <a:rPr sz="1500" b="1">
                <a:solidFill>
                  <a:srgbClr val="00A39B"/>
                </a:solidFill>
                <a:latin typeface="Calibri"/>
              </a:rPr>
              <a:t>Learner profile — lưu gì / không lưu gì</a:t>
            </a:r>
          </a:p>
        </p:txBody>
      </p:sp>
      <p:graphicFrame>
        <p:nvGraphicFramePr>
          <p:cNvPr id="25" name="Table 24"/>
          <p:cNvGraphicFramePr>
            <a:graphicFrameLocks noGrp="1"/>
          </p:cNvGraphicFramePr>
          <p:nvPr/>
        </p:nvGraphicFramePr>
        <p:xfrm>
          <a:off x="6309360" y="1463040"/>
          <a:ext cx="5486400" cy="2651760"/>
        </p:xfrm>
        <a:graphic>
          <a:graphicData uri="http://schemas.openxmlformats.org/drawingml/2006/table">
            <a:tbl>
              <a:tblPr firstRow="1" bandRow="1">
                <a:tableStyleId>{5C22544A-7EE6-4342-B048-85BDC9FD1C3A}</a:tableStyleId>
              </a:tblPr>
              <a:tblGrid>
                <a:gridCol w="2743200"/>
                <a:gridCol w="2743200"/>
              </a:tblGrid>
              <a:tr h="441960">
                <a:tc>
                  <a:txBody>
                    <a:bodyPr wrap="square"/>
                    <a:lstStyle/>
                    <a:p>
                      <a:r>
                        <a:rPr sz="1000" b="1">
                          <a:solidFill>
                            <a:srgbClr val="FFFFFF"/>
                          </a:solidFill>
                          <a:latin typeface="Calibri"/>
                        </a:rPr>
                        <a:t>LƯU (tín hiệu học tập có giới hạn)</a:t>
                      </a:r>
                    </a:p>
                  </a:txBody>
                  <a:tcPr marL="45720" marR="45720" marT="18288" marB="18288">
                    <a:solidFill>
                      <a:srgbClr val="00A39B"/>
                    </a:solidFill>
                  </a:tcPr>
                </a:tc>
                <a:tc>
                  <a:txBody>
                    <a:bodyPr wrap="square"/>
                    <a:lstStyle/>
                    <a:p>
                      <a:r>
                        <a:rPr sz="1000" b="1">
                          <a:solidFill>
                            <a:srgbClr val="FFFFFF"/>
                          </a:solidFill>
                          <a:latin typeface="Calibri"/>
                        </a:rPr>
                        <a:t>KHÔNG LƯU mặc định</a:t>
                      </a:r>
                    </a:p>
                  </a:txBody>
                  <a:tcPr marL="45720" marR="45720" marT="18288" marB="18288">
                    <a:solidFill>
                      <a:srgbClr val="00A39B"/>
                    </a:solidFill>
                  </a:tcPr>
                </a:tc>
              </a:tr>
              <a:tr h="441960">
                <a:tc>
                  <a:txBody>
                    <a:bodyPr wrap="square"/>
                    <a:lstStyle/>
                    <a:p>
                      <a:r>
                        <a:rPr sz="1000">
                          <a:solidFill>
                            <a:srgbClr val="1E252F"/>
                          </a:solidFill>
                          <a:latin typeface="Calibri"/>
                        </a:rPr>
                        <a:t>P(mastery)/skill — BKT, pseudonymous ID</a:t>
                      </a:r>
                    </a:p>
                  </a:txBody>
                  <a:tcPr marL="45720" marR="45720" marT="18288" marB="18288">
                    <a:solidFill>
                      <a:srgbClr val="FFFFFF"/>
                    </a:solidFill>
                  </a:tcPr>
                </a:tc>
                <a:tc>
                  <a:txBody>
                    <a:bodyPr wrap="square"/>
                    <a:lstStyle/>
                    <a:p>
                      <a:r>
                        <a:rPr sz="1000">
                          <a:solidFill>
                            <a:srgbClr val="1E252F"/>
                          </a:solidFill>
                          <a:latin typeface="Calibri"/>
                        </a:rPr>
                        <a:t>Transcript đầy đủ dài hạn (redacted raw: 30 ngày rồi xoá)</a:t>
                      </a:r>
                    </a:p>
                  </a:txBody>
                  <a:tcPr marL="45720" marR="45720" marT="18288" marB="18288">
                    <a:solidFill>
                      <a:srgbClr val="FFFFFF"/>
                    </a:solidFill>
                  </a:tcPr>
                </a:tc>
              </a:tr>
              <a:tr h="441960">
                <a:tc>
                  <a:txBody>
                    <a:bodyPr wrap="square"/>
                    <a:lstStyle/>
                    <a:p>
                      <a:r>
                        <a:rPr sz="1000">
                          <a:solidFill>
                            <a:srgbClr val="1E252F"/>
                          </a:solidFill>
                          <a:latin typeface="Calibri"/>
                        </a:rPr>
                        <a:t>Loại lỗi gần nhất (misconception tag)</a:t>
                      </a:r>
                    </a:p>
                  </a:txBody>
                  <a:tcPr marL="45720" marR="45720" marT="18288" marB="18288">
                    <a:solidFill>
                      <a:srgbClr val="F4F6F9"/>
                    </a:solidFill>
                  </a:tcPr>
                </a:tc>
                <a:tc>
                  <a:txBody>
                    <a:bodyPr wrap="square"/>
                    <a:lstStyle/>
                    <a:p>
                      <a:r>
                        <a:rPr sz="1000">
                          <a:solidFill>
                            <a:srgbClr val="1E252F"/>
                          </a:solidFill>
                          <a:latin typeface="Calibri"/>
                        </a:rPr>
                        <a:t>Danh tính thật của trẻ trong prompt (chỉ token)</a:t>
                      </a:r>
                    </a:p>
                  </a:txBody>
                  <a:tcPr marL="45720" marR="45720" marT="18288" marB="18288">
                    <a:solidFill>
                      <a:srgbClr val="F4F6F9"/>
                    </a:solidFill>
                  </a:tcPr>
                </a:tc>
              </a:tr>
              <a:tr h="441960">
                <a:tc>
                  <a:txBody>
                    <a:bodyPr wrap="square"/>
                    <a:lstStyle/>
                    <a:p>
                      <a:r>
                        <a:rPr sz="1000">
                          <a:solidFill>
                            <a:srgbClr val="1E252F"/>
                          </a:solidFill>
                          <a:latin typeface="Calibri"/>
                        </a:rPr>
                        <a:t>Lịch sử hint level / skill</a:t>
                      </a:r>
                    </a:p>
                  </a:txBody>
                  <a:tcPr marL="45720" marR="45720" marT="18288" marB="18288">
                    <a:solidFill>
                      <a:srgbClr val="FFFFFF"/>
                    </a:solidFill>
                  </a:tcPr>
                </a:tc>
                <a:tc>
                  <a:txBody>
                    <a:bodyPr wrap="square"/>
                    <a:lstStyle/>
                    <a:p>
                      <a:r>
                        <a:rPr sz="1000">
                          <a:solidFill>
                            <a:srgbClr val="1E252F"/>
                          </a:solidFill>
                          <a:latin typeface="Calibri"/>
                        </a:rPr>
                        <a:t>Hồ sơ tâm lý, cảm xúc, hành vi ngoài học tập</a:t>
                      </a:r>
                    </a:p>
                  </a:txBody>
                  <a:tcPr marL="45720" marR="45720" marT="18288" marB="18288">
                    <a:solidFill>
                      <a:srgbClr val="FFFFFF"/>
                    </a:solidFill>
                  </a:tcPr>
                </a:tc>
              </a:tr>
              <a:tr h="441960">
                <a:tc>
                  <a:txBody>
                    <a:bodyPr wrap="square"/>
                    <a:lstStyle/>
                    <a:p>
                      <a:r>
                        <a:rPr sz="1000">
                          <a:solidFill>
                            <a:srgbClr val="1E252F"/>
                          </a:solidFill>
                          <a:latin typeface="Calibri"/>
                        </a:rPr>
                        <a:t>Độ tự tin (self-report, tuỳ chọn)</a:t>
                      </a:r>
                    </a:p>
                  </a:txBody>
                  <a:tcPr marL="45720" marR="45720" marT="18288" marB="18288">
                    <a:solidFill>
                      <a:srgbClr val="F4F6F9"/>
                    </a:solidFill>
                  </a:tcPr>
                </a:tc>
                <a:tc>
                  <a:txBody>
                    <a:bodyPr wrap="square"/>
                    <a:lstStyle/>
                    <a:p>
                      <a:r>
                        <a:rPr sz="1000">
                          <a:solidFill>
                            <a:srgbClr val="1E252F"/>
                          </a:solidFill>
                          <a:latin typeface="Calibri"/>
                        </a:rPr>
                        <a:t>Vị trí, thiết bị, contact phụ huynh trong learner store</a:t>
                      </a:r>
                    </a:p>
                  </a:txBody>
                  <a:tcPr marL="45720" marR="45720" marT="18288" marB="18288">
                    <a:solidFill>
                      <a:srgbClr val="F4F6F9"/>
                    </a:solidFill>
                  </a:tcPr>
                </a:tc>
              </a:tr>
              <a:tr h="441960">
                <a:tc>
                  <a:txBody>
                    <a:bodyPr wrap="square"/>
                    <a:lstStyle/>
                    <a:p>
                      <a:r>
                        <a:rPr sz="1000">
                          <a:solidFill>
                            <a:srgbClr val="1E252F"/>
                          </a:solidFill>
                          <a:latin typeface="Calibri"/>
                        </a:rPr>
                        <a:t>profile_version + consent_version</a:t>
                      </a:r>
                    </a:p>
                  </a:txBody>
                  <a:tcPr marL="45720" marR="45720" marT="18288" marB="18288">
                    <a:solidFill>
                      <a:srgbClr val="FFFFFF"/>
                    </a:solidFill>
                  </a:tcPr>
                </a:tc>
                <a:tc>
                  <a:txBody>
                    <a:bodyPr wrap="square"/>
                    <a:lstStyle/>
                    <a:p>
                      <a:r>
                        <a:rPr sz="1000">
                          <a:solidFill>
                            <a:srgbClr val="1E252F"/>
                          </a:solidFill>
                          <a:latin typeface="Calibri"/>
                        </a:rPr>
                        <a:t>Dữ liệu dùng để train khi chưa có consent riêng</a:t>
                      </a:r>
                    </a:p>
                  </a:txBody>
                  <a:tcPr marL="45720" marR="45720" marT="18288" marB="18288">
                    <a:solidFill>
                      <a:srgbClr val="FFFFFF"/>
                    </a:solidFill>
                  </a:tcPr>
                </a:tc>
              </a:tr>
            </a:tbl>
          </a:graphicData>
        </a:graphic>
      </p:graphicFrame>
      <p:sp>
        <p:nvSpPr>
          <p:cNvPr id="26" name="TextBox 25"/>
          <p:cNvSpPr txBox="1"/>
          <p:nvPr/>
        </p:nvSpPr>
        <p:spPr>
          <a:xfrm>
            <a:off x="6309360" y="4206240"/>
            <a:ext cx="5486400" cy="1188720"/>
          </a:xfrm>
          <a:prstGeom prst="rect">
            <a:avLst/>
          </a:prstGeom>
          <a:noFill/>
        </p:spPr>
        <p:txBody>
          <a:bodyPr wrap="square" lIns="73152" rIns="73152" tIns="36576" bIns="36576" anchor="t">
            <a:spAutoFit/>
          </a:bodyPr>
          <a:lstStyle/>
          <a:p>
            <a:pPr algn="l">
              <a:spcAft>
                <a:spcPts val="400"/>
              </a:spcAft>
            </a:pPr>
            <a:r>
              <a:rPr sz="1100" b="0">
                <a:solidFill>
                  <a:srgbClr val="1E252F"/>
                </a:solidFill>
                <a:latin typeface="Calibri"/>
              </a:rPr>
              <a:t>•  Cá nhân hoá = chọn skill/bài kế tiếp, độ khó, mức hint khởi điểm — từ vector mastery</a:t>
            </a:r>
          </a:p>
          <a:p>
            <a:pPr algn="l">
              <a:spcAft>
                <a:spcPts val="400"/>
              </a:spcAft>
            </a:pPr>
            <a:r>
              <a:rPr sz="1100" b="0">
                <a:solidFill>
                  <a:srgbClr val="1E252F"/>
                </a:solidFill>
                <a:latin typeface="Calibri"/>
              </a:rPr>
              <a:t>•  Học sinh / phụ huynh xem &amp; reset profile; xoá theo yêu cầu ≤ 30 ngày (ADR-002, §5.7)</a:t>
            </a:r>
          </a:p>
        </p:txBody>
      </p:sp>
      <p:sp>
        <p:nvSpPr>
          <p:cNvPr id="27" name="Rounded Rectangle 26"/>
          <p:cNvSpPr/>
          <p:nvPr/>
        </p:nvSpPr>
        <p:spPr>
          <a:xfrm>
            <a:off x="365760" y="5669280"/>
            <a:ext cx="11430000" cy="685800"/>
          </a:xfrm>
          <a:prstGeom prst="roundRect">
            <a:avLst/>
          </a:prstGeom>
          <a:solidFill>
            <a:srgbClr val="0F1F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400" b="1">
                <a:solidFill>
                  <a:srgbClr val="FFFFFF"/>
                </a:solidFill>
                <a:latin typeface="Calibri"/>
              </a:rPr>
              <a:t>Personalization dựa trên tín hiệu học tập có giới hạn (bounded learning signals) — không phải bộ nhớ không giới hạn.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01200" cy="731520"/>
          </a:xfrm>
          <a:prstGeom prst="rect">
            <a:avLst/>
          </a:prstGeom>
          <a:noFill/>
        </p:spPr>
        <p:txBody>
          <a:bodyPr wrap="square" lIns="73152" rIns="73152" tIns="36576" bIns="36576" anchor="ctr">
            <a:spAutoFit/>
          </a:bodyPr>
          <a:lstStyle/>
          <a:p>
            <a:pPr algn="l">
              <a:spcAft>
                <a:spcPts val="400"/>
              </a:spcAft>
            </a:pPr>
            <a:r>
              <a:rPr sz="2600" b="1">
                <a:solidFill>
                  <a:srgbClr val="FFFFFF"/>
                </a:solidFill>
                <a:latin typeface="Calibri"/>
              </a:rPr>
              <a:t>Vì sao Hybrid: RAG + LLM + Tools — curriculum grounding</a:t>
            </a:r>
          </a:p>
        </p:txBody>
      </p:sp>
      <p:sp>
        <p:nvSpPr>
          <p:cNvPr id="4" name="TextBox 3"/>
          <p:cNvSpPr txBox="1"/>
          <p:nvPr/>
        </p:nvSpPr>
        <p:spPr>
          <a:xfrm>
            <a:off x="9692640" y="109728"/>
            <a:ext cx="2286000" cy="365760"/>
          </a:xfrm>
          <a:prstGeom prst="rect">
            <a:avLst/>
          </a:prstGeom>
          <a:noFill/>
        </p:spPr>
        <p:txBody>
          <a:bodyPr wrap="square" lIns="73152" rIns="73152" tIns="36576" bIns="36576" anchor="t">
            <a:spAutoFit/>
          </a:bodyPr>
          <a:lstStyle/>
          <a:p>
            <a:pPr algn="r">
              <a:spcAft>
                <a:spcPts val="400"/>
              </a:spcAft>
            </a:pPr>
            <a:r>
              <a:rPr sz="1200" b="1">
                <a:solidFill>
                  <a:srgbClr val="00A39B"/>
                </a:solidFill>
                <a:latin typeface="Calibri"/>
              </a:rPr>
              <a:t>PIC: Hòa (M3)</a:t>
            </a:r>
          </a:p>
        </p:txBody>
      </p:sp>
      <p:sp>
        <p:nvSpPr>
          <p:cNvPr id="5" name="TextBox 4"/>
          <p:cNvSpPr txBox="1"/>
          <p:nvPr/>
        </p:nvSpPr>
        <p:spPr>
          <a:xfrm>
            <a:off x="9692640" y="457200"/>
            <a:ext cx="2286000" cy="365760"/>
          </a:xfrm>
          <a:prstGeom prst="rect">
            <a:avLst/>
          </a:prstGeom>
          <a:noFill/>
        </p:spPr>
        <p:txBody>
          <a:bodyPr wrap="square" lIns="73152" rIns="73152" tIns="36576" bIns="36576" anchor="t">
            <a:spAutoFit/>
          </a:bodyPr>
          <a:lstStyle/>
          <a:p>
            <a:pPr algn="r">
              <a:spcAft>
                <a:spcPts val="400"/>
              </a:spcAft>
            </a:pPr>
            <a:r>
              <a:rPr sz="1100" b="0">
                <a:solidFill>
                  <a:srgbClr val="F28C28"/>
                </a:solidFill>
                <a:latin typeface="Calibri"/>
              </a:rPr>
              <a:t>Rubric 4.1</a:t>
            </a:r>
          </a:p>
        </p:txBody>
      </p:sp>
      <p:sp>
        <p:nvSpPr>
          <p:cNvPr id="6" name="Rectangle 5"/>
          <p:cNvSpPr/>
          <p:nvPr/>
        </p:nvSpPr>
        <p:spPr>
          <a:xfrm>
            <a:off x="0" y="6537960"/>
            <a:ext cx="12191695" cy="3200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37960"/>
            <a:ext cx="8229600" cy="320040"/>
          </a:xfrm>
          <a:prstGeom prst="rect">
            <a:avLst/>
          </a:prstGeom>
          <a:noFill/>
        </p:spPr>
        <p:txBody>
          <a:bodyPr wrap="square" lIns="73152" rIns="73152" tIns="36576" bIns="36576" anchor="ctr">
            <a:spAutoFit/>
          </a:bodyPr>
          <a:lstStyle/>
          <a:p>
            <a:pPr algn="l">
              <a:spcAft>
                <a:spcPts val="400"/>
              </a:spcAft>
            </a:pPr>
            <a:r>
              <a:rPr sz="1000" b="0">
                <a:solidFill>
                  <a:srgbClr val="5F6B7A"/>
                </a:solidFill>
                <a:latin typeface="Calibri"/>
              </a:rPr>
              <a:t>TutorMate · EduNova · Workshop 2 – Scenario B · ATAD v1.0</a:t>
            </a:r>
          </a:p>
        </p:txBody>
      </p:sp>
      <p:sp>
        <p:nvSpPr>
          <p:cNvPr id="8" name="TextBox 7"/>
          <p:cNvSpPr txBox="1"/>
          <p:nvPr/>
        </p:nvSpPr>
        <p:spPr>
          <a:xfrm>
            <a:off x="10972800" y="6537960"/>
            <a:ext cx="914400" cy="320040"/>
          </a:xfrm>
          <a:prstGeom prst="rect">
            <a:avLst/>
          </a:prstGeom>
          <a:noFill/>
        </p:spPr>
        <p:txBody>
          <a:bodyPr wrap="square" lIns="73152" rIns="73152" tIns="36576" bIns="36576" anchor="ctr">
            <a:spAutoFit/>
          </a:bodyPr>
          <a:lstStyle/>
          <a:p>
            <a:pPr algn="r">
              <a:spcAft>
                <a:spcPts val="400"/>
              </a:spcAft>
            </a:pPr>
            <a:r>
              <a:rPr sz="1000" b="0">
                <a:solidFill>
                  <a:srgbClr val="5F6B7A"/>
                </a:solidFill>
                <a:latin typeface="Calibri"/>
              </a:rPr>
              <a:t>5 / 14</a:t>
            </a:r>
          </a:p>
        </p:txBody>
      </p:sp>
      <p:sp>
        <p:nvSpPr>
          <p:cNvPr id="9" name="TextBox 8"/>
          <p:cNvSpPr txBox="1"/>
          <p:nvPr/>
        </p:nvSpPr>
        <p:spPr>
          <a:xfrm>
            <a:off x="365760" y="1051560"/>
            <a:ext cx="5852160" cy="457200"/>
          </a:xfrm>
          <a:prstGeom prst="rect">
            <a:avLst/>
          </a:prstGeom>
          <a:noFill/>
        </p:spPr>
        <p:txBody>
          <a:bodyPr wrap="square" lIns="73152" rIns="73152" tIns="36576" bIns="36576" anchor="t">
            <a:spAutoFit/>
          </a:bodyPr>
          <a:lstStyle/>
          <a:p>
            <a:pPr algn="l">
              <a:spcAft>
                <a:spcPts val="400"/>
              </a:spcAft>
            </a:pPr>
            <a:r>
              <a:rPr sz="1400" b="0">
                <a:solidFill>
                  <a:srgbClr val="5F6B7A"/>
                </a:solidFill>
                <a:latin typeface="Calibri"/>
              </a:rPr>
              <a:t>Pattern chọn: </a:t>
            </a:r>
          </a:p>
          <a:p>
            <a:pPr algn="l">
              <a:spcAft>
                <a:spcPts val="400"/>
              </a:spcAft>
            </a:pPr>
            <a:r>
              <a:rPr sz="1400" b="1">
                <a:solidFill>
                  <a:srgbClr val="0F1F3D"/>
                </a:solidFill>
                <a:latin typeface="Calibri"/>
              </a:rPr>
              <a:t>Hybrid tutoring architecture — dùng LLM chỉ ở nơi bài toán thực sự là ngôn ngữ</a:t>
            </a:r>
          </a:p>
        </p:txBody>
      </p:sp>
      <p:graphicFrame>
        <p:nvGraphicFramePr>
          <p:cNvPr id="10" name="Table 9"/>
          <p:cNvGraphicFramePr>
            <a:graphicFrameLocks noGrp="1"/>
          </p:cNvGraphicFramePr>
          <p:nvPr/>
        </p:nvGraphicFramePr>
        <p:xfrm>
          <a:off x="365760" y="1554480"/>
          <a:ext cx="6766560" cy="3017520"/>
        </p:xfrm>
        <a:graphic>
          <a:graphicData uri="http://schemas.openxmlformats.org/drawingml/2006/table">
            <a:tbl>
              <a:tblPr firstRow="1" bandRow="1">
                <a:tableStyleId>{5C22544A-7EE6-4342-B048-85BDC9FD1C3A}</a:tableStyleId>
              </a:tblPr>
              <a:tblGrid>
                <a:gridCol w="2011680"/>
                <a:gridCol w="2286000"/>
                <a:gridCol w="2468880"/>
              </a:tblGrid>
              <a:tr h="431074">
                <a:tc>
                  <a:txBody>
                    <a:bodyPr wrap="square"/>
                    <a:lstStyle/>
                    <a:p>
                      <a:r>
                        <a:rPr sz="1000" b="1">
                          <a:solidFill>
                            <a:srgbClr val="FFFFFF"/>
                          </a:solidFill>
                          <a:latin typeface="Calibri"/>
                        </a:rPr>
                        <a:t>Capability</a:t>
                      </a:r>
                    </a:p>
                  </a:txBody>
                  <a:tcPr marL="45720" marR="45720" marT="18288" marB="18288">
                    <a:solidFill>
                      <a:srgbClr val="00A39B"/>
                    </a:solidFill>
                  </a:tcPr>
                </a:tc>
                <a:tc>
                  <a:txBody>
                    <a:bodyPr wrap="square"/>
                    <a:lstStyle/>
                    <a:p>
                      <a:r>
                        <a:rPr sz="1000" b="1">
                          <a:solidFill>
                            <a:srgbClr val="FFFFFF"/>
                          </a:solidFill>
                          <a:latin typeface="Calibri"/>
                        </a:rPr>
                        <a:t>Pattern công nghệ</a:t>
                      </a:r>
                    </a:p>
                  </a:txBody>
                  <a:tcPr marL="45720" marR="45720" marT="18288" marB="18288">
                    <a:solidFill>
                      <a:srgbClr val="00A39B"/>
                    </a:solidFill>
                  </a:tcPr>
                </a:tc>
                <a:tc>
                  <a:txBody>
                    <a:bodyPr wrap="square"/>
                    <a:lstStyle/>
                    <a:p>
                      <a:r>
                        <a:rPr sz="1000" b="1">
                          <a:solidFill>
                            <a:srgbClr val="FFFFFF"/>
                          </a:solidFill>
                          <a:latin typeface="Calibri"/>
                        </a:rPr>
                        <a:t>Vì sao không để LLM làm</a:t>
                      </a:r>
                    </a:p>
                  </a:txBody>
                  <a:tcPr marL="45720" marR="45720" marT="18288" marB="18288">
                    <a:solidFill>
                      <a:srgbClr val="00A39B"/>
                    </a:solidFill>
                  </a:tcPr>
                </a:tc>
              </a:tr>
              <a:tr h="431074">
                <a:tc>
                  <a:txBody>
                    <a:bodyPr wrap="square"/>
                    <a:lstStyle/>
                    <a:p>
                      <a:r>
                        <a:rPr sz="1000">
                          <a:solidFill>
                            <a:srgbClr val="1E252F"/>
                          </a:solidFill>
                          <a:latin typeface="Calibri"/>
                        </a:rPr>
                        <a:t>Diễn đạt gợi mở tự nhiên</a:t>
                      </a:r>
                    </a:p>
                  </a:txBody>
                  <a:tcPr marL="45720" marR="45720" marT="18288" marB="18288">
                    <a:solidFill>
                      <a:srgbClr val="FFFFFF"/>
                    </a:solidFill>
                  </a:tcPr>
                </a:tc>
                <a:tc>
                  <a:txBody>
                    <a:bodyPr wrap="square"/>
                    <a:lstStyle/>
                    <a:p>
                      <a:r>
                        <a:rPr sz="1000">
                          <a:solidFill>
                            <a:srgbClr val="1E252F"/>
                          </a:solidFill>
                          <a:latin typeface="Calibri"/>
                        </a:rPr>
                        <a:t>LLM (managed small, T1)</a:t>
                      </a:r>
                    </a:p>
                  </a:txBody>
                  <a:tcPr marL="45720" marR="45720" marT="18288" marB="18288">
                    <a:solidFill>
                      <a:srgbClr val="FFFFFF"/>
                    </a:solidFill>
                  </a:tcPr>
                </a:tc>
                <a:tc>
                  <a:txBody>
                    <a:bodyPr wrap="square"/>
                    <a:lstStyle/>
                    <a:p>
                      <a:r>
                        <a:rPr sz="1000">
                          <a:solidFill>
                            <a:srgbClr val="1E252F"/>
                          </a:solidFill>
                          <a:latin typeface="Calibri"/>
                        </a:rPr>
                        <a:t>— đây là phần ngôn ngữ thật</a:t>
                      </a:r>
                    </a:p>
                  </a:txBody>
                  <a:tcPr marL="45720" marR="45720" marT="18288" marB="18288">
                    <a:solidFill>
                      <a:srgbClr val="FFFFFF"/>
                    </a:solidFill>
                  </a:tcPr>
                </a:tc>
              </a:tr>
              <a:tr h="431074">
                <a:tc>
                  <a:txBody>
                    <a:bodyPr wrap="square"/>
                    <a:lstStyle/>
                    <a:p>
                      <a:r>
                        <a:rPr sz="1000">
                          <a:solidFill>
                            <a:srgbClr val="1E252F"/>
                          </a:solidFill>
                          <a:latin typeface="Calibri"/>
                        </a:rPr>
                        <a:t>Curriculum grounding</a:t>
                      </a:r>
                    </a:p>
                  </a:txBody>
                  <a:tcPr marL="45720" marR="45720" marT="18288" marB="18288">
                    <a:solidFill>
                      <a:srgbClr val="F4F6F9"/>
                    </a:solidFill>
                  </a:tcPr>
                </a:tc>
                <a:tc>
                  <a:txBody>
                    <a:bodyPr wrap="square"/>
                    <a:lstStyle/>
                    <a:p>
                      <a:r>
                        <a:rPr sz="1000">
                          <a:solidFill>
                            <a:srgbClr val="1E252F"/>
                          </a:solidFill>
                          <a:latin typeface="Calibri"/>
                        </a:rPr>
                        <a:t>RAG trên Hint Ladder giáo viên duyệt</a:t>
                      </a:r>
                    </a:p>
                  </a:txBody>
                  <a:tcPr marL="45720" marR="45720" marT="18288" marB="18288">
                    <a:solidFill>
                      <a:srgbClr val="F4F6F9"/>
                    </a:solidFill>
                  </a:tcPr>
                </a:tc>
                <a:tc>
                  <a:txBody>
                    <a:bodyPr wrap="square"/>
                    <a:lstStyle/>
                    <a:p>
                      <a:r>
                        <a:rPr sz="1000">
                          <a:solidFill>
                            <a:srgbClr val="1E252F"/>
                          </a:solidFill>
                          <a:latin typeface="Calibri"/>
                        </a:rPr>
                        <a:t>Model không biết SGK/chương trình EduNova; cần version &amp; audit</a:t>
                      </a:r>
                    </a:p>
                  </a:txBody>
                  <a:tcPr marL="45720" marR="45720" marT="18288" marB="18288">
                    <a:solidFill>
                      <a:srgbClr val="F4F6F9"/>
                    </a:solidFill>
                  </a:tcPr>
                </a:tc>
              </a:tr>
              <a:tr h="431074">
                <a:tc>
                  <a:txBody>
                    <a:bodyPr wrap="square"/>
                    <a:lstStyle/>
                    <a:p>
                      <a:r>
                        <a:rPr sz="1000">
                          <a:solidFill>
                            <a:srgbClr val="1E252F"/>
                          </a:solidFill>
                          <a:latin typeface="Calibri"/>
                        </a:rPr>
                        <a:t>Đúng/sai, tương đương công thức</a:t>
                      </a:r>
                    </a:p>
                  </a:txBody>
                  <a:tcPr marL="45720" marR="45720" marT="18288" marB="18288">
                    <a:solidFill>
                      <a:srgbClr val="FFFFFF"/>
                    </a:solidFill>
                  </a:tcPr>
                </a:tc>
                <a:tc>
                  <a:txBody>
                    <a:bodyPr wrap="square"/>
                    <a:lstStyle/>
                    <a:p>
                      <a:r>
                        <a:rPr sz="1000">
                          <a:solidFill>
                            <a:srgbClr val="1E252F"/>
                          </a:solidFill>
                          <a:latin typeface="Calibri"/>
                        </a:rPr>
                        <a:t>Deterministic tool (CAS/SymPy)</a:t>
                      </a:r>
                    </a:p>
                  </a:txBody>
                  <a:tcPr marL="45720" marR="45720" marT="18288" marB="18288">
                    <a:solidFill>
                      <a:srgbClr val="FFFFFF"/>
                    </a:solidFill>
                  </a:tcPr>
                </a:tc>
                <a:tc>
                  <a:txBody>
                    <a:bodyPr wrap="square"/>
                    <a:lstStyle/>
                    <a:p>
                      <a:r>
                        <a:rPr sz="1000">
                          <a:solidFill>
                            <a:srgbClr val="1E252F"/>
                          </a:solidFill>
                          <a:latin typeface="Calibri"/>
                        </a:rPr>
                        <a:t>LLM tính toán không tin được; 0 chi phí token</a:t>
                      </a:r>
                    </a:p>
                  </a:txBody>
                  <a:tcPr marL="45720" marR="45720" marT="18288" marB="18288">
                    <a:solidFill>
                      <a:srgbClr val="FFFFFF"/>
                    </a:solidFill>
                  </a:tcPr>
                </a:tc>
              </a:tr>
              <a:tr h="431074">
                <a:tc>
                  <a:txBody>
                    <a:bodyPr wrap="square"/>
                    <a:lstStyle/>
                    <a:p>
                      <a:r>
                        <a:rPr sz="1000">
                          <a:solidFill>
                            <a:srgbClr val="1E252F"/>
                          </a:solidFill>
                          <a:latin typeface="Calibri"/>
                        </a:rPr>
                        <a:t>Cập nhật mastery</a:t>
                      </a:r>
                    </a:p>
                  </a:txBody>
                  <a:tcPr marL="45720" marR="45720" marT="18288" marB="18288">
                    <a:solidFill>
                      <a:srgbClr val="F4F6F9"/>
                    </a:solidFill>
                  </a:tcPr>
                </a:tc>
                <a:tc>
                  <a:txBody>
                    <a:bodyPr wrap="square"/>
                    <a:lstStyle/>
                    <a:p>
                      <a:r>
                        <a:rPr sz="1000">
                          <a:solidFill>
                            <a:srgbClr val="1E252F"/>
                          </a:solidFill>
                          <a:latin typeface="Calibri"/>
                        </a:rPr>
                        <a:t>Deterministic logic (BKT)</a:t>
                      </a:r>
                    </a:p>
                  </a:txBody>
                  <a:tcPr marL="45720" marR="45720" marT="18288" marB="18288">
                    <a:solidFill>
                      <a:srgbClr val="F4F6F9"/>
                    </a:solidFill>
                  </a:tcPr>
                </a:tc>
                <a:tc>
                  <a:txBody>
                    <a:bodyPr wrap="square"/>
                    <a:lstStyle/>
                    <a:p>
                      <a:r>
                        <a:rPr sz="1000">
                          <a:solidFill>
                            <a:srgbClr val="1E252F"/>
                          </a:solidFill>
                          <a:latin typeface="Calibri"/>
                        </a:rPr>
                        <a:t>Cần giải thích được, ổn định, audit</a:t>
                      </a:r>
                    </a:p>
                  </a:txBody>
                  <a:tcPr marL="45720" marR="45720" marT="18288" marB="18288">
                    <a:solidFill>
                      <a:srgbClr val="F4F6F9"/>
                    </a:solidFill>
                  </a:tcPr>
                </a:tc>
              </a:tr>
              <a:tr h="431074">
                <a:tc>
                  <a:txBody>
                    <a:bodyPr wrap="square"/>
                    <a:lstStyle/>
                    <a:p>
                      <a:r>
                        <a:rPr sz="1000">
                          <a:solidFill>
                            <a:srgbClr val="1E252F"/>
                          </a:solidFill>
                          <a:latin typeface="Calibri"/>
                        </a:rPr>
                        <a:t>Kiểm soát sư phạm</a:t>
                      </a:r>
                    </a:p>
                  </a:txBody>
                  <a:tcPr marL="45720" marR="45720" marT="18288" marB="18288">
                    <a:solidFill>
                      <a:srgbClr val="FFFFFF"/>
                    </a:solidFill>
                  </a:tcPr>
                </a:tc>
                <a:tc>
                  <a:txBody>
                    <a:bodyPr wrap="square"/>
                    <a:lstStyle/>
                    <a:p>
                      <a:r>
                        <a:rPr sz="1000">
                          <a:solidFill>
                            <a:srgbClr val="1E252F"/>
                          </a:solidFill>
                          <a:latin typeface="Calibri"/>
                        </a:rPr>
                        <a:t>State machine (Dialogue Policy)</a:t>
                      </a:r>
                    </a:p>
                  </a:txBody>
                  <a:tcPr marL="45720" marR="45720" marT="18288" marB="18288">
                    <a:solidFill>
                      <a:srgbClr val="FFFFFF"/>
                    </a:solidFill>
                  </a:tcPr>
                </a:tc>
                <a:tc>
                  <a:txBody>
                    <a:bodyPr wrap="square"/>
                    <a:lstStyle/>
                    <a:p>
                      <a:r>
                        <a:rPr sz="1000">
                          <a:solidFill>
                            <a:srgbClr val="1E252F"/>
                          </a:solidFill>
                          <a:latin typeface="Calibri"/>
                        </a:rPr>
                        <a:t>Prompt không enforce được; code unit-test được</a:t>
                      </a:r>
                    </a:p>
                  </a:txBody>
                  <a:tcPr marL="45720" marR="45720" marT="18288" marB="18288">
                    <a:solidFill>
                      <a:srgbClr val="FFFFFF"/>
                    </a:solidFill>
                  </a:tcPr>
                </a:tc>
              </a:tr>
              <a:tr h="431076">
                <a:tc>
                  <a:txBody>
                    <a:bodyPr wrap="square"/>
                    <a:lstStyle/>
                    <a:p>
                      <a:r>
                        <a:rPr sz="1000">
                          <a:solidFill>
                            <a:srgbClr val="1E252F"/>
                          </a:solidFill>
                          <a:latin typeface="Calibri"/>
                        </a:rPr>
                        <a:t>Safety / answer-leak</a:t>
                      </a:r>
                    </a:p>
                  </a:txBody>
                  <a:tcPr marL="45720" marR="45720" marT="18288" marB="18288">
                    <a:solidFill>
                      <a:srgbClr val="F4F6F9"/>
                    </a:solidFill>
                  </a:tcPr>
                </a:tc>
                <a:tc>
                  <a:txBody>
                    <a:bodyPr wrap="square"/>
                    <a:lstStyle/>
                    <a:p>
                      <a:r>
                        <a:rPr sz="1000">
                          <a:solidFill>
                            <a:srgbClr val="1E252F"/>
                          </a:solidFill>
                          <a:latin typeface="Calibri"/>
                        </a:rPr>
                        <a:t>Validator (rule + classifier + safety API)</a:t>
                      </a:r>
                    </a:p>
                  </a:txBody>
                  <a:tcPr marL="45720" marR="45720" marT="18288" marB="18288">
                    <a:solidFill>
                      <a:srgbClr val="F4F6F9"/>
                    </a:solidFill>
                  </a:tcPr>
                </a:tc>
                <a:tc>
                  <a:txBody>
                    <a:bodyPr wrap="square"/>
                    <a:lstStyle/>
                    <a:p>
                      <a:r>
                        <a:rPr sz="1000">
                          <a:solidFill>
                            <a:srgbClr val="1E252F"/>
                          </a:solidFill>
                          <a:latin typeface="Calibri"/>
                        </a:rPr>
                        <a:t>Không để model tự chấm chính mình</a:t>
                      </a:r>
                    </a:p>
                  </a:txBody>
                  <a:tcPr marL="45720" marR="45720" marT="18288" marB="18288">
                    <a:solidFill>
                      <a:srgbClr val="F4F6F9"/>
                    </a:solidFill>
                  </a:tcPr>
                </a:tc>
              </a:tr>
            </a:tbl>
          </a:graphicData>
        </a:graphic>
      </p:graphicFrame>
      <p:sp>
        <p:nvSpPr>
          <p:cNvPr id="11" name="TextBox 10"/>
          <p:cNvSpPr txBox="1"/>
          <p:nvPr/>
        </p:nvSpPr>
        <p:spPr>
          <a:xfrm>
            <a:off x="7315200" y="1051560"/>
            <a:ext cx="4480560" cy="365760"/>
          </a:xfrm>
          <a:prstGeom prst="rect">
            <a:avLst/>
          </a:prstGeom>
          <a:noFill/>
        </p:spPr>
        <p:txBody>
          <a:bodyPr wrap="square" lIns="73152" rIns="73152" tIns="36576" bIns="36576" anchor="t">
            <a:spAutoFit/>
          </a:bodyPr>
          <a:lstStyle/>
          <a:p>
            <a:pPr algn="l">
              <a:spcAft>
                <a:spcPts val="400"/>
              </a:spcAft>
            </a:pPr>
            <a:r>
              <a:rPr sz="1500" b="1">
                <a:solidFill>
                  <a:srgbClr val="00A39B"/>
                </a:solidFill>
                <a:latin typeface="Calibri"/>
              </a:rPr>
              <a:t>Curriculum grounding — offline lane</a:t>
            </a:r>
          </a:p>
        </p:txBody>
      </p:sp>
      <p:sp>
        <p:nvSpPr>
          <p:cNvPr id="12" name="Rounded Rectangle 11"/>
          <p:cNvSpPr/>
          <p:nvPr/>
        </p:nvSpPr>
        <p:spPr>
          <a:xfrm>
            <a:off x="7498079" y="1463040"/>
            <a:ext cx="4114800" cy="502920"/>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Nội dung EduNova</a:t>
            </a:r>
          </a:p>
          <a:p>
            <a:pPr algn="ctr"/>
            <a:r>
              <a:rPr sz="900">
                <a:solidFill>
                  <a:srgbClr val="5F6B7A"/>
                </a:solidFill>
                <a:latin typeface="Calibri"/>
              </a:rPr>
              <a:t>bài · lời giải mẫu · tag chương/skill</a:t>
            </a:r>
          </a:p>
        </p:txBody>
      </p:sp>
      <p:cxnSp>
        <p:nvCxnSpPr>
          <p:cNvPr id="13" name="Connector 12"/>
          <p:cNvCxnSpPr/>
          <p:nvPr/>
        </p:nvCxnSpPr>
        <p:spPr>
          <a:xfrm>
            <a:off x="9555479" y="1965960"/>
            <a:ext cx="0" cy="118872"/>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498079" y="2084832"/>
            <a:ext cx="4114800" cy="502920"/>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LLM lớn (offline) sinh Hint Ladder</a:t>
            </a:r>
          </a:p>
          <a:p>
            <a:pPr algn="ctr"/>
            <a:r>
              <a:rPr sz="900">
                <a:solidFill>
                  <a:srgbClr val="5F6B7A"/>
                </a:solidFill>
                <a:latin typeface="Calibri"/>
              </a:rPr>
              <a:t>L0 gợi ý → L3 gần lời giải, tách Answer Vault</a:t>
            </a:r>
          </a:p>
        </p:txBody>
      </p:sp>
      <p:cxnSp>
        <p:nvCxnSpPr>
          <p:cNvPr id="15" name="Connector 14"/>
          <p:cNvCxnSpPr/>
          <p:nvPr/>
        </p:nvCxnSpPr>
        <p:spPr>
          <a:xfrm>
            <a:off x="9555479" y="2587752"/>
            <a:ext cx="0" cy="118872"/>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498079" y="2706624"/>
            <a:ext cx="4114800" cy="502920"/>
          </a:xfrm>
          <a:prstGeom prst="roundRect">
            <a:avLst/>
          </a:prstGeom>
          <a:solidFill>
            <a:srgbClr val="0F1F3D"/>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FFFFFF"/>
                </a:solidFill>
                <a:latin typeface="Calibri"/>
              </a:rPr>
              <a:t>Giáo viên duyệt &amp; version</a:t>
            </a:r>
          </a:p>
          <a:p>
            <a:pPr algn="ctr"/>
            <a:r>
              <a:rPr sz="900">
                <a:solidFill>
                  <a:srgbClr val="FFFFFF"/>
                </a:solidFill>
                <a:latin typeface="Calibri"/>
              </a:rPr>
              <a:t>≥ 2 reviewer · reject → chỉnh prompt sinh</a:t>
            </a:r>
          </a:p>
        </p:txBody>
      </p:sp>
      <p:cxnSp>
        <p:nvCxnSpPr>
          <p:cNvPr id="17" name="Connector 16"/>
          <p:cNvCxnSpPr/>
          <p:nvPr/>
        </p:nvCxnSpPr>
        <p:spPr>
          <a:xfrm>
            <a:off x="9555479" y="3209544"/>
            <a:ext cx="0" cy="118872"/>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498079" y="3328416"/>
            <a:ext cx="4114800" cy="502920"/>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Index pgvector (HNSW)</a:t>
            </a:r>
          </a:p>
          <a:p>
            <a:pPr algn="ctr"/>
            <a:r>
              <a:rPr sz="900">
                <a:solidFill>
                  <a:srgbClr val="5F6B7A"/>
                </a:solidFill>
                <a:latin typeface="Calibri"/>
              </a:rPr>
              <a:t>chunk = 1 bậc hint · metadata skill/level</a:t>
            </a:r>
          </a:p>
        </p:txBody>
      </p:sp>
      <p:cxnSp>
        <p:nvCxnSpPr>
          <p:cNvPr id="19" name="Connector 18"/>
          <p:cNvCxnSpPr/>
          <p:nvPr/>
        </p:nvCxnSpPr>
        <p:spPr>
          <a:xfrm>
            <a:off x="9555479" y="3831336"/>
            <a:ext cx="0" cy="118872"/>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498079" y="3950208"/>
            <a:ext cx="4114800" cy="502920"/>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Runtime retrieve ≤ level cho phép</a:t>
            </a:r>
          </a:p>
          <a:p>
            <a:pPr algn="ctr"/>
            <a:r>
              <a:rPr sz="900">
                <a:solidFill>
                  <a:srgbClr val="5F6B7A"/>
                </a:solidFill>
                <a:latin typeface="Calibri"/>
              </a:rPr>
              <a:t>LLM nhận ladder, không nhận Vault</a:t>
            </a:r>
          </a:p>
        </p:txBody>
      </p:sp>
      <p:sp>
        <p:nvSpPr>
          <p:cNvPr id="21" name="Rectangle 20"/>
          <p:cNvSpPr/>
          <p:nvPr/>
        </p:nvSpPr>
        <p:spPr>
          <a:xfrm>
            <a:off x="365760" y="4663440"/>
            <a:ext cx="6766560" cy="12344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681728"/>
            <a:ext cx="6583680" cy="1188720"/>
          </a:xfrm>
          <a:prstGeom prst="rect">
            <a:avLst/>
          </a:prstGeom>
          <a:noFill/>
        </p:spPr>
        <p:txBody>
          <a:bodyPr wrap="square" lIns="73152" rIns="73152" tIns="36576" bIns="36576" anchor="t">
            <a:spAutoFit/>
          </a:bodyPr>
          <a:lstStyle/>
          <a:p>
            <a:pPr algn="l">
              <a:spcAft>
                <a:spcPts val="400"/>
              </a:spcAft>
            </a:pPr>
            <a:r>
              <a:rPr sz="1100" b="1">
                <a:solidFill>
                  <a:srgbClr val="0F1F3D"/>
                </a:solidFill>
                <a:latin typeface="Calibri"/>
              </a:rPr>
              <a:t>Vì sao không fine-tune trước?  </a:t>
            </a:r>
          </a:p>
          <a:p>
            <a:pPr algn="l">
              <a:spcAft>
                <a:spcPts val="400"/>
              </a:spcAft>
            </a:pPr>
            <a:r>
              <a:rPr sz="1000" b="0">
                <a:solidFill>
                  <a:srgbClr val="1E252F"/>
                </a:solidFill>
                <a:latin typeface="Calibri"/>
              </a:rPr>
              <a:t>Chưa có corpus hội thoại gia sư đáng tin (~0) + chương trình đổi thường xuyên → RAG cập nhật được, FT thì phải train lại. FT/DPO 8B là Phase 2 khi ≥ 50k lượt có nhãn (ADR-005).</a:t>
            </a:r>
          </a:p>
          <a:p>
            <a:pPr algn="l">
              <a:spcAft>
                <a:spcPts val="400"/>
              </a:spcAft>
            </a:pPr>
            <a:r>
              <a:rPr sz="1100" b="1">
                <a:solidFill>
                  <a:srgbClr val="0F1F3D"/>
                </a:solidFill>
                <a:latin typeface="Calibri"/>
              </a:rPr>
              <a:t>Vì sao không autonomous agent?  </a:t>
            </a:r>
          </a:p>
          <a:p>
            <a:pPr algn="l">
              <a:spcAft>
                <a:spcPts val="400"/>
              </a:spcAft>
            </a:pPr>
            <a:r>
              <a:rPr sz="1000" b="0">
                <a:solidFill>
                  <a:srgbClr val="1E252F"/>
                </a:solidFill>
                <a:latin typeface="Calibri"/>
              </a:rPr>
              <a:t>Không cần autonomy — flow gia sư là hữu hạn; agent làm tăng latency, cost và bề mặt rủi ro an toàn.</a:t>
            </a:r>
          </a:p>
        </p:txBody>
      </p:sp>
      <p:sp>
        <p:nvSpPr>
          <p:cNvPr id="23" name="Rounded Rectangle 22"/>
          <p:cNvSpPr/>
          <p:nvPr/>
        </p:nvSpPr>
        <p:spPr>
          <a:xfrm>
            <a:off x="365760" y="5989320"/>
            <a:ext cx="11430000" cy="475488"/>
          </a:xfrm>
          <a:prstGeom prst="roundRect">
            <a:avLst/>
          </a:prstGeom>
          <a:solidFill>
            <a:srgbClr val="00A3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FFFFFF"/>
                </a:solidFill>
                <a:latin typeface="Calibri"/>
              </a:rPr>
              <a:t>Dùng LLM chỉ ở nơi bài toán thực sự là ngôn ngữ; grounding = corpus đã duyệt, không phải trí nhớ của model.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01200" cy="731520"/>
          </a:xfrm>
          <a:prstGeom prst="rect">
            <a:avLst/>
          </a:prstGeom>
          <a:noFill/>
        </p:spPr>
        <p:txBody>
          <a:bodyPr wrap="square" lIns="73152" rIns="73152" tIns="36576" bIns="36576" anchor="ctr">
            <a:spAutoFit/>
          </a:bodyPr>
          <a:lstStyle/>
          <a:p>
            <a:pPr algn="l">
              <a:spcAft>
                <a:spcPts val="400"/>
              </a:spcAft>
            </a:pPr>
            <a:r>
              <a:rPr sz="2600" b="1">
                <a:solidFill>
                  <a:srgbClr val="FFFFFF"/>
                </a:solidFill>
                <a:latin typeface="Calibri"/>
              </a:rPr>
              <a:t>An toàn cho trẻ em: 4 lớp phòng thủ</a:t>
            </a:r>
          </a:p>
        </p:txBody>
      </p:sp>
      <p:sp>
        <p:nvSpPr>
          <p:cNvPr id="4" name="TextBox 3"/>
          <p:cNvSpPr txBox="1"/>
          <p:nvPr/>
        </p:nvSpPr>
        <p:spPr>
          <a:xfrm>
            <a:off x="9692640" y="109728"/>
            <a:ext cx="2286000" cy="365760"/>
          </a:xfrm>
          <a:prstGeom prst="rect">
            <a:avLst/>
          </a:prstGeom>
          <a:noFill/>
        </p:spPr>
        <p:txBody>
          <a:bodyPr wrap="square" lIns="73152" rIns="73152" tIns="36576" bIns="36576" anchor="t">
            <a:spAutoFit/>
          </a:bodyPr>
          <a:lstStyle/>
          <a:p>
            <a:pPr algn="r">
              <a:spcAft>
                <a:spcPts val="400"/>
              </a:spcAft>
            </a:pPr>
            <a:r>
              <a:rPr sz="1200" b="1">
                <a:solidFill>
                  <a:srgbClr val="00A39B"/>
                </a:solidFill>
                <a:latin typeface="Calibri"/>
              </a:rPr>
              <a:t>PIC: Phụng (M4)</a:t>
            </a:r>
          </a:p>
        </p:txBody>
      </p:sp>
      <p:sp>
        <p:nvSpPr>
          <p:cNvPr id="5" name="TextBox 4"/>
          <p:cNvSpPr txBox="1"/>
          <p:nvPr/>
        </p:nvSpPr>
        <p:spPr>
          <a:xfrm>
            <a:off x="9692640" y="457200"/>
            <a:ext cx="2286000" cy="365760"/>
          </a:xfrm>
          <a:prstGeom prst="rect">
            <a:avLst/>
          </a:prstGeom>
          <a:noFill/>
        </p:spPr>
        <p:txBody>
          <a:bodyPr wrap="square" lIns="73152" rIns="73152" tIns="36576" bIns="36576" anchor="t">
            <a:spAutoFit/>
          </a:bodyPr>
          <a:lstStyle/>
          <a:p>
            <a:pPr algn="r">
              <a:spcAft>
                <a:spcPts val="400"/>
              </a:spcAft>
            </a:pPr>
            <a:r>
              <a:rPr sz="1100" b="0">
                <a:solidFill>
                  <a:srgbClr val="F28C28"/>
                </a:solidFill>
                <a:latin typeface="Calibri"/>
              </a:rPr>
              <a:t>Rubric 4.4</a:t>
            </a:r>
          </a:p>
        </p:txBody>
      </p:sp>
      <p:sp>
        <p:nvSpPr>
          <p:cNvPr id="6" name="Rectangle 5"/>
          <p:cNvSpPr/>
          <p:nvPr/>
        </p:nvSpPr>
        <p:spPr>
          <a:xfrm>
            <a:off x="0" y="6537960"/>
            <a:ext cx="12191695" cy="3200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37960"/>
            <a:ext cx="8229600" cy="320040"/>
          </a:xfrm>
          <a:prstGeom prst="rect">
            <a:avLst/>
          </a:prstGeom>
          <a:noFill/>
        </p:spPr>
        <p:txBody>
          <a:bodyPr wrap="square" lIns="73152" rIns="73152" tIns="36576" bIns="36576" anchor="ctr">
            <a:spAutoFit/>
          </a:bodyPr>
          <a:lstStyle/>
          <a:p>
            <a:pPr algn="l">
              <a:spcAft>
                <a:spcPts val="400"/>
              </a:spcAft>
            </a:pPr>
            <a:r>
              <a:rPr sz="1000" b="0">
                <a:solidFill>
                  <a:srgbClr val="5F6B7A"/>
                </a:solidFill>
                <a:latin typeface="Calibri"/>
              </a:rPr>
              <a:t>TutorMate · EduNova · Workshop 2 – Scenario B · ATAD v1.0</a:t>
            </a:r>
          </a:p>
        </p:txBody>
      </p:sp>
      <p:sp>
        <p:nvSpPr>
          <p:cNvPr id="8" name="TextBox 7"/>
          <p:cNvSpPr txBox="1"/>
          <p:nvPr/>
        </p:nvSpPr>
        <p:spPr>
          <a:xfrm>
            <a:off x="10972800" y="6537960"/>
            <a:ext cx="914400" cy="320040"/>
          </a:xfrm>
          <a:prstGeom prst="rect">
            <a:avLst/>
          </a:prstGeom>
          <a:noFill/>
        </p:spPr>
        <p:txBody>
          <a:bodyPr wrap="square" lIns="73152" rIns="73152" tIns="36576" bIns="36576" anchor="ctr">
            <a:spAutoFit/>
          </a:bodyPr>
          <a:lstStyle/>
          <a:p>
            <a:pPr algn="r">
              <a:spcAft>
                <a:spcPts val="400"/>
              </a:spcAft>
            </a:pPr>
            <a:r>
              <a:rPr sz="1000" b="0">
                <a:solidFill>
                  <a:srgbClr val="5F6B7A"/>
                </a:solidFill>
                <a:latin typeface="Calibri"/>
              </a:rPr>
              <a:t>6 / 14</a:t>
            </a:r>
          </a:p>
        </p:txBody>
      </p:sp>
      <p:sp>
        <p:nvSpPr>
          <p:cNvPr id="9" name="Rounded Rectangle 8"/>
          <p:cNvSpPr/>
          <p:nvPr/>
        </p:nvSpPr>
        <p:spPr>
          <a:xfrm>
            <a:off x="365760" y="1097280"/>
            <a:ext cx="6675120" cy="777240"/>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a:solidFill>
                  <a:srgbClr val="1E252F"/>
                </a:solidFill>
                <a:latin typeface="Calibri"/>
              </a:rPr>
              <a:t>1 · TRƯỚC MODEL</a:t>
            </a:r>
          </a:p>
          <a:p>
            <a:pPr algn="ctr"/>
            <a:r>
              <a:rPr sz="1000">
                <a:solidFill>
                  <a:srgbClr val="5F6B7A"/>
                </a:solidFill>
                <a:latin typeface="Calibri"/>
              </a:rPr>
              <a:t>Identity · parental consent gate · input moderation · prompt-injection detection · topic lock</a:t>
            </a:r>
          </a:p>
        </p:txBody>
      </p:sp>
      <p:sp>
        <p:nvSpPr>
          <p:cNvPr id="10" name="Rounded Rectangle 9"/>
          <p:cNvSpPr/>
          <p:nvPr/>
        </p:nvSpPr>
        <p:spPr>
          <a:xfrm>
            <a:off x="365760" y="1993391"/>
            <a:ext cx="6675120" cy="777240"/>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a:solidFill>
                  <a:srgbClr val="1E252F"/>
                </a:solidFill>
                <a:latin typeface="Calibri"/>
              </a:rPr>
              <a:t>2 · TRONG KHI DẠY</a:t>
            </a:r>
          </a:p>
          <a:p>
            <a:pPr algn="ctr"/>
            <a:r>
              <a:rPr sz="1000">
                <a:solidFill>
                  <a:srgbClr val="5F6B7A"/>
                </a:solidFill>
                <a:latin typeface="Calibri"/>
              </a:rPr>
              <a:t>Bounded tools · retrieval chỉ corpus đã duyệt · state policy · token/turn budget · không có đáp án trong context</a:t>
            </a:r>
          </a:p>
        </p:txBody>
      </p:sp>
      <p:sp>
        <p:nvSpPr>
          <p:cNvPr id="11" name="Rounded Rectangle 10"/>
          <p:cNvSpPr/>
          <p:nvPr/>
        </p:nvSpPr>
        <p:spPr>
          <a:xfrm>
            <a:off x="365760" y="2889504"/>
            <a:ext cx="6675120" cy="777240"/>
          </a:xfrm>
          <a:prstGeom prst="roundRect">
            <a:avLst/>
          </a:prstGeom>
          <a:solidFill>
            <a:srgbClr val="F28C28"/>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a:solidFill>
                  <a:srgbClr val="FFFFFF"/>
                </a:solidFill>
                <a:latin typeface="Calibri"/>
              </a:rPr>
              <a:t>3 · TRƯỚC KHI GỬI</a:t>
            </a:r>
          </a:p>
          <a:p>
            <a:pPr algn="ctr"/>
            <a:r>
              <a:rPr sz="1000">
                <a:solidFill>
                  <a:srgbClr val="FFFFFF"/>
                </a:solidFill>
                <a:latin typeface="Calibri"/>
              </a:rPr>
              <a:t>Validator: safety · grounding · age-appropriate · answer-leak (CAS vs Vault + paraphrase clf) → fail = hint tĩnh</a:t>
            </a:r>
          </a:p>
        </p:txBody>
      </p:sp>
      <p:sp>
        <p:nvSpPr>
          <p:cNvPr id="12" name="Rounded Rectangle 11"/>
          <p:cNvSpPr/>
          <p:nvPr/>
        </p:nvSpPr>
        <p:spPr>
          <a:xfrm>
            <a:off x="365760" y="3785615"/>
            <a:ext cx="6675120" cy="777240"/>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a:solidFill>
                  <a:srgbClr val="1E252F"/>
                </a:solidFill>
                <a:latin typeface="Calibri"/>
              </a:rPr>
              <a:t>4 · SAU KHI GỬI</a:t>
            </a:r>
          </a:p>
          <a:p>
            <a:pPr algn="ctr"/>
            <a:r>
              <a:rPr sz="1000">
                <a:solidFill>
                  <a:srgbClr val="5F6B7A"/>
                </a:solidFill>
                <a:latin typeface="Calibri"/>
              </a:rPr>
              <a:t>Monitoring · red-team liên tục · canary/rollback 5’ · kill-switch → Static Ladder Mode</a:t>
            </a:r>
          </a:p>
        </p:txBody>
      </p:sp>
      <p:sp>
        <p:nvSpPr>
          <p:cNvPr id="13" name="Rounded Rectangle 12"/>
          <p:cNvSpPr/>
          <p:nvPr/>
        </p:nvSpPr>
        <p:spPr>
          <a:xfrm>
            <a:off x="365760" y="4754880"/>
            <a:ext cx="6675120" cy="822960"/>
          </a:xfrm>
          <a:prstGeom prst="roundRect">
            <a:avLst/>
          </a:prstGeom>
          <a:solidFill>
            <a:srgbClr val="0F1F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600" b="1">
                <a:solidFill>
                  <a:srgbClr val="FFFFFF"/>
                </a:solidFill>
                <a:latin typeface="Calibri"/>
              </a:rPr>
              <a:t>OUTPUT CHƯA VALIDATE KHÔNG BAO GIỜ TỚI HỌC SINH</a:t>
            </a:r>
          </a:p>
        </p:txBody>
      </p:sp>
      <p:sp>
        <p:nvSpPr>
          <p:cNvPr id="14" name="TextBox 13"/>
          <p:cNvSpPr txBox="1"/>
          <p:nvPr/>
        </p:nvSpPr>
        <p:spPr>
          <a:xfrm>
            <a:off x="7269480" y="1051560"/>
            <a:ext cx="4572000" cy="365760"/>
          </a:xfrm>
          <a:prstGeom prst="rect">
            <a:avLst/>
          </a:prstGeom>
          <a:noFill/>
        </p:spPr>
        <p:txBody>
          <a:bodyPr wrap="square" lIns="73152" rIns="73152" tIns="36576" bIns="36576" anchor="t">
            <a:spAutoFit/>
          </a:bodyPr>
          <a:lstStyle/>
          <a:p>
            <a:pPr algn="l">
              <a:spcAft>
                <a:spcPts val="400"/>
              </a:spcAft>
            </a:pPr>
            <a:r>
              <a:rPr sz="1500" b="1">
                <a:solidFill>
                  <a:srgbClr val="D93B3B"/>
                </a:solidFill>
                <a:latin typeface="Calibri"/>
              </a:rPr>
              <a:t>2 rủi ro quan trọng nhất</a:t>
            </a:r>
          </a:p>
        </p:txBody>
      </p:sp>
      <p:graphicFrame>
        <p:nvGraphicFramePr>
          <p:cNvPr id="15" name="Table 14"/>
          <p:cNvGraphicFramePr>
            <a:graphicFrameLocks noGrp="1"/>
          </p:cNvGraphicFramePr>
          <p:nvPr/>
        </p:nvGraphicFramePr>
        <p:xfrm>
          <a:off x="7269480" y="1463040"/>
          <a:ext cx="4572000" cy="2377440"/>
        </p:xfrm>
        <a:graphic>
          <a:graphicData uri="http://schemas.openxmlformats.org/drawingml/2006/table">
            <a:tbl>
              <a:tblPr firstRow="1" bandRow="1">
                <a:tableStyleId>{5C22544A-7EE6-4342-B048-85BDC9FD1C3A}</a:tableStyleId>
              </a:tblPr>
              <a:tblGrid>
                <a:gridCol w="1371600"/>
                <a:gridCol w="2103120"/>
                <a:gridCol w="1097280"/>
              </a:tblGrid>
              <a:tr h="792480">
                <a:tc>
                  <a:txBody>
                    <a:bodyPr wrap="square"/>
                    <a:lstStyle/>
                    <a:p>
                      <a:r>
                        <a:rPr sz="900" b="1">
                          <a:solidFill>
                            <a:srgbClr val="FFFFFF"/>
                          </a:solidFill>
                          <a:latin typeface="Calibri"/>
                        </a:rPr>
                        <a:t>Rủi ro</a:t>
                      </a:r>
                    </a:p>
                  </a:txBody>
                  <a:tcPr marL="45720" marR="45720" marT="18288" marB="18288">
                    <a:solidFill>
                      <a:srgbClr val="00A39B"/>
                    </a:solidFill>
                  </a:tcPr>
                </a:tc>
                <a:tc>
                  <a:txBody>
                    <a:bodyPr wrap="square"/>
                    <a:lstStyle/>
                    <a:p>
                      <a:r>
                        <a:rPr sz="900" b="1">
                          <a:solidFill>
                            <a:srgbClr val="FFFFFF"/>
                          </a:solidFill>
                          <a:latin typeface="Calibri"/>
                        </a:rPr>
                        <a:t>Kiểm soát</a:t>
                      </a:r>
                    </a:p>
                  </a:txBody>
                  <a:tcPr marL="45720" marR="45720" marT="18288" marB="18288">
                    <a:solidFill>
                      <a:srgbClr val="00A39B"/>
                    </a:solidFill>
                  </a:tcPr>
                </a:tc>
                <a:tc>
                  <a:txBody>
                    <a:bodyPr wrap="square"/>
                    <a:lstStyle/>
                    <a:p>
                      <a:r>
                        <a:rPr sz="900" b="1">
                          <a:solidFill>
                            <a:srgbClr val="FFFFFF"/>
                          </a:solidFill>
                          <a:latin typeface="Calibri"/>
                        </a:rPr>
                        <a:t>Target</a:t>
                      </a:r>
                    </a:p>
                  </a:txBody>
                  <a:tcPr marL="45720" marR="45720" marT="18288" marB="18288">
                    <a:solidFill>
                      <a:srgbClr val="00A39B"/>
                    </a:solidFill>
                  </a:tcPr>
                </a:tc>
              </a:tr>
              <a:tr h="792480">
                <a:tc>
                  <a:txBody>
                    <a:bodyPr wrap="square"/>
                    <a:lstStyle/>
                    <a:p>
                      <a:r>
                        <a:rPr sz="900">
                          <a:solidFill>
                            <a:srgbClr val="1E252F"/>
                          </a:solidFill>
                          <a:latin typeface="Calibri"/>
                        </a:rPr>
                        <a:t>Harmful content (self-harm, bạo lực, người lớn, grooming)</a:t>
                      </a:r>
                    </a:p>
                  </a:txBody>
                  <a:tcPr marL="45720" marR="45720" marT="18288" marB="18288">
                    <a:solidFill>
                      <a:srgbClr val="FFFFFF"/>
                    </a:solidFill>
                  </a:tcPr>
                </a:tc>
                <a:tc>
                  <a:txBody>
                    <a:bodyPr wrap="square"/>
                    <a:lstStyle/>
                    <a:p>
                      <a:r>
                        <a:rPr sz="900">
                          <a:solidFill>
                            <a:srgbClr val="1E252F"/>
                          </a:solidFill>
                          <a:latin typeface="Calibri"/>
                        </a:rPr>
                        <a:t>Lớp 1 + 3: classifier + managed safety API; self-harm → protocol dừng dạy, đưa hotline, báo phụ huynh</a:t>
                      </a:r>
                    </a:p>
                  </a:txBody>
                  <a:tcPr marL="45720" marR="45720" marT="18288" marB="18288">
                    <a:solidFill>
                      <a:srgbClr val="FFFFFF"/>
                    </a:solidFill>
                  </a:tcPr>
                </a:tc>
                <a:tc>
                  <a:txBody>
                    <a:bodyPr wrap="square"/>
                    <a:lstStyle/>
                    <a:p>
                      <a:r>
                        <a:rPr sz="900">
                          <a:solidFill>
                            <a:srgbClr val="1E252F"/>
                          </a:solidFill>
                          <a:latin typeface="Calibri"/>
                        </a:rPr>
                        <a:t>0 pass-through red-team · &lt; 0.01% prod</a:t>
                      </a:r>
                    </a:p>
                  </a:txBody>
                  <a:tcPr marL="45720" marR="45720" marT="18288" marB="18288">
                    <a:solidFill>
                      <a:srgbClr val="FFFFFF"/>
                    </a:solidFill>
                  </a:tcPr>
                </a:tc>
              </a:tr>
              <a:tr h="792480">
                <a:tc>
                  <a:txBody>
                    <a:bodyPr wrap="square"/>
                    <a:lstStyle/>
                    <a:p>
                      <a:r>
                        <a:rPr sz="900">
                          <a:solidFill>
                            <a:srgbClr val="1E252F"/>
                          </a:solidFill>
                          <a:latin typeface="Calibri"/>
                        </a:rPr>
                        <a:t>Answer leakage (“cho đáp án đi”, jailbreak, paraphrase)</a:t>
                      </a:r>
                    </a:p>
                  </a:txBody>
                  <a:tcPr marL="45720" marR="45720" marT="18288" marB="18288">
                    <a:solidFill>
                      <a:srgbClr val="F4F6F9"/>
                    </a:solidFill>
                  </a:tcPr>
                </a:tc>
                <a:tc>
                  <a:txBody>
                    <a:bodyPr wrap="square"/>
                    <a:lstStyle/>
                    <a:p>
                      <a:r>
                        <a:rPr sz="900">
                          <a:solidFill>
                            <a:srgbClr val="1E252F"/>
                          </a:solidFill>
                          <a:latin typeface="Calibri"/>
                        </a:rPr>
                        <a:t>State machine + canonical answer check (CAS) + leak classifier + adversarial eval mỗi release</a:t>
                      </a:r>
                    </a:p>
                  </a:txBody>
                  <a:tcPr marL="45720" marR="45720" marT="18288" marB="18288">
                    <a:solidFill>
                      <a:srgbClr val="F4F6F9"/>
                    </a:solidFill>
                  </a:tcPr>
                </a:tc>
                <a:tc>
                  <a:txBody>
                    <a:bodyPr wrap="square"/>
                    <a:lstStyle/>
                    <a:p>
                      <a:r>
                        <a:rPr sz="900">
                          <a:solidFill>
                            <a:srgbClr val="1E252F"/>
                          </a:solidFill>
                          <a:latin typeface="Calibri"/>
                        </a:rPr>
                        <a:t>ALR ≤ 1.0% golden set · ≤ 0.5% production</a:t>
                      </a:r>
                    </a:p>
                  </a:txBody>
                  <a:tcPr marL="45720" marR="45720" marT="18288" marB="18288">
                    <a:solidFill>
                      <a:srgbClr val="F4F6F9"/>
                    </a:solidFill>
                  </a:tcPr>
                </a:tc>
              </a:tr>
            </a:tbl>
          </a:graphicData>
        </a:graphic>
      </p:graphicFrame>
      <p:sp>
        <p:nvSpPr>
          <p:cNvPr id="16" name="TextBox 15"/>
          <p:cNvSpPr txBox="1"/>
          <p:nvPr/>
        </p:nvSpPr>
        <p:spPr>
          <a:xfrm>
            <a:off x="7269480" y="3931920"/>
            <a:ext cx="4572000" cy="1645920"/>
          </a:xfrm>
          <a:prstGeom prst="rect">
            <a:avLst/>
          </a:prstGeom>
          <a:noFill/>
        </p:spPr>
        <p:txBody>
          <a:bodyPr wrap="square" lIns="73152" rIns="73152" tIns="36576" bIns="36576" anchor="t">
            <a:spAutoFit/>
          </a:bodyPr>
          <a:lstStyle/>
          <a:p>
            <a:pPr algn="l">
              <a:spcAft>
                <a:spcPts val="400"/>
              </a:spcAft>
            </a:pPr>
            <a:r>
              <a:rPr sz="1000" b="0">
                <a:solidFill>
                  <a:srgbClr val="1E252F"/>
                </a:solidFill>
                <a:latin typeface="Calibri"/>
              </a:rPr>
              <a:t>•  Dữ liệu tối thiểu: pseudonymous, raw redacted 30 ngày, không train khi chưa consent</a:t>
            </a:r>
          </a:p>
          <a:p>
            <a:pPr algn="l">
              <a:spcAft>
                <a:spcPts val="400"/>
              </a:spcAft>
            </a:pPr>
            <a:r>
              <a:rPr sz="1000" b="0">
                <a:solidFill>
                  <a:srgbClr val="1E252F"/>
                </a:solidFill>
                <a:latin typeface="Calibri"/>
              </a:rPr>
              <a:t>•  Bias/fairness: đo ALR &amp; pedagogy score theo nhóm (giới, vùng, gói free/paid)</a:t>
            </a:r>
          </a:p>
          <a:p>
            <a:pPr algn="l">
              <a:spcAft>
                <a:spcPts val="400"/>
              </a:spcAft>
            </a:pPr>
            <a:r>
              <a:rPr sz="1000" b="0">
                <a:solidFill>
                  <a:srgbClr val="1E252F"/>
                </a:solidFill>
                <a:latin typeface="Calibri"/>
              </a:rPr>
              <a:t>•  XAI: mỗi hint có trace → ladder version · policy state · validator verdict</a:t>
            </a:r>
          </a:p>
        </p:txBody>
      </p:sp>
      <p:sp>
        <p:nvSpPr>
          <p:cNvPr id="17" name="TextBox 16"/>
          <p:cNvSpPr txBox="1"/>
          <p:nvPr/>
        </p:nvSpPr>
        <p:spPr>
          <a:xfrm>
            <a:off x="365760" y="5760720"/>
            <a:ext cx="11430000" cy="640080"/>
          </a:xfrm>
          <a:prstGeom prst="rect">
            <a:avLst/>
          </a:prstGeom>
          <a:noFill/>
        </p:spPr>
        <p:txBody>
          <a:bodyPr wrap="square" lIns="73152" rIns="73152" tIns="36576" bIns="36576" anchor="t">
            <a:spAutoFit/>
          </a:bodyPr>
          <a:lstStyle/>
          <a:p>
            <a:pPr algn="l">
              <a:spcAft>
                <a:spcPts val="400"/>
              </a:spcAft>
            </a:pPr>
            <a:r>
              <a:rPr sz="1000" b="0">
                <a:solidFill>
                  <a:srgbClr val="5F6B7A"/>
                </a:solidFill>
                <a:latin typeface="Calibri"/>
              </a:rPr>
              <a:t>Governance map: NIST AI RMF · ISO/IEC 42001 · Nghị định 13/2023 (PDP VN) · COPPA/GDPR-K nếu mở rộng — yêu cầu pháp lý theo từng thị trường vẫn là ASSUMPTION cần legal xác nhận (ATAD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01200" cy="731520"/>
          </a:xfrm>
          <a:prstGeom prst="rect">
            <a:avLst/>
          </a:prstGeom>
          <a:noFill/>
        </p:spPr>
        <p:txBody>
          <a:bodyPr wrap="square" lIns="73152" rIns="73152" tIns="36576" bIns="36576" anchor="ctr">
            <a:spAutoFit/>
          </a:bodyPr>
          <a:lstStyle/>
          <a:p>
            <a:pPr algn="l">
              <a:spcAft>
                <a:spcPts val="400"/>
              </a:spcAft>
            </a:pPr>
            <a:r>
              <a:rPr sz="2600" b="1">
                <a:solidFill>
                  <a:srgbClr val="FFFFFF"/>
                </a:solidFill>
                <a:latin typeface="Calibri"/>
              </a:rPr>
              <a:t>Evaluation: làm sao biết TutorMate “dạy tốt”?</a:t>
            </a:r>
          </a:p>
        </p:txBody>
      </p:sp>
      <p:sp>
        <p:nvSpPr>
          <p:cNvPr id="4" name="TextBox 3"/>
          <p:cNvSpPr txBox="1"/>
          <p:nvPr/>
        </p:nvSpPr>
        <p:spPr>
          <a:xfrm>
            <a:off x="9692640" y="109728"/>
            <a:ext cx="2286000" cy="365760"/>
          </a:xfrm>
          <a:prstGeom prst="rect">
            <a:avLst/>
          </a:prstGeom>
          <a:noFill/>
        </p:spPr>
        <p:txBody>
          <a:bodyPr wrap="square" lIns="73152" rIns="73152" tIns="36576" bIns="36576" anchor="t">
            <a:spAutoFit/>
          </a:bodyPr>
          <a:lstStyle/>
          <a:p>
            <a:pPr algn="r">
              <a:spcAft>
                <a:spcPts val="400"/>
              </a:spcAft>
            </a:pPr>
            <a:r>
              <a:rPr sz="1200" b="1">
                <a:solidFill>
                  <a:srgbClr val="00A39B"/>
                </a:solidFill>
                <a:latin typeface="Calibri"/>
              </a:rPr>
              <a:t>PIC: Phú (M6)</a:t>
            </a:r>
          </a:p>
        </p:txBody>
      </p:sp>
      <p:sp>
        <p:nvSpPr>
          <p:cNvPr id="5" name="TextBox 4"/>
          <p:cNvSpPr txBox="1"/>
          <p:nvPr/>
        </p:nvSpPr>
        <p:spPr>
          <a:xfrm>
            <a:off x="9692640" y="457200"/>
            <a:ext cx="2286000" cy="365760"/>
          </a:xfrm>
          <a:prstGeom prst="rect">
            <a:avLst/>
          </a:prstGeom>
          <a:noFill/>
        </p:spPr>
        <p:txBody>
          <a:bodyPr wrap="square" lIns="73152" rIns="73152" tIns="36576" bIns="36576" anchor="t">
            <a:spAutoFit/>
          </a:bodyPr>
          <a:lstStyle/>
          <a:p>
            <a:pPr algn="r">
              <a:spcAft>
                <a:spcPts val="400"/>
              </a:spcAft>
            </a:pPr>
            <a:r>
              <a:rPr sz="1100" b="0">
                <a:solidFill>
                  <a:srgbClr val="F28C28"/>
                </a:solidFill>
                <a:latin typeface="Calibri"/>
              </a:rPr>
              <a:t>Rubric 4.1 · 4.4</a:t>
            </a:r>
          </a:p>
        </p:txBody>
      </p:sp>
      <p:sp>
        <p:nvSpPr>
          <p:cNvPr id="6" name="Rectangle 5"/>
          <p:cNvSpPr/>
          <p:nvPr/>
        </p:nvSpPr>
        <p:spPr>
          <a:xfrm>
            <a:off x="0" y="6537960"/>
            <a:ext cx="12191695" cy="3200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37960"/>
            <a:ext cx="8229600" cy="320040"/>
          </a:xfrm>
          <a:prstGeom prst="rect">
            <a:avLst/>
          </a:prstGeom>
          <a:noFill/>
        </p:spPr>
        <p:txBody>
          <a:bodyPr wrap="square" lIns="73152" rIns="73152" tIns="36576" bIns="36576" anchor="ctr">
            <a:spAutoFit/>
          </a:bodyPr>
          <a:lstStyle/>
          <a:p>
            <a:pPr algn="l">
              <a:spcAft>
                <a:spcPts val="400"/>
              </a:spcAft>
            </a:pPr>
            <a:r>
              <a:rPr sz="1000" b="0">
                <a:solidFill>
                  <a:srgbClr val="5F6B7A"/>
                </a:solidFill>
                <a:latin typeface="Calibri"/>
              </a:rPr>
              <a:t>TutorMate · EduNova · Workshop 2 – Scenario B · ATAD v1.0</a:t>
            </a:r>
          </a:p>
        </p:txBody>
      </p:sp>
      <p:sp>
        <p:nvSpPr>
          <p:cNvPr id="8" name="TextBox 7"/>
          <p:cNvSpPr txBox="1"/>
          <p:nvPr/>
        </p:nvSpPr>
        <p:spPr>
          <a:xfrm>
            <a:off x="10972800" y="6537960"/>
            <a:ext cx="914400" cy="320040"/>
          </a:xfrm>
          <a:prstGeom prst="rect">
            <a:avLst/>
          </a:prstGeom>
          <a:noFill/>
        </p:spPr>
        <p:txBody>
          <a:bodyPr wrap="square" lIns="73152" rIns="73152" tIns="36576" bIns="36576" anchor="ctr">
            <a:spAutoFit/>
          </a:bodyPr>
          <a:lstStyle/>
          <a:p>
            <a:pPr algn="r">
              <a:spcAft>
                <a:spcPts val="400"/>
              </a:spcAft>
            </a:pPr>
            <a:r>
              <a:rPr sz="1000" b="0">
                <a:solidFill>
                  <a:srgbClr val="5F6B7A"/>
                </a:solidFill>
                <a:latin typeface="Calibri"/>
              </a:rPr>
              <a:t>7 / 14</a:t>
            </a:r>
          </a:p>
        </p:txBody>
      </p:sp>
      <p:graphicFrame>
        <p:nvGraphicFramePr>
          <p:cNvPr id="9" name="Table 8"/>
          <p:cNvGraphicFramePr>
            <a:graphicFrameLocks noGrp="1"/>
          </p:cNvGraphicFramePr>
          <p:nvPr/>
        </p:nvGraphicFramePr>
        <p:xfrm>
          <a:off x="365760" y="1097280"/>
          <a:ext cx="7589520" cy="3749039"/>
        </p:xfrm>
        <a:graphic>
          <a:graphicData uri="http://schemas.openxmlformats.org/drawingml/2006/table">
            <a:tbl>
              <a:tblPr firstRow="1" bandRow="1">
                <a:tableStyleId>{5C22544A-7EE6-4342-B048-85BDC9FD1C3A}</a:tableStyleId>
              </a:tblPr>
              <a:tblGrid>
                <a:gridCol w="1188720"/>
                <a:gridCol w="2377440"/>
                <a:gridCol w="2377440"/>
                <a:gridCol w="1645920"/>
              </a:tblGrid>
              <a:tr h="416559">
                <a:tc>
                  <a:txBody>
                    <a:bodyPr wrap="square"/>
                    <a:lstStyle/>
                    <a:p>
                      <a:r>
                        <a:rPr sz="1000" b="1">
                          <a:solidFill>
                            <a:srgbClr val="FFFFFF"/>
                          </a:solidFill>
                          <a:latin typeface="Calibri"/>
                        </a:rPr>
                        <a:t>Chiều đo</a:t>
                      </a:r>
                    </a:p>
                  </a:txBody>
                  <a:tcPr marL="45720" marR="45720" marT="18288" marB="18288">
                    <a:solidFill>
                      <a:srgbClr val="00A39B"/>
                    </a:solidFill>
                  </a:tcPr>
                </a:tc>
                <a:tc>
                  <a:txBody>
                    <a:bodyPr wrap="square"/>
                    <a:lstStyle/>
                    <a:p>
                      <a:r>
                        <a:rPr sz="1000" b="1">
                          <a:solidFill>
                            <a:srgbClr val="FFFFFF"/>
                          </a:solidFill>
                          <a:latin typeface="Calibri"/>
                        </a:rPr>
                        <a:t>Metric</a:t>
                      </a:r>
                    </a:p>
                  </a:txBody>
                  <a:tcPr marL="45720" marR="45720" marT="18288" marB="18288">
                    <a:solidFill>
                      <a:srgbClr val="00A39B"/>
                    </a:solidFill>
                  </a:tcPr>
                </a:tc>
                <a:tc>
                  <a:txBody>
                    <a:bodyPr wrap="square"/>
                    <a:lstStyle/>
                    <a:p>
                      <a:r>
                        <a:rPr sz="1000" b="1">
                          <a:solidFill>
                            <a:srgbClr val="FFFFFF"/>
                          </a:solidFill>
                          <a:latin typeface="Calibri"/>
                        </a:rPr>
                        <a:t>Cách đo</a:t>
                      </a:r>
                    </a:p>
                  </a:txBody>
                  <a:tcPr marL="45720" marR="45720" marT="18288" marB="18288">
                    <a:solidFill>
                      <a:srgbClr val="00A39B"/>
                    </a:solidFill>
                  </a:tcPr>
                </a:tc>
                <a:tc>
                  <a:txBody>
                    <a:bodyPr wrap="square"/>
                    <a:lstStyle/>
                    <a:p>
                      <a:r>
                        <a:rPr sz="1000" b="1">
                          <a:solidFill>
                            <a:srgbClr val="FFFFFF"/>
                          </a:solidFill>
                          <a:latin typeface="Calibri"/>
                        </a:rPr>
                        <a:t>Ngưỡng release</a:t>
                      </a:r>
                    </a:p>
                  </a:txBody>
                  <a:tcPr marL="45720" marR="45720" marT="18288" marB="18288">
                    <a:solidFill>
                      <a:srgbClr val="00A39B"/>
                    </a:solidFill>
                  </a:tcPr>
                </a:tc>
              </a:tr>
              <a:tr h="416559">
                <a:tc>
                  <a:txBody>
                    <a:bodyPr wrap="square"/>
                    <a:lstStyle/>
                    <a:p>
                      <a:r>
                        <a:rPr sz="1000">
                          <a:solidFill>
                            <a:srgbClr val="1E252F"/>
                          </a:solidFill>
                          <a:latin typeface="Calibri"/>
                        </a:rPr>
                        <a:t>Correctness</a:t>
                      </a:r>
                    </a:p>
                  </a:txBody>
                  <a:tcPr marL="45720" marR="45720" marT="18288" marB="18288">
                    <a:solidFill>
                      <a:srgbClr val="FFFFFF"/>
                    </a:solidFill>
                  </a:tcPr>
                </a:tc>
                <a:tc>
                  <a:txBody>
                    <a:bodyPr wrap="square"/>
                    <a:lstStyle/>
                    <a:p>
                      <a:r>
                        <a:rPr sz="1000">
                          <a:solidFill>
                            <a:srgbClr val="1E252F"/>
                          </a:solidFill>
                          <a:latin typeface="Calibri"/>
                        </a:rPr>
                        <a:t>Đúng đáp án / đúng từng bước</a:t>
                      </a:r>
                    </a:p>
                  </a:txBody>
                  <a:tcPr marL="45720" marR="45720" marT="18288" marB="18288">
                    <a:solidFill>
                      <a:srgbClr val="FFFFFF"/>
                    </a:solidFill>
                  </a:tcPr>
                </a:tc>
                <a:tc>
                  <a:txBody>
                    <a:bodyPr wrap="square"/>
                    <a:lstStyle/>
                    <a:p>
                      <a:r>
                        <a:rPr sz="1000">
                          <a:solidFill>
                            <a:srgbClr val="1E252F"/>
                          </a:solidFill>
                          <a:latin typeface="Calibri"/>
                        </a:rPr>
                        <a:t>CAS + golden set</a:t>
                      </a:r>
                    </a:p>
                  </a:txBody>
                  <a:tcPr marL="45720" marR="45720" marT="18288" marB="18288">
                    <a:solidFill>
                      <a:srgbClr val="FFFFFF"/>
                    </a:solidFill>
                  </a:tcPr>
                </a:tc>
                <a:tc>
                  <a:txBody>
                    <a:bodyPr wrap="square"/>
                    <a:lstStyle/>
                    <a:p>
                      <a:r>
                        <a:rPr sz="1000">
                          <a:solidFill>
                            <a:srgbClr val="1E252F"/>
                          </a:solidFill>
                          <a:latin typeface="Calibri"/>
                        </a:rPr>
                        <a:t>≥ 98% grader accuracy</a:t>
                      </a:r>
                    </a:p>
                  </a:txBody>
                  <a:tcPr marL="45720" marR="45720" marT="18288" marB="18288">
                    <a:solidFill>
                      <a:srgbClr val="FFFFFF"/>
                    </a:solidFill>
                  </a:tcPr>
                </a:tc>
              </a:tr>
              <a:tr h="416559">
                <a:tc>
                  <a:txBody>
                    <a:bodyPr wrap="square"/>
                    <a:lstStyle/>
                    <a:p>
                      <a:r>
                        <a:rPr sz="1000">
                          <a:solidFill>
                            <a:srgbClr val="1E252F"/>
                          </a:solidFill>
                          <a:latin typeface="Calibri"/>
                        </a:rPr>
                        <a:t>Grounding</a:t>
                      </a:r>
                    </a:p>
                  </a:txBody>
                  <a:tcPr marL="45720" marR="45720" marT="18288" marB="18288">
                    <a:solidFill>
                      <a:srgbClr val="F4F6F9"/>
                    </a:solidFill>
                  </a:tcPr>
                </a:tc>
                <a:tc>
                  <a:txBody>
                    <a:bodyPr wrap="square"/>
                    <a:lstStyle/>
                    <a:p>
                      <a:r>
                        <a:rPr sz="1000">
                          <a:solidFill>
                            <a:srgbClr val="1E252F"/>
                          </a:solidFill>
                          <a:latin typeface="Calibri"/>
                        </a:rPr>
                        <a:t>Hint có nguồn hợp lệ trong ladder</a:t>
                      </a:r>
                    </a:p>
                  </a:txBody>
                  <a:tcPr marL="45720" marR="45720" marT="18288" marB="18288">
                    <a:solidFill>
                      <a:srgbClr val="F4F6F9"/>
                    </a:solidFill>
                  </a:tcPr>
                </a:tc>
                <a:tc>
                  <a:txBody>
                    <a:bodyPr wrap="square"/>
                    <a:lstStyle/>
                    <a:p>
                      <a:r>
                        <a:rPr sz="1000">
                          <a:solidFill>
                            <a:srgbClr val="1E252F"/>
                          </a:solidFill>
                          <a:latin typeface="Calibri"/>
                        </a:rPr>
                        <a:t>Citation check</a:t>
                      </a:r>
                    </a:p>
                  </a:txBody>
                  <a:tcPr marL="45720" marR="45720" marT="18288" marB="18288">
                    <a:solidFill>
                      <a:srgbClr val="F4F6F9"/>
                    </a:solidFill>
                  </a:tcPr>
                </a:tc>
                <a:tc>
                  <a:txBody>
                    <a:bodyPr wrap="square"/>
                    <a:lstStyle/>
                    <a:p>
                      <a:r>
                        <a:rPr sz="1000">
                          <a:solidFill>
                            <a:srgbClr val="1E252F"/>
                          </a:solidFill>
                          <a:latin typeface="Calibri"/>
                        </a:rPr>
                        <a:t>≥ 97%</a:t>
                      </a:r>
                    </a:p>
                  </a:txBody>
                  <a:tcPr marL="45720" marR="45720" marT="18288" marB="18288">
                    <a:solidFill>
                      <a:srgbClr val="F4F6F9"/>
                    </a:solidFill>
                  </a:tcPr>
                </a:tc>
              </a:tr>
              <a:tr h="416559">
                <a:tc>
                  <a:txBody>
                    <a:bodyPr wrap="square"/>
                    <a:lstStyle/>
                    <a:p>
                      <a:r>
                        <a:rPr sz="1000">
                          <a:solidFill>
                            <a:srgbClr val="1E252F"/>
                          </a:solidFill>
                          <a:latin typeface="Calibri"/>
                        </a:rPr>
                        <a:t>Pedagogy</a:t>
                      </a:r>
                    </a:p>
                  </a:txBody>
                  <a:tcPr marL="45720" marR="45720" marT="18288" marB="18288">
                    <a:solidFill>
                      <a:srgbClr val="FFFFFF"/>
                    </a:solidFill>
                  </a:tcPr>
                </a:tc>
                <a:tc>
                  <a:txBody>
                    <a:bodyPr wrap="square"/>
                    <a:lstStyle/>
                    <a:p>
                      <a:r>
                        <a:rPr sz="1000">
                          <a:solidFill>
                            <a:srgbClr val="1E252F"/>
                          </a:solidFill>
                          <a:latin typeface="Calibri"/>
                        </a:rPr>
                        <a:t>State adherence · hint usefulness (Pedagogy Score)</a:t>
                      </a:r>
                    </a:p>
                  </a:txBody>
                  <a:tcPr marL="45720" marR="45720" marT="18288" marB="18288">
                    <a:solidFill>
                      <a:srgbClr val="FFFFFF"/>
                    </a:solidFill>
                  </a:tcPr>
                </a:tc>
                <a:tc>
                  <a:txBody>
                    <a:bodyPr wrap="square"/>
                    <a:lstStyle/>
                    <a:p>
                      <a:r>
                        <a:rPr sz="1000">
                          <a:solidFill>
                            <a:srgbClr val="1E252F"/>
                          </a:solidFill>
                          <a:latin typeface="Calibri"/>
                        </a:rPr>
                        <a:t>LLM-judge calibrated với giáo viên (κ ≥ 0.7)</a:t>
                      </a:r>
                    </a:p>
                  </a:txBody>
                  <a:tcPr marL="45720" marR="45720" marT="18288" marB="18288">
                    <a:solidFill>
                      <a:srgbClr val="FFFFFF"/>
                    </a:solidFill>
                  </a:tcPr>
                </a:tc>
                <a:tc>
                  <a:txBody>
                    <a:bodyPr wrap="square"/>
                    <a:lstStyle/>
                    <a:p>
                      <a:r>
                        <a:rPr sz="1000">
                          <a:solidFill>
                            <a:srgbClr val="1E252F"/>
                          </a:solidFill>
                          <a:latin typeface="Calibri"/>
                        </a:rPr>
                        <a:t>≥ 4.0/5</a:t>
                      </a:r>
                    </a:p>
                  </a:txBody>
                  <a:tcPr marL="45720" marR="45720" marT="18288" marB="18288">
                    <a:solidFill>
                      <a:srgbClr val="FFFFFF"/>
                    </a:solidFill>
                  </a:tcPr>
                </a:tc>
              </a:tr>
              <a:tr h="416559">
                <a:tc>
                  <a:txBody>
                    <a:bodyPr wrap="square"/>
                    <a:lstStyle/>
                    <a:p>
                      <a:r>
                        <a:rPr sz="1000">
                          <a:solidFill>
                            <a:srgbClr val="1E252F"/>
                          </a:solidFill>
                          <a:latin typeface="Calibri"/>
                        </a:rPr>
                        <a:t>Leakage</a:t>
                      </a:r>
                    </a:p>
                  </a:txBody>
                  <a:tcPr marL="45720" marR="45720" marT="18288" marB="18288">
                    <a:solidFill>
                      <a:srgbClr val="F4F6F9"/>
                    </a:solidFill>
                  </a:tcPr>
                </a:tc>
                <a:tc>
                  <a:txBody>
                    <a:bodyPr wrap="square"/>
                    <a:lstStyle/>
                    <a:p>
                      <a:r>
                        <a:rPr sz="1000">
                          <a:solidFill>
                            <a:srgbClr val="1E252F"/>
                          </a:solidFill>
                          <a:latin typeface="Calibri"/>
                        </a:rPr>
                        <a:t>Answer Leak Rate (ALR)</a:t>
                      </a:r>
                    </a:p>
                  </a:txBody>
                  <a:tcPr marL="45720" marR="45720" marT="18288" marB="18288">
                    <a:solidFill>
                      <a:srgbClr val="F4F6F9"/>
                    </a:solidFill>
                  </a:tcPr>
                </a:tc>
                <a:tc>
                  <a:txBody>
                    <a:bodyPr wrap="square"/>
                    <a:lstStyle/>
                    <a:p>
                      <a:r>
                        <a:rPr sz="1000">
                          <a:solidFill>
                            <a:srgbClr val="1E252F"/>
                          </a:solidFill>
                          <a:latin typeface="Calibri"/>
                        </a:rPr>
                        <a:t>CAS vs Vault + clf, adversarial set</a:t>
                      </a:r>
                    </a:p>
                  </a:txBody>
                  <a:tcPr marL="45720" marR="45720" marT="18288" marB="18288">
                    <a:solidFill>
                      <a:srgbClr val="F4F6F9"/>
                    </a:solidFill>
                  </a:tcPr>
                </a:tc>
                <a:tc>
                  <a:txBody>
                    <a:bodyPr wrap="square"/>
                    <a:lstStyle/>
                    <a:p>
                      <a:r>
                        <a:rPr sz="1000">
                          <a:solidFill>
                            <a:srgbClr val="1E252F"/>
                          </a:solidFill>
                          <a:latin typeface="Calibri"/>
                        </a:rPr>
                        <a:t>≤ 1.0% golden · ≤ 0.5% prod</a:t>
                      </a:r>
                    </a:p>
                  </a:txBody>
                  <a:tcPr marL="45720" marR="45720" marT="18288" marB="18288">
                    <a:solidFill>
                      <a:srgbClr val="F4F6F9"/>
                    </a:solidFill>
                  </a:tcPr>
                </a:tc>
              </a:tr>
              <a:tr h="416559">
                <a:tc>
                  <a:txBody>
                    <a:bodyPr wrap="square"/>
                    <a:lstStyle/>
                    <a:p>
                      <a:r>
                        <a:rPr sz="1000">
                          <a:solidFill>
                            <a:srgbClr val="1E252F"/>
                          </a:solidFill>
                          <a:latin typeface="Calibri"/>
                        </a:rPr>
                        <a:t>Safety</a:t>
                      </a:r>
                    </a:p>
                  </a:txBody>
                  <a:tcPr marL="45720" marR="45720" marT="18288" marB="18288">
                    <a:solidFill>
                      <a:srgbClr val="FFFFFF"/>
                    </a:solidFill>
                  </a:tcPr>
                </a:tc>
                <a:tc>
                  <a:txBody>
                    <a:bodyPr wrap="square"/>
                    <a:lstStyle/>
                    <a:p>
                      <a:r>
                        <a:rPr sz="1000">
                          <a:solidFill>
                            <a:srgbClr val="1E252F"/>
                          </a:solidFill>
                          <a:latin typeface="Calibri"/>
                        </a:rPr>
                        <a:t>Critical escape · false refusal</a:t>
                      </a:r>
                    </a:p>
                  </a:txBody>
                  <a:tcPr marL="45720" marR="45720" marT="18288" marB="18288">
                    <a:solidFill>
                      <a:srgbClr val="FFFFFF"/>
                    </a:solidFill>
                  </a:tcPr>
                </a:tc>
                <a:tc>
                  <a:txBody>
                    <a:bodyPr wrap="square"/>
                    <a:lstStyle/>
                    <a:p>
                      <a:r>
                        <a:rPr sz="1000">
                          <a:solidFill>
                            <a:srgbClr val="1E252F"/>
                          </a:solidFill>
                          <a:latin typeface="Calibri"/>
                        </a:rPr>
                        <a:t>Red-team suite 300+ case</a:t>
                      </a:r>
                    </a:p>
                  </a:txBody>
                  <a:tcPr marL="45720" marR="45720" marT="18288" marB="18288">
                    <a:solidFill>
                      <a:srgbClr val="FFFFFF"/>
                    </a:solidFill>
                  </a:tcPr>
                </a:tc>
                <a:tc>
                  <a:txBody>
                    <a:bodyPr wrap="square"/>
                    <a:lstStyle/>
                    <a:p>
                      <a:r>
                        <a:rPr sz="1000">
                          <a:solidFill>
                            <a:srgbClr val="1E252F"/>
                          </a:solidFill>
                          <a:latin typeface="Calibri"/>
                        </a:rPr>
                        <a:t>0 escape · FR &lt; 3%</a:t>
                      </a:r>
                    </a:p>
                  </a:txBody>
                  <a:tcPr marL="45720" marR="45720" marT="18288" marB="18288">
                    <a:solidFill>
                      <a:srgbClr val="FFFFFF"/>
                    </a:solidFill>
                  </a:tcPr>
                </a:tc>
              </a:tr>
              <a:tr h="416559">
                <a:tc>
                  <a:txBody>
                    <a:bodyPr wrap="square"/>
                    <a:lstStyle/>
                    <a:p>
                      <a:r>
                        <a:rPr sz="1000">
                          <a:solidFill>
                            <a:srgbClr val="1E252F"/>
                          </a:solidFill>
                          <a:latin typeface="Calibri"/>
                        </a:rPr>
                        <a:t>Adaptation</a:t>
                      </a:r>
                    </a:p>
                  </a:txBody>
                  <a:tcPr marL="45720" marR="45720" marT="18288" marB="18288">
                    <a:solidFill>
                      <a:srgbClr val="F4F6F9"/>
                    </a:solidFill>
                  </a:tcPr>
                </a:tc>
                <a:tc>
                  <a:txBody>
                    <a:bodyPr wrap="square"/>
                    <a:lstStyle/>
                    <a:p>
                      <a:r>
                        <a:rPr sz="1000">
                          <a:solidFill>
                            <a:srgbClr val="1E252F"/>
                          </a:solidFill>
                          <a:latin typeface="Calibri"/>
                        </a:rPr>
                        <a:t>Mastery update đúng hướng</a:t>
                      </a:r>
                    </a:p>
                  </a:txBody>
                  <a:tcPr marL="45720" marR="45720" marT="18288" marB="18288">
                    <a:solidFill>
                      <a:srgbClr val="F4F6F9"/>
                    </a:solidFill>
                  </a:tcPr>
                </a:tc>
                <a:tc>
                  <a:txBody>
                    <a:bodyPr wrap="square"/>
                    <a:lstStyle/>
                    <a:p>
                      <a:r>
                        <a:rPr sz="1000">
                          <a:solidFill>
                            <a:srgbClr val="1E252F"/>
                          </a:solidFill>
                          <a:latin typeface="Calibri"/>
                        </a:rPr>
                        <a:t>Offline replay BKT</a:t>
                      </a:r>
                    </a:p>
                  </a:txBody>
                  <a:tcPr marL="45720" marR="45720" marT="18288" marB="18288">
                    <a:solidFill>
                      <a:srgbClr val="F4F6F9"/>
                    </a:solidFill>
                  </a:tcPr>
                </a:tc>
                <a:tc>
                  <a:txBody>
                    <a:bodyPr wrap="square"/>
                    <a:lstStyle/>
                    <a:p>
                      <a:r>
                        <a:rPr sz="1000">
                          <a:solidFill>
                            <a:srgbClr val="1E252F"/>
                          </a:solidFill>
                          <a:latin typeface="Calibri"/>
                        </a:rPr>
                        <a:t>AUC ≥ 0.75</a:t>
                      </a:r>
                    </a:p>
                  </a:txBody>
                  <a:tcPr marL="45720" marR="45720" marT="18288" marB="18288">
                    <a:solidFill>
                      <a:srgbClr val="F4F6F9"/>
                    </a:solidFill>
                  </a:tcPr>
                </a:tc>
              </a:tr>
              <a:tr h="416559">
                <a:tc>
                  <a:txBody>
                    <a:bodyPr wrap="square"/>
                    <a:lstStyle/>
                    <a:p>
                      <a:r>
                        <a:rPr sz="1000">
                          <a:solidFill>
                            <a:srgbClr val="1E252F"/>
                          </a:solidFill>
                          <a:latin typeface="Calibri"/>
                        </a:rPr>
                        <a:t>Performance</a:t>
                      </a:r>
                    </a:p>
                  </a:txBody>
                  <a:tcPr marL="45720" marR="45720" marT="18288" marB="18288">
                    <a:solidFill>
                      <a:srgbClr val="FFFFFF"/>
                    </a:solidFill>
                  </a:tcPr>
                </a:tc>
                <a:tc>
                  <a:txBody>
                    <a:bodyPr wrap="square"/>
                    <a:lstStyle/>
                    <a:p>
                      <a:r>
                        <a:rPr sz="1000">
                          <a:solidFill>
                            <a:srgbClr val="1E252F"/>
                          </a:solidFill>
                          <a:latin typeface="Calibri"/>
                        </a:rPr>
                        <a:t>Latency full-turn</a:t>
                      </a:r>
                    </a:p>
                  </a:txBody>
                  <a:tcPr marL="45720" marR="45720" marT="18288" marB="18288">
                    <a:solidFill>
                      <a:srgbClr val="FFFFFF"/>
                    </a:solidFill>
                  </a:tcPr>
                </a:tc>
                <a:tc>
                  <a:txBody>
                    <a:bodyPr wrap="square"/>
                    <a:lstStyle/>
                    <a:p>
                      <a:r>
                        <a:rPr sz="1000">
                          <a:solidFill>
                            <a:srgbClr val="1E252F"/>
                          </a:solidFill>
                          <a:latin typeface="Calibri"/>
                        </a:rPr>
                        <a:t>Load test + prod</a:t>
                      </a:r>
                    </a:p>
                  </a:txBody>
                  <a:tcPr marL="45720" marR="45720" marT="18288" marB="18288">
                    <a:solidFill>
                      <a:srgbClr val="FFFFFF"/>
                    </a:solidFill>
                  </a:tcPr>
                </a:tc>
                <a:tc>
                  <a:txBody>
                    <a:bodyPr wrap="square"/>
                    <a:lstStyle/>
                    <a:p>
                      <a:r>
                        <a:rPr sz="1000">
                          <a:solidFill>
                            <a:srgbClr val="1E252F"/>
                          </a:solidFill>
                          <a:latin typeface="Calibri"/>
                        </a:rPr>
                        <a:t>p95 &lt; 3s</a:t>
                      </a:r>
                    </a:p>
                  </a:txBody>
                  <a:tcPr marL="45720" marR="45720" marT="18288" marB="18288">
                    <a:solidFill>
                      <a:srgbClr val="FFFFFF"/>
                    </a:solidFill>
                  </a:tcPr>
                </a:tc>
              </a:tr>
              <a:tr h="416567">
                <a:tc>
                  <a:txBody>
                    <a:bodyPr wrap="square"/>
                    <a:lstStyle/>
                    <a:p>
                      <a:r>
                        <a:rPr sz="1000">
                          <a:solidFill>
                            <a:srgbClr val="1E252F"/>
                          </a:solidFill>
                          <a:latin typeface="Calibri"/>
                        </a:rPr>
                        <a:t>Cost</a:t>
                      </a:r>
                    </a:p>
                  </a:txBody>
                  <a:tcPr marL="45720" marR="45720" marT="18288" marB="18288">
                    <a:solidFill>
                      <a:srgbClr val="F4F6F9"/>
                    </a:solidFill>
                  </a:tcPr>
                </a:tc>
                <a:tc>
                  <a:txBody>
                    <a:bodyPr wrap="square"/>
                    <a:lstStyle/>
                    <a:p>
                      <a:r>
                        <a:rPr sz="1000">
                          <a:solidFill>
                            <a:srgbClr val="1E252F"/>
                          </a:solidFill>
                          <a:latin typeface="Calibri"/>
                        </a:rPr>
                        <a:t>Cost / turn blended</a:t>
                      </a:r>
                    </a:p>
                  </a:txBody>
                  <a:tcPr marL="45720" marR="45720" marT="18288" marB="18288">
                    <a:solidFill>
                      <a:srgbClr val="F4F6F9"/>
                    </a:solidFill>
                  </a:tcPr>
                </a:tc>
                <a:tc>
                  <a:txBody>
                    <a:bodyPr wrap="square"/>
                    <a:lstStyle/>
                    <a:p>
                      <a:r>
                        <a:rPr sz="1000">
                          <a:solidFill>
                            <a:srgbClr val="1E252F"/>
                          </a:solidFill>
                          <a:latin typeface="Calibri"/>
                        </a:rPr>
                        <a:t>Gateway ledger</a:t>
                      </a:r>
                    </a:p>
                  </a:txBody>
                  <a:tcPr marL="45720" marR="45720" marT="18288" marB="18288">
                    <a:solidFill>
                      <a:srgbClr val="F4F6F9"/>
                    </a:solidFill>
                  </a:tcPr>
                </a:tc>
                <a:tc>
                  <a:txBody>
                    <a:bodyPr wrap="square"/>
                    <a:lstStyle/>
                    <a:p>
                      <a:r>
                        <a:rPr sz="1000">
                          <a:solidFill>
                            <a:srgbClr val="1E252F"/>
                          </a:solidFill>
                          <a:latin typeface="Calibri"/>
                        </a:rPr>
                        <a:t>≤ $0.0007</a:t>
                      </a:r>
                    </a:p>
                  </a:txBody>
                  <a:tcPr marL="45720" marR="45720" marT="18288" marB="18288">
                    <a:solidFill>
                      <a:srgbClr val="F4F6F9"/>
                    </a:solidFill>
                  </a:tcPr>
                </a:tc>
              </a:tr>
            </a:tbl>
          </a:graphicData>
        </a:graphic>
      </p:graphicFrame>
      <p:sp>
        <p:nvSpPr>
          <p:cNvPr id="10" name="TextBox 9"/>
          <p:cNvSpPr txBox="1"/>
          <p:nvPr/>
        </p:nvSpPr>
        <p:spPr>
          <a:xfrm>
            <a:off x="8183879" y="1051560"/>
            <a:ext cx="3657600" cy="365760"/>
          </a:xfrm>
          <a:prstGeom prst="rect">
            <a:avLst/>
          </a:prstGeom>
          <a:noFill/>
        </p:spPr>
        <p:txBody>
          <a:bodyPr wrap="square" lIns="73152" rIns="73152" tIns="36576" bIns="36576" anchor="t">
            <a:spAutoFit/>
          </a:bodyPr>
          <a:lstStyle/>
          <a:p>
            <a:pPr algn="l">
              <a:spcAft>
                <a:spcPts val="400"/>
              </a:spcAft>
            </a:pPr>
            <a:r>
              <a:rPr sz="1500" b="1">
                <a:solidFill>
                  <a:srgbClr val="00A39B"/>
                </a:solidFill>
                <a:latin typeface="Calibri"/>
              </a:rPr>
              <a:t>Bộ dữ liệu &amp; quy trình</a:t>
            </a:r>
          </a:p>
        </p:txBody>
      </p:sp>
      <p:sp>
        <p:nvSpPr>
          <p:cNvPr id="11" name="Rounded Rectangle 10"/>
          <p:cNvSpPr/>
          <p:nvPr/>
        </p:nvSpPr>
        <p:spPr>
          <a:xfrm>
            <a:off x="8275320" y="1463040"/>
            <a:ext cx="3566160" cy="548640"/>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Golden set ≥ 1,000</a:t>
            </a:r>
          </a:p>
          <a:p>
            <a:pPr algn="ctr"/>
            <a:r>
              <a:rPr sz="900">
                <a:solidFill>
                  <a:srgbClr val="5F6B7A"/>
                </a:solidFill>
                <a:latin typeface="Calibri"/>
              </a:rPr>
              <a:t>bài × trạng thái hội thoại, giáo viên gán nhãn</a:t>
            </a:r>
          </a:p>
        </p:txBody>
      </p:sp>
      <p:cxnSp>
        <p:nvCxnSpPr>
          <p:cNvPr id="12" name="Connector 11"/>
          <p:cNvCxnSpPr/>
          <p:nvPr/>
        </p:nvCxnSpPr>
        <p:spPr>
          <a:xfrm>
            <a:off x="10058400" y="2011680"/>
            <a:ext cx="0" cy="109728"/>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275320" y="2121408"/>
            <a:ext cx="3566160" cy="548640"/>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Frozen holdout</a:t>
            </a:r>
          </a:p>
          <a:p>
            <a:pPr algn="ctr"/>
            <a:r>
              <a:rPr sz="900">
                <a:solidFill>
                  <a:srgbClr val="5F6B7A"/>
                </a:solidFill>
                <a:latin typeface="Calibri"/>
              </a:rPr>
              <a:t>không dùng để chỉnh prompt/model</a:t>
            </a:r>
          </a:p>
        </p:txBody>
      </p:sp>
      <p:cxnSp>
        <p:nvCxnSpPr>
          <p:cNvPr id="14" name="Connector 13"/>
          <p:cNvCxnSpPr/>
          <p:nvPr/>
        </p:nvCxnSpPr>
        <p:spPr>
          <a:xfrm>
            <a:off x="10058400" y="2670048"/>
            <a:ext cx="0" cy="109728"/>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275320" y="2779776"/>
            <a:ext cx="3566160" cy="548640"/>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Adversarial red-team</a:t>
            </a:r>
          </a:p>
          <a:p>
            <a:pPr algn="ctr"/>
            <a:r>
              <a:rPr sz="900">
                <a:solidFill>
                  <a:srgbClr val="5F6B7A"/>
                </a:solidFill>
                <a:latin typeface="Calibri"/>
              </a:rPr>
              <a:t>jailbreak · gạ đáp án · harmful · injection</a:t>
            </a:r>
          </a:p>
        </p:txBody>
      </p:sp>
      <p:cxnSp>
        <p:nvCxnSpPr>
          <p:cNvPr id="16" name="Connector 15"/>
          <p:cNvCxnSpPr/>
          <p:nvPr/>
        </p:nvCxnSpPr>
        <p:spPr>
          <a:xfrm>
            <a:off x="10058400" y="3328416"/>
            <a:ext cx="0" cy="109728"/>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275320" y="3438144"/>
            <a:ext cx="3566160" cy="548640"/>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Human educator review</a:t>
            </a:r>
          </a:p>
          <a:p>
            <a:pPr algn="ctr"/>
            <a:r>
              <a:rPr sz="900">
                <a:solidFill>
                  <a:srgbClr val="5F6B7A"/>
                </a:solidFill>
                <a:latin typeface="Calibri"/>
              </a:rPr>
              <a:t>200 phiên/tuần, κ với judge</a:t>
            </a:r>
          </a:p>
        </p:txBody>
      </p:sp>
      <p:cxnSp>
        <p:nvCxnSpPr>
          <p:cNvPr id="18" name="Connector 17"/>
          <p:cNvCxnSpPr/>
          <p:nvPr/>
        </p:nvCxnSpPr>
        <p:spPr>
          <a:xfrm>
            <a:off x="10058400" y="3986784"/>
            <a:ext cx="0" cy="109728"/>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275320" y="4096512"/>
            <a:ext cx="3566160" cy="548640"/>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Production sampling</a:t>
            </a:r>
          </a:p>
          <a:p>
            <a:pPr algn="ctr"/>
            <a:r>
              <a:rPr sz="900">
                <a:solidFill>
                  <a:srgbClr val="5F6B7A"/>
                </a:solidFill>
                <a:latin typeface="Calibri"/>
              </a:rPr>
              <a:t>5% lượt → judge async; drift alert</a:t>
            </a:r>
          </a:p>
        </p:txBody>
      </p:sp>
      <p:sp>
        <p:nvSpPr>
          <p:cNvPr id="20" name="Rounded Rectangle 19"/>
          <p:cNvSpPr/>
          <p:nvPr/>
        </p:nvSpPr>
        <p:spPr>
          <a:xfrm>
            <a:off x="365760" y="5029200"/>
            <a:ext cx="7589520" cy="685800"/>
          </a:xfrm>
          <a:prstGeom prst="round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300" b="1">
                <a:solidFill>
                  <a:srgbClr val="FFFFFF"/>
                </a:solidFill>
                <a:latin typeface="Calibri"/>
              </a:rPr>
              <a:t>RELEASE GATE: quality + safety + latency + cost — PHẢI ĐẠT CẢ 4 mới được promote (shadow → 5% → 25% → 50% → 100%)</a:t>
            </a:r>
          </a:p>
        </p:txBody>
      </p:sp>
      <p:sp>
        <p:nvSpPr>
          <p:cNvPr id="21" name="TextBox 20"/>
          <p:cNvSpPr txBox="1"/>
          <p:nvPr/>
        </p:nvSpPr>
        <p:spPr>
          <a:xfrm>
            <a:off x="365760" y="5806440"/>
            <a:ext cx="11430000" cy="640080"/>
          </a:xfrm>
          <a:prstGeom prst="rect">
            <a:avLst/>
          </a:prstGeom>
          <a:noFill/>
        </p:spPr>
        <p:txBody>
          <a:bodyPr wrap="square" lIns="73152" rIns="73152" tIns="36576" bIns="36576" anchor="t">
            <a:spAutoFit/>
          </a:bodyPr>
          <a:lstStyle/>
          <a:p>
            <a:pPr algn="l">
              <a:spcAft>
                <a:spcPts val="400"/>
              </a:spcAft>
            </a:pPr>
            <a:r>
              <a:rPr sz="1100" b="0">
                <a:solidFill>
                  <a:srgbClr val="1E252F"/>
                </a:solidFill>
                <a:latin typeface="Calibri"/>
              </a:rPr>
              <a:t>•  Outcome thật (không proxy): bỏ dở 35% → ≤ 22% · đúng cùng skill ngày hôm sau 48% → ≥ 60% · Free→Paid 5% → ≥ 7% — đo A/B trong prod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01200" cy="731520"/>
          </a:xfrm>
          <a:prstGeom prst="rect">
            <a:avLst/>
          </a:prstGeom>
          <a:noFill/>
        </p:spPr>
        <p:txBody>
          <a:bodyPr wrap="square" lIns="73152" rIns="73152" tIns="36576" bIns="36576" anchor="ctr">
            <a:spAutoFit/>
          </a:bodyPr>
          <a:lstStyle/>
          <a:p>
            <a:pPr algn="l">
              <a:spcAft>
                <a:spcPts val="400"/>
              </a:spcAft>
            </a:pPr>
            <a:r>
              <a:rPr sz="2600" b="1">
                <a:solidFill>
                  <a:srgbClr val="FFFFFF"/>
                </a:solidFill>
                <a:latin typeface="Calibri"/>
              </a:rPr>
              <a:t>Performance &amp; Scale: p95 &lt; 3s và chịu 5–8× peak</a:t>
            </a:r>
          </a:p>
        </p:txBody>
      </p:sp>
      <p:sp>
        <p:nvSpPr>
          <p:cNvPr id="4" name="TextBox 3"/>
          <p:cNvSpPr txBox="1"/>
          <p:nvPr/>
        </p:nvSpPr>
        <p:spPr>
          <a:xfrm>
            <a:off x="9692640" y="109728"/>
            <a:ext cx="2286000" cy="365760"/>
          </a:xfrm>
          <a:prstGeom prst="rect">
            <a:avLst/>
          </a:prstGeom>
          <a:noFill/>
        </p:spPr>
        <p:txBody>
          <a:bodyPr wrap="square" lIns="73152" rIns="73152" tIns="36576" bIns="36576" anchor="t">
            <a:spAutoFit/>
          </a:bodyPr>
          <a:lstStyle/>
          <a:p>
            <a:pPr algn="r">
              <a:spcAft>
                <a:spcPts val="400"/>
              </a:spcAft>
            </a:pPr>
            <a:r>
              <a:rPr sz="1200" b="1">
                <a:solidFill>
                  <a:srgbClr val="00A39B"/>
                </a:solidFill>
                <a:latin typeface="Calibri"/>
              </a:rPr>
              <a:t>PIC: Bình (M5)</a:t>
            </a:r>
          </a:p>
        </p:txBody>
      </p:sp>
      <p:sp>
        <p:nvSpPr>
          <p:cNvPr id="5" name="TextBox 4"/>
          <p:cNvSpPr txBox="1"/>
          <p:nvPr/>
        </p:nvSpPr>
        <p:spPr>
          <a:xfrm>
            <a:off x="9692640" y="457200"/>
            <a:ext cx="2286000" cy="365760"/>
          </a:xfrm>
          <a:prstGeom prst="rect">
            <a:avLst/>
          </a:prstGeom>
          <a:noFill/>
        </p:spPr>
        <p:txBody>
          <a:bodyPr wrap="square" lIns="73152" rIns="73152" tIns="36576" bIns="36576" anchor="t">
            <a:spAutoFit/>
          </a:bodyPr>
          <a:lstStyle/>
          <a:p>
            <a:pPr algn="r">
              <a:spcAft>
                <a:spcPts val="400"/>
              </a:spcAft>
            </a:pPr>
            <a:r>
              <a:rPr sz="1100" b="0">
                <a:solidFill>
                  <a:srgbClr val="F28C28"/>
                </a:solidFill>
                <a:latin typeface="Calibri"/>
              </a:rPr>
              <a:t>Rubric 4.2 · 4.3</a:t>
            </a:r>
          </a:p>
        </p:txBody>
      </p:sp>
      <p:sp>
        <p:nvSpPr>
          <p:cNvPr id="6" name="Rectangle 5"/>
          <p:cNvSpPr/>
          <p:nvPr/>
        </p:nvSpPr>
        <p:spPr>
          <a:xfrm>
            <a:off x="0" y="6537960"/>
            <a:ext cx="12191695" cy="3200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37960"/>
            <a:ext cx="8229600" cy="320040"/>
          </a:xfrm>
          <a:prstGeom prst="rect">
            <a:avLst/>
          </a:prstGeom>
          <a:noFill/>
        </p:spPr>
        <p:txBody>
          <a:bodyPr wrap="square" lIns="73152" rIns="73152" tIns="36576" bIns="36576" anchor="ctr">
            <a:spAutoFit/>
          </a:bodyPr>
          <a:lstStyle/>
          <a:p>
            <a:pPr algn="l">
              <a:spcAft>
                <a:spcPts val="400"/>
              </a:spcAft>
            </a:pPr>
            <a:r>
              <a:rPr sz="1000" b="0">
                <a:solidFill>
                  <a:srgbClr val="5F6B7A"/>
                </a:solidFill>
                <a:latin typeface="Calibri"/>
              </a:rPr>
              <a:t>TutorMate · EduNova · Workshop 2 – Scenario B · ATAD v1.0</a:t>
            </a:r>
          </a:p>
        </p:txBody>
      </p:sp>
      <p:sp>
        <p:nvSpPr>
          <p:cNvPr id="8" name="TextBox 7"/>
          <p:cNvSpPr txBox="1"/>
          <p:nvPr/>
        </p:nvSpPr>
        <p:spPr>
          <a:xfrm>
            <a:off x="10972800" y="6537960"/>
            <a:ext cx="914400" cy="320040"/>
          </a:xfrm>
          <a:prstGeom prst="rect">
            <a:avLst/>
          </a:prstGeom>
          <a:noFill/>
        </p:spPr>
        <p:txBody>
          <a:bodyPr wrap="square" lIns="73152" rIns="73152" tIns="36576" bIns="36576" anchor="ctr">
            <a:spAutoFit/>
          </a:bodyPr>
          <a:lstStyle/>
          <a:p>
            <a:pPr algn="r">
              <a:spcAft>
                <a:spcPts val="400"/>
              </a:spcAft>
            </a:pPr>
            <a:r>
              <a:rPr sz="1000" b="0">
                <a:solidFill>
                  <a:srgbClr val="5F6B7A"/>
                </a:solidFill>
                <a:latin typeface="Calibri"/>
              </a:rPr>
              <a:t>8 / 14</a:t>
            </a:r>
          </a:p>
        </p:txBody>
      </p:sp>
      <p:sp>
        <p:nvSpPr>
          <p:cNvPr id="9" name="TextBox 8"/>
          <p:cNvSpPr txBox="1"/>
          <p:nvPr/>
        </p:nvSpPr>
        <p:spPr>
          <a:xfrm>
            <a:off x="365760" y="1051560"/>
            <a:ext cx="3566160" cy="365760"/>
          </a:xfrm>
          <a:prstGeom prst="rect">
            <a:avLst/>
          </a:prstGeom>
          <a:noFill/>
        </p:spPr>
        <p:txBody>
          <a:bodyPr wrap="square" lIns="73152" rIns="73152" tIns="36576" bIns="36576" anchor="t">
            <a:spAutoFit/>
          </a:bodyPr>
          <a:lstStyle/>
          <a:p>
            <a:pPr algn="l">
              <a:spcAft>
                <a:spcPts val="400"/>
              </a:spcAft>
            </a:pPr>
            <a:r>
              <a:rPr sz="1500" b="1">
                <a:solidFill>
                  <a:srgbClr val="00A39B"/>
                </a:solidFill>
                <a:latin typeface="Calibri"/>
              </a:rPr>
              <a:t>Tải (turns/s)</a:t>
            </a:r>
          </a:p>
        </p:txBody>
      </p:sp>
      <p:graphicFrame>
        <p:nvGraphicFramePr>
          <p:cNvPr id="10" name="Table 9"/>
          <p:cNvGraphicFramePr>
            <a:graphicFrameLocks noGrp="1"/>
          </p:cNvGraphicFramePr>
          <p:nvPr/>
        </p:nvGraphicFramePr>
        <p:xfrm>
          <a:off x="365760" y="1463040"/>
          <a:ext cx="3566160" cy="2377440"/>
        </p:xfrm>
        <a:graphic>
          <a:graphicData uri="http://schemas.openxmlformats.org/drawingml/2006/table">
            <a:tbl>
              <a:tblPr firstRow="1" bandRow="1">
                <a:tableStyleId>{5C22544A-7EE6-4342-B048-85BDC9FD1C3A}</a:tableStyleId>
              </a:tblPr>
              <a:tblGrid>
                <a:gridCol w="2377440"/>
                <a:gridCol w="1188720"/>
              </a:tblGrid>
              <a:tr h="396240">
                <a:tc>
                  <a:txBody>
                    <a:bodyPr wrap="square"/>
                    <a:lstStyle/>
                    <a:p>
                      <a:r>
                        <a:rPr sz="1100" b="1">
                          <a:solidFill>
                            <a:srgbClr val="FFFFFF"/>
                          </a:solidFill>
                          <a:latin typeface="Calibri"/>
                        </a:rPr>
                        <a:t>Mức</a:t>
                      </a:r>
                    </a:p>
                  </a:txBody>
                  <a:tcPr marL="45720" marR="45720" marT="18288" marB="18288">
                    <a:solidFill>
                      <a:srgbClr val="00A39B"/>
                    </a:solidFill>
                  </a:tcPr>
                </a:tc>
                <a:tc>
                  <a:txBody>
                    <a:bodyPr wrap="square"/>
                    <a:lstStyle/>
                    <a:p>
                      <a:r>
                        <a:rPr sz="1100" b="1">
                          <a:solidFill>
                            <a:srgbClr val="FFFFFF"/>
                          </a:solidFill>
                          <a:latin typeface="Calibri"/>
                        </a:rPr>
                        <a:t>Turns/s</a:t>
                      </a:r>
                    </a:p>
                  </a:txBody>
                  <a:tcPr marL="45720" marR="45720" marT="18288" marB="18288">
                    <a:solidFill>
                      <a:srgbClr val="00A39B"/>
                    </a:solidFill>
                  </a:tcPr>
                </a:tc>
              </a:tr>
              <a:tr h="396240">
                <a:tc>
                  <a:txBody>
                    <a:bodyPr wrap="square"/>
                    <a:lstStyle/>
                    <a:p>
                      <a:r>
                        <a:t>Trung bình (960k/ngày)</a:t>
                      </a:r>
                    </a:p>
                  </a:txBody>
                  <a:tcPr marL="45720" marR="45720" marT="18288" marB="18288">
                    <a:solidFill>
                      <a:srgbClr val="FFFFFF"/>
                    </a:solidFill>
                  </a:tcPr>
                </a:tc>
                <a:tc>
                  <a:txBody>
                    <a:bodyPr wrap="square"/>
                    <a:lstStyle/>
                    <a:p>
                      <a:r>
                        <a:t>≈ 11</a:t>
                      </a:r>
                    </a:p>
                  </a:txBody>
                  <a:tcPr marL="45720" marR="45720" marT="18288" marB="18288">
                    <a:solidFill>
                      <a:srgbClr val="FFFFFF"/>
                    </a:solidFill>
                  </a:tcPr>
                </a:tc>
              </a:tr>
              <a:tr h="396240">
                <a:tc>
                  <a:txBody>
                    <a:bodyPr wrap="square"/>
                    <a:lstStyle/>
                    <a:p>
                      <a:r>
                        <a:t>5× peak</a:t>
                      </a:r>
                    </a:p>
                  </a:txBody>
                  <a:tcPr marL="45720" marR="45720" marT="18288" marB="18288">
                    <a:solidFill>
                      <a:srgbClr val="F4F6F9"/>
                    </a:solidFill>
                  </a:tcPr>
                </a:tc>
                <a:tc>
                  <a:txBody>
                    <a:bodyPr wrap="square"/>
                    <a:lstStyle/>
                    <a:p>
                      <a:r>
                        <a:t>≈ 56</a:t>
                      </a:r>
                    </a:p>
                  </a:txBody>
                  <a:tcPr marL="45720" marR="45720" marT="18288" marB="18288">
                    <a:solidFill>
                      <a:srgbClr val="F4F6F9"/>
                    </a:solidFill>
                  </a:tcPr>
                </a:tc>
              </a:tr>
              <a:tr h="396240">
                <a:tc>
                  <a:txBody>
                    <a:bodyPr wrap="square"/>
                    <a:lstStyle/>
                    <a:p>
                      <a:r>
                        <a:t>8× peak (design target)</a:t>
                      </a:r>
                    </a:p>
                  </a:txBody>
                  <a:tcPr marL="45720" marR="45720" marT="18288" marB="18288">
                    <a:solidFill>
                      <a:srgbClr val="FFFFFF"/>
                    </a:solidFill>
                  </a:tcPr>
                </a:tc>
                <a:tc>
                  <a:txBody>
                    <a:bodyPr wrap="square"/>
                    <a:lstStyle/>
                    <a:p>
                      <a:r>
                        <a:t>≈ 89</a:t>
                      </a:r>
                    </a:p>
                  </a:txBody>
                  <a:tcPr marL="45720" marR="45720" marT="18288" marB="18288">
                    <a:solidFill>
                      <a:srgbClr val="FFFFFF"/>
                    </a:solidFill>
                  </a:tcPr>
                </a:tc>
              </a:tr>
              <a:tr h="396240">
                <a:tc>
                  <a:txBody>
                    <a:bodyPr wrap="square"/>
                    <a:lstStyle/>
                    <a:p>
                      <a:r>
                        <a:t>10× load test</a:t>
                      </a:r>
                    </a:p>
                  </a:txBody>
                  <a:tcPr marL="45720" marR="45720" marT="18288" marB="18288">
                    <a:solidFill>
                      <a:srgbClr val="F4F6F9"/>
                    </a:solidFill>
                  </a:tcPr>
                </a:tc>
                <a:tc>
                  <a:txBody>
                    <a:bodyPr wrap="square"/>
                    <a:lstStyle/>
                    <a:p>
                      <a:r>
                        <a:t>≈ 111</a:t>
                      </a:r>
                    </a:p>
                  </a:txBody>
                  <a:tcPr marL="45720" marR="45720" marT="18288" marB="18288">
                    <a:solidFill>
                      <a:srgbClr val="F4F6F9"/>
                    </a:solidFill>
                  </a:tcPr>
                </a:tc>
              </a:tr>
            </a:tbl>
          </a:graphicData>
        </a:graphic>
      </p:graphicFrame>
      <p:sp>
        <p:nvSpPr>
          <p:cNvPr id="11" name="TextBox 10"/>
          <p:cNvSpPr txBox="1"/>
          <p:nvPr/>
        </p:nvSpPr>
        <p:spPr>
          <a:xfrm>
            <a:off x="365760" y="3886200"/>
            <a:ext cx="3566160" cy="822960"/>
          </a:xfrm>
          <a:prstGeom prst="rect">
            <a:avLst/>
          </a:prstGeom>
          <a:noFill/>
        </p:spPr>
        <p:txBody>
          <a:bodyPr wrap="square" lIns="73152" rIns="73152" tIns="36576" bIns="36576" anchor="t">
            <a:spAutoFit/>
          </a:bodyPr>
          <a:lstStyle/>
          <a:p>
            <a:pPr algn="l">
              <a:spcAft>
                <a:spcPts val="400"/>
              </a:spcAft>
            </a:pPr>
            <a:r>
              <a:rPr sz="900" b="0">
                <a:solidFill>
                  <a:srgbClr val="5F6B7A"/>
                </a:solidFill>
                <a:latin typeface="Calibri"/>
              </a:rPr>
              <a:t>[A] 30% DAU dùng tutor × 8 lượt; đo lại ở beta 2k HS. Peak = 19–22h ngày thi.</a:t>
            </a:r>
          </a:p>
        </p:txBody>
      </p:sp>
      <p:sp>
        <p:nvSpPr>
          <p:cNvPr id="12" name="TextBox 11"/>
          <p:cNvSpPr txBox="1"/>
          <p:nvPr/>
        </p:nvSpPr>
        <p:spPr>
          <a:xfrm>
            <a:off x="4160520" y="1051560"/>
            <a:ext cx="3840480" cy="365760"/>
          </a:xfrm>
          <a:prstGeom prst="rect">
            <a:avLst/>
          </a:prstGeom>
          <a:noFill/>
        </p:spPr>
        <p:txBody>
          <a:bodyPr wrap="square" lIns="73152" rIns="73152" tIns="36576" bIns="36576" anchor="t">
            <a:spAutoFit/>
          </a:bodyPr>
          <a:lstStyle/>
          <a:p>
            <a:pPr algn="l">
              <a:spcAft>
                <a:spcPts val="400"/>
              </a:spcAft>
            </a:pPr>
            <a:r>
              <a:rPr sz="1500" b="1">
                <a:solidFill>
                  <a:srgbClr val="00A39B"/>
                </a:solidFill>
                <a:latin typeface="Calibri"/>
              </a:rPr>
              <a:t>Chiến lược scale</a:t>
            </a:r>
          </a:p>
        </p:txBody>
      </p:sp>
      <p:sp>
        <p:nvSpPr>
          <p:cNvPr id="13" name="Rounded Rectangle 12"/>
          <p:cNvSpPr/>
          <p:nvPr/>
        </p:nvSpPr>
        <p:spPr>
          <a:xfrm>
            <a:off x="4206240" y="1463040"/>
            <a:ext cx="3749039" cy="530352"/>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API / Orchestrator stateless</a:t>
            </a:r>
          </a:p>
          <a:p>
            <a:pPr algn="ctr"/>
            <a:r>
              <a:rPr sz="900">
                <a:solidFill>
                  <a:srgbClr val="5F6B7A"/>
                </a:solidFill>
                <a:latin typeface="Calibri"/>
              </a:rPr>
              <a:t>EKS HPA + KEDA theo Kafka lag → scale ngang</a:t>
            </a:r>
          </a:p>
        </p:txBody>
      </p:sp>
      <p:cxnSp>
        <p:nvCxnSpPr>
          <p:cNvPr id="14" name="Connector 13"/>
          <p:cNvCxnSpPr/>
          <p:nvPr/>
        </p:nvCxnSpPr>
        <p:spPr>
          <a:xfrm>
            <a:off x="6080759" y="1993392"/>
            <a:ext cx="0" cy="91440"/>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06240" y="2084832"/>
            <a:ext cx="3749039" cy="530352"/>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Session / profile</a:t>
            </a:r>
          </a:p>
          <a:p>
            <a:pPr algn="ctr"/>
            <a:r>
              <a:rPr sz="900">
                <a:solidFill>
                  <a:srgbClr val="5F6B7A"/>
                </a:solidFill>
                <a:latin typeface="Calibri"/>
              </a:rPr>
              <a:t>Redis + Aurora Postgres (read replica) — managed state</a:t>
            </a:r>
          </a:p>
        </p:txBody>
      </p:sp>
      <p:cxnSp>
        <p:nvCxnSpPr>
          <p:cNvPr id="16" name="Connector 15"/>
          <p:cNvCxnSpPr/>
          <p:nvPr/>
        </p:nvCxnSpPr>
        <p:spPr>
          <a:xfrm>
            <a:off x="6080759" y="2615184"/>
            <a:ext cx="0" cy="91440"/>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206240" y="2706624"/>
            <a:ext cx="3749039" cy="530352"/>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Retrieval</a:t>
            </a:r>
          </a:p>
          <a:p>
            <a:pPr algn="ctr"/>
            <a:r>
              <a:rPr sz="900">
                <a:solidFill>
                  <a:srgbClr val="5F6B7A"/>
                </a:solidFill>
                <a:latin typeface="Calibri"/>
              </a:rPr>
              <a:t>pgvector HNSW, cache ladder theo bài, scale độc lập</a:t>
            </a:r>
          </a:p>
        </p:txBody>
      </p:sp>
      <p:cxnSp>
        <p:nvCxnSpPr>
          <p:cNvPr id="18" name="Connector 17"/>
          <p:cNvCxnSpPr/>
          <p:nvPr/>
        </p:nvCxnSpPr>
        <p:spPr>
          <a:xfrm>
            <a:off x="6080759" y="3236976"/>
            <a:ext cx="0" cy="91440"/>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206240" y="3328416"/>
            <a:ext cx="3749039" cy="530352"/>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LLM</a:t>
            </a:r>
          </a:p>
          <a:p>
            <a:pPr algn="ctr"/>
            <a:r>
              <a:rPr sz="900">
                <a:solidFill>
                  <a:srgbClr val="5F6B7A"/>
                </a:solidFill>
                <a:latin typeface="Calibri"/>
              </a:rPr>
              <a:t>Gateway tiering T1/T2 · 2 provider fallback · provisioned throughput</a:t>
            </a:r>
          </a:p>
        </p:txBody>
      </p:sp>
      <p:cxnSp>
        <p:nvCxnSpPr>
          <p:cNvPr id="20" name="Connector 19"/>
          <p:cNvCxnSpPr/>
          <p:nvPr/>
        </p:nvCxnSpPr>
        <p:spPr>
          <a:xfrm>
            <a:off x="6080759" y="3858768"/>
            <a:ext cx="0" cy="91440"/>
          </a:xfrm>
          <a:prstGeom prst="line">
            <a:avLst/>
          </a:prstGeom>
          <a:ln w="1905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206240" y="3950208"/>
            <a:ext cx="3749039" cy="530352"/>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Evaluation / analytics</a:t>
            </a:r>
          </a:p>
          <a:p>
            <a:pPr algn="ctr"/>
            <a:r>
              <a:rPr sz="900">
                <a:solidFill>
                  <a:srgbClr val="5F6B7A"/>
                </a:solidFill>
                <a:latin typeface="Calibri"/>
              </a:rPr>
              <a:t>Async qua Kafka — không nằm trên critical path</a:t>
            </a:r>
          </a:p>
        </p:txBody>
      </p:sp>
      <p:sp>
        <p:nvSpPr>
          <p:cNvPr id="22" name="TextBox 21"/>
          <p:cNvSpPr txBox="1"/>
          <p:nvPr/>
        </p:nvSpPr>
        <p:spPr>
          <a:xfrm>
            <a:off x="8229600" y="1051560"/>
            <a:ext cx="3566160" cy="365760"/>
          </a:xfrm>
          <a:prstGeom prst="rect">
            <a:avLst/>
          </a:prstGeom>
          <a:noFill/>
        </p:spPr>
        <p:txBody>
          <a:bodyPr wrap="square" lIns="73152" rIns="73152" tIns="36576" bIns="36576" anchor="t">
            <a:spAutoFit/>
          </a:bodyPr>
          <a:lstStyle/>
          <a:p>
            <a:pPr algn="l">
              <a:spcAft>
                <a:spcPts val="400"/>
              </a:spcAft>
            </a:pPr>
            <a:r>
              <a:rPr sz="1500" b="1">
                <a:solidFill>
                  <a:srgbClr val="00A39B"/>
                </a:solidFill>
                <a:latin typeface="Calibri"/>
              </a:rPr>
              <a:t>Latency budget (p95 &lt; 3s)</a:t>
            </a:r>
          </a:p>
        </p:txBody>
      </p:sp>
      <p:graphicFrame>
        <p:nvGraphicFramePr>
          <p:cNvPr id="23" name="Table 22"/>
          <p:cNvGraphicFramePr>
            <a:graphicFrameLocks noGrp="1"/>
          </p:cNvGraphicFramePr>
          <p:nvPr/>
        </p:nvGraphicFramePr>
        <p:xfrm>
          <a:off x="8229600" y="1463040"/>
          <a:ext cx="3566160" cy="1920240"/>
        </p:xfrm>
        <a:graphic>
          <a:graphicData uri="http://schemas.openxmlformats.org/drawingml/2006/table">
            <a:tbl>
              <a:tblPr firstRow="1" bandRow="1">
                <a:tableStyleId>{5C22544A-7EE6-4342-B048-85BDC9FD1C3A}</a:tableStyleId>
              </a:tblPr>
              <a:tblGrid>
                <a:gridCol w="2560320"/>
                <a:gridCol w="1005840"/>
              </a:tblGrid>
              <a:tr h="384048">
                <a:tc>
                  <a:txBody>
                    <a:bodyPr wrap="square"/>
                    <a:lstStyle/>
                    <a:p>
                      <a:r>
                        <a:rPr sz="1100" b="1">
                          <a:solidFill>
                            <a:srgbClr val="FFFFFF"/>
                          </a:solidFill>
                          <a:latin typeface="Calibri"/>
                        </a:rPr>
                        <a:t>Bước</a:t>
                      </a:r>
                    </a:p>
                  </a:txBody>
                  <a:tcPr marL="45720" marR="45720" marT="18288" marB="18288">
                    <a:solidFill>
                      <a:srgbClr val="00A39B"/>
                    </a:solidFill>
                  </a:tcPr>
                </a:tc>
                <a:tc>
                  <a:txBody>
                    <a:bodyPr wrap="square"/>
                    <a:lstStyle/>
                    <a:p>
                      <a:r>
                        <a:rPr sz="1100" b="1">
                          <a:solidFill>
                            <a:srgbClr val="FFFFFF"/>
                          </a:solidFill>
                          <a:latin typeface="Calibri"/>
                        </a:rPr>
                        <a:t>Budget</a:t>
                      </a:r>
                    </a:p>
                  </a:txBody>
                  <a:tcPr marL="45720" marR="45720" marT="18288" marB="18288">
                    <a:solidFill>
                      <a:srgbClr val="00A39B"/>
                    </a:solidFill>
                  </a:tcPr>
                </a:tc>
              </a:tr>
              <a:tr h="384048">
                <a:tc>
                  <a:txBody>
                    <a:bodyPr wrap="square"/>
                    <a:lstStyle/>
                    <a:p>
                      <a:r>
                        <a:rPr sz="1100">
                          <a:solidFill>
                            <a:srgbClr val="1E252F"/>
                          </a:solidFill>
                          <a:latin typeface="Calibri"/>
                        </a:rPr>
                        <a:t>Policy · profile · retrieval · guard-in</a:t>
                      </a:r>
                    </a:p>
                  </a:txBody>
                  <a:tcPr marL="45720" marR="45720" marT="18288" marB="18288">
                    <a:solidFill>
                      <a:srgbClr val="FFFFFF"/>
                    </a:solidFill>
                  </a:tcPr>
                </a:tc>
                <a:tc>
                  <a:txBody>
                    <a:bodyPr wrap="square"/>
                    <a:lstStyle/>
                    <a:p>
                      <a:r>
                        <a:rPr sz="1100">
                          <a:solidFill>
                            <a:srgbClr val="1E252F"/>
                          </a:solidFill>
                          <a:latin typeface="Calibri"/>
                        </a:rPr>
                        <a:t>&lt; 0.7s</a:t>
                      </a:r>
                    </a:p>
                  </a:txBody>
                  <a:tcPr marL="45720" marR="45720" marT="18288" marB="18288">
                    <a:solidFill>
                      <a:srgbClr val="FFFFFF"/>
                    </a:solidFill>
                  </a:tcPr>
                </a:tc>
              </a:tr>
              <a:tr h="384048">
                <a:tc>
                  <a:txBody>
                    <a:bodyPr wrap="square"/>
                    <a:lstStyle/>
                    <a:p>
                      <a:r>
                        <a:rPr sz="1100">
                          <a:solidFill>
                            <a:srgbClr val="1E252F"/>
                          </a:solidFill>
                          <a:latin typeface="Calibri"/>
                        </a:rPr>
                        <a:t>LLM generation (T1, ~120 tokens)</a:t>
                      </a:r>
                    </a:p>
                  </a:txBody>
                  <a:tcPr marL="45720" marR="45720" marT="18288" marB="18288">
                    <a:solidFill>
                      <a:srgbClr val="F4F6F9"/>
                    </a:solidFill>
                  </a:tcPr>
                </a:tc>
                <a:tc>
                  <a:txBody>
                    <a:bodyPr wrap="square"/>
                    <a:lstStyle/>
                    <a:p>
                      <a:r>
                        <a:rPr sz="1100">
                          <a:solidFill>
                            <a:srgbClr val="1E252F"/>
                          </a:solidFill>
                          <a:latin typeface="Calibri"/>
                        </a:rPr>
                        <a:t>1.5–1.8s</a:t>
                      </a:r>
                    </a:p>
                  </a:txBody>
                  <a:tcPr marL="45720" marR="45720" marT="18288" marB="18288">
                    <a:solidFill>
                      <a:srgbClr val="F4F6F9"/>
                    </a:solidFill>
                  </a:tcPr>
                </a:tc>
              </a:tr>
              <a:tr h="384048">
                <a:tc>
                  <a:txBody>
                    <a:bodyPr wrap="square"/>
                    <a:lstStyle/>
                    <a:p>
                      <a:r>
                        <a:rPr sz="1100">
                          <a:solidFill>
                            <a:srgbClr val="1E252F"/>
                          </a:solidFill>
                          <a:latin typeface="Calibri"/>
                        </a:rPr>
                        <a:t>Validation + network mobile</a:t>
                      </a:r>
                    </a:p>
                  </a:txBody>
                  <a:tcPr marL="45720" marR="45720" marT="18288" marB="18288">
                    <a:solidFill>
                      <a:srgbClr val="FFFFFF"/>
                    </a:solidFill>
                  </a:tcPr>
                </a:tc>
                <a:tc>
                  <a:txBody>
                    <a:bodyPr wrap="square"/>
                    <a:lstStyle/>
                    <a:p>
                      <a:r>
                        <a:rPr sz="1100">
                          <a:solidFill>
                            <a:srgbClr val="1E252F"/>
                          </a:solidFill>
                          <a:latin typeface="Calibri"/>
                        </a:rPr>
                        <a:t>&lt; 0.5s</a:t>
                      </a:r>
                    </a:p>
                  </a:txBody>
                  <a:tcPr marL="45720" marR="45720" marT="18288" marB="18288">
                    <a:solidFill>
                      <a:srgbClr val="FFFFFF"/>
                    </a:solidFill>
                  </a:tcPr>
                </a:tc>
              </a:tr>
              <a:tr h="384048">
                <a:tc>
                  <a:txBody>
                    <a:bodyPr wrap="square"/>
                    <a:lstStyle/>
                    <a:p>
                      <a:r>
                        <a:rPr sz="1100">
                          <a:solidFill>
                            <a:srgbClr val="1E252F"/>
                          </a:solidFill>
                          <a:latin typeface="Calibri"/>
                        </a:rPr>
                        <a:t>Headroom</a:t>
                      </a:r>
                    </a:p>
                  </a:txBody>
                  <a:tcPr marL="45720" marR="45720" marT="18288" marB="18288">
                    <a:solidFill>
                      <a:srgbClr val="F4F6F9"/>
                    </a:solidFill>
                  </a:tcPr>
                </a:tc>
                <a:tc>
                  <a:txBody>
                    <a:bodyPr wrap="square"/>
                    <a:lstStyle/>
                    <a:p>
                      <a:r>
                        <a:rPr sz="1100">
                          <a:solidFill>
                            <a:srgbClr val="1E252F"/>
                          </a:solidFill>
                          <a:latin typeface="Calibri"/>
                        </a:rPr>
                        <a:t>≈ 0.2–0.4s</a:t>
                      </a:r>
                    </a:p>
                  </a:txBody>
                  <a:tcPr marL="45720" marR="45720" marT="18288" marB="18288">
                    <a:solidFill>
                      <a:srgbClr val="F4F6F9"/>
                    </a:solidFill>
                  </a:tcPr>
                </a:tc>
              </a:tr>
            </a:tbl>
          </a:graphicData>
        </a:graphic>
      </p:graphicFrame>
      <p:sp>
        <p:nvSpPr>
          <p:cNvPr id="24" name="TextBox 23"/>
          <p:cNvSpPr txBox="1"/>
          <p:nvPr/>
        </p:nvSpPr>
        <p:spPr>
          <a:xfrm>
            <a:off x="8229600" y="3474720"/>
            <a:ext cx="3566160" cy="1371600"/>
          </a:xfrm>
          <a:prstGeom prst="rect">
            <a:avLst/>
          </a:prstGeom>
          <a:noFill/>
        </p:spPr>
        <p:txBody>
          <a:bodyPr wrap="square" lIns="73152" rIns="73152" tIns="36576" bIns="36576" anchor="t">
            <a:spAutoFit/>
          </a:bodyPr>
          <a:lstStyle/>
          <a:p>
            <a:pPr algn="l">
              <a:spcAft>
                <a:spcPts val="400"/>
              </a:spcAft>
            </a:pPr>
            <a:r>
              <a:rPr sz="1000" b="0">
                <a:solidFill>
                  <a:srgbClr val="1E252F"/>
                </a:solidFill>
                <a:latin typeface="Calibri"/>
              </a:rPr>
              <a:t>•  Streaming token đầu &lt; 1s để cảm nhận nhanh</a:t>
            </a:r>
          </a:p>
          <a:p>
            <a:pPr algn="l">
              <a:spcAft>
                <a:spcPts val="400"/>
              </a:spcAft>
            </a:pPr>
            <a:r>
              <a:rPr sz="1000" b="0">
                <a:solidFill>
                  <a:srgbClr val="1E252F"/>
                </a:solidFill>
                <a:latin typeface="Calibri"/>
              </a:rPr>
              <a:t>•  12% lượt không gọi LLM (CAS đúng → hint tĩnh)</a:t>
            </a:r>
          </a:p>
          <a:p>
            <a:pPr algn="l">
              <a:spcAft>
                <a:spcPts val="400"/>
              </a:spcAft>
            </a:pPr>
            <a:r>
              <a:rPr sz="1000" b="0">
                <a:solidFill>
                  <a:srgbClr val="1E252F"/>
                </a:solidFill>
                <a:latin typeface="Calibri"/>
              </a:rPr>
              <a:t>•  Staging mô phỏng p95 ≈ 2.6s — là BUDGET kiến trúc, chưa phải benchmark đo thật</a:t>
            </a:r>
          </a:p>
        </p:txBody>
      </p:sp>
      <p:sp>
        <p:nvSpPr>
          <p:cNvPr id="25" name="Rounded Rectangle 24"/>
          <p:cNvSpPr/>
          <p:nvPr/>
        </p:nvSpPr>
        <p:spPr>
          <a:xfrm>
            <a:off x="365760" y="4892040"/>
            <a:ext cx="11430000" cy="685800"/>
          </a:xfrm>
          <a:prstGeom prst="roundRect">
            <a:avLst/>
          </a:prstGeom>
          <a:solidFill>
            <a:srgbClr val="0F1F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300" b="1">
                <a:solidFill>
                  <a:srgbClr val="FFFFFF"/>
                </a:solidFill>
                <a:latin typeface="Calibri"/>
              </a:rPr>
              <a:t>Bottleneck đầu tiên kỳ vọng: concurrency / latency của model provider — không phải tầng API stateless → tiering + fallback + provisioned throughput.</a:t>
            </a:r>
          </a:p>
        </p:txBody>
      </p:sp>
      <p:sp>
        <p:nvSpPr>
          <p:cNvPr id="26" name="TextBox 25"/>
          <p:cNvSpPr txBox="1"/>
          <p:nvPr/>
        </p:nvSpPr>
        <p:spPr>
          <a:xfrm>
            <a:off x="365760" y="5669280"/>
            <a:ext cx="11430000" cy="822960"/>
          </a:xfrm>
          <a:prstGeom prst="rect">
            <a:avLst/>
          </a:prstGeom>
          <a:noFill/>
        </p:spPr>
        <p:txBody>
          <a:bodyPr wrap="square" lIns="73152" rIns="73152" tIns="36576" bIns="36576" anchor="t">
            <a:spAutoFit/>
          </a:bodyPr>
          <a:lstStyle/>
          <a:p>
            <a:pPr algn="l">
              <a:spcAft>
                <a:spcPts val="400"/>
              </a:spcAft>
            </a:pPr>
            <a:r>
              <a:rPr sz="1100" b="0">
                <a:solidFill>
                  <a:srgbClr val="1E252F"/>
                </a:solidFill>
                <a:latin typeface="Calibri"/>
              </a:rPr>
              <a:t>•  Degrade có kiểm soát: provider lỗi → T2 provider 2 → Static Ladder Mode (SLO tutor 99.5% tính cả degraded; LLM-mode 99.0%)</a:t>
            </a:r>
          </a:p>
          <a:p>
            <a:pPr algn="l">
              <a:spcAft>
                <a:spcPts val="400"/>
              </a:spcAft>
            </a:pPr>
            <a:r>
              <a:rPr sz="1100" b="0">
                <a:solidFill>
                  <a:srgbClr val="1E252F"/>
                </a:solidFill>
                <a:latin typeface="Calibri"/>
              </a:rPr>
              <a:t>•  Vendor-neutral: Kubernetes · Postgres · Kafka · S3-API · LiteLLM — đổi cloud/provider không đổi ứng dụng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01200" cy="731520"/>
          </a:xfrm>
          <a:prstGeom prst="rect">
            <a:avLst/>
          </a:prstGeom>
          <a:noFill/>
        </p:spPr>
        <p:txBody>
          <a:bodyPr wrap="square" lIns="73152" rIns="73152" tIns="36576" bIns="36576" anchor="ctr">
            <a:spAutoFit/>
          </a:bodyPr>
          <a:lstStyle/>
          <a:p>
            <a:pPr algn="l">
              <a:spcAft>
                <a:spcPts val="400"/>
              </a:spcAft>
            </a:pPr>
            <a:r>
              <a:rPr sz="2600" b="1">
                <a:solidFill>
                  <a:srgbClr val="FFFFFF"/>
                </a:solidFill>
                <a:latin typeface="Calibri"/>
              </a:rPr>
              <a:t>Cost model &amp; vận hành production</a:t>
            </a:r>
          </a:p>
        </p:txBody>
      </p:sp>
      <p:sp>
        <p:nvSpPr>
          <p:cNvPr id="4" name="TextBox 3"/>
          <p:cNvSpPr txBox="1"/>
          <p:nvPr/>
        </p:nvSpPr>
        <p:spPr>
          <a:xfrm>
            <a:off x="9692640" y="109728"/>
            <a:ext cx="2286000" cy="365760"/>
          </a:xfrm>
          <a:prstGeom prst="rect">
            <a:avLst/>
          </a:prstGeom>
          <a:noFill/>
        </p:spPr>
        <p:txBody>
          <a:bodyPr wrap="square" lIns="73152" rIns="73152" tIns="36576" bIns="36576" anchor="t">
            <a:spAutoFit/>
          </a:bodyPr>
          <a:lstStyle/>
          <a:p>
            <a:pPr algn="r">
              <a:spcAft>
                <a:spcPts val="400"/>
              </a:spcAft>
            </a:pPr>
            <a:r>
              <a:rPr sz="1200" b="1">
                <a:solidFill>
                  <a:srgbClr val="00A39B"/>
                </a:solidFill>
                <a:latin typeface="Calibri"/>
              </a:rPr>
              <a:t>PIC: Dũng (M7)</a:t>
            </a:r>
          </a:p>
        </p:txBody>
      </p:sp>
      <p:sp>
        <p:nvSpPr>
          <p:cNvPr id="5" name="TextBox 4"/>
          <p:cNvSpPr txBox="1"/>
          <p:nvPr/>
        </p:nvSpPr>
        <p:spPr>
          <a:xfrm>
            <a:off x="9692640" y="457200"/>
            <a:ext cx="2286000" cy="365760"/>
          </a:xfrm>
          <a:prstGeom prst="rect">
            <a:avLst/>
          </a:prstGeom>
          <a:noFill/>
        </p:spPr>
        <p:txBody>
          <a:bodyPr wrap="square" lIns="73152" rIns="73152" tIns="36576" bIns="36576" anchor="t">
            <a:spAutoFit/>
          </a:bodyPr>
          <a:lstStyle/>
          <a:p>
            <a:pPr algn="r">
              <a:spcAft>
                <a:spcPts val="400"/>
              </a:spcAft>
            </a:pPr>
            <a:r>
              <a:rPr sz="1100" b="0">
                <a:solidFill>
                  <a:srgbClr val="F28C28"/>
                </a:solidFill>
                <a:latin typeface="Calibri"/>
              </a:rPr>
              <a:t>Rubric 4.3 · 4.2</a:t>
            </a:r>
          </a:p>
        </p:txBody>
      </p:sp>
      <p:sp>
        <p:nvSpPr>
          <p:cNvPr id="6" name="Rectangle 5"/>
          <p:cNvSpPr/>
          <p:nvPr/>
        </p:nvSpPr>
        <p:spPr>
          <a:xfrm>
            <a:off x="0" y="6537960"/>
            <a:ext cx="12191695" cy="3200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37960"/>
            <a:ext cx="8229600" cy="320040"/>
          </a:xfrm>
          <a:prstGeom prst="rect">
            <a:avLst/>
          </a:prstGeom>
          <a:noFill/>
        </p:spPr>
        <p:txBody>
          <a:bodyPr wrap="square" lIns="73152" rIns="73152" tIns="36576" bIns="36576" anchor="ctr">
            <a:spAutoFit/>
          </a:bodyPr>
          <a:lstStyle/>
          <a:p>
            <a:pPr algn="l">
              <a:spcAft>
                <a:spcPts val="400"/>
              </a:spcAft>
            </a:pPr>
            <a:r>
              <a:rPr sz="1000" b="0">
                <a:solidFill>
                  <a:srgbClr val="5F6B7A"/>
                </a:solidFill>
                <a:latin typeface="Calibri"/>
              </a:rPr>
              <a:t>TutorMate · EduNova · Workshop 2 – Scenario B · ATAD v1.0</a:t>
            </a:r>
          </a:p>
        </p:txBody>
      </p:sp>
      <p:sp>
        <p:nvSpPr>
          <p:cNvPr id="8" name="TextBox 7"/>
          <p:cNvSpPr txBox="1"/>
          <p:nvPr/>
        </p:nvSpPr>
        <p:spPr>
          <a:xfrm>
            <a:off x="10972800" y="6537960"/>
            <a:ext cx="914400" cy="320040"/>
          </a:xfrm>
          <a:prstGeom prst="rect">
            <a:avLst/>
          </a:prstGeom>
          <a:noFill/>
        </p:spPr>
        <p:txBody>
          <a:bodyPr wrap="square" lIns="73152" rIns="73152" tIns="36576" bIns="36576" anchor="ctr">
            <a:spAutoFit/>
          </a:bodyPr>
          <a:lstStyle/>
          <a:p>
            <a:pPr algn="r">
              <a:spcAft>
                <a:spcPts val="400"/>
              </a:spcAft>
            </a:pPr>
            <a:r>
              <a:rPr sz="1000" b="0">
                <a:solidFill>
                  <a:srgbClr val="5F6B7A"/>
                </a:solidFill>
                <a:latin typeface="Calibri"/>
              </a:rPr>
              <a:t>9 / 14</a:t>
            </a:r>
          </a:p>
        </p:txBody>
      </p:sp>
      <p:sp>
        <p:nvSpPr>
          <p:cNvPr id="9" name="TextBox 8"/>
          <p:cNvSpPr txBox="1"/>
          <p:nvPr/>
        </p:nvSpPr>
        <p:spPr>
          <a:xfrm>
            <a:off x="365760" y="1051560"/>
            <a:ext cx="5852160" cy="365760"/>
          </a:xfrm>
          <a:prstGeom prst="rect">
            <a:avLst/>
          </a:prstGeom>
          <a:noFill/>
        </p:spPr>
        <p:txBody>
          <a:bodyPr wrap="square" lIns="73152" rIns="73152" tIns="36576" bIns="36576" anchor="t">
            <a:spAutoFit/>
          </a:bodyPr>
          <a:lstStyle/>
          <a:p>
            <a:pPr algn="l">
              <a:spcAft>
                <a:spcPts val="400"/>
              </a:spcAft>
            </a:pPr>
            <a:r>
              <a:rPr sz="1500" b="1">
                <a:solidFill>
                  <a:srgbClr val="00A39B"/>
                </a:solidFill>
                <a:latin typeface="Calibri"/>
              </a:rPr>
              <a:t>Phương trình chi phí</a:t>
            </a:r>
          </a:p>
        </p:txBody>
      </p:sp>
      <p:sp>
        <p:nvSpPr>
          <p:cNvPr id="10" name="Rectangle 9"/>
          <p:cNvSpPr/>
          <p:nvPr/>
        </p:nvSpPr>
        <p:spPr>
          <a:xfrm>
            <a:off x="365760" y="1417320"/>
            <a:ext cx="5852160" cy="9144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463040"/>
            <a:ext cx="5669280" cy="868680"/>
          </a:xfrm>
          <a:prstGeom prst="rect">
            <a:avLst/>
          </a:prstGeom>
          <a:noFill/>
        </p:spPr>
        <p:txBody>
          <a:bodyPr wrap="square" lIns="73152" rIns="73152" tIns="36576" bIns="36576" anchor="t">
            <a:spAutoFit/>
          </a:bodyPr>
          <a:lstStyle/>
          <a:p>
            <a:pPr algn="l">
              <a:spcAft>
                <a:spcPts val="400"/>
              </a:spcAft>
            </a:pPr>
            <a:r>
              <a:rPr sz="1400" b="1">
                <a:solidFill>
                  <a:srgbClr val="0F1F3D"/>
                </a:solidFill>
                <a:latin typeface="Calibri"/>
              </a:rPr>
              <a:t>Monthly AI cost  =  turn volume  ×  cost/turn  +  shared infra</a:t>
            </a:r>
          </a:p>
          <a:p>
            <a:pPr algn="l">
              <a:spcAft>
                <a:spcPts val="400"/>
              </a:spcAft>
            </a:pPr>
            <a:r>
              <a:rPr sz="1100" b="0">
                <a:solidFill>
                  <a:srgbClr val="5F6B7A"/>
                </a:solidFill>
                <a:latin typeface="Calibri"/>
              </a:rPr>
              <a:t>≈ 29M lượt × $0.00069 ≈ $18.4k/tháng AI · + infra ≈ $11k · budget = 8.000×P → P ≥ ~$2.30</a:t>
            </a:r>
          </a:p>
        </p:txBody>
      </p:sp>
      <p:graphicFrame>
        <p:nvGraphicFramePr>
          <p:cNvPr id="12" name="Table 11"/>
          <p:cNvGraphicFramePr>
            <a:graphicFrameLocks noGrp="1"/>
          </p:cNvGraphicFramePr>
          <p:nvPr/>
        </p:nvGraphicFramePr>
        <p:xfrm>
          <a:off x="365760" y="2468880"/>
          <a:ext cx="5852160" cy="2377440"/>
        </p:xfrm>
        <a:graphic>
          <a:graphicData uri="http://schemas.openxmlformats.org/drawingml/2006/table">
            <a:tbl>
              <a:tblPr firstRow="1" bandRow="1">
                <a:tableStyleId>{5C22544A-7EE6-4342-B048-85BDC9FD1C3A}</a:tableStyleId>
              </a:tblPr>
              <a:tblGrid>
                <a:gridCol w="365760"/>
                <a:gridCol w="2377440"/>
                <a:gridCol w="3108960"/>
              </a:tblGrid>
              <a:tr h="396240">
                <a:tc>
                  <a:txBody>
                    <a:bodyPr wrap="square"/>
                    <a:lstStyle/>
                    <a:p>
                      <a:r>
                        <a:rPr sz="1000" b="1">
                          <a:solidFill>
                            <a:srgbClr val="FFFFFF"/>
                          </a:solidFill>
                          <a:latin typeface="Calibri"/>
                        </a:rPr>
                        <a:t>#</a:t>
                      </a:r>
                    </a:p>
                  </a:txBody>
                  <a:tcPr marL="45720" marR="45720" marT="18288" marB="18288">
                    <a:solidFill>
                      <a:srgbClr val="00A39B"/>
                    </a:solidFill>
                  </a:tcPr>
                </a:tc>
                <a:tc>
                  <a:txBody>
                    <a:bodyPr wrap="square"/>
                    <a:lstStyle/>
                    <a:p>
                      <a:r>
                        <a:rPr sz="1000" b="1">
                          <a:solidFill>
                            <a:srgbClr val="FFFFFF"/>
                          </a:solidFill>
                          <a:latin typeface="Calibri"/>
                        </a:rPr>
                        <a:t>Cost driver</a:t>
                      </a:r>
                    </a:p>
                  </a:txBody>
                  <a:tcPr marL="45720" marR="45720" marT="18288" marB="18288">
                    <a:solidFill>
                      <a:srgbClr val="00A39B"/>
                    </a:solidFill>
                  </a:tcPr>
                </a:tc>
                <a:tc>
                  <a:txBody>
                    <a:bodyPr wrap="square"/>
                    <a:lstStyle/>
                    <a:p>
                      <a:r>
                        <a:rPr sz="1000" b="1">
                          <a:solidFill>
                            <a:srgbClr val="FFFFFF"/>
                          </a:solidFill>
                          <a:latin typeface="Calibri"/>
                        </a:rPr>
                        <a:t>Cơ chế kiểm soát</a:t>
                      </a:r>
                    </a:p>
                  </a:txBody>
                  <a:tcPr marL="45720" marR="45720" marT="18288" marB="18288">
                    <a:solidFill>
                      <a:srgbClr val="00A39B"/>
                    </a:solidFill>
                  </a:tcPr>
                </a:tc>
              </a:tr>
              <a:tr h="396240">
                <a:tc>
                  <a:txBody>
                    <a:bodyPr wrap="square"/>
                    <a:lstStyle/>
                    <a:p>
                      <a:r>
                        <a:rPr sz="1000">
                          <a:solidFill>
                            <a:srgbClr val="1E252F"/>
                          </a:solidFill>
                          <a:latin typeface="Calibri"/>
                        </a:rPr>
                        <a:t>1</a:t>
                      </a:r>
                    </a:p>
                  </a:txBody>
                  <a:tcPr marL="45720" marR="45720" marT="18288" marB="18288">
                    <a:solidFill>
                      <a:srgbClr val="FFFFFF"/>
                    </a:solidFill>
                  </a:tcPr>
                </a:tc>
                <a:tc>
                  <a:txBody>
                    <a:bodyPr wrap="square"/>
                    <a:lstStyle/>
                    <a:p>
                      <a:r>
                        <a:rPr sz="1000">
                          <a:solidFill>
                            <a:srgbClr val="1E252F"/>
                          </a:solidFill>
                          <a:latin typeface="Calibri"/>
                        </a:rPr>
                        <a:t>LLM tokens (prompt + history + output)</a:t>
                      </a:r>
                    </a:p>
                  </a:txBody>
                  <a:tcPr marL="45720" marR="45720" marT="18288" marB="18288">
                    <a:solidFill>
                      <a:srgbClr val="FFFFFF"/>
                    </a:solidFill>
                  </a:tcPr>
                </a:tc>
                <a:tc>
                  <a:txBody>
                    <a:bodyPr wrap="square"/>
                    <a:lstStyle/>
                    <a:p>
                      <a:r>
                        <a:rPr sz="1000">
                          <a:solidFill>
                            <a:srgbClr val="1E252F"/>
                          </a:solidFill>
                          <a:latin typeface="Calibri"/>
                        </a:rPr>
                        <a:t>Model tiering T1/T2 · context limit · prompt cache · 12% lượt không gọi LLM</a:t>
                      </a:r>
                    </a:p>
                  </a:txBody>
                  <a:tcPr marL="45720" marR="45720" marT="18288" marB="18288">
                    <a:solidFill>
                      <a:srgbClr val="FFFFFF"/>
                    </a:solidFill>
                  </a:tcPr>
                </a:tc>
              </a:tr>
              <a:tr h="396240">
                <a:tc>
                  <a:txBody>
                    <a:bodyPr wrap="square"/>
                    <a:lstStyle/>
                    <a:p>
                      <a:r>
                        <a:rPr sz="1000">
                          <a:solidFill>
                            <a:srgbClr val="1E252F"/>
                          </a:solidFill>
                          <a:latin typeface="Calibri"/>
                        </a:rPr>
                        <a:t>2</a:t>
                      </a:r>
                    </a:p>
                  </a:txBody>
                  <a:tcPr marL="45720" marR="45720" marT="18288" marB="18288">
                    <a:solidFill>
                      <a:srgbClr val="F4F6F9"/>
                    </a:solidFill>
                  </a:tcPr>
                </a:tc>
                <a:tc>
                  <a:txBody>
                    <a:bodyPr wrap="square"/>
                    <a:lstStyle/>
                    <a:p>
                      <a:r>
                        <a:rPr sz="1000">
                          <a:solidFill>
                            <a:srgbClr val="1E252F"/>
                          </a:solidFill>
                          <a:latin typeface="Calibri"/>
                        </a:rPr>
                        <a:t>Moderation / safety API</a:t>
                      </a:r>
                    </a:p>
                  </a:txBody>
                  <a:tcPr marL="45720" marR="45720" marT="18288" marB="18288">
                    <a:solidFill>
                      <a:srgbClr val="F4F6F9"/>
                    </a:solidFill>
                  </a:tcPr>
                </a:tc>
                <a:tc>
                  <a:txBody>
                    <a:bodyPr wrap="square"/>
                    <a:lstStyle/>
                    <a:p>
                      <a:r>
                        <a:rPr sz="1000">
                          <a:solidFill>
                            <a:srgbClr val="1E252F"/>
                          </a:solidFill>
                          <a:latin typeface="Calibri"/>
                        </a:rPr>
                        <a:t>Rule + classifier nhỏ trước, API chỉ backstop</a:t>
                      </a:r>
                    </a:p>
                  </a:txBody>
                  <a:tcPr marL="45720" marR="45720" marT="18288" marB="18288">
                    <a:solidFill>
                      <a:srgbClr val="F4F6F9"/>
                    </a:solidFill>
                  </a:tcPr>
                </a:tc>
              </a:tr>
              <a:tr h="396240">
                <a:tc>
                  <a:txBody>
                    <a:bodyPr wrap="square"/>
                    <a:lstStyle/>
                    <a:p>
                      <a:r>
                        <a:rPr sz="1000">
                          <a:solidFill>
                            <a:srgbClr val="1E252F"/>
                          </a:solidFill>
                          <a:latin typeface="Calibri"/>
                        </a:rPr>
                        <a:t>3</a:t>
                      </a:r>
                    </a:p>
                  </a:txBody>
                  <a:tcPr marL="45720" marR="45720" marT="18288" marB="18288">
                    <a:solidFill>
                      <a:srgbClr val="FFFFFF"/>
                    </a:solidFill>
                  </a:tcPr>
                </a:tc>
                <a:tc>
                  <a:txBody>
                    <a:bodyPr wrap="square"/>
                    <a:lstStyle/>
                    <a:p>
                      <a:r>
                        <a:rPr sz="1000">
                          <a:solidFill>
                            <a:srgbClr val="1E252F"/>
                          </a:solidFill>
                          <a:latin typeface="Calibri"/>
                        </a:rPr>
                        <a:t>Retrieval / embeddings</a:t>
                      </a:r>
                    </a:p>
                  </a:txBody>
                  <a:tcPr marL="45720" marR="45720" marT="18288" marB="18288">
                    <a:solidFill>
                      <a:srgbClr val="FFFFFF"/>
                    </a:solidFill>
                  </a:tcPr>
                </a:tc>
                <a:tc>
                  <a:txBody>
                    <a:bodyPr wrap="square"/>
                    <a:lstStyle/>
                    <a:p>
                      <a:r>
                        <a:rPr sz="1000">
                          <a:solidFill>
                            <a:srgbClr val="1E252F"/>
                          </a:solidFill>
                          <a:latin typeface="Calibri"/>
                        </a:rPr>
                        <a:t>Embed offline 1 lần/ladder version · cache theo bài</a:t>
                      </a:r>
                    </a:p>
                  </a:txBody>
                  <a:tcPr marL="45720" marR="45720" marT="18288" marB="18288">
                    <a:solidFill>
                      <a:srgbClr val="FFFFFF"/>
                    </a:solidFill>
                  </a:tcPr>
                </a:tc>
              </a:tr>
              <a:tr h="396240">
                <a:tc>
                  <a:txBody>
                    <a:bodyPr wrap="square"/>
                    <a:lstStyle/>
                    <a:p>
                      <a:r>
                        <a:rPr sz="1000">
                          <a:solidFill>
                            <a:srgbClr val="1E252F"/>
                          </a:solidFill>
                          <a:latin typeface="Calibri"/>
                        </a:rPr>
                        <a:t>4</a:t>
                      </a:r>
                    </a:p>
                  </a:txBody>
                  <a:tcPr marL="45720" marR="45720" marT="18288" marB="18288">
                    <a:solidFill>
                      <a:srgbClr val="F4F6F9"/>
                    </a:solidFill>
                  </a:tcPr>
                </a:tc>
                <a:tc>
                  <a:txBody>
                    <a:bodyPr wrap="square"/>
                    <a:lstStyle/>
                    <a:p>
                      <a:r>
                        <a:rPr sz="1000">
                          <a:solidFill>
                            <a:srgbClr val="1E252F"/>
                          </a:solidFill>
                          <a:latin typeface="Calibri"/>
                        </a:rPr>
                        <a:t>Retries / fallback / judge</a:t>
                      </a:r>
                    </a:p>
                  </a:txBody>
                  <a:tcPr marL="45720" marR="45720" marT="18288" marB="18288">
                    <a:solidFill>
                      <a:srgbClr val="F4F6F9"/>
                    </a:solidFill>
                  </a:tcPr>
                </a:tc>
                <a:tc>
                  <a:txBody>
                    <a:bodyPr wrap="square"/>
                    <a:lstStyle/>
                    <a:p>
                      <a:r>
                        <a:rPr sz="1000">
                          <a:solidFill>
                            <a:srgbClr val="1E252F"/>
                          </a:solidFill>
                          <a:latin typeface="Calibri"/>
                        </a:rPr>
                        <a:t>Turn budget · judge sampling 5% · fallback T2 có quota</a:t>
                      </a:r>
                    </a:p>
                  </a:txBody>
                  <a:tcPr marL="45720" marR="45720" marT="18288" marB="18288">
                    <a:solidFill>
                      <a:srgbClr val="F4F6F9"/>
                    </a:solidFill>
                  </a:tcPr>
                </a:tc>
              </a:tr>
              <a:tr h="396240">
                <a:tc>
                  <a:txBody>
                    <a:bodyPr wrap="square"/>
                    <a:lstStyle/>
                    <a:p>
                      <a:r>
                        <a:rPr sz="1000">
                          <a:solidFill>
                            <a:srgbClr val="1E252F"/>
                          </a:solidFill>
                          <a:latin typeface="Calibri"/>
                        </a:rPr>
                        <a:t>5</a:t>
                      </a:r>
                    </a:p>
                  </a:txBody>
                  <a:tcPr marL="45720" marR="45720" marT="18288" marB="18288">
                    <a:solidFill>
                      <a:srgbClr val="FFFFFF"/>
                    </a:solidFill>
                  </a:tcPr>
                </a:tc>
                <a:tc>
                  <a:txBody>
                    <a:bodyPr wrap="square"/>
                    <a:lstStyle/>
                    <a:p>
                      <a:r>
                        <a:rPr sz="1000">
                          <a:solidFill>
                            <a:srgbClr val="1E252F"/>
                          </a:solidFill>
                          <a:latin typeface="Calibri"/>
                        </a:rPr>
                        <a:t>Infrastructure</a:t>
                      </a:r>
                    </a:p>
                  </a:txBody>
                  <a:tcPr marL="45720" marR="45720" marT="18288" marB="18288">
                    <a:solidFill>
                      <a:srgbClr val="FFFFFF"/>
                    </a:solidFill>
                  </a:tcPr>
                </a:tc>
                <a:tc>
                  <a:txBody>
                    <a:bodyPr wrap="square"/>
                    <a:lstStyle/>
                    <a:p>
                      <a:r>
                        <a:rPr sz="1000">
                          <a:solidFill>
                            <a:srgbClr val="1E252F"/>
                          </a:solidFill>
                          <a:latin typeface="Calibri"/>
                        </a:rPr>
                        <a:t>Spot cho batch · autoscale to zero ngoài giờ · managed services</a:t>
                      </a:r>
                    </a:p>
                  </a:txBody>
                  <a:tcPr marL="45720" marR="45720" marT="18288" marB="18288">
                    <a:solidFill>
                      <a:srgbClr val="FFFFFF"/>
                    </a:solidFill>
                  </a:tcPr>
                </a:tc>
              </a:tr>
            </a:tbl>
          </a:graphicData>
        </a:graphic>
      </p:graphicFrame>
      <p:sp>
        <p:nvSpPr>
          <p:cNvPr id="13" name="TextBox 12"/>
          <p:cNvSpPr txBox="1"/>
          <p:nvPr/>
        </p:nvSpPr>
        <p:spPr>
          <a:xfrm>
            <a:off x="365760" y="4937760"/>
            <a:ext cx="5852160" cy="640080"/>
          </a:xfrm>
          <a:prstGeom prst="rect">
            <a:avLst/>
          </a:prstGeom>
          <a:noFill/>
        </p:spPr>
        <p:txBody>
          <a:bodyPr wrap="square" lIns="73152" rIns="73152" tIns="36576" bIns="36576" anchor="t">
            <a:spAutoFit/>
          </a:bodyPr>
          <a:lstStyle/>
          <a:p>
            <a:pPr algn="l">
              <a:spcAft>
                <a:spcPts val="400"/>
              </a:spcAft>
            </a:pPr>
            <a:r>
              <a:rPr sz="1000" b="0">
                <a:solidFill>
                  <a:srgbClr val="5F6B7A"/>
                </a:solidFill>
                <a:latin typeface="Calibri"/>
              </a:rPr>
              <a:t>Free tier: quota 20 lượt/ngày; paid không giới hạn · cost alert 80% / kill 120% budget ngày · [A] giá provider &amp; mix trả phí 10% (sens. 5/15%) cần cập nhật hàng tuần</a:t>
            </a:r>
          </a:p>
        </p:txBody>
      </p:sp>
      <p:sp>
        <p:nvSpPr>
          <p:cNvPr id="14" name="TextBox 13"/>
          <p:cNvSpPr txBox="1"/>
          <p:nvPr/>
        </p:nvSpPr>
        <p:spPr>
          <a:xfrm>
            <a:off x="6446520" y="1051560"/>
            <a:ext cx="5394960" cy="365760"/>
          </a:xfrm>
          <a:prstGeom prst="rect">
            <a:avLst/>
          </a:prstGeom>
          <a:noFill/>
        </p:spPr>
        <p:txBody>
          <a:bodyPr wrap="square" lIns="73152" rIns="73152" tIns="36576" bIns="36576" anchor="t">
            <a:spAutoFit/>
          </a:bodyPr>
          <a:lstStyle/>
          <a:p>
            <a:pPr algn="l">
              <a:spcAft>
                <a:spcPts val="400"/>
              </a:spcAft>
            </a:pPr>
            <a:r>
              <a:rPr sz="1500" b="1">
                <a:solidFill>
                  <a:srgbClr val="00A39B"/>
                </a:solidFill>
                <a:latin typeface="Calibri"/>
              </a:rPr>
              <a:t>Production operations</a:t>
            </a:r>
          </a:p>
        </p:txBody>
      </p:sp>
      <p:sp>
        <p:nvSpPr>
          <p:cNvPr id="15" name="Rounded Rectangle 14"/>
          <p:cNvSpPr/>
          <p:nvPr/>
        </p:nvSpPr>
        <p:spPr>
          <a:xfrm>
            <a:off x="6446520" y="1463040"/>
            <a:ext cx="2651760" cy="960120"/>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Model Gateway fallback</a:t>
            </a:r>
          </a:p>
          <a:p>
            <a:pPr algn="ctr"/>
            <a:r>
              <a:rPr sz="900">
                <a:solidFill>
                  <a:srgbClr val="5F6B7A"/>
                </a:solidFill>
                <a:latin typeface="Calibri"/>
              </a:rPr>
              <a:t>T1 → T2 → provider 2 → Static Ladder Mode</a:t>
            </a:r>
          </a:p>
        </p:txBody>
      </p:sp>
      <p:sp>
        <p:nvSpPr>
          <p:cNvPr id="16" name="Rounded Rectangle 15"/>
          <p:cNvSpPr/>
          <p:nvPr/>
        </p:nvSpPr>
        <p:spPr>
          <a:xfrm>
            <a:off x="9189720" y="1463040"/>
            <a:ext cx="2651760" cy="960120"/>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Release manifest</a:t>
            </a:r>
          </a:p>
          <a:p>
            <a:pPr algn="ctr"/>
            <a:r>
              <a:rPr sz="900">
                <a:solidFill>
                  <a:srgbClr val="5F6B7A"/>
                </a:solidFill>
                <a:latin typeface="Calibri"/>
              </a:rPr>
              <a:t>model + prompt + ladder + policy version, ký &amp; lưu</a:t>
            </a:r>
          </a:p>
        </p:txBody>
      </p:sp>
      <p:sp>
        <p:nvSpPr>
          <p:cNvPr id="17" name="Rounded Rectangle 16"/>
          <p:cNvSpPr/>
          <p:nvPr/>
        </p:nvSpPr>
        <p:spPr>
          <a:xfrm>
            <a:off x="6446520" y="2560320"/>
            <a:ext cx="2651760" cy="960120"/>
          </a:xfrm>
          <a:prstGeom prst="roundRect">
            <a:avLst/>
          </a:prstGeom>
          <a:solidFill>
            <a:srgbClr val="0F1F3D"/>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FFFFFF"/>
                </a:solidFill>
                <a:latin typeface="Calibri"/>
              </a:rPr>
              <a:t>Canary rollout</a:t>
            </a:r>
          </a:p>
          <a:p>
            <a:pPr algn="ctr"/>
            <a:r>
              <a:rPr sz="900">
                <a:solidFill>
                  <a:srgbClr val="FFFFFF"/>
                </a:solidFill>
                <a:latin typeface="Calibri"/>
              </a:rPr>
              <a:t>shadow → 5% → 25% → 50% → 100%, gate 4 điều kiện</a:t>
            </a:r>
          </a:p>
        </p:txBody>
      </p:sp>
      <p:sp>
        <p:nvSpPr>
          <p:cNvPr id="18" name="Rounded Rectangle 17"/>
          <p:cNvSpPr/>
          <p:nvPr/>
        </p:nvSpPr>
        <p:spPr>
          <a:xfrm>
            <a:off x="9189720" y="2560320"/>
            <a:ext cx="2651760" cy="960120"/>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Rollback ≤ 5 phút</a:t>
            </a:r>
          </a:p>
          <a:p>
            <a:pPr algn="ctr"/>
            <a:r>
              <a:rPr sz="900">
                <a:solidFill>
                  <a:srgbClr val="5F6B7A"/>
                </a:solidFill>
                <a:latin typeface="Calibri"/>
              </a:rPr>
              <a:t>đảo alias / prompt pointer, không redeploy</a:t>
            </a:r>
          </a:p>
        </p:txBody>
      </p:sp>
      <p:sp>
        <p:nvSpPr>
          <p:cNvPr id="19" name="Rounded Rectangle 18"/>
          <p:cNvSpPr/>
          <p:nvPr/>
        </p:nvSpPr>
        <p:spPr>
          <a:xfrm>
            <a:off x="6446520" y="3657600"/>
            <a:ext cx="2651760" cy="960120"/>
          </a:xfrm>
          <a:prstGeom prst="roundRect">
            <a:avLst/>
          </a:prstGeom>
          <a:solidFill>
            <a:srgbClr val="0F1F3D"/>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FFFFFF"/>
                </a:solidFill>
                <a:latin typeface="Calibri"/>
              </a:rPr>
              <a:t>Kill switch</a:t>
            </a:r>
          </a:p>
          <a:p>
            <a:pPr algn="ctr"/>
            <a:r>
              <a:rPr sz="900">
                <a:solidFill>
                  <a:srgbClr val="FFFFFF"/>
                </a:solidFill>
                <a:latin typeface="Calibri"/>
              </a:rPr>
              <a:t>tắt LLM-mode toàn cục hoặc theo cohort</a:t>
            </a:r>
          </a:p>
        </p:txBody>
      </p:sp>
      <p:sp>
        <p:nvSpPr>
          <p:cNvPr id="20" name="Rounded Rectangle 19"/>
          <p:cNvSpPr/>
          <p:nvPr/>
        </p:nvSpPr>
        <p:spPr>
          <a:xfrm>
            <a:off x="9189720" y="3657600"/>
            <a:ext cx="2651760" cy="960120"/>
          </a:xfrm>
          <a:prstGeom prst="roundRect">
            <a:avLst/>
          </a:prstGeom>
          <a:solidFill>
            <a:srgbClr val="FFFFFF"/>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1E252F"/>
                </a:solidFill>
                <a:latin typeface="Calibri"/>
              </a:rPr>
              <a:t>Cost &amp; drift alerts</a:t>
            </a:r>
          </a:p>
          <a:p>
            <a:pPr algn="ctr"/>
            <a:r>
              <a:rPr sz="900">
                <a:solidFill>
                  <a:srgbClr val="5F6B7A"/>
                </a:solidFill>
                <a:latin typeface="Calibri"/>
              </a:rPr>
              <a:t>ledger / turn · ALR · judge score theo ngày</a:t>
            </a:r>
          </a:p>
        </p:txBody>
      </p:sp>
      <p:sp>
        <p:nvSpPr>
          <p:cNvPr id="21" name="TextBox 20"/>
          <p:cNvSpPr txBox="1"/>
          <p:nvPr/>
        </p:nvSpPr>
        <p:spPr>
          <a:xfrm>
            <a:off x="6446520" y="4800600"/>
            <a:ext cx="5394960" cy="822960"/>
          </a:xfrm>
          <a:prstGeom prst="rect">
            <a:avLst/>
          </a:prstGeom>
          <a:noFill/>
        </p:spPr>
        <p:txBody>
          <a:bodyPr wrap="square" lIns="73152" rIns="73152" tIns="36576" bIns="36576" anchor="t">
            <a:spAutoFit/>
          </a:bodyPr>
          <a:lstStyle/>
          <a:p>
            <a:pPr algn="l">
              <a:spcAft>
                <a:spcPts val="400"/>
              </a:spcAft>
            </a:pPr>
            <a:r>
              <a:rPr sz="1000" b="0">
                <a:solidFill>
                  <a:srgbClr val="1E252F"/>
                </a:solidFill>
                <a:latin typeface="Calibri"/>
              </a:rPr>
              <a:t>•  MLOps/LLMOps: eval CI trên golden set mỗi PR prompt/ladder · registry version · audit log</a:t>
            </a:r>
          </a:p>
          <a:p>
            <a:pPr algn="l">
              <a:spcAft>
                <a:spcPts val="400"/>
              </a:spcAft>
            </a:pPr>
            <a:r>
              <a:rPr sz="1000" b="0">
                <a:solidFill>
                  <a:srgbClr val="1E252F"/>
                </a:solidFill>
                <a:latin typeface="Calibri"/>
              </a:rPr>
              <a:t>•  On-call runbook: leak spike, provider outage, harmful escape, cost spike</a:t>
            </a:r>
          </a:p>
        </p:txBody>
      </p:sp>
      <p:sp>
        <p:nvSpPr>
          <p:cNvPr id="22" name="Rounded Rectangle 21"/>
          <p:cNvSpPr/>
          <p:nvPr/>
        </p:nvSpPr>
        <p:spPr>
          <a:xfrm>
            <a:off x="365760" y="5669280"/>
            <a:ext cx="11430000" cy="685800"/>
          </a:xfrm>
          <a:prstGeom prst="roundRect">
            <a:avLst/>
          </a:prstGeom>
          <a:solidFill>
            <a:srgbClr val="00A3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400" b="1">
                <a:solidFill>
                  <a:srgbClr val="FFFFFF"/>
                </a:solidFill>
                <a:latin typeface="Calibri"/>
              </a:rPr>
              <a:t>Production-ready = fail an toàn, degrade có kiểm soát, và luôn nằm trong budget.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01200" cy="731520"/>
          </a:xfrm>
          <a:prstGeom prst="rect">
            <a:avLst/>
          </a:prstGeom>
          <a:noFill/>
        </p:spPr>
        <p:txBody>
          <a:bodyPr wrap="square" lIns="73152" rIns="73152" tIns="36576" bIns="36576" anchor="ctr">
            <a:spAutoFit/>
          </a:bodyPr>
          <a:lstStyle/>
          <a:p>
            <a:pPr algn="l">
              <a:spcAft>
                <a:spcPts val="400"/>
              </a:spcAft>
            </a:pPr>
            <a:r>
              <a:rPr sz="2600" b="1">
                <a:solidFill>
                  <a:srgbClr val="FFFFFF"/>
                </a:solidFill>
                <a:latin typeface="Calibri"/>
              </a:rPr>
              <a:t>5 quyết định kiến trúc panel cần nhớ</a:t>
            </a:r>
          </a:p>
        </p:txBody>
      </p:sp>
      <p:sp>
        <p:nvSpPr>
          <p:cNvPr id="4" name="TextBox 3"/>
          <p:cNvSpPr txBox="1"/>
          <p:nvPr/>
        </p:nvSpPr>
        <p:spPr>
          <a:xfrm>
            <a:off x="9692640" y="109728"/>
            <a:ext cx="2286000" cy="365760"/>
          </a:xfrm>
          <a:prstGeom prst="rect">
            <a:avLst/>
          </a:prstGeom>
          <a:noFill/>
        </p:spPr>
        <p:txBody>
          <a:bodyPr wrap="square" lIns="73152" rIns="73152" tIns="36576" bIns="36576" anchor="t">
            <a:spAutoFit/>
          </a:bodyPr>
          <a:lstStyle/>
          <a:p>
            <a:pPr algn="r">
              <a:spcAft>
                <a:spcPts val="400"/>
              </a:spcAft>
            </a:pPr>
            <a:r>
              <a:rPr sz="1200" b="1">
                <a:solidFill>
                  <a:srgbClr val="00A39B"/>
                </a:solidFill>
                <a:latin typeface="Calibri"/>
              </a:rPr>
              <a:t>PIC: Thuận (M1)</a:t>
            </a:r>
          </a:p>
        </p:txBody>
      </p:sp>
      <p:sp>
        <p:nvSpPr>
          <p:cNvPr id="5" name="TextBox 4"/>
          <p:cNvSpPr txBox="1"/>
          <p:nvPr/>
        </p:nvSpPr>
        <p:spPr>
          <a:xfrm>
            <a:off x="9692640" y="457200"/>
            <a:ext cx="2286000" cy="365760"/>
          </a:xfrm>
          <a:prstGeom prst="rect">
            <a:avLst/>
          </a:prstGeom>
          <a:noFill/>
        </p:spPr>
        <p:txBody>
          <a:bodyPr wrap="square" lIns="73152" rIns="73152" tIns="36576" bIns="36576" anchor="t">
            <a:spAutoFit/>
          </a:bodyPr>
          <a:lstStyle/>
          <a:p>
            <a:pPr algn="r">
              <a:spcAft>
                <a:spcPts val="400"/>
              </a:spcAft>
            </a:pPr>
            <a:r>
              <a:rPr sz="1100" b="0">
                <a:solidFill>
                  <a:srgbClr val="F28C28"/>
                </a:solidFill>
                <a:latin typeface="Calibri"/>
              </a:rPr>
              <a:t>Rubric 4.2 · 4.5</a:t>
            </a:r>
          </a:p>
        </p:txBody>
      </p:sp>
      <p:sp>
        <p:nvSpPr>
          <p:cNvPr id="6" name="Rectangle 5"/>
          <p:cNvSpPr/>
          <p:nvPr/>
        </p:nvSpPr>
        <p:spPr>
          <a:xfrm>
            <a:off x="0" y="6537960"/>
            <a:ext cx="12191695" cy="3200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37960"/>
            <a:ext cx="8229600" cy="320040"/>
          </a:xfrm>
          <a:prstGeom prst="rect">
            <a:avLst/>
          </a:prstGeom>
          <a:noFill/>
        </p:spPr>
        <p:txBody>
          <a:bodyPr wrap="square" lIns="73152" rIns="73152" tIns="36576" bIns="36576" anchor="ctr">
            <a:spAutoFit/>
          </a:bodyPr>
          <a:lstStyle/>
          <a:p>
            <a:pPr algn="l">
              <a:spcAft>
                <a:spcPts val="400"/>
              </a:spcAft>
            </a:pPr>
            <a:r>
              <a:rPr sz="1000" b="0">
                <a:solidFill>
                  <a:srgbClr val="5F6B7A"/>
                </a:solidFill>
                <a:latin typeface="Calibri"/>
              </a:rPr>
              <a:t>TutorMate · EduNova · Workshop 2 – Scenario B · ATAD v1.0</a:t>
            </a:r>
          </a:p>
        </p:txBody>
      </p:sp>
      <p:sp>
        <p:nvSpPr>
          <p:cNvPr id="8" name="TextBox 7"/>
          <p:cNvSpPr txBox="1"/>
          <p:nvPr/>
        </p:nvSpPr>
        <p:spPr>
          <a:xfrm>
            <a:off x="10972800" y="6537960"/>
            <a:ext cx="914400" cy="320040"/>
          </a:xfrm>
          <a:prstGeom prst="rect">
            <a:avLst/>
          </a:prstGeom>
          <a:noFill/>
        </p:spPr>
        <p:txBody>
          <a:bodyPr wrap="square" lIns="73152" rIns="73152" tIns="36576" bIns="36576" anchor="ctr">
            <a:spAutoFit/>
          </a:bodyPr>
          <a:lstStyle/>
          <a:p>
            <a:pPr algn="r">
              <a:spcAft>
                <a:spcPts val="400"/>
              </a:spcAft>
            </a:pPr>
            <a:r>
              <a:rPr sz="1000" b="0">
                <a:solidFill>
                  <a:srgbClr val="5F6B7A"/>
                </a:solidFill>
                <a:latin typeface="Calibri"/>
              </a:rPr>
              <a:t>10 / 14</a:t>
            </a:r>
          </a:p>
        </p:txBody>
      </p:sp>
      <p:sp>
        <p:nvSpPr>
          <p:cNvPr id="9" name="Rounded Rectangle 8"/>
          <p:cNvSpPr/>
          <p:nvPr/>
        </p:nvSpPr>
        <p:spPr>
          <a:xfrm>
            <a:off x="365760" y="1143000"/>
            <a:ext cx="640080" cy="658368"/>
          </a:xfrm>
          <a:prstGeom prst="roundRect">
            <a:avLst/>
          </a:prstGeom>
          <a:solidFill>
            <a:srgbClr val="00A39B"/>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000" b="1">
                <a:solidFill>
                  <a:srgbClr val="FFFFFF"/>
                </a:solidFill>
                <a:latin typeface="Calibri"/>
              </a:rPr>
              <a:t>1</a:t>
            </a:r>
          </a:p>
        </p:txBody>
      </p:sp>
      <p:sp>
        <p:nvSpPr>
          <p:cNvPr id="10" name="Rectangle 9"/>
          <p:cNvSpPr/>
          <p:nvPr/>
        </p:nvSpPr>
        <p:spPr>
          <a:xfrm>
            <a:off x="1097280" y="1143000"/>
            <a:ext cx="10698480" cy="658368"/>
          </a:xfrm>
          <a:prstGeom prst="rect">
            <a:avLst/>
          </a:prstGeom>
          <a:solidFill>
            <a:srgbClr val="FFFFFF"/>
          </a:solidFill>
          <a:ln w="12700">
            <a:solidFill>
              <a:srgbClr val="F4F6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1161288"/>
            <a:ext cx="10515600" cy="320040"/>
          </a:xfrm>
          <a:prstGeom prst="rect">
            <a:avLst/>
          </a:prstGeom>
          <a:noFill/>
        </p:spPr>
        <p:txBody>
          <a:bodyPr wrap="square" lIns="73152" rIns="73152" tIns="36576" bIns="36576" anchor="t">
            <a:spAutoFit/>
          </a:bodyPr>
          <a:lstStyle/>
          <a:p>
            <a:pPr algn="l">
              <a:spcAft>
                <a:spcPts val="400"/>
              </a:spcAft>
            </a:pPr>
            <a:r>
              <a:rPr sz="1400" b="1">
                <a:solidFill>
                  <a:srgbClr val="0F1F3D"/>
                </a:solidFill>
                <a:latin typeface="Calibri"/>
              </a:rPr>
              <a:t>Hybrid AI, không phải prompt-only</a:t>
            </a:r>
          </a:p>
        </p:txBody>
      </p:sp>
      <p:sp>
        <p:nvSpPr>
          <p:cNvPr id="12" name="TextBox 11"/>
          <p:cNvSpPr txBox="1"/>
          <p:nvPr/>
        </p:nvSpPr>
        <p:spPr>
          <a:xfrm>
            <a:off x="1188720" y="1472184"/>
            <a:ext cx="10515600" cy="320040"/>
          </a:xfrm>
          <a:prstGeom prst="rect">
            <a:avLst/>
          </a:prstGeom>
          <a:noFill/>
        </p:spPr>
        <p:txBody>
          <a:bodyPr wrap="square" lIns="73152" rIns="73152" tIns="36576" bIns="36576" anchor="t">
            <a:spAutoFit/>
          </a:bodyPr>
          <a:lstStyle/>
          <a:p>
            <a:pPr algn="l">
              <a:spcAft>
                <a:spcPts val="400"/>
              </a:spcAft>
            </a:pPr>
            <a:r>
              <a:rPr sz="1100" b="0">
                <a:solidFill>
                  <a:srgbClr val="5F6B7A"/>
                </a:solidFill>
                <a:latin typeface="Calibri"/>
              </a:rPr>
              <a:t>LLM chỉ sinh ngôn ngữ; RAG + CAS + BKT + state machine làm phần còn lại (ADR-003, -005)</a:t>
            </a:r>
          </a:p>
        </p:txBody>
      </p:sp>
      <p:sp>
        <p:nvSpPr>
          <p:cNvPr id="13" name="Rounded Rectangle 12"/>
          <p:cNvSpPr/>
          <p:nvPr/>
        </p:nvSpPr>
        <p:spPr>
          <a:xfrm>
            <a:off x="365760" y="1929384"/>
            <a:ext cx="640080" cy="658368"/>
          </a:xfrm>
          <a:prstGeom prst="roundRect">
            <a:avLst/>
          </a:prstGeom>
          <a:solidFill>
            <a:srgbClr val="00A39B"/>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000" b="1">
                <a:solidFill>
                  <a:srgbClr val="FFFFFF"/>
                </a:solidFill>
                <a:latin typeface="Calibri"/>
              </a:rPr>
              <a:t>2</a:t>
            </a:r>
          </a:p>
        </p:txBody>
      </p:sp>
      <p:sp>
        <p:nvSpPr>
          <p:cNvPr id="14" name="Rectangle 13"/>
          <p:cNvSpPr/>
          <p:nvPr/>
        </p:nvSpPr>
        <p:spPr>
          <a:xfrm>
            <a:off x="1097280" y="1929384"/>
            <a:ext cx="10698480" cy="658368"/>
          </a:xfrm>
          <a:prstGeom prst="rect">
            <a:avLst/>
          </a:prstGeom>
          <a:solidFill>
            <a:srgbClr val="F4F6F9"/>
          </a:solidFill>
          <a:ln w="12700">
            <a:solidFill>
              <a:srgbClr val="F4F6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1947672"/>
            <a:ext cx="10515600" cy="320040"/>
          </a:xfrm>
          <a:prstGeom prst="rect">
            <a:avLst/>
          </a:prstGeom>
          <a:noFill/>
        </p:spPr>
        <p:txBody>
          <a:bodyPr wrap="square" lIns="73152" rIns="73152" tIns="36576" bIns="36576" anchor="t">
            <a:spAutoFit/>
          </a:bodyPr>
          <a:lstStyle/>
          <a:p>
            <a:pPr algn="l">
              <a:spcAft>
                <a:spcPts val="400"/>
              </a:spcAft>
            </a:pPr>
            <a:r>
              <a:rPr sz="1400" b="1">
                <a:solidFill>
                  <a:srgbClr val="0F1F3D"/>
                </a:solidFill>
                <a:latin typeface="Calibri"/>
              </a:rPr>
              <a:t>Socratic state machine tường minh</a:t>
            </a:r>
          </a:p>
        </p:txBody>
      </p:sp>
      <p:sp>
        <p:nvSpPr>
          <p:cNvPr id="16" name="TextBox 15"/>
          <p:cNvSpPr txBox="1"/>
          <p:nvPr/>
        </p:nvSpPr>
        <p:spPr>
          <a:xfrm>
            <a:off x="1188720" y="2258568"/>
            <a:ext cx="10515600" cy="320040"/>
          </a:xfrm>
          <a:prstGeom prst="rect">
            <a:avLst/>
          </a:prstGeom>
          <a:noFill/>
        </p:spPr>
        <p:txBody>
          <a:bodyPr wrap="square" lIns="73152" rIns="73152" tIns="36576" bIns="36576" anchor="t">
            <a:spAutoFit/>
          </a:bodyPr>
          <a:lstStyle/>
          <a:p>
            <a:pPr algn="l">
              <a:spcAft>
                <a:spcPts val="400"/>
              </a:spcAft>
            </a:pPr>
            <a:r>
              <a:rPr sz="1100" b="0">
                <a:solidFill>
                  <a:srgbClr val="5F6B7A"/>
                </a:solidFill>
                <a:latin typeface="Calibri"/>
              </a:rPr>
              <a:t>Policy quyết định hé lộ; hint level là code, test được (ADR-001)</a:t>
            </a:r>
          </a:p>
        </p:txBody>
      </p:sp>
      <p:sp>
        <p:nvSpPr>
          <p:cNvPr id="17" name="Rounded Rectangle 16"/>
          <p:cNvSpPr/>
          <p:nvPr/>
        </p:nvSpPr>
        <p:spPr>
          <a:xfrm>
            <a:off x="365760" y="2715768"/>
            <a:ext cx="640080" cy="658368"/>
          </a:xfrm>
          <a:prstGeom prst="roundRect">
            <a:avLst/>
          </a:prstGeom>
          <a:solidFill>
            <a:srgbClr val="00A39B"/>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000" b="1">
                <a:solidFill>
                  <a:srgbClr val="FFFFFF"/>
                </a:solidFill>
                <a:latin typeface="Calibri"/>
              </a:rPr>
              <a:t>3</a:t>
            </a:r>
          </a:p>
        </p:txBody>
      </p:sp>
      <p:sp>
        <p:nvSpPr>
          <p:cNvPr id="18" name="Rectangle 17"/>
          <p:cNvSpPr/>
          <p:nvPr/>
        </p:nvSpPr>
        <p:spPr>
          <a:xfrm>
            <a:off x="1097280" y="2715768"/>
            <a:ext cx="10698480" cy="658368"/>
          </a:xfrm>
          <a:prstGeom prst="rect">
            <a:avLst/>
          </a:prstGeom>
          <a:solidFill>
            <a:srgbClr val="FFFFFF"/>
          </a:solidFill>
          <a:ln w="12700">
            <a:solidFill>
              <a:srgbClr val="F4F6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0" y="2734056"/>
            <a:ext cx="10515600" cy="320040"/>
          </a:xfrm>
          <a:prstGeom prst="rect">
            <a:avLst/>
          </a:prstGeom>
          <a:noFill/>
        </p:spPr>
        <p:txBody>
          <a:bodyPr wrap="square" lIns="73152" rIns="73152" tIns="36576" bIns="36576" anchor="t">
            <a:spAutoFit/>
          </a:bodyPr>
          <a:lstStyle/>
          <a:p>
            <a:pPr algn="l">
              <a:spcAft>
                <a:spcPts val="400"/>
              </a:spcAft>
            </a:pPr>
            <a:r>
              <a:rPr sz="1400" b="1">
                <a:solidFill>
                  <a:srgbClr val="0F1F3D"/>
                </a:solidFill>
                <a:latin typeface="Calibri"/>
              </a:rPr>
              <a:t>Learner profile tối thiểu</a:t>
            </a:r>
          </a:p>
        </p:txBody>
      </p:sp>
      <p:sp>
        <p:nvSpPr>
          <p:cNvPr id="20" name="TextBox 19"/>
          <p:cNvSpPr txBox="1"/>
          <p:nvPr/>
        </p:nvSpPr>
        <p:spPr>
          <a:xfrm>
            <a:off x="1188720" y="3044952"/>
            <a:ext cx="10515600" cy="320040"/>
          </a:xfrm>
          <a:prstGeom prst="rect">
            <a:avLst/>
          </a:prstGeom>
          <a:noFill/>
        </p:spPr>
        <p:txBody>
          <a:bodyPr wrap="square" lIns="73152" rIns="73152" tIns="36576" bIns="36576" anchor="t">
            <a:spAutoFit/>
          </a:bodyPr>
          <a:lstStyle/>
          <a:p>
            <a:pPr algn="l">
              <a:spcAft>
                <a:spcPts val="400"/>
              </a:spcAft>
            </a:pPr>
            <a:r>
              <a:rPr sz="1100" b="0">
                <a:solidFill>
                  <a:srgbClr val="5F6B7A"/>
                </a:solidFill>
                <a:latin typeface="Calibri"/>
              </a:rPr>
              <a:t>P(mastery)/skill pseudonymous; không transcript dài hạn, không PII trong prompt (ADR-002)</a:t>
            </a:r>
          </a:p>
        </p:txBody>
      </p:sp>
      <p:sp>
        <p:nvSpPr>
          <p:cNvPr id="21" name="Rounded Rectangle 20"/>
          <p:cNvSpPr/>
          <p:nvPr/>
        </p:nvSpPr>
        <p:spPr>
          <a:xfrm>
            <a:off x="365760" y="3502152"/>
            <a:ext cx="640080" cy="658368"/>
          </a:xfrm>
          <a:prstGeom prst="roundRect">
            <a:avLst/>
          </a:prstGeom>
          <a:solidFill>
            <a:srgbClr val="00A39B"/>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000" b="1">
                <a:solidFill>
                  <a:srgbClr val="FFFFFF"/>
                </a:solidFill>
                <a:latin typeface="Calibri"/>
              </a:rPr>
              <a:t>4</a:t>
            </a:r>
          </a:p>
        </p:txBody>
      </p:sp>
      <p:sp>
        <p:nvSpPr>
          <p:cNvPr id="22" name="Rectangle 21"/>
          <p:cNvSpPr/>
          <p:nvPr/>
        </p:nvSpPr>
        <p:spPr>
          <a:xfrm>
            <a:off x="1097280" y="3502152"/>
            <a:ext cx="10698480" cy="658368"/>
          </a:xfrm>
          <a:prstGeom prst="rect">
            <a:avLst/>
          </a:prstGeom>
          <a:solidFill>
            <a:srgbClr val="F4F6F9"/>
          </a:solidFill>
          <a:ln w="12700">
            <a:solidFill>
              <a:srgbClr val="F4F6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88720" y="3520440"/>
            <a:ext cx="10515600" cy="320040"/>
          </a:xfrm>
          <a:prstGeom prst="rect">
            <a:avLst/>
          </a:prstGeom>
          <a:noFill/>
        </p:spPr>
        <p:txBody>
          <a:bodyPr wrap="square" lIns="73152" rIns="73152" tIns="36576" bIns="36576" anchor="t">
            <a:spAutoFit/>
          </a:bodyPr>
          <a:lstStyle/>
          <a:p>
            <a:pPr algn="l">
              <a:spcAft>
                <a:spcPts val="400"/>
              </a:spcAft>
            </a:pPr>
            <a:r>
              <a:rPr sz="1400" b="1">
                <a:solidFill>
                  <a:srgbClr val="0F1F3D"/>
                </a:solidFill>
                <a:latin typeface="Calibri"/>
              </a:rPr>
              <a:t>Safety + validation TRƯỚC khi gửi</a:t>
            </a:r>
          </a:p>
        </p:txBody>
      </p:sp>
      <p:sp>
        <p:nvSpPr>
          <p:cNvPr id="24" name="TextBox 23"/>
          <p:cNvSpPr txBox="1"/>
          <p:nvPr/>
        </p:nvSpPr>
        <p:spPr>
          <a:xfrm>
            <a:off x="1188720" y="3831336"/>
            <a:ext cx="10515600" cy="320040"/>
          </a:xfrm>
          <a:prstGeom prst="rect">
            <a:avLst/>
          </a:prstGeom>
          <a:noFill/>
        </p:spPr>
        <p:txBody>
          <a:bodyPr wrap="square" lIns="73152" rIns="73152" tIns="36576" bIns="36576" anchor="t">
            <a:spAutoFit/>
          </a:bodyPr>
          <a:lstStyle/>
          <a:p>
            <a:pPr algn="l">
              <a:spcAft>
                <a:spcPts val="400"/>
              </a:spcAft>
            </a:pPr>
            <a:r>
              <a:rPr sz="1100" b="0">
                <a:solidFill>
                  <a:srgbClr val="5F6B7A"/>
                </a:solidFill>
                <a:latin typeface="Calibri"/>
              </a:rPr>
              <a:t>4 lớp phòng thủ; LLM không nhận đáp án; output chưa validate không tới trẻ (ADR-004)</a:t>
            </a:r>
          </a:p>
        </p:txBody>
      </p:sp>
      <p:sp>
        <p:nvSpPr>
          <p:cNvPr id="25" name="Rounded Rectangle 24"/>
          <p:cNvSpPr/>
          <p:nvPr/>
        </p:nvSpPr>
        <p:spPr>
          <a:xfrm>
            <a:off x="365760" y="4288536"/>
            <a:ext cx="640080" cy="658368"/>
          </a:xfrm>
          <a:prstGeom prst="roundRect">
            <a:avLst/>
          </a:prstGeom>
          <a:solidFill>
            <a:srgbClr val="00A39B"/>
          </a:solidFill>
          <a:ln w="12700">
            <a:solidFill>
              <a:srgbClr val="0F1F3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000" b="1">
                <a:solidFill>
                  <a:srgbClr val="FFFFFF"/>
                </a:solidFill>
                <a:latin typeface="Calibri"/>
              </a:rPr>
              <a:t>5</a:t>
            </a:r>
          </a:p>
        </p:txBody>
      </p:sp>
      <p:sp>
        <p:nvSpPr>
          <p:cNvPr id="26" name="Rectangle 25"/>
          <p:cNvSpPr/>
          <p:nvPr/>
        </p:nvSpPr>
        <p:spPr>
          <a:xfrm>
            <a:off x="1097280" y="4288536"/>
            <a:ext cx="10698480" cy="658368"/>
          </a:xfrm>
          <a:prstGeom prst="rect">
            <a:avLst/>
          </a:prstGeom>
          <a:solidFill>
            <a:srgbClr val="FFFFFF"/>
          </a:solidFill>
          <a:ln w="12700">
            <a:solidFill>
              <a:srgbClr val="F4F6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88720" y="4306824"/>
            <a:ext cx="10515600" cy="320040"/>
          </a:xfrm>
          <a:prstGeom prst="rect">
            <a:avLst/>
          </a:prstGeom>
          <a:noFill/>
        </p:spPr>
        <p:txBody>
          <a:bodyPr wrap="square" lIns="73152" rIns="73152" tIns="36576" bIns="36576" anchor="t">
            <a:spAutoFit/>
          </a:bodyPr>
          <a:lstStyle/>
          <a:p>
            <a:pPr algn="l">
              <a:spcAft>
                <a:spcPts val="400"/>
              </a:spcAft>
            </a:pPr>
            <a:r>
              <a:rPr sz="1400" b="1">
                <a:solidFill>
                  <a:srgbClr val="0F1F3D"/>
                </a:solidFill>
                <a:latin typeface="Calibri"/>
              </a:rPr>
              <a:t>Eval-gated, scalable, cost-controlled</a:t>
            </a:r>
          </a:p>
        </p:txBody>
      </p:sp>
      <p:sp>
        <p:nvSpPr>
          <p:cNvPr id="28" name="TextBox 27"/>
          <p:cNvSpPr txBox="1"/>
          <p:nvPr/>
        </p:nvSpPr>
        <p:spPr>
          <a:xfrm>
            <a:off x="1188720" y="4617720"/>
            <a:ext cx="10515600" cy="320040"/>
          </a:xfrm>
          <a:prstGeom prst="rect">
            <a:avLst/>
          </a:prstGeom>
          <a:noFill/>
        </p:spPr>
        <p:txBody>
          <a:bodyPr wrap="square" lIns="73152" rIns="73152" tIns="36576" bIns="36576" anchor="t">
            <a:spAutoFit/>
          </a:bodyPr>
          <a:lstStyle/>
          <a:p>
            <a:pPr algn="l">
              <a:spcAft>
                <a:spcPts val="400"/>
              </a:spcAft>
            </a:pPr>
            <a:r>
              <a:rPr sz="1100" b="0">
                <a:solidFill>
                  <a:srgbClr val="5F6B7A"/>
                </a:solidFill>
                <a:latin typeface="Calibri"/>
              </a:rPr>
              <a:t>Release gate 4 điều kiện · stateless autoscale · tiering + quota ≤ $0.0007/lượt</a:t>
            </a:r>
          </a:p>
        </p:txBody>
      </p:sp>
      <p:sp>
        <p:nvSpPr>
          <p:cNvPr id="29" name="Rounded Rectangle 28"/>
          <p:cNvSpPr/>
          <p:nvPr/>
        </p:nvSpPr>
        <p:spPr>
          <a:xfrm>
            <a:off x="365760" y="5166360"/>
            <a:ext cx="11430000" cy="777240"/>
          </a:xfrm>
          <a:prstGeom prst="roundRect">
            <a:avLst/>
          </a:prstGeom>
          <a:solidFill>
            <a:srgbClr val="0F1F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1">
                <a:solidFill>
                  <a:srgbClr val="FFFFFF"/>
                </a:solidFill>
                <a:latin typeface="Calibri"/>
              </a:rPr>
              <a:t>TutorMate không chỉ là một LLM chatbot. Đó là một nền tảng gia sư AI được kiểm soát — an toàn cho trẻ em, đo được, và vận hành được ở quy mô.</a:t>
            </a:r>
          </a:p>
        </p:txBody>
      </p:sp>
      <p:sp>
        <p:nvSpPr>
          <p:cNvPr id="30" name="TextBox 29"/>
          <p:cNvSpPr txBox="1"/>
          <p:nvPr/>
        </p:nvSpPr>
        <p:spPr>
          <a:xfrm>
            <a:off x="365760" y="6035040"/>
            <a:ext cx="11430000" cy="457200"/>
          </a:xfrm>
          <a:prstGeom prst="rect">
            <a:avLst/>
          </a:prstGeom>
          <a:noFill/>
        </p:spPr>
        <p:txBody>
          <a:bodyPr wrap="square" lIns="73152" rIns="73152" tIns="36576" bIns="36576" anchor="t">
            <a:spAutoFit/>
          </a:bodyPr>
          <a:lstStyle/>
          <a:p>
            <a:pPr algn="l">
              <a:spcAft>
                <a:spcPts val="400"/>
              </a:spcAft>
            </a:pPr>
            <a:r>
              <a:rPr sz="1000" b="0">
                <a:solidFill>
                  <a:srgbClr val="5F6B7A"/>
                </a:solidFill>
                <a:latin typeface="Calibri"/>
              </a:rPr>
              <a:t>Team ownership: Thuận (Req &amp; Integration) · Huyền (Logical &amp; Data) · Hòa (AI/ML) · Phụng (Responsible AI) · Bình (Cloud &amp; Scale) · Phú (Eval &amp; Cost) · Dũng (Slides &amp; Q&amp;A)   —   Q&amp;A do Dũng điều phối; chi tiết phân công: Appendix D &amp; ATAD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01200" cy="731520"/>
          </a:xfrm>
          <a:prstGeom prst="rect">
            <a:avLst/>
          </a:prstGeom>
          <a:noFill/>
        </p:spPr>
        <p:txBody>
          <a:bodyPr wrap="square" lIns="73152" rIns="73152" tIns="36576" bIns="36576" anchor="ctr">
            <a:spAutoFit/>
          </a:bodyPr>
          <a:lstStyle/>
          <a:p>
            <a:pPr algn="l">
              <a:spcAft>
                <a:spcPts val="400"/>
              </a:spcAft>
            </a:pPr>
            <a:r>
              <a:rPr sz="2600" b="1">
                <a:solidFill>
                  <a:srgbClr val="FFFFFF"/>
                </a:solidFill>
                <a:latin typeface="Calibri"/>
              </a:rPr>
              <a:t>Appendix A · Technology Selection Matrix</a:t>
            </a:r>
          </a:p>
        </p:txBody>
      </p:sp>
      <p:sp>
        <p:nvSpPr>
          <p:cNvPr id="4" name="TextBox 3"/>
          <p:cNvSpPr txBox="1"/>
          <p:nvPr/>
        </p:nvSpPr>
        <p:spPr>
          <a:xfrm>
            <a:off x="9692640" y="109728"/>
            <a:ext cx="2286000" cy="365760"/>
          </a:xfrm>
          <a:prstGeom prst="rect">
            <a:avLst/>
          </a:prstGeom>
          <a:noFill/>
        </p:spPr>
        <p:txBody>
          <a:bodyPr wrap="square" lIns="73152" rIns="73152" tIns="36576" bIns="36576" anchor="t">
            <a:spAutoFit/>
          </a:bodyPr>
          <a:lstStyle/>
          <a:p>
            <a:pPr algn="r">
              <a:spcAft>
                <a:spcPts val="400"/>
              </a:spcAft>
            </a:pPr>
            <a:r>
              <a:rPr sz="1200" b="1">
                <a:solidFill>
                  <a:srgbClr val="00A39B"/>
                </a:solidFill>
                <a:latin typeface="Calibri"/>
              </a:rPr>
              <a:t>PIC: Hòa (M3)</a:t>
            </a:r>
          </a:p>
        </p:txBody>
      </p:sp>
      <p:sp>
        <p:nvSpPr>
          <p:cNvPr id="5" name="TextBox 4"/>
          <p:cNvSpPr txBox="1"/>
          <p:nvPr/>
        </p:nvSpPr>
        <p:spPr>
          <a:xfrm>
            <a:off x="9692640" y="457200"/>
            <a:ext cx="2286000" cy="365760"/>
          </a:xfrm>
          <a:prstGeom prst="rect">
            <a:avLst/>
          </a:prstGeom>
          <a:noFill/>
        </p:spPr>
        <p:txBody>
          <a:bodyPr wrap="square" lIns="73152" rIns="73152" tIns="36576" bIns="36576" anchor="t">
            <a:spAutoFit/>
          </a:bodyPr>
          <a:lstStyle/>
          <a:p>
            <a:pPr algn="r">
              <a:spcAft>
                <a:spcPts val="400"/>
              </a:spcAft>
            </a:pPr>
            <a:r>
              <a:rPr sz="1100" b="0">
                <a:solidFill>
                  <a:srgbClr val="F28C28"/>
                </a:solidFill>
                <a:latin typeface="Calibri"/>
              </a:rPr>
              <a:t>Rubric 4.1 · 4.3</a:t>
            </a:r>
          </a:p>
        </p:txBody>
      </p:sp>
      <p:sp>
        <p:nvSpPr>
          <p:cNvPr id="6" name="Rectangle 5"/>
          <p:cNvSpPr/>
          <p:nvPr/>
        </p:nvSpPr>
        <p:spPr>
          <a:xfrm>
            <a:off x="0" y="6537960"/>
            <a:ext cx="12191695" cy="3200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37960"/>
            <a:ext cx="8229600" cy="320040"/>
          </a:xfrm>
          <a:prstGeom prst="rect">
            <a:avLst/>
          </a:prstGeom>
          <a:noFill/>
        </p:spPr>
        <p:txBody>
          <a:bodyPr wrap="square" lIns="73152" rIns="73152" tIns="36576" bIns="36576" anchor="ctr">
            <a:spAutoFit/>
          </a:bodyPr>
          <a:lstStyle/>
          <a:p>
            <a:pPr algn="l">
              <a:spcAft>
                <a:spcPts val="400"/>
              </a:spcAft>
            </a:pPr>
            <a:r>
              <a:rPr sz="1000" b="0">
                <a:solidFill>
                  <a:srgbClr val="5F6B7A"/>
                </a:solidFill>
                <a:latin typeface="Calibri"/>
              </a:rPr>
              <a:t>TutorMate · EduNova · Workshop 2 – Scenario B · ATAD v1.0</a:t>
            </a:r>
          </a:p>
        </p:txBody>
      </p:sp>
      <p:sp>
        <p:nvSpPr>
          <p:cNvPr id="8" name="TextBox 7"/>
          <p:cNvSpPr txBox="1"/>
          <p:nvPr/>
        </p:nvSpPr>
        <p:spPr>
          <a:xfrm>
            <a:off x="10972800" y="6537960"/>
            <a:ext cx="914400" cy="320040"/>
          </a:xfrm>
          <a:prstGeom prst="rect">
            <a:avLst/>
          </a:prstGeom>
          <a:noFill/>
        </p:spPr>
        <p:txBody>
          <a:bodyPr wrap="square" lIns="73152" rIns="73152" tIns="36576" bIns="36576" anchor="ctr">
            <a:spAutoFit/>
          </a:bodyPr>
          <a:lstStyle/>
          <a:p>
            <a:pPr algn="r">
              <a:spcAft>
                <a:spcPts val="400"/>
              </a:spcAft>
            </a:pPr>
            <a:r>
              <a:rPr sz="1000" b="0">
                <a:solidFill>
                  <a:srgbClr val="5F6B7A"/>
                </a:solidFill>
                <a:latin typeface="Calibri"/>
              </a:rPr>
              <a:t>A / 14</a:t>
            </a:r>
          </a:p>
        </p:txBody>
      </p:sp>
      <p:graphicFrame>
        <p:nvGraphicFramePr>
          <p:cNvPr id="9" name="Table 8"/>
          <p:cNvGraphicFramePr>
            <a:graphicFrameLocks noGrp="1"/>
          </p:cNvGraphicFramePr>
          <p:nvPr/>
        </p:nvGraphicFramePr>
        <p:xfrm>
          <a:off x="365760" y="1097280"/>
          <a:ext cx="11430000" cy="1737360"/>
        </p:xfrm>
        <a:graphic>
          <a:graphicData uri="http://schemas.openxmlformats.org/drawingml/2006/table">
            <a:tbl>
              <a:tblPr firstRow="1" bandRow="1">
                <a:tableStyleId>{5C22544A-7EE6-4342-B048-85BDC9FD1C3A}</a:tableStyleId>
              </a:tblPr>
              <a:tblGrid>
                <a:gridCol w="2377440"/>
                <a:gridCol w="1280160"/>
                <a:gridCol w="1920240"/>
                <a:gridCol w="2103120"/>
                <a:gridCol w="1463040"/>
                <a:gridCol w="2286000"/>
              </a:tblGrid>
              <a:tr h="347472">
                <a:tc>
                  <a:txBody>
                    <a:bodyPr wrap="square"/>
                    <a:lstStyle/>
                    <a:p>
                      <a:r>
                        <a:rPr sz="1000" b="1">
                          <a:solidFill>
                            <a:srgbClr val="FFFFFF"/>
                          </a:solidFill>
                          <a:latin typeface="Calibri"/>
                        </a:rPr>
                        <a:t>Pattern</a:t>
                      </a:r>
                    </a:p>
                  </a:txBody>
                  <a:tcPr marL="45720" marR="45720" marT="18288" marB="18288">
                    <a:solidFill>
                      <a:srgbClr val="00A39B"/>
                    </a:solidFill>
                  </a:tcPr>
                </a:tc>
                <a:tc>
                  <a:txBody>
                    <a:bodyPr wrap="square"/>
                    <a:lstStyle/>
                    <a:p>
                      <a:r>
                        <a:rPr sz="1000" b="1">
                          <a:solidFill>
                            <a:srgbClr val="FFFFFF"/>
                          </a:solidFill>
                          <a:latin typeface="Calibri"/>
                        </a:rPr>
                        <a:t>Phù hợp</a:t>
                      </a:r>
                    </a:p>
                  </a:txBody>
                  <a:tcPr marL="45720" marR="45720" marT="18288" marB="18288">
                    <a:solidFill>
                      <a:srgbClr val="00A39B"/>
                    </a:solidFill>
                  </a:tcPr>
                </a:tc>
                <a:tc>
                  <a:txBody>
                    <a:bodyPr wrap="square"/>
                    <a:lstStyle/>
                    <a:p>
                      <a:r>
                        <a:rPr sz="1000" b="1">
                          <a:solidFill>
                            <a:srgbClr val="FFFFFF"/>
                          </a:solidFill>
                          <a:latin typeface="Calibri"/>
                        </a:rPr>
                        <a:t>Cold-start (~0 dialogue)</a:t>
                      </a:r>
                    </a:p>
                  </a:txBody>
                  <a:tcPr marL="45720" marR="45720" marT="18288" marB="18288">
                    <a:solidFill>
                      <a:srgbClr val="00A39B"/>
                    </a:solidFill>
                  </a:tcPr>
                </a:tc>
                <a:tc>
                  <a:txBody>
                    <a:bodyPr wrap="square"/>
                    <a:lstStyle/>
                    <a:p>
                      <a:r>
                        <a:rPr sz="1000" b="1">
                          <a:solidFill>
                            <a:srgbClr val="FFFFFF"/>
                          </a:solidFill>
                          <a:latin typeface="Calibri"/>
                        </a:rPr>
                        <a:t>Kiểm soát lộ đáp án</a:t>
                      </a:r>
                    </a:p>
                  </a:txBody>
                  <a:tcPr marL="45720" marR="45720" marT="18288" marB="18288">
                    <a:solidFill>
                      <a:srgbClr val="00A39B"/>
                    </a:solidFill>
                  </a:tcPr>
                </a:tc>
                <a:tc>
                  <a:txBody>
                    <a:bodyPr wrap="square"/>
                    <a:lstStyle/>
                    <a:p>
                      <a:r>
                        <a:rPr sz="1000" b="1">
                          <a:solidFill>
                            <a:srgbClr val="FFFFFF"/>
                          </a:solidFill>
                          <a:latin typeface="Calibri"/>
                        </a:rPr>
                        <a:t>Latency/Cost</a:t>
                      </a:r>
                    </a:p>
                  </a:txBody>
                  <a:tcPr marL="45720" marR="45720" marT="18288" marB="18288">
                    <a:solidFill>
                      <a:srgbClr val="00A39B"/>
                    </a:solidFill>
                  </a:tcPr>
                </a:tc>
                <a:tc>
                  <a:txBody>
                    <a:bodyPr wrap="square"/>
                    <a:lstStyle/>
                    <a:p>
                      <a:r>
                        <a:rPr sz="1000" b="1">
                          <a:solidFill>
                            <a:srgbClr val="FFFFFF"/>
                          </a:solidFill>
                          <a:latin typeface="Calibri"/>
                        </a:rPr>
                        <a:t>Quyết định</a:t>
                      </a:r>
                    </a:p>
                  </a:txBody>
                  <a:tcPr marL="45720" marR="45720" marT="18288" marB="18288">
                    <a:solidFill>
                      <a:srgbClr val="00A39B"/>
                    </a:solidFill>
                  </a:tcPr>
                </a:tc>
              </a:tr>
              <a:tr h="347472">
                <a:tc>
                  <a:txBody>
                    <a:bodyPr wrap="square"/>
                    <a:lstStyle/>
                    <a:p>
                      <a:r>
                        <a:rPr sz="1000">
                          <a:solidFill>
                            <a:srgbClr val="1E252F"/>
                          </a:solidFill>
                          <a:latin typeface="Calibri"/>
                        </a:rPr>
                        <a:t>Pure RAG + prompt</a:t>
                      </a:r>
                    </a:p>
                  </a:txBody>
                  <a:tcPr marL="45720" marR="45720" marT="18288" marB="18288">
                    <a:solidFill>
                      <a:srgbClr val="FFFFFF"/>
                    </a:solidFill>
                  </a:tcPr>
                </a:tc>
                <a:tc>
                  <a:txBody>
                    <a:bodyPr wrap="square"/>
                    <a:lstStyle/>
                    <a:p>
                      <a:r>
                        <a:rPr sz="1000">
                          <a:solidFill>
                            <a:srgbClr val="1E252F"/>
                          </a:solidFill>
                          <a:latin typeface="Calibri"/>
                        </a:rPr>
                        <a:t>Trung bình</a:t>
                      </a:r>
                    </a:p>
                  </a:txBody>
                  <a:tcPr marL="45720" marR="45720" marT="18288" marB="18288">
                    <a:solidFill>
                      <a:srgbClr val="FFFFFF"/>
                    </a:solidFill>
                  </a:tcPr>
                </a:tc>
                <a:tc>
                  <a:txBody>
                    <a:bodyPr wrap="square"/>
                    <a:lstStyle/>
                    <a:p>
                      <a:r>
                        <a:rPr sz="1000">
                          <a:solidFill>
                            <a:srgbClr val="1E252F"/>
                          </a:solidFill>
                          <a:latin typeface="Calibri"/>
                        </a:rPr>
                        <a:t>Tốt</a:t>
                      </a:r>
                    </a:p>
                  </a:txBody>
                  <a:tcPr marL="45720" marR="45720" marT="18288" marB="18288">
                    <a:solidFill>
                      <a:srgbClr val="FFFFFF"/>
                    </a:solidFill>
                  </a:tcPr>
                </a:tc>
                <a:tc>
                  <a:txBody>
                    <a:bodyPr wrap="square"/>
                    <a:lstStyle/>
                    <a:p>
                      <a:r>
                        <a:rPr sz="1000">
                          <a:solidFill>
                            <a:srgbClr val="1E252F"/>
                          </a:solidFill>
                          <a:latin typeface="Calibri"/>
                        </a:rPr>
                        <a:t>Yếu (prompt-only)</a:t>
                      </a:r>
                    </a:p>
                  </a:txBody>
                  <a:tcPr marL="45720" marR="45720" marT="18288" marB="18288">
                    <a:solidFill>
                      <a:srgbClr val="FFFFFF"/>
                    </a:solidFill>
                  </a:tcPr>
                </a:tc>
                <a:tc>
                  <a:txBody>
                    <a:bodyPr wrap="square"/>
                    <a:lstStyle/>
                    <a:p>
                      <a:r>
                        <a:rPr sz="1000">
                          <a:solidFill>
                            <a:srgbClr val="1E252F"/>
                          </a:solidFill>
                          <a:latin typeface="Calibri"/>
                        </a:rPr>
                        <a:t>Tốt</a:t>
                      </a:r>
                    </a:p>
                  </a:txBody>
                  <a:tcPr marL="45720" marR="45720" marT="18288" marB="18288">
                    <a:solidFill>
                      <a:srgbClr val="FFFFFF"/>
                    </a:solidFill>
                  </a:tcPr>
                </a:tc>
                <a:tc>
                  <a:txBody>
                    <a:bodyPr wrap="square"/>
                    <a:lstStyle/>
                    <a:p>
                      <a:r>
                        <a:rPr sz="1000">
                          <a:solidFill>
                            <a:srgbClr val="1E252F"/>
                          </a:solidFill>
                          <a:latin typeface="Calibri"/>
                        </a:rPr>
                        <a:t>✗ không đủ enforce</a:t>
                      </a:r>
                    </a:p>
                  </a:txBody>
                  <a:tcPr marL="45720" marR="45720" marT="18288" marB="18288">
                    <a:solidFill>
                      <a:srgbClr val="FFFFFF"/>
                    </a:solidFill>
                  </a:tcPr>
                </a:tc>
              </a:tr>
              <a:tr h="347472">
                <a:tc>
                  <a:txBody>
                    <a:bodyPr wrap="square"/>
                    <a:lstStyle/>
                    <a:p>
                      <a:r>
                        <a:rPr sz="1000">
                          <a:solidFill>
                            <a:srgbClr val="1E252F"/>
                          </a:solidFill>
                          <a:latin typeface="Calibri"/>
                        </a:rPr>
                        <a:t>Fine-tune trước</a:t>
                      </a:r>
                    </a:p>
                  </a:txBody>
                  <a:tcPr marL="45720" marR="45720" marT="18288" marB="18288">
                    <a:solidFill>
                      <a:srgbClr val="F4F6F9"/>
                    </a:solidFill>
                  </a:tcPr>
                </a:tc>
                <a:tc>
                  <a:txBody>
                    <a:bodyPr wrap="square"/>
                    <a:lstStyle/>
                    <a:p>
                      <a:r>
                        <a:rPr sz="1000">
                          <a:solidFill>
                            <a:srgbClr val="1E252F"/>
                          </a:solidFill>
                          <a:latin typeface="Calibri"/>
                        </a:rPr>
                        <a:t>Cao (nếu có data)</a:t>
                      </a:r>
                    </a:p>
                  </a:txBody>
                  <a:tcPr marL="45720" marR="45720" marT="18288" marB="18288">
                    <a:solidFill>
                      <a:srgbClr val="F4F6F9"/>
                    </a:solidFill>
                  </a:tcPr>
                </a:tc>
                <a:tc>
                  <a:txBody>
                    <a:bodyPr wrap="square"/>
                    <a:lstStyle/>
                    <a:p>
                      <a:r>
                        <a:rPr sz="1000">
                          <a:solidFill>
                            <a:srgbClr val="1E252F"/>
                          </a:solidFill>
                          <a:latin typeface="Calibri"/>
                        </a:rPr>
                        <a:t>Không có data</a:t>
                      </a:r>
                    </a:p>
                  </a:txBody>
                  <a:tcPr marL="45720" marR="45720" marT="18288" marB="18288">
                    <a:solidFill>
                      <a:srgbClr val="F4F6F9"/>
                    </a:solidFill>
                  </a:tcPr>
                </a:tc>
                <a:tc>
                  <a:txBody>
                    <a:bodyPr wrap="square"/>
                    <a:lstStyle/>
                    <a:p>
                      <a:r>
                        <a:rPr sz="1000">
                          <a:solidFill>
                            <a:srgbClr val="1E252F"/>
                          </a:solidFill>
                          <a:latin typeface="Calibri"/>
                        </a:rPr>
                        <a:t>Trung bình</a:t>
                      </a:r>
                    </a:p>
                  </a:txBody>
                  <a:tcPr marL="45720" marR="45720" marT="18288" marB="18288">
                    <a:solidFill>
                      <a:srgbClr val="F4F6F9"/>
                    </a:solidFill>
                  </a:tcPr>
                </a:tc>
                <a:tc>
                  <a:txBody>
                    <a:bodyPr wrap="square"/>
                    <a:lstStyle/>
                    <a:p>
                      <a:r>
                        <a:rPr sz="1000">
                          <a:solidFill>
                            <a:srgbClr val="1E252F"/>
                          </a:solidFill>
                          <a:latin typeface="Calibri"/>
                        </a:rPr>
                        <a:t>Tốt (self-host)</a:t>
                      </a:r>
                    </a:p>
                  </a:txBody>
                  <a:tcPr marL="45720" marR="45720" marT="18288" marB="18288">
                    <a:solidFill>
                      <a:srgbClr val="F4F6F9"/>
                    </a:solidFill>
                  </a:tcPr>
                </a:tc>
                <a:tc>
                  <a:txBody>
                    <a:bodyPr wrap="square"/>
                    <a:lstStyle/>
                    <a:p>
                      <a:r>
                        <a:rPr sz="1000">
                          <a:solidFill>
                            <a:srgbClr val="1E252F"/>
                          </a:solidFill>
                          <a:latin typeface="Calibri"/>
                        </a:rPr>
                        <a:t>✗ Phase 2 (D-04)</a:t>
                      </a:r>
                    </a:p>
                  </a:txBody>
                  <a:tcPr marL="45720" marR="45720" marT="18288" marB="18288">
                    <a:solidFill>
                      <a:srgbClr val="F4F6F9"/>
                    </a:solidFill>
                  </a:tcPr>
                </a:tc>
              </a:tr>
              <a:tr h="347472">
                <a:tc>
                  <a:txBody>
                    <a:bodyPr wrap="square"/>
                    <a:lstStyle/>
                    <a:p>
                      <a:r>
                        <a:rPr sz="1000">
                          <a:solidFill>
                            <a:srgbClr val="1E252F"/>
                          </a:solidFill>
                          <a:latin typeface="Calibri"/>
                        </a:rPr>
                        <a:t>Autonomous agent</a:t>
                      </a:r>
                    </a:p>
                  </a:txBody>
                  <a:tcPr marL="45720" marR="45720" marT="18288" marB="18288">
                    <a:solidFill>
                      <a:srgbClr val="FFFFFF"/>
                    </a:solidFill>
                  </a:tcPr>
                </a:tc>
                <a:tc>
                  <a:txBody>
                    <a:bodyPr wrap="square"/>
                    <a:lstStyle/>
                    <a:p>
                      <a:r>
                        <a:rPr sz="1000">
                          <a:solidFill>
                            <a:srgbClr val="1E252F"/>
                          </a:solidFill>
                          <a:latin typeface="Calibri"/>
                        </a:rPr>
                        <a:t>Thấp</a:t>
                      </a:r>
                    </a:p>
                  </a:txBody>
                  <a:tcPr marL="45720" marR="45720" marT="18288" marB="18288">
                    <a:solidFill>
                      <a:srgbClr val="FFFFFF"/>
                    </a:solidFill>
                  </a:tcPr>
                </a:tc>
                <a:tc>
                  <a:txBody>
                    <a:bodyPr wrap="square"/>
                    <a:lstStyle/>
                    <a:p>
                      <a:r>
                        <a:rPr sz="1000">
                          <a:solidFill>
                            <a:srgbClr val="1E252F"/>
                          </a:solidFill>
                          <a:latin typeface="Calibri"/>
                        </a:rPr>
                        <a:t>Tốt</a:t>
                      </a:r>
                    </a:p>
                  </a:txBody>
                  <a:tcPr marL="45720" marR="45720" marT="18288" marB="18288">
                    <a:solidFill>
                      <a:srgbClr val="FFFFFF"/>
                    </a:solidFill>
                  </a:tcPr>
                </a:tc>
                <a:tc>
                  <a:txBody>
                    <a:bodyPr wrap="square"/>
                    <a:lstStyle/>
                    <a:p>
                      <a:r>
                        <a:rPr sz="1000">
                          <a:solidFill>
                            <a:srgbClr val="1E252F"/>
                          </a:solidFill>
                          <a:latin typeface="Calibri"/>
                        </a:rPr>
                        <a:t>Yếu, khó audit</a:t>
                      </a:r>
                    </a:p>
                  </a:txBody>
                  <a:tcPr marL="45720" marR="45720" marT="18288" marB="18288">
                    <a:solidFill>
                      <a:srgbClr val="FFFFFF"/>
                    </a:solidFill>
                  </a:tcPr>
                </a:tc>
                <a:tc>
                  <a:txBody>
                    <a:bodyPr wrap="square"/>
                    <a:lstStyle/>
                    <a:p>
                      <a:r>
                        <a:rPr sz="1000">
                          <a:solidFill>
                            <a:srgbClr val="1E252F"/>
                          </a:solidFill>
                          <a:latin typeface="Calibri"/>
                        </a:rPr>
                        <a:t>Kém</a:t>
                      </a:r>
                    </a:p>
                  </a:txBody>
                  <a:tcPr marL="45720" marR="45720" marT="18288" marB="18288">
                    <a:solidFill>
                      <a:srgbClr val="FFFFFF"/>
                    </a:solidFill>
                  </a:tcPr>
                </a:tc>
                <a:tc>
                  <a:txBody>
                    <a:bodyPr wrap="square"/>
                    <a:lstStyle/>
                    <a:p>
                      <a:r>
                        <a:rPr sz="1000">
                          <a:solidFill>
                            <a:srgbClr val="1E252F"/>
                          </a:solidFill>
                          <a:latin typeface="Calibri"/>
                        </a:rPr>
                        <a:t>✗</a:t>
                      </a:r>
                    </a:p>
                  </a:txBody>
                  <a:tcPr marL="45720" marR="45720" marT="18288" marB="18288">
                    <a:solidFill>
                      <a:srgbClr val="FFFFFF"/>
                    </a:solidFill>
                  </a:tcPr>
                </a:tc>
              </a:tr>
              <a:tr h="347472">
                <a:tc>
                  <a:txBody>
                    <a:bodyPr wrap="square"/>
                    <a:lstStyle/>
                    <a:p>
                      <a:r>
                        <a:rPr sz="1000">
                          <a:solidFill>
                            <a:srgbClr val="1E252F"/>
                          </a:solidFill>
                          <a:latin typeface="Calibri"/>
                        </a:rPr>
                        <a:t>Hybrid: policy + RAG + tools + LLM</a:t>
                      </a:r>
                    </a:p>
                  </a:txBody>
                  <a:tcPr marL="45720" marR="45720" marT="18288" marB="18288">
                    <a:solidFill>
                      <a:srgbClr val="F4F6F9"/>
                    </a:solidFill>
                  </a:tcPr>
                </a:tc>
                <a:tc>
                  <a:txBody>
                    <a:bodyPr wrap="square"/>
                    <a:lstStyle/>
                    <a:p>
                      <a:r>
                        <a:rPr sz="1000">
                          <a:solidFill>
                            <a:srgbClr val="1E252F"/>
                          </a:solidFill>
                          <a:latin typeface="Calibri"/>
                        </a:rPr>
                        <a:t>Cao</a:t>
                      </a:r>
                    </a:p>
                  </a:txBody>
                  <a:tcPr marL="45720" marR="45720" marT="18288" marB="18288">
                    <a:solidFill>
                      <a:srgbClr val="F4F6F9"/>
                    </a:solidFill>
                  </a:tcPr>
                </a:tc>
                <a:tc>
                  <a:txBody>
                    <a:bodyPr wrap="square"/>
                    <a:lstStyle/>
                    <a:p>
                      <a:r>
                        <a:rPr sz="1000">
                          <a:solidFill>
                            <a:srgbClr val="1E252F"/>
                          </a:solidFill>
                          <a:latin typeface="Calibri"/>
                        </a:rPr>
                        <a:t>Tốt (ladder tổng hợp)</a:t>
                      </a:r>
                    </a:p>
                  </a:txBody>
                  <a:tcPr marL="45720" marR="45720" marT="18288" marB="18288">
                    <a:solidFill>
                      <a:srgbClr val="F4F6F9"/>
                    </a:solidFill>
                  </a:tcPr>
                </a:tc>
                <a:tc>
                  <a:txBody>
                    <a:bodyPr wrap="square"/>
                    <a:lstStyle/>
                    <a:p>
                      <a:r>
                        <a:rPr sz="1000">
                          <a:solidFill>
                            <a:srgbClr val="1E252F"/>
                          </a:solidFill>
                          <a:latin typeface="Calibri"/>
                        </a:rPr>
                        <a:t>Mạnh (least-privilege)</a:t>
                      </a:r>
                    </a:p>
                  </a:txBody>
                  <a:tcPr marL="45720" marR="45720" marT="18288" marB="18288">
                    <a:solidFill>
                      <a:srgbClr val="F4F6F9"/>
                    </a:solidFill>
                  </a:tcPr>
                </a:tc>
                <a:tc>
                  <a:txBody>
                    <a:bodyPr wrap="square"/>
                    <a:lstStyle/>
                    <a:p>
                      <a:r>
                        <a:rPr sz="1000">
                          <a:solidFill>
                            <a:srgbClr val="1E252F"/>
                          </a:solidFill>
                          <a:latin typeface="Calibri"/>
                        </a:rPr>
                        <a:t>Tốt</a:t>
                      </a:r>
                    </a:p>
                  </a:txBody>
                  <a:tcPr marL="45720" marR="45720" marT="18288" marB="18288">
                    <a:solidFill>
                      <a:srgbClr val="F4F6F9"/>
                    </a:solidFill>
                  </a:tcPr>
                </a:tc>
                <a:tc>
                  <a:txBody>
                    <a:bodyPr wrap="square"/>
                    <a:lstStyle/>
                    <a:p>
                      <a:r>
                        <a:rPr sz="1000">
                          <a:solidFill>
                            <a:srgbClr val="1E252F"/>
                          </a:solidFill>
                          <a:latin typeface="Calibri"/>
                        </a:rPr>
                        <a:t>✓ Accepted (ADR-003)</a:t>
                      </a:r>
                    </a:p>
                  </a:txBody>
                  <a:tcPr marL="45720" marR="45720" marT="18288" marB="18288">
                    <a:solidFill>
                      <a:srgbClr val="F4F6F9"/>
                    </a:solidFill>
                  </a:tcPr>
                </a:tc>
              </a:tr>
            </a:tbl>
          </a:graphicData>
        </a:graphic>
      </p:graphicFrame>
      <p:graphicFrame>
        <p:nvGraphicFramePr>
          <p:cNvPr id="10" name="Table 9"/>
          <p:cNvGraphicFramePr>
            <a:graphicFrameLocks noGrp="1"/>
          </p:cNvGraphicFramePr>
          <p:nvPr/>
        </p:nvGraphicFramePr>
        <p:xfrm>
          <a:off x="365760" y="2971800"/>
          <a:ext cx="11430000" cy="3383280"/>
        </p:xfrm>
        <a:graphic>
          <a:graphicData uri="http://schemas.openxmlformats.org/drawingml/2006/table">
            <a:tbl>
              <a:tblPr firstRow="1" bandRow="1">
                <a:tableStyleId>{5C22544A-7EE6-4342-B048-85BDC9FD1C3A}</a:tableStyleId>
              </a:tblPr>
              <a:tblGrid>
                <a:gridCol w="1554480"/>
                <a:gridCol w="3657600"/>
                <a:gridCol w="2834640"/>
                <a:gridCol w="3383280"/>
              </a:tblGrid>
              <a:tr h="422910">
                <a:tc>
                  <a:txBody>
                    <a:bodyPr wrap="square"/>
                    <a:lstStyle/>
                    <a:p>
                      <a:r>
                        <a:rPr sz="1000" b="1">
                          <a:solidFill>
                            <a:srgbClr val="FFFFFF"/>
                          </a:solidFill>
                          <a:latin typeface="Calibri"/>
                        </a:rPr>
                        <a:t>Lớp</a:t>
                      </a:r>
                    </a:p>
                  </a:txBody>
                  <a:tcPr marL="45720" marR="45720" marT="18288" marB="18288">
                    <a:solidFill>
                      <a:srgbClr val="00A39B"/>
                    </a:solidFill>
                  </a:tcPr>
                </a:tc>
                <a:tc>
                  <a:txBody>
                    <a:bodyPr wrap="square"/>
                    <a:lstStyle/>
                    <a:p>
                      <a:r>
                        <a:rPr sz="1000" b="1">
                          <a:solidFill>
                            <a:srgbClr val="FFFFFF"/>
                          </a:solidFill>
                          <a:latin typeface="Calibri"/>
                        </a:rPr>
                        <a:t>Ứng viên</a:t>
                      </a:r>
                    </a:p>
                  </a:txBody>
                  <a:tcPr marL="45720" marR="45720" marT="18288" marB="18288">
                    <a:solidFill>
                      <a:srgbClr val="00A39B"/>
                    </a:solidFill>
                  </a:tcPr>
                </a:tc>
                <a:tc>
                  <a:txBody>
                    <a:bodyPr wrap="square"/>
                    <a:lstStyle/>
                    <a:p>
                      <a:r>
                        <a:rPr sz="1000" b="1">
                          <a:solidFill>
                            <a:srgbClr val="FFFFFF"/>
                          </a:solidFill>
                          <a:latin typeface="Calibri"/>
                        </a:rPr>
                        <a:t>Chọn MVP</a:t>
                      </a:r>
                    </a:p>
                  </a:txBody>
                  <a:tcPr marL="45720" marR="45720" marT="18288" marB="18288">
                    <a:solidFill>
                      <a:srgbClr val="00A39B"/>
                    </a:solidFill>
                  </a:tcPr>
                </a:tc>
                <a:tc>
                  <a:txBody>
                    <a:bodyPr wrap="square"/>
                    <a:lstStyle/>
                    <a:p>
                      <a:r>
                        <a:rPr sz="1000" b="1">
                          <a:solidFill>
                            <a:srgbClr val="FFFFFF"/>
                          </a:solidFill>
                          <a:latin typeface="Calibri"/>
                        </a:rPr>
                        <a:t>Lý do</a:t>
                      </a:r>
                    </a:p>
                  </a:txBody>
                  <a:tcPr marL="45720" marR="45720" marT="18288" marB="18288">
                    <a:solidFill>
                      <a:srgbClr val="00A39B"/>
                    </a:solidFill>
                  </a:tcPr>
                </a:tc>
              </a:tr>
              <a:tr h="422910">
                <a:tc>
                  <a:txBody>
                    <a:bodyPr wrap="square"/>
                    <a:lstStyle/>
                    <a:p>
                      <a:r>
                        <a:rPr sz="1000">
                          <a:solidFill>
                            <a:srgbClr val="1E252F"/>
                          </a:solidFill>
                          <a:latin typeface="Calibri"/>
                        </a:rPr>
                        <a:t>Runtime LLM (T1)</a:t>
                      </a:r>
                    </a:p>
                  </a:txBody>
                  <a:tcPr marL="45720" marR="45720" marT="18288" marB="18288">
                    <a:solidFill>
                      <a:srgbClr val="FFFFFF"/>
                    </a:solidFill>
                  </a:tcPr>
                </a:tc>
                <a:tc>
                  <a:txBody>
                    <a:bodyPr wrap="square"/>
                    <a:lstStyle/>
                    <a:p>
                      <a:r>
                        <a:rPr sz="1000">
                          <a:solidFill>
                            <a:srgbClr val="1E252F"/>
                          </a:solidFill>
                          <a:latin typeface="Calibri"/>
                        </a:rPr>
                        <a:t>GPT-4o-mini · Claude Haiku · Gemini Flash · Llama 8B self-host</a:t>
                      </a:r>
                    </a:p>
                  </a:txBody>
                  <a:tcPr marL="45720" marR="45720" marT="18288" marB="18288">
                    <a:solidFill>
                      <a:srgbClr val="FFFFFF"/>
                    </a:solidFill>
                  </a:tcPr>
                </a:tc>
                <a:tc>
                  <a:txBody>
                    <a:bodyPr wrap="square"/>
                    <a:lstStyle/>
                    <a:p>
                      <a:r>
                        <a:rPr sz="1000">
                          <a:solidFill>
                            <a:srgbClr val="1E252F"/>
                          </a:solidFill>
                          <a:latin typeface="Calibri"/>
                        </a:rPr>
                        <a:t>Managed small model qua LiteLLM, 2 provider</a:t>
                      </a:r>
                    </a:p>
                  </a:txBody>
                  <a:tcPr marL="45720" marR="45720" marT="18288" marB="18288">
                    <a:solidFill>
                      <a:srgbClr val="FFFFFF"/>
                    </a:solidFill>
                  </a:tcPr>
                </a:tc>
                <a:tc>
                  <a:txBody>
                    <a:bodyPr wrap="square"/>
                    <a:lstStyle/>
                    <a:p>
                      <a:r>
                        <a:rPr sz="1000">
                          <a:solidFill>
                            <a:srgbClr val="1E252F"/>
                          </a:solidFill>
                          <a:latin typeface="Calibri"/>
                        </a:rPr>
                        <a:t>Latency, cost, không cần GPU ops sớm; self-host khi ≥ 50k lượt nhãn</a:t>
                      </a:r>
                    </a:p>
                  </a:txBody>
                  <a:tcPr marL="45720" marR="45720" marT="18288" marB="18288">
                    <a:solidFill>
                      <a:srgbClr val="FFFFFF"/>
                    </a:solidFill>
                  </a:tcPr>
                </a:tc>
              </a:tr>
              <a:tr h="422910">
                <a:tc>
                  <a:txBody>
                    <a:bodyPr wrap="square"/>
                    <a:lstStyle/>
                    <a:p>
                      <a:r>
                        <a:rPr sz="1000">
                          <a:solidFill>
                            <a:srgbClr val="1E252F"/>
                          </a:solidFill>
                          <a:latin typeface="Calibri"/>
                        </a:rPr>
                        <a:t>Offline LLM (T3)</a:t>
                      </a:r>
                    </a:p>
                  </a:txBody>
                  <a:tcPr marL="45720" marR="45720" marT="18288" marB="18288">
                    <a:solidFill>
                      <a:srgbClr val="F4F6F9"/>
                    </a:solidFill>
                  </a:tcPr>
                </a:tc>
                <a:tc>
                  <a:txBody>
                    <a:bodyPr wrap="square"/>
                    <a:lstStyle/>
                    <a:p>
                      <a:r>
                        <a:rPr sz="1000">
                          <a:solidFill>
                            <a:srgbClr val="1E252F"/>
                          </a:solidFill>
                          <a:latin typeface="Calibri"/>
                        </a:rPr>
                        <a:t>GPT-4o · Claude Sonnet · Gemini Pro</a:t>
                      </a:r>
                    </a:p>
                  </a:txBody>
                  <a:tcPr marL="45720" marR="45720" marT="18288" marB="18288">
                    <a:solidFill>
                      <a:srgbClr val="F4F6F9"/>
                    </a:solidFill>
                  </a:tcPr>
                </a:tc>
                <a:tc>
                  <a:txBody>
                    <a:bodyPr wrap="square"/>
                    <a:lstStyle/>
                    <a:p>
                      <a:r>
                        <a:rPr sz="1000">
                          <a:solidFill>
                            <a:srgbClr val="1E252F"/>
                          </a:solidFill>
                          <a:latin typeface="Calibri"/>
                        </a:rPr>
                        <a:t>Frontier cho sinh ladder / judge / synthetic</a:t>
                      </a:r>
                    </a:p>
                  </a:txBody>
                  <a:tcPr marL="45720" marR="45720" marT="18288" marB="18288">
                    <a:solidFill>
                      <a:srgbClr val="F4F6F9"/>
                    </a:solidFill>
                  </a:tcPr>
                </a:tc>
                <a:tc>
                  <a:txBody>
                    <a:bodyPr wrap="square"/>
                    <a:lstStyle/>
                    <a:p>
                      <a:r>
                        <a:rPr sz="1000">
                          <a:solidFill>
                            <a:srgbClr val="1E252F"/>
                          </a:solidFill>
                          <a:latin typeface="Calibri"/>
                        </a:rPr>
                        <a:t>Chất lượng quan trọng hơn cost, chạy batch</a:t>
                      </a:r>
                    </a:p>
                  </a:txBody>
                  <a:tcPr marL="45720" marR="45720" marT="18288" marB="18288">
                    <a:solidFill>
                      <a:srgbClr val="F4F6F9"/>
                    </a:solidFill>
                  </a:tcPr>
                </a:tc>
              </a:tr>
              <a:tr h="422910">
                <a:tc>
                  <a:txBody>
                    <a:bodyPr wrap="square"/>
                    <a:lstStyle/>
                    <a:p>
                      <a:r>
                        <a:rPr sz="1000">
                          <a:solidFill>
                            <a:srgbClr val="1E252F"/>
                          </a:solidFill>
                          <a:latin typeface="Calibri"/>
                        </a:rPr>
                        <a:t>Vector store</a:t>
                      </a:r>
                    </a:p>
                  </a:txBody>
                  <a:tcPr marL="45720" marR="45720" marT="18288" marB="18288">
                    <a:solidFill>
                      <a:srgbClr val="FFFFFF"/>
                    </a:solidFill>
                  </a:tcPr>
                </a:tc>
                <a:tc>
                  <a:txBody>
                    <a:bodyPr wrap="square"/>
                    <a:lstStyle/>
                    <a:p>
                      <a:r>
                        <a:rPr sz="1000">
                          <a:solidFill>
                            <a:srgbClr val="1E252F"/>
                          </a:solidFill>
                          <a:latin typeface="Calibri"/>
                        </a:rPr>
                        <a:t>pgvector · Pinecone · Weaviate · OpenSearch</a:t>
                      </a:r>
                    </a:p>
                  </a:txBody>
                  <a:tcPr marL="45720" marR="45720" marT="18288" marB="18288">
                    <a:solidFill>
                      <a:srgbClr val="FFFFFF"/>
                    </a:solidFill>
                  </a:tcPr>
                </a:tc>
                <a:tc>
                  <a:txBody>
                    <a:bodyPr wrap="square"/>
                    <a:lstStyle/>
                    <a:p>
                      <a:r>
                        <a:rPr sz="1000">
                          <a:solidFill>
                            <a:srgbClr val="1E252F"/>
                          </a:solidFill>
                          <a:latin typeface="Calibri"/>
                        </a:rPr>
                        <a:t>Postgres + pgvector (HNSW)</a:t>
                      </a:r>
                    </a:p>
                  </a:txBody>
                  <a:tcPr marL="45720" marR="45720" marT="18288" marB="18288">
                    <a:solidFill>
                      <a:srgbClr val="FFFFFF"/>
                    </a:solidFill>
                  </a:tcPr>
                </a:tc>
                <a:tc>
                  <a:txBody>
                    <a:bodyPr wrap="square"/>
                    <a:lstStyle/>
                    <a:p>
                      <a:r>
                        <a:rPr sz="1000">
                          <a:solidFill>
                            <a:srgbClr val="1E252F"/>
                          </a:solidFill>
                          <a:latin typeface="Calibri"/>
                        </a:rPr>
                        <a:t>Corpus nhỏ (&lt; 5M chunk), 1 hệ thống, ACID với metadata</a:t>
                      </a:r>
                    </a:p>
                  </a:txBody>
                  <a:tcPr marL="45720" marR="45720" marT="18288" marB="18288">
                    <a:solidFill>
                      <a:srgbClr val="FFFFFF"/>
                    </a:solidFill>
                  </a:tcPr>
                </a:tc>
              </a:tr>
              <a:tr h="422910">
                <a:tc>
                  <a:txBody>
                    <a:bodyPr wrap="square"/>
                    <a:lstStyle/>
                    <a:p>
                      <a:r>
                        <a:rPr sz="1000">
                          <a:solidFill>
                            <a:srgbClr val="1E252F"/>
                          </a:solidFill>
                          <a:latin typeface="Calibri"/>
                        </a:rPr>
                        <a:t>Grader</a:t>
                      </a:r>
                    </a:p>
                  </a:txBody>
                  <a:tcPr marL="45720" marR="45720" marT="18288" marB="18288">
                    <a:solidFill>
                      <a:srgbClr val="F4F6F9"/>
                    </a:solidFill>
                  </a:tcPr>
                </a:tc>
                <a:tc>
                  <a:txBody>
                    <a:bodyPr wrap="square"/>
                    <a:lstStyle/>
                    <a:p>
                      <a:r>
                        <a:rPr sz="1000">
                          <a:solidFill>
                            <a:srgbClr val="1E252F"/>
                          </a:solidFill>
                          <a:latin typeface="Calibri"/>
                        </a:rPr>
                        <a:t>LLM · SymPy/CAS · Wolfram</a:t>
                      </a:r>
                    </a:p>
                  </a:txBody>
                  <a:tcPr marL="45720" marR="45720" marT="18288" marB="18288">
                    <a:solidFill>
                      <a:srgbClr val="F4F6F9"/>
                    </a:solidFill>
                  </a:tcPr>
                </a:tc>
                <a:tc>
                  <a:txBody>
                    <a:bodyPr wrap="square"/>
                    <a:lstStyle/>
                    <a:p>
                      <a:r>
                        <a:rPr sz="1000">
                          <a:solidFill>
                            <a:srgbClr val="1E252F"/>
                          </a:solidFill>
                          <a:latin typeface="Calibri"/>
                        </a:rPr>
                        <a:t>SymPy + rule</a:t>
                      </a:r>
                    </a:p>
                  </a:txBody>
                  <a:tcPr marL="45720" marR="45720" marT="18288" marB="18288">
                    <a:solidFill>
                      <a:srgbClr val="F4F6F9"/>
                    </a:solidFill>
                  </a:tcPr>
                </a:tc>
                <a:tc>
                  <a:txBody>
                    <a:bodyPr wrap="square"/>
                    <a:lstStyle/>
                    <a:p>
                      <a:r>
                        <a:rPr sz="1000">
                          <a:solidFill>
                            <a:srgbClr val="1E252F"/>
                          </a:solidFill>
                          <a:latin typeface="Calibri"/>
                        </a:rPr>
                        <a:t>Deterministic, miễn phí, giải thích được</a:t>
                      </a:r>
                    </a:p>
                  </a:txBody>
                  <a:tcPr marL="45720" marR="45720" marT="18288" marB="18288">
                    <a:solidFill>
                      <a:srgbClr val="F4F6F9"/>
                    </a:solidFill>
                  </a:tcPr>
                </a:tc>
              </a:tr>
              <a:tr h="422910">
                <a:tc>
                  <a:txBody>
                    <a:bodyPr wrap="square"/>
                    <a:lstStyle/>
                    <a:p>
                      <a:r>
                        <a:rPr sz="1000">
                          <a:solidFill>
                            <a:srgbClr val="1E252F"/>
                          </a:solidFill>
                          <a:latin typeface="Calibri"/>
                        </a:rPr>
                        <a:t>Learner model</a:t>
                      </a:r>
                    </a:p>
                  </a:txBody>
                  <a:tcPr marL="45720" marR="45720" marT="18288" marB="18288">
                    <a:solidFill>
                      <a:srgbClr val="FFFFFF"/>
                    </a:solidFill>
                  </a:tcPr>
                </a:tc>
                <a:tc>
                  <a:txBody>
                    <a:bodyPr wrap="square"/>
                    <a:lstStyle/>
                    <a:p>
                      <a:r>
                        <a:rPr sz="1000">
                          <a:solidFill>
                            <a:srgbClr val="1E252F"/>
                          </a:solidFill>
                          <a:latin typeface="Calibri"/>
                        </a:rPr>
                        <a:t>BKT · DKT (deep) · IRT</a:t>
                      </a:r>
                    </a:p>
                  </a:txBody>
                  <a:tcPr marL="45720" marR="45720" marT="18288" marB="18288">
                    <a:solidFill>
                      <a:srgbClr val="FFFFFF"/>
                    </a:solidFill>
                  </a:tcPr>
                </a:tc>
                <a:tc>
                  <a:txBody>
                    <a:bodyPr wrap="square"/>
                    <a:lstStyle/>
                    <a:p>
                      <a:r>
                        <a:rPr sz="1000">
                          <a:solidFill>
                            <a:srgbClr val="1E252F"/>
                          </a:solidFill>
                          <a:latin typeface="Calibri"/>
                        </a:rPr>
                        <a:t>BKT</a:t>
                      </a:r>
                    </a:p>
                  </a:txBody>
                  <a:tcPr marL="45720" marR="45720" marT="18288" marB="18288">
                    <a:solidFill>
                      <a:srgbClr val="FFFFFF"/>
                    </a:solidFill>
                  </a:tcPr>
                </a:tc>
                <a:tc>
                  <a:txBody>
                    <a:bodyPr wrap="square"/>
                    <a:lstStyle/>
                    <a:p>
                      <a:r>
                        <a:rPr sz="1000">
                          <a:solidFill>
                            <a:srgbClr val="1E252F"/>
                          </a:solidFill>
                          <a:latin typeface="Calibri"/>
                        </a:rPr>
                        <a:t>Ít data, giải thích được; DKT khi đủ event</a:t>
                      </a:r>
                    </a:p>
                  </a:txBody>
                  <a:tcPr marL="45720" marR="45720" marT="18288" marB="18288">
                    <a:solidFill>
                      <a:srgbClr val="FFFFFF"/>
                    </a:solidFill>
                  </a:tcPr>
                </a:tc>
              </a:tr>
              <a:tr h="422910">
                <a:tc>
                  <a:txBody>
                    <a:bodyPr wrap="square"/>
                    <a:lstStyle/>
                    <a:p>
                      <a:r>
                        <a:rPr sz="1000">
                          <a:solidFill>
                            <a:srgbClr val="1E252F"/>
                          </a:solidFill>
                          <a:latin typeface="Calibri"/>
                        </a:rPr>
                        <a:t>Cloud</a:t>
                      </a:r>
                    </a:p>
                  </a:txBody>
                  <a:tcPr marL="45720" marR="45720" marT="18288" marB="18288">
                    <a:solidFill>
                      <a:srgbClr val="F4F6F9"/>
                    </a:solidFill>
                  </a:tcPr>
                </a:tc>
                <a:tc>
                  <a:txBody>
                    <a:bodyPr wrap="square"/>
                    <a:lstStyle/>
                    <a:p>
                      <a:r>
                        <a:rPr sz="1000">
                          <a:solidFill>
                            <a:srgbClr val="1E252F"/>
                          </a:solidFill>
                          <a:latin typeface="Calibri"/>
                        </a:rPr>
                        <a:t>AWS · GCP · Azure</a:t>
                      </a:r>
                    </a:p>
                  </a:txBody>
                  <a:tcPr marL="45720" marR="45720" marT="18288" marB="18288">
                    <a:solidFill>
                      <a:srgbClr val="F4F6F9"/>
                    </a:solidFill>
                  </a:tcPr>
                </a:tc>
                <a:tc>
                  <a:txBody>
                    <a:bodyPr wrap="square"/>
                    <a:lstStyle/>
                    <a:p>
                      <a:r>
                        <a:rPr sz="1000">
                          <a:solidFill>
                            <a:srgbClr val="1E252F"/>
                          </a:solidFill>
                          <a:latin typeface="Calibri"/>
                        </a:rPr>
                        <a:t>AWS (EKS, Aurora, MSK, Bedrock)</a:t>
                      </a:r>
                    </a:p>
                  </a:txBody>
                  <a:tcPr marL="45720" marR="45720" marT="18288" marB="18288">
                    <a:solidFill>
                      <a:srgbClr val="F4F6F9"/>
                    </a:solidFill>
                  </a:tcPr>
                </a:tc>
                <a:tc>
                  <a:txBody>
                    <a:bodyPr wrap="square"/>
                    <a:lstStyle/>
                    <a:p>
                      <a:r>
                        <a:rPr sz="1000">
                          <a:solidFill>
                            <a:srgbClr val="1E252F"/>
                          </a:solidFill>
                          <a:latin typeface="Calibri"/>
                        </a:rPr>
                        <a:t>Đội đã có; portable qua K8s/Postgres/Kafka/S3-API</a:t>
                      </a:r>
                    </a:p>
                  </a:txBody>
                  <a:tcPr marL="45720" marR="45720" marT="18288" marB="18288">
                    <a:solidFill>
                      <a:srgbClr val="F4F6F9"/>
                    </a:solidFill>
                  </a:tcPr>
                </a:tc>
              </a:tr>
              <a:tr h="422910">
                <a:tc>
                  <a:txBody>
                    <a:bodyPr wrap="square"/>
                    <a:lstStyle/>
                    <a:p>
                      <a:r>
                        <a:rPr sz="1000">
                          <a:solidFill>
                            <a:srgbClr val="1E252F"/>
                          </a:solidFill>
                          <a:latin typeface="Calibri"/>
                        </a:rPr>
                        <a:t>Gateway</a:t>
                      </a:r>
                    </a:p>
                  </a:txBody>
                  <a:tcPr marL="45720" marR="45720" marT="18288" marB="18288">
                    <a:solidFill>
                      <a:srgbClr val="FFFFFF"/>
                    </a:solidFill>
                  </a:tcPr>
                </a:tc>
                <a:tc>
                  <a:txBody>
                    <a:bodyPr wrap="square"/>
                    <a:lstStyle/>
                    <a:p>
                      <a:r>
                        <a:rPr sz="1000">
                          <a:solidFill>
                            <a:srgbClr val="1E252F"/>
                          </a:solidFill>
                          <a:latin typeface="Calibri"/>
                        </a:rPr>
                        <a:t>LiteLLM · Portkey · tự viết</a:t>
                      </a:r>
                    </a:p>
                  </a:txBody>
                  <a:tcPr marL="45720" marR="45720" marT="18288" marB="18288">
                    <a:solidFill>
                      <a:srgbClr val="FFFFFF"/>
                    </a:solidFill>
                  </a:tcPr>
                </a:tc>
                <a:tc>
                  <a:txBody>
                    <a:bodyPr wrap="square"/>
                    <a:lstStyle/>
                    <a:p>
                      <a:r>
                        <a:rPr sz="1000">
                          <a:solidFill>
                            <a:srgbClr val="1E252F"/>
                          </a:solidFill>
                          <a:latin typeface="Calibri"/>
                        </a:rPr>
                        <a:t>LiteLLM</a:t>
                      </a:r>
                    </a:p>
                  </a:txBody>
                  <a:tcPr marL="45720" marR="45720" marT="18288" marB="18288">
                    <a:solidFill>
                      <a:srgbClr val="FFFFFF"/>
                    </a:solidFill>
                  </a:tcPr>
                </a:tc>
                <a:tc>
                  <a:txBody>
                    <a:bodyPr wrap="square"/>
                    <a:lstStyle/>
                    <a:p>
                      <a:r>
                        <a:rPr sz="1000">
                          <a:solidFill>
                            <a:srgbClr val="1E252F"/>
                          </a:solidFill>
                          <a:latin typeface="Calibri"/>
                        </a:rPr>
                        <a:t>OSS, tiering, fallback, cache, ledger cost</a:t>
                      </a:r>
                    </a:p>
                  </a:txBody>
                  <a:tcPr marL="45720" marR="45720" marT="18288" marB="18288">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01200" cy="731520"/>
          </a:xfrm>
          <a:prstGeom prst="rect">
            <a:avLst/>
          </a:prstGeom>
          <a:noFill/>
        </p:spPr>
        <p:txBody>
          <a:bodyPr wrap="square" lIns="73152" rIns="73152" tIns="36576" bIns="36576" anchor="ctr">
            <a:spAutoFit/>
          </a:bodyPr>
          <a:lstStyle/>
          <a:p>
            <a:pPr algn="l">
              <a:spcAft>
                <a:spcPts val="400"/>
              </a:spcAft>
            </a:pPr>
            <a:r>
              <a:rPr sz="2600" b="1">
                <a:solidFill>
                  <a:srgbClr val="FFFFFF"/>
                </a:solidFill>
                <a:latin typeface="Calibri"/>
              </a:rPr>
              <a:t>Appendix B · Cloud deployment (AWS, vendor-neutral)</a:t>
            </a:r>
          </a:p>
        </p:txBody>
      </p:sp>
      <p:sp>
        <p:nvSpPr>
          <p:cNvPr id="4" name="TextBox 3"/>
          <p:cNvSpPr txBox="1"/>
          <p:nvPr/>
        </p:nvSpPr>
        <p:spPr>
          <a:xfrm>
            <a:off x="9692640" y="109728"/>
            <a:ext cx="2286000" cy="365760"/>
          </a:xfrm>
          <a:prstGeom prst="rect">
            <a:avLst/>
          </a:prstGeom>
          <a:noFill/>
        </p:spPr>
        <p:txBody>
          <a:bodyPr wrap="square" lIns="73152" rIns="73152" tIns="36576" bIns="36576" anchor="t">
            <a:spAutoFit/>
          </a:bodyPr>
          <a:lstStyle/>
          <a:p>
            <a:pPr algn="r">
              <a:spcAft>
                <a:spcPts val="400"/>
              </a:spcAft>
            </a:pPr>
            <a:r>
              <a:rPr sz="1200" b="1">
                <a:solidFill>
                  <a:srgbClr val="00A39B"/>
                </a:solidFill>
                <a:latin typeface="Calibri"/>
              </a:rPr>
              <a:t>PIC: Bình (M5)</a:t>
            </a:r>
          </a:p>
        </p:txBody>
      </p:sp>
      <p:sp>
        <p:nvSpPr>
          <p:cNvPr id="5" name="TextBox 4"/>
          <p:cNvSpPr txBox="1"/>
          <p:nvPr/>
        </p:nvSpPr>
        <p:spPr>
          <a:xfrm>
            <a:off x="9692640" y="457200"/>
            <a:ext cx="2286000" cy="365760"/>
          </a:xfrm>
          <a:prstGeom prst="rect">
            <a:avLst/>
          </a:prstGeom>
          <a:noFill/>
        </p:spPr>
        <p:txBody>
          <a:bodyPr wrap="square" lIns="73152" rIns="73152" tIns="36576" bIns="36576" anchor="t">
            <a:spAutoFit/>
          </a:bodyPr>
          <a:lstStyle/>
          <a:p>
            <a:pPr algn="r">
              <a:spcAft>
                <a:spcPts val="400"/>
              </a:spcAft>
            </a:pPr>
            <a:r>
              <a:rPr sz="1100" b="0">
                <a:solidFill>
                  <a:srgbClr val="F28C28"/>
                </a:solidFill>
                <a:latin typeface="Calibri"/>
              </a:rPr>
              <a:t>Rubric 4.3</a:t>
            </a:r>
          </a:p>
        </p:txBody>
      </p:sp>
      <p:sp>
        <p:nvSpPr>
          <p:cNvPr id="6" name="Rectangle 5"/>
          <p:cNvSpPr/>
          <p:nvPr/>
        </p:nvSpPr>
        <p:spPr>
          <a:xfrm>
            <a:off x="0" y="6537960"/>
            <a:ext cx="12191695" cy="3200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37960"/>
            <a:ext cx="8229600" cy="320040"/>
          </a:xfrm>
          <a:prstGeom prst="rect">
            <a:avLst/>
          </a:prstGeom>
          <a:noFill/>
        </p:spPr>
        <p:txBody>
          <a:bodyPr wrap="square" lIns="73152" rIns="73152" tIns="36576" bIns="36576" anchor="ctr">
            <a:spAutoFit/>
          </a:bodyPr>
          <a:lstStyle/>
          <a:p>
            <a:pPr algn="l">
              <a:spcAft>
                <a:spcPts val="400"/>
              </a:spcAft>
            </a:pPr>
            <a:r>
              <a:rPr sz="1000" b="0">
                <a:solidFill>
                  <a:srgbClr val="5F6B7A"/>
                </a:solidFill>
                <a:latin typeface="Calibri"/>
              </a:rPr>
              <a:t>TutorMate · EduNova · Workshop 2 – Scenario B · ATAD v1.0</a:t>
            </a:r>
          </a:p>
        </p:txBody>
      </p:sp>
      <p:sp>
        <p:nvSpPr>
          <p:cNvPr id="8" name="TextBox 7"/>
          <p:cNvSpPr txBox="1"/>
          <p:nvPr/>
        </p:nvSpPr>
        <p:spPr>
          <a:xfrm>
            <a:off x="10972800" y="6537960"/>
            <a:ext cx="914400" cy="320040"/>
          </a:xfrm>
          <a:prstGeom prst="rect">
            <a:avLst/>
          </a:prstGeom>
          <a:noFill/>
        </p:spPr>
        <p:txBody>
          <a:bodyPr wrap="square" lIns="73152" rIns="73152" tIns="36576" bIns="36576" anchor="ctr">
            <a:spAutoFit/>
          </a:bodyPr>
          <a:lstStyle/>
          <a:p>
            <a:pPr algn="r">
              <a:spcAft>
                <a:spcPts val="400"/>
              </a:spcAft>
            </a:pPr>
            <a:r>
              <a:rPr sz="1000" b="0">
                <a:solidFill>
                  <a:srgbClr val="5F6B7A"/>
                </a:solidFill>
                <a:latin typeface="Calibri"/>
              </a:rPr>
              <a:t>B / 14</a:t>
            </a:r>
          </a:p>
        </p:txBody>
      </p:sp>
      <p:graphicFrame>
        <p:nvGraphicFramePr>
          <p:cNvPr id="9" name="Table 8"/>
          <p:cNvGraphicFramePr>
            <a:graphicFrameLocks noGrp="1"/>
          </p:cNvGraphicFramePr>
          <p:nvPr/>
        </p:nvGraphicFramePr>
        <p:xfrm>
          <a:off x="365760" y="1097280"/>
          <a:ext cx="11430000" cy="4846320"/>
        </p:xfrm>
        <a:graphic>
          <a:graphicData uri="http://schemas.openxmlformats.org/drawingml/2006/table">
            <a:tbl>
              <a:tblPr firstRow="1" bandRow="1">
                <a:tableStyleId>{5C22544A-7EE6-4342-B048-85BDC9FD1C3A}</a:tableStyleId>
              </a:tblPr>
              <a:tblGrid>
                <a:gridCol w="1463040"/>
                <a:gridCol w="3657600"/>
                <a:gridCol w="3566160"/>
                <a:gridCol w="2743200"/>
              </a:tblGrid>
              <a:tr h="403860">
                <a:tc>
                  <a:txBody>
                    <a:bodyPr wrap="square"/>
                    <a:lstStyle/>
                    <a:p>
                      <a:r>
                        <a:rPr sz="900" b="1">
                          <a:solidFill>
                            <a:srgbClr val="FFFFFF"/>
                          </a:solidFill>
                          <a:latin typeface="Calibri"/>
                        </a:rPr>
                        <a:t>Lớp</a:t>
                      </a:r>
                    </a:p>
                  </a:txBody>
                  <a:tcPr marL="45720" marR="45720" marT="18288" marB="18288">
                    <a:solidFill>
                      <a:srgbClr val="00A39B"/>
                    </a:solidFill>
                  </a:tcPr>
                </a:tc>
                <a:tc>
                  <a:txBody>
                    <a:bodyPr wrap="square"/>
                    <a:lstStyle/>
                    <a:p>
                      <a:r>
                        <a:rPr sz="900" b="1">
                          <a:solidFill>
                            <a:srgbClr val="FFFFFF"/>
                          </a:solidFill>
                          <a:latin typeface="Calibri"/>
                        </a:rPr>
                        <a:t>Thành phần AWS</a:t>
                      </a:r>
                    </a:p>
                  </a:txBody>
                  <a:tcPr marL="45720" marR="45720" marT="18288" marB="18288">
                    <a:solidFill>
                      <a:srgbClr val="00A39B"/>
                    </a:solidFill>
                  </a:tcPr>
                </a:tc>
                <a:tc>
                  <a:txBody>
                    <a:bodyPr wrap="square"/>
                    <a:lstStyle/>
                    <a:p>
                      <a:r>
                        <a:rPr sz="900" b="1">
                          <a:solidFill>
                            <a:srgbClr val="FFFFFF"/>
                          </a:solidFill>
                          <a:latin typeface="Calibri"/>
                        </a:rPr>
                        <a:t>Cấu hình MVP → 8× peak</a:t>
                      </a:r>
                    </a:p>
                  </a:txBody>
                  <a:tcPr marL="45720" marR="45720" marT="18288" marB="18288">
                    <a:solidFill>
                      <a:srgbClr val="00A39B"/>
                    </a:solidFill>
                  </a:tcPr>
                </a:tc>
                <a:tc>
                  <a:txBody>
                    <a:bodyPr wrap="square"/>
                    <a:lstStyle/>
                    <a:p>
                      <a:r>
                        <a:rPr sz="900" b="1">
                          <a:solidFill>
                            <a:srgbClr val="FFFFFF"/>
                          </a:solidFill>
                          <a:latin typeface="Calibri"/>
                        </a:rPr>
                        <a:t>Thay thế (neutral)</a:t>
                      </a:r>
                    </a:p>
                  </a:txBody>
                  <a:tcPr marL="45720" marR="45720" marT="18288" marB="18288">
                    <a:solidFill>
                      <a:srgbClr val="00A39B"/>
                    </a:solidFill>
                  </a:tcPr>
                </a:tc>
              </a:tr>
              <a:tr h="403860">
                <a:tc>
                  <a:txBody>
                    <a:bodyPr wrap="square"/>
                    <a:lstStyle/>
                    <a:p>
                      <a:r>
                        <a:rPr sz="900">
                          <a:solidFill>
                            <a:srgbClr val="1E252F"/>
                          </a:solidFill>
                          <a:latin typeface="Calibri"/>
                        </a:rPr>
                        <a:t>Region / HA</a:t>
                      </a:r>
                    </a:p>
                  </a:txBody>
                  <a:tcPr marL="45720" marR="45720" marT="18288" marB="18288">
                    <a:solidFill>
                      <a:srgbClr val="FFFFFF"/>
                    </a:solidFill>
                  </a:tcPr>
                </a:tc>
                <a:tc>
                  <a:txBody>
                    <a:bodyPr wrap="square"/>
                    <a:lstStyle/>
                    <a:p>
                      <a:r>
                        <a:rPr sz="900">
                          <a:solidFill>
                            <a:srgbClr val="1E252F"/>
                          </a:solidFill>
                          <a:latin typeface="Calibri"/>
                        </a:rPr>
                        <a:t>ap-southeast-1, 3 AZ</a:t>
                      </a:r>
                    </a:p>
                  </a:txBody>
                  <a:tcPr marL="45720" marR="45720" marT="18288" marB="18288">
                    <a:solidFill>
                      <a:srgbClr val="FFFFFF"/>
                    </a:solidFill>
                  </a:tcPr>
                </a:tc>
                <a:tc>
                  <a:txBody>
                    <a:bodyPr wrap="square"/>
                    <a:lstStyle/>
                    <a:p>
                      <a:r>
                        <a:rPr sz="900">
                          <a:solidFill>
                            <a:srgbClr val="1E252F"/>
                          </a:solidFill>
                          <a:latin typeface="Calibri"/>
                        </a:rPr>
                        <a:t>Multi-AZ; DR warm ap-northeast-1 (RPO 15’)</a:t>
                      </a:r>
                    </a:p>
                  </a:txBody>
                  <a:tcPr marL="45720" marR="45720" marT="18288" marB="18288">
                    <a:solidFill>
                      <a:srgbClr val="FFFFFF"/>
                    </a:solidFill>
                  </a:tcPr>
                </a:tc>
                <a:tc>
                  <a:txBody>
                    <a:bodyPr wrap="square"/>
                    <a:lstStyle/>
                    <a:p>
                      <a:r>
                        <a:rPr sz="900">
                          <a:solidFill>
                            <a:srgbClr val="1E252F"/>
                          </a:solidFill>
                          <a:latin typeface="Calibri"/>
                        </a:rPr>
                        <a:t>Bất kỳ region 3 AZ</a:t>
                      </a:r>
                    </a:p>
                  </a:txBody>
                  <a:tcPr marL="45720" marR="45720" marT="18288" marB="18288">
                    <a:solidFill>
                      <a:srgbClr val="FFFFFF"/>
                    </a:solidFill>
                  </a:tcPr>
                </a:tc>
              </a:tr>
              <a:tr h="403860">
                <a:tc>
                  <a:txBody>
                    <a:bodyPr wrap="square"/>
                    <a:lstStyle/>
                    <a:p>
                      <a:r>
                        <a:rPr sz="900">
                          <a:solidFill>
                            <a:srgbClr val="1E252F"/>
                          </a:solidFill>
                          <a:latin typeface="Calibri"/>
                        </a:rPr>
                        <a:t>Network</a:t>
                      </a:r>
                    </a:p>
                  </a:txBody>
                  <a:tcPr marL="45720" marR="45720" marT="18288" marB="18288">
                    <a:solidFill>
                      <a:srgbClr val="F4F6F9"/>
                    </a:solidFill>
                  </a:tcPr>
                </a:tc>
                <a:tc>
                  <a:txBody>
                    <a:bodyPr wrap="square"/>
                    <a:lstStyle/>
                    <a:p>
                      <a:r>
                        <a:rPr sz="900">
                          <a:solidFill>
                            <a:srgbClr val="1E252F"/>
                          </a:solidFill>
                          <a:latin typeface="Calibri"/>
                        </a:rPr>
                        <a:t>VPC private subnets · NAT · PrivateLink tới Bedrock</a:t>
                      </a:r>
                    </a:p>
                  </a:txBody>
                  <a:tcPr marL="45720" marR="45720" marT="18288" marB="18288">
                    <a:solidFill>
                      <a:srgbClr val="F4F6F9"/>
                    </a:solidFill>
                  </a:tcPr>
                </a:tc>
                <a:tc>
                  <a:txBody>
                    <a:bodyPr wrap="square"/>
                    <a:lstStyle/>
                    <a:p>
                      <a:r>
                        <a:rPr sz="900">
                          <a:solidFill>
                            <a:srgbClr val="1E252F"/>
                          </a:solidFill>
                          <a:latin typeface="Calibri"/>
                        </a:rPr>
                        <a:t>Egress chỉ qua gateway allowlist</a:t>
                      </a:r>
                    </a:p>
                  </a:txBody>
                  <a:tcPr marL="45720" marR="45720" marT="18288" marB="18288">
                    <a:solidFill>
                      <a:srgbClr val="F4F6F9"/>
                    </a:solidFill>
                  </a:tcPr>
                </a:tc>
                <a:tc>
                  <a:txBody>
                    <a:bodyPr wrap="square"/>
                    <a:lstStyle/>
                    <a:p>
                      <a:r>
                        <a:rPr sz="900">
                          <a:solidFill>
                            <a:srgbClr val="1E252F"/>
                          </a:solidFill>
                          <a:latin typeface="Calibri"/>
                        </a:rPr>
                        <a:t>Tương đương mọi cloud</a:t>
                      </a:r>
                    </a:p>
                  </a:txBody>
                  <a:tcPr marL="45720" marR="45720" marT="18288" marB="18288">
                    <a:solidFill>
                      <a:srgbClr val="F4F6F9"/>
                    </a:solidFill>
                  </a:tcPr>
                </a:tc>
              </a:tr>
              <a:tr h="403860">
                <a:tc>
                  <a:txBody>
                    <a:bodyPr wrap="square"/>
                    <a:lstStyle/>
                    <a:p>
                      <a:r>
                        <a:rPr sz="900">
                          <a:solidFill>
                            <a:srgbClr val="1E252F"/>
                          </a:solidFill>
                          <a:latin typeface="Calibri"/>
                        </a:rPr>
                        <a:t>Edge / API</a:t>
                      </a:r>
                    </a:p>
                  </a:txBody>
                  <a:tcPr marL="45720" marR="45720" marT="18288" marB="18288">
                    <a:solidFill>
                      <a:srgbClr val="FFFFFF"/>
                    </a:solidFill>
                  </a:tcPr>
                </a:tc>
                <a:tc>
                  <a:txBody>
                    <a:bodyPr wrap="square"/>
                    <a:lstStyle/>
                    <a:p>
                      <a:r>
                        <a:rPr sz="900">
                          <a:solidFill>
                            <a:srgbClr val="1E252F"/>
                          </a:solidFill>
                          <a:latin typeface="Calibri"/>
                        </a:rPr>
                        <a:t>CloudFront · WAF · ALB · API Gateway (WebSocket streaming)</a:t>
                      </a:r>
                    </a:p>
                  </a:txBody>
                  <a:tcPr marL="45720" marR="45720" marT="18288" marB="18288">
                    <a:solidFill>
                      <a:srgbClr val="FFFFFF"/>
                    </a:solidFill>
                  </a:tcPr>
                </a:tc>
                <a:tc>
                  <a:txBody>
                    <a:bodyPr wrap="square"/>
                    <a:lstStyle/>
                    <a:p>
                      <a:r>
                        <a:rPr sz="900">
                          <a:solidFill>
                            <a:srgbClr val="1E252F"/>
                          </a:solidFill>
                          <a:latin typeface="Calibri"/>
                        </a:rPr>
                        <a:t>Rate-limit / quota theo user &amp; cohort</a:t>
                      </a:r>
                    </a:p>
                  </a:txBody>
                  <a:tcPr marL="45720" marR="45720" marT="18288" marB="18288">
                    <a:solidFill>
                      <a:srgbClr val="FFFFFF"/>
                    </a:solidFill>
                  </a:tcPr>
                </a:tc>
                <a:tc>
                  <a:txBody>
                    <a:bodyPr wrap="square"/>
                    <a:lstStyle/>
                    <a:p>
                      <a:r>
                        <a:rPr sz="900">
                          <a:solidFill>
                            <a:srgbClr val="1E252F"/>
                          </a:solidFill>
                          <a:latin typeface="Calibri"/>
                        </a:rPr>
                        <a:t>Cloud LB + WAF</a:t>
                      </a:r>
                    </a:p>
                  </a:txBody>
                  <a:tcPr marL="45720" marR="45720" marT="18288" marB="18288">
                    <a:solidFill>
                      <a:srgbClr val="FFFFFF"/>
                    </a:solidFill>
                  </a:tcPr>
                </a:tc>
              </a:tr>
              <a:tr h="403860">
                <a:tc>
                  <a:txBody>
                    <a:bodyPr wrap="square"/>
                    <a:lstStyle/>
                    <a:p>
                      <a:r>
                        <a:rPr sz="900">
                          <a:solidFill>
                            <a:srgbClr val="1E252F"/>
                          </a:solidFill>
                          <a:latin typeface="Calibri"/>
                        </a:rPr>
                        <a:t>Compute</a:t>
                      </a:r>
                    </a:p>
                  </a:txBody>
                  <a:tcPr marL="45720" marR="45720" marT="18288" marB="18288">
                    <a:solidFill>
                      <a:srgbClr val="F4F6F9"/>
                    </a:solidFill>
                  </a:tcPr>
                </a:tc>
                <a:tc>
                  <a:txBody>
                    <a:bodyPr wrap="square"/>
                    <a:lstStyle/>
                    <a:p>
                      <a:r>
                        <a:rPr sz="900">
                          <a:solidFill>
                            <a:srgbClr val="1E252F"/>
                          </a:solidFill>
                          <a:latin typeface="Calibri"/>
                        </a:rPr>
                        <a:t>EKS (Graviton) · HPA + KEDA (Kafka lag)</a:t>
                      </a:r>
                    </a:p>
                  </a:txBody>
                  <a:tcPr marL="45720" marR="45720" marT="18288" marB="18288">
                    <a:solidFill>
                      <a:srgbClr val="F4F6F9"/>
                    </a:solidFill>
                  </a:tcPr>
                </a:tc>
                <a:tc>
                  <a:txBody>
                    <a:bodyPr wrap="square"/>
                    <a:lstStyle/>
                    <a:p>
                      <a:r>
                        <a:rPr sz="900">
                          <a:solidFill>
                            <a:srgbClr val="1E252F"/>
                          </a:solidFill>
                          <a:latin typeface="Calibri"/>
                        </a:rPr>
                        <a:t>Orchestrator 6 → 48 pod · Guard 4 → 32 · Grader 4 → 24</a:t>
                      </a:r>
                    </a:p>
                  </a:txBody>
                  <a:tcPr marL="45720" marR="45720" marT="18288" marB="18288">
                    <a:solidFill>
                      <a:srgbClr val="F4F6F9"/>
                    </a:solidFill>
                  </a:tcPr>
                </a:tc>
                <a:tc>
                  <a:txBody>
                    <a:bodyPr wrap="square"/>
                    <a:lstStyle/>
                    <a:p>
                      <a:r>
                        <a:rPr sz="900">
                          <a:solidFill>
                            <a:srgbClr val="1E252F"/>
                          </a:solidFill>
                          <a:latin typeface="Calibri"/>
                        </a:rPr>
                        <a:t>Bất kỳ K8s</a:t>
                      </a:r>
                    </a:p>
                  </a:txBody>
                  <a:tcPr marL="45720" marR="45720" marT="18288" marB="18288">
                    <a:solidFill>
                      <a:srgbClr val="F4F6F9"/>
                    </a:solidFill>
                  </a:tcPr>
                </a:tc>
              </a:tr>
              <a:tr h="403860">
                <a:tc>
                  <a:txBody>
                    <a:bodyPr wrap="square"/>
                    <a:lstStyle/>
                    <a:p>
                      <a:r>
                        <a:rPr sz="900">
                          <a:solidFill>
                            <a:srgbClr val="1E252F"/>
                          </a:solidFill>
                          <a:latin typeface="Calibri"/>
                        </a:rPr>
                        <a:t>State</a:t>
                      </a:r>
                    </a:p>
                  </a:txBody>
                  <a:tcPr marL="45720" marR="45720" marT="18288" marB="18288">
                    <a:solidFill>
                      <a:srgbClr val="FFFFFF"/>
                    </a:solidFill>
                  </a:tcPr>
                </a:tc>
                <a:tc>
                  <a:txBody>
                    <a:bodyPr wrap="square"/>
                    <a:lstStyle/>
                    <a:p>
                      <a:r>
                        <a:rPr sz="900">
                          <a:solidFill>
                            <a:srgbClr val="1E252F"/>
                          </a:solidFill>
                          <a:latin typeface="Calibri"/>
                        </a:rPr>
                        <a:t>Aurora PostgreSQL + pgvector · read replica</a:t>
                      </a:r>
                    </a:p>
                  </a:txBody>
                  <a:tcPr marL="45720" marR="45720" marT="18288" marB="18288">
                    <a:solidFill>
                      <a:srgbClr val="FFFFFF"/>
                    </a:solidFill>
                  </a:tcPr>
                </a:tc>
                <a:tc>
                  <a:txBody>
                    <a:bodyPr wrap="square"/>
                    <a:lstStyle/>
                    <a:p>
                      <a:r>
                        <a:rPr sz="900">
                          <a:solidFill>
                            <a:srgbClr val="1E252F"/>
                          </a:solidFill>
                          <a:latin typeface="Calibri"/>
                        </a:rPr>
                        <a:t>r7g.xlarge ×2 → ×4; ladder cache Redis</a:t>
                      </a:r>
                    </a:p>
                  </a:txBody>
                  <a:tcPr marL="45720" marR="45720" marT="18288" marB="18288">
                    <a:solidFill>
                      <a:srgbClr val="FFFFFF"/>
                    </a:solidFill>
                  </a:tcPr>
                </a:tc>
                <a:tc>
                  <a:txBody>
                    <a:bodyPr wrap="square"/>
                    <a:lstStyle/>
                    <a:p>
                      <a:r>
                        <a:rPr sz="900">
                          <a:solidFill>
                            <a:srgbClr val="1E252F"/>
                          </a:solidFill>
                          <a:latin typeface="Calibri"/>
                        </a:rPr>
                        <a:t>Postgres bất kỳ</a:t>
                      </a:r>
                    </a:p>
                  </a:txBody>
                  <a:tcPr marL="45720" marR="45720" marT="18288" marB="18288">
                    <a:solidFill>
                      <a:srgbClr val="FFFFFF"/>
                    </a:solidFill>
                  </a:tcPr>
                </a:tc>
              </a:tr>
              <a:tr h="403860">
                <a:tc>
                  <a:txBody>
                    <a:bodyPr wrap="square"/>
                    <a:lstStyle/>
                    <a:p>
                      <a:r>
                        <a:rPr sz="900">
                          <a:solidFill>
                            <a:srgbClr val="1E252F"/>
                          </a:solidFill>
                          <a:latin typeface="Calibri"/>
                        </a:rPr>
                        <a:t>Cache / session</a:t>
                      </a:r>
                    </a:p>
                  </a:txBody>
                  <a:tcPr marL="45720" marR="45720" marT="18288" marB="18288">
                    <a:solidFill>
                      <a:srgbClr val="F4F6F9"/>
                    </a:solidFill>
                  </a:tcPr>
                </a:tc>
                <a:tc>
                  <a:txBody>
                    <a:bodyPr wrap="square"/>
                    <a:lstStyle/>
                    <a:p>
                      <a:r>
                        <a:rPr sz="900">
                          <a:solidFill>
                            <a:srgbClr val="1E252F"/>
                          </a:solidFill>
                          <a:latin typeface="Calibri"/>
                        </a:rPr>
                        <a:t>ElastiCache Redis cluster</a:t>
                      </a:r>
                    </a:p>
                  </a:txBody>
                  <a:tcPr marL="45720" marR="45720" marT="18288" marB="18288">
                    <a:solidFill>
                      <a:srgbClr val="F4F6F9"/>
                    </a:solidFill>
                  </a:tcPr>
                </a:tc>
                <a:tc>
                  <a:txBody>
                    <a:bodyPr wrap="square"/>
                    <a:lstStyle/>
                    <a:p>
                      <a:r>
                        <a:rPr sz="900">
                          <a:solidFill>
                            <a:srgbClr val="1E252F"/>
                          </a:solidFill>
                          <a:latin typeface="Calibri"/>
                        </a:rPr>
                        <a:t>6 shard · TTL phiên 2h</a:t>
                      </a:r>
                    </a:p>
                  </a:txBody>
                  <a:tcPr marL="45720" marR="45720" marT="18288" marB="18288">
                    <a:solidFill>
                      <a:srgbClr val="F4F6F9"/>
                    </a:solidFill>
                  </a:tcPr>
                </a:tc>
                <a:tc>
                  <a:txBody>
                    <a:bodyPr wrap="square"/>
                    <a:lstStyle/>
                    <a:p>
                      <a:r>
                        <a:rPr sz="900">
                          <a:solidFill>
                            <a:srgbClr val="1E252F"/>
                          </a:solidFill>
                          <a:latin typeface="Calibri"/>
                        </a:rPr>
                        <a:t>Redis / Valkey</a:t>
                      </a:r>
                    </a:p>
                  </a:txBody>
                  <a:tcPr marL="45720" marR="45720" marT="18288" marB="18288">
                    <a:solidFill>
                      <a:srgbClr val="F4F6F9"/>
                    </a:solidFill>
                  </a:tcPr>
                </a:tc>
              </a:tr>
              <a:tr h="403860">
                <a:tc>
                  <a:txBody>
                    <a:bodyPr wrap="square"/>
                    <a:lstStyle/>
                    <a:p>
                      <a:r>
                        <a:rPr sz="900">
                          <a:solidFill>
                            <a:srgbClr val="1E252F"/>
                          </a:solidFill>
                          <a:latin typeface="Calibri"/>
                        </a:rPr>
                        <a:t>Streaming</a:t>
                      </a:r>
                    </a:p>
                  </a:txBody>
                  <a:tcPr marL="45720" marR="45720" marT="18288" marB="18288">
                    <a:solidFill>
                      <a:srgbClr val="FFFFFF"/>
                    </a:solidFill>
                  </a:tcPr>
                </a:tc>
                <a:tc>
                  <a:txBody>
                    <a:bodyPr wrap="square"/>
                    <a:lstStyle/>
                    <a:p>
                      <a:r>
                        <a:rPr sz="900">
                          <a:solidFill>
                            <a:srgbClr val="1E252F"/>
                          </a:solidFill>
                          <a:latin typeface="Calibri"/>
                        </a:rPr>
                        <a:t>MSK (Kafka)</a:t>
                      </a:r>
                    </a:p>
                  </a:txBody>
                  <a:tcPr marL="45720" marR="45720" marT="18288" marB="18288">
                    <a:solidFill>
                      <a:srgbClr val="FFFFFF"/>
                    </a:solidFill>
                  </a:tcPr>
                </a:tc>
                <a:tc>
                  <a:txBody>
                    <a:bodyPr wrap="square"/>
                    <a:lstStyle/>
                    <a:p>
                      <a:r>
                        <a:rPr sz="900">
                          <a:solidFill>
                            <a:srgbClr val="1E252F"/>
                          </a:solidFill>
                          <a:latin typeface="Calibri"/>
                        </a:rPr>
                        <a:t>3 broker · topic events/eval/cost</a:t>
                      </a:r>
                    </a:p>
                  </a:txBody>
                  <a:tcPr marL="45720" marR="45720" marT="18288" marB="18288">
                    <a:solidFill>
                      <a:srgbClr val="FFFFFF"/>
                    </a:solidFill>
                  </a:tcPr>
                </a:tc>
                <a:tc>
                  <a:txBody>
                    <a:bodyPr wrap="square"/>
                    <a:lstStyle/>
                    <a:p>
                      <a:r>
                        <a:rPr sz="900">
                          <a:solidFill>
                            <a:srgbClr val="1E252F"/>
                          </a:solidFill>
                          <a:latin typeface="Calibri"/>
                        </a:rPr>
                        <a:t>Kafka / Redpanda</a:t>
                      </a:r>
                    </a:p>
                  </a:txBody>
                  <a:tcPr marL="45720" marR="45720" marT="18288" marB="18288">
                    <a:solidFill>
                      <a:srgbClr val="FFFFFF"/>
                    </a:solidFill>
                  </a:tcPr>
                </a:tc>
              </a:tr>
              <a:tr h="403860">
                <a:tc>
                  <a:txBody>
                    <a:bodyPr wrap="square"/>
                    <a:lstStyle/>
                    <a:p>
                      <a:r>
                        <a:rPr sz="900">
                          <a:solidFill>
                            <a:srgbClr val="1E252F"/>
                          </a:solidFill>
                          <a:latin typeface="Calibri"/>
                        </a:rPr>
                        <a:t>Object storage</a:t>
                      </a:r>
                    </a:p>
                  </a:txBody>
                  <a:tcPr marL="45720" marR="45720" marT="18288" marB="18288">
                    <a:solidFill>
                      <a:srgbClr val="F4F6F9"/>
                    </a:solidFill>
                  </a:tcPr>
                </a:tc>
                <a:tc>
                  <a:txBody>
                    <a:bodyPr wrap="square"/>
                    <a:lstStyle/>
                    <a:p>
                      <a:r>
                        <a:rPr sz="900">
                          <a:solidFill>
                            <a:srgbClr val="1E252F"/>
                          </a:solidFill>
                          <a:latin typeface="Calibri"/>
                        </a:rPr>
                        <a:t>S3 (ladder versions, transcripts redacted 30d, eval sets)</a:t>
                      </a:r>
                    </a:p>
                  </a:txBody>
                  <a:tcPr marL="45720" marR="45720" marT="18288" marB="18288">
                    <a:solidFill>
                      <a:srgbClr val="F4F6F9"/>
                    </a:solidFill>
                  </a:tcPr>
                </a:tc>
                <a:tc>
                  <a:txBody>
                    <a:bodyPr wrap="square"/>
                    <a:lstStyle/>
                    <a:p>
                      <a:r>
                        <a:rPr sz="900">
                          <a:solidFill>
                            <a:srgbClr val="1E252F"/>
                          </a:solidFill>
                          <a:latin typeface="Calibri"/>
                        </a:rPr>
                        <a:t>Lifecycle 30d → glacier / xoá</a:t>
                      </a:r>
                    </a:p>
                  </a:txBody>
                  <a:tcPr marL="45720" marR="45720" marT="18288" marB="18288">
                    <a:solidFill>
                      <a:srgbClr val="F4F6F9"/>
                    </a:solidFill>
                  </a:tcPr>
                </a:tc>
                <a:tc>
                  <a:txBody>
                    <a:bodyPr wrap="square"/>
                    <a:lstStyle/>
                    <a:p>
                      <a:r>
                        <a:rPr sz="900">
                          <a:solidFill>
                            <a:srgbClr val="1E252F"/>
                          </a:solidFill>
                          <a:latin typeface="Calibri"/>
                        </a:rPr>
                        <a:t>S3-API bất kỳ</a:t>
                      </a:r>
                    </a:p>
                  </a:txBody>
                  <a:tcPr marL="45720" marR="45720" marT="18288" marB="18288">
                    <a:solidFill>
                      <a:srgbClr val="F4F6F9"/>
                    </a:solidFill>
                  </a:tcPr>
                </a:tc>
              </a:tr>
              <a:tr h="403860">
                <a:tc>
                  <a:txBody>
                    <a:bodyPr wrap="square"/>
                    <a:lstStyle/>
                    <a:p>
                      <a:r>
                        <a:rPr sz="900">
                          <a:solidFill>
                            <a:srgbClr val="1E252F"/>
                          </a:solidFill>
                          <a:latin typeface="Calibri"/>
                        </a:rPr>
                        <a:t>LLM</a:t>
                      </a:r>
                    </a:p>
                  </a:txBody>
                  <a:tcPr marL="45720" marR="45720" marT="18288" marB="18288">
                    <a:solidFill>
                      <a:srgbClr val="FFFFFF"/>
                    </a:solidFill>
                  </a:tcPr>
                </a:tc>
                <a:tc>
                  <a:txBody>
                    <a:bodyPr wrap="square"/>
                    <a:lstStyle/>
                    <a:p>
                      <a:r>
                        <a:rPr sz="900">
                          <a:solidFill>
                            <a:srgbClr val="1E252F"/>
                          </a:solidFill>
                          <a:latin typeface="Calibri"/>
                        </a:rPr>
                        <a:t>Bedrock (T1/T2) + OpenAI (fallback) qua LiteLLM</a:t>
                      </a:r>
                    </a:p>
                  </a:txBody>
                  <a:tcPr marL="45720" marR="45720" marT="18288" marB="18288">
                    <a:solidFill>
                      <a:srgbClr val="FFFFFF"/>
                    </a:solidFill>
                  </a:tcPr>
                </a:tc>
                <a:tc>
                  <a:txBody>
                    <a:bodyPr wrap="square"/>
                    <a:lstStyle/>
                    <a:p>
                      <a:r>
                        <a:rPr sz="900">
                          <a:solidFill>
                            <a:srgbClr val="1E252F"/>
                          </a:solidFill>
                          <a:latin typeface="Calibri"/>
                        </a:rPr>
                        <a:t>Provisioned throughput cho peak; quota theo tier</a:t>
                      </a:r>
                    </a:p>
                  </a:txBody>
                  <a:tcPr marL="45720" marR="45720" marT="18288" marB="18288">
                    <a:solidFill>
                      <a:srgbClr val="FFFFFF"/>
                    </a:solidFill>
                  </a:tcPr>
                </a:tc>
                <a:tc>
                  <a:txBody>
                    <a:bodyPr wrap="square"/>
                    <a:lstStyle/>
                    <a:p>
                      <a:r>
                        <a:rPr sz="900">
                          <a:solidFill>
                            <a:srgbClr val="1E252F"/>
                          </a:solidFill>
                          <a:latin typeface="Calibri"/>
                        </a:rPr>
                        <a:t>Đổi provider = đổi config</a:t>
                      </a:r>
                    </a:p>
                  </a:txBody>
                  <a:tcPr marL="45720" marR="45720" marT="18288" marB="18288">
                    <a:solidFill>
                      <a:srgbClr val="FFFFFF"/>
                    </a:solidFill>
                  </a:tcPr>
                </a:tc>
              </a:tr>
              <a:tr h="403860">
                <a:tc>
                  <a:txBody>
                    <a:bodyPr wrap="square"/>
                    <a:lstStyle/>
                    <a:p>
                      <a:r>
                        <a:rPr sz="900">
                          <a:solidFill>
                            <a:srgbClr val="1E252F"/>
                          </a:solidFill>
                          <a:latin typeface="Calibri"/>
                        </a:rPr>
                        <a:t>Observability</a:t>
                      </a:r>
                    </a:p>
                  </a:txBody>
                  <a:tcPr marL="45720" marR="45720" marT="18288" marB="18288">
                    <a:solidFill>
                      <a:srgbClr val="F4F6F9"/>
                    </a:solidFill>
                  </a:tcPr>
                </a:tc>
                <a:tc>
                  <a:txBody>
                    <a:bodyPr wrap="square"/>
                    <a:lstStyle/>
                    <a:p>
                      <a:r>
                        <a:rPr sz="900">
                          <a:solidFill>
                            <a:srgbClr val="1E252F"/>
                          </a:solidFill>
                          <a:latin typeface="Calibri"/>
                        </a:rPr>
                        <a:t>CloudWatch · OpenTelemetry · Grafana · Langfuse-style trace</a:t>
                      </a:r>
                    </a:p>
                  </a:txBody>
                  <a:tcPr marL="45720" marR="45720" marT="18288" marB="18288">
                    <a:solidFill>
                      <a:srgbClr val="F4F6F9"/>
                    </a:solidFill>
                  </a:tcPr>
                </a:tc>
                <a:tc>
                  <a:txBody>
                    <a:bodyPr wrap="square"/>
                    <a:lstStyle/>
                    <a:p>
                      <a:r>
                        <a:rPr sz="900">
                          <a:solidFill>
                            <a:srgbClr val="1E252F"/>
                          </a:solidFill>
                          <a:latin typeface="Calibri"/>
                        </a:rPr>
                        <a:t>Trace mỗi turn: policy state · ladder ver · validator verdict</a:t>
                      </a:r>
                    </a:p>
                  </a:txBody>
                  <a:tcPr marL="45720" marR="45720" marT="18288" marB="18288">
                    <a:solidFill>
                      <a:srgbClr val="F4F6F9"/>
                    </a:solidFill>
                  </a:tcPr>
                </a:tc>
                <a:tc>
                  <a:txBody>
                    <a:bodyPr wrap="square"/>
                    <a:lstStyle/>
                    <a:p>
                      <a:r>
                        <a:rPr sz="900">
                          <a:solidFill>
                            <a:srgbClr val="1E252F"/>
                          </a:solidFill>
                          <a:latin typeface="Calibri"/>
                        </a:rPr>
                        <a:t>OTel-native</a:t>
                      </a:r>
                    </a:p>
                  </a:txBody>
                  <a:tcPr marL="45720" marR="45720" marT="18288" marB="18288">
                    <a:solidFill>
                      <a:srgbClr val="F4F6F9"/>
                    </a:solidFill>
                  </a:tcPr>
                </a:tc>
              </a:tr>
              <a:tr h="403860">
                <a:tc>
                  <a:txBody>
                    <a:bodyPr wrap="square"/>
                    <a:lstStyle/>
                    <a:p>
                      <a:r>
                        <a:rPr sz="900">
                          <a:solidFill>
                            <a:srgbClr val="1E252F"/>
                          </a:solidFill>
                          <a:latin typeface="Calibri"/>
                        </a:rPr>
                        <a:t>Security</a:t>
                      </a:r>
                    </a:p>
                  </a:txBody>
                  <a:tcPr marL="45720" marR="45720" marT="18288" marB="18288">
                    <a:solidFill>
                      <a:srgbClr val="FFFFFF"/>
                    </a:solidFill>
                  </a:tcPr>
                </a:tc>
                <a:tc>
                  <a:txBody>
                    <a:bodyPr wrap="square"/>
                    <a:lstStyle/>
                    <a:p>
                      <a:r>
                        <a:rPr sz="900">
                          <a:solidFill>
                            <a:srgbClr val="1E252F"/>
                          </a:solidFill>
                          <a:latin typeface="Calibri"/>
                        </a:rPr>
                        <a:t>KMS · Secrets Manager · IAM least-privilege · GuardDuty</a:t>
                      </a:r>
                    </a:p>
                  </a:txBody>
                  <a:tcPr marL="45720" marR="45720" marT="18288" marB="18288">
                    <a:solidFill>
                      <a:srgbClr val="FFFFFF"/>
                    </a:solidFill>
                  </a:tcPr>
                </a:tc>
                <a:tc>
                  <a:txBody>
                    <a:bodyPr wrap="square"/>
                    <a:lstStyle/>
                    <a:p>
                      <a:r>
                        <a:rPr sz="900">
                          <a:solidFill>
                            <a:srgbClr val="1E252F"/>
                          </a:solidFill>
                          <a:latin typeface="Calibri"/>
                        </a:rPr>
                        <a:t>Vault chỉ Grader/Validator role đọc được</a:t>
                      </a:r>
                    </a:p>
                  </a:txBody>
                  <a:tcPr marL="45720" marR="45720" marT="18288" marB="18288">
                    <a:solidFill>
                      <a:srgbClr val="FFFFFF"/>
                    </a:solidFill>
                  </a:tcPr>
                </a:tc>
                <a:tc>
                  <a:txBody>
                    <a:bodyPr wrap="square"/>
                    <a:lstStyle/>
                    <a:p>
                      <a:r>
                        <a:rPr sz="900">
                          <a:solidFill>
                            <a:srgbClr val="1E252F"/>
                          </a:solidFill>
                          <a:latin typeface="Calibri"/>
                        </a:rPr>
                        <a:t>Tương đương</a:t>
                      </a:r>
                    </a:p>
                  </a:txBody>
                  <a:tcPr marL="45720" marR="45720" marT="18288" marB="18288">
                    <a:solidFill>
                      <a:srgbClr val="FFFFFF"/>
                    </a:solidFill>
                  </a:tcPr>
                </a:tc>
              </a:tr>
            </a:tbl>
          </a:graphicData>
        </a:graphic>
      </p:graphicFrame>
      <p:sp>
        <p:nvSpPr>
          <p:cNvPr id="10" name="TextBox 9"/>
          <p:cNvSpPr txBox="1"/>
          <p:nvPr/>
        </p:nvSpPr>
        <p:spPr>
          <a:xfrm>
            <a:off x="365760" y="6035040"/>
            <a:ext cx="11430000" cy="457200"/>
          </a:xfrm>
          <a:prstGeom prst="rect">
            <a:avLst/>
          </a:prstGeom>
          <a:noFill/>
        </p:spPr>
        <p:txBody>
          <a:bodyPr wrap="square" lIns="73152" rIns="73152" tIns="36576" bIns="36576" anchor="t">
            <a:spAutoFit/>
          </a:bodyPr>
          <a:lstStyle/>
          <a:p>
            <a:pPr algn="l">
              <a:spcAft>
                <a:spcPts val="400"/>
              </a:spcAft>
            </a:pPr>
            <a:r>
              <a:rPr sz="1000" b="0">
                <a:solidFill>
                  <a:srgbClr val="5F6B7A"/>
                </a:solidFill>
                <a:latin typeface="Calibri"/>
              </a:rPr>
              <a:t>GPU strategy: MVP không sở hữu GPU (managed inference). Phase 2: vLLM trên g6/L4 hoặc Inferentia cho 8B SFT khi đủ dữ liệu — quyết định theo cost/turn thực đo (ADR-005). Chi tiết: ATAD §2.3, §10.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01200" cy="731520"/>
          </a:xfrm>
          <a:prstGeom prst="rect">
            <a:avLst/>
          </a:prstGeom>
          <a:noFill/>
        </p:spPr>
        <p:txBody>
          <a:bodyPr wrap="square" lIns="73152" rIns="73152" tIns="36576" bIns="36576" anchor="ctr">
            <a:spAutoFit/>
          </a:bodyPr>
          <a:lstStyle/>
          <a:p>
            <a:pPr algn="l">
              <a:spcAft>
                <a:spcPts val="400"/>
              </a:spcAft>
            </a:pPr>
            <a:r>
              <a:rPr sz="2600" b="1">
                <a:solidFill>
                  <a:srgbClr val="FFFFFF"/>
                </a:solidFill>
                <a:latin typeface="Calibri"/>
              </a:rPr>
              <a:t>Appendix C · Risk Register (top 8)</a:t>
            </a:r>
          </a:p>
        </p:txBody>
      </p:sp>
      <p:sp>
        <p:nvSpPr>
          <p:cNvPr id="4" name="TextBox 3"/>
          <p:cNvSpPr txBox="1"/>
          <p:nvPr/>
        </p:nvSpPr>
        <p:spPr>
          <a:xfrm>
            <a:off x="9692640" y="109728"/>
            <a:ext cx="2286000" cy="365760"/>
          </a:xfrm>
          <a:prstGeom prst="rect">
            <a:avLst/>
          </a:prstGeom>
          <a:noFill/>
        </p:spPr>
        <p:txBody>
          <a:bodyPr wrap="square" lIns="73152" rIns="73152" tIns="36576" bIns="36576" anchor="t">
            <a:spAutoFit/>
          </a:bodyPr>
          <a:lstStyle/>
          <a:p>
            <a:pPr algn="r">
              <a:spcAft>
                <a:spcPts val="400"/>
              </a:spcAft>
            </a:pPr>
            <a:r>
              <a:rPr sz="1200" b="1">
                <a:solidFill>
                  <a:srgbClr val="00A39B"/>
                </a:solidFill>
                <a:latin typeface="Calibri"/>
              </a:rPr>
              <a:t>PIC: Phụng (M4)</a:t>
            </a:r>
          </a:p>
        </p:txBody>
      </p:sp>
      <p:sp>
        <p:nvSpPr>
          <p:cNvPr id="5" name="TextBox 4"/>
          <p:cNvSpPr txBox="1"/>
          <p:nvPr/>
        </p:nvSpPr>
        <p:spPr>
          <a:xfrm>
            <a:off x="9692640" y="457200"/>
            <a:ext cx="2286000" cy="365760"/>
          </a:xfrm>
          <a:prstGeom prst="rect">
            <a:avLst/>
          </a:prstGeom>
          <a:noFill/>
        </p:spPr>
        <p:txBody>
          <a:bodyPr wrap="square" lIns="73152" rIns="73152" tIns="36576" bIns="36576" anchor="t">
            <a:spAutoFit/>
          </a:bodyPr>
          <a:lstStyle/>
          <a:p>
            <a:pPr algn="r">
              <a:spcAft>
                <a:spcPts val="400"/>
              </a:spcAft>
            </a:pPr>
            <a:r>
              <a:rPr sz="1100" b="0">
                <a:solidFill>
                  <a:srgbClr val="F28C28"/>
                </a:solidFill>
                <a:latin typeface="Calibri"/>
              </a:rPr>
              <a:t>Rubric 4.4 · 4.2</a:t>
            </a:r>
          </a:p>
        </p:txBody>
      </p:sp>
      <p:sp>
        <p:nvSpPr>
          <p:cNvPr id="6" name="Rectangle 5"/>
          <p:cNvSpPr/>
          <p:nvPr/>
        </p:nvSpPr>
        <p:spPr>
          <a:xfrm>
            <a:off x="0" y="6537960"/>
            <a:ext cx="12191695" cy="3200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37960"/>
            <a:ext cx="8229600" cy="320040"/>
          </a:xfrm>
          <a:prstGeom prst="rect">
            <a:avLst/>
          </a:prstGeom>
          <a:noFill/>
        </p:spPr>
        <p:txBody>
          <a:bodyPr wrap="square" lIns="73152" rIns="73152" tIns="36576" bIns="36576" anchor="ctr">
            <a:spAutoFit/>
          </a:bodyPr>
          <a:lstStyle/>
          <a:p>
            <a:pPr algn="l">
              <a:spcAft>
                <a:spcPts val="400"/>
              </a:spcAft>
            </a:pPr>
            <a:r>
              <a:rPr sz="1000" b="0">
                <a:solidFill>
                  <a:srgbClr val="5F6B7A"/>
                </a:solidFill>
                <a:latin typeface="Calibri"/>
              </a:rPr>
              <a:t>TutorMate · EduNova · Workshop 2 – Scenario B · ATAD v1.0</a:t>
            </a:r>
          </a:p>
        </p:txBody>
      </p:sp>
      <p:sp>
        <p:nvSpPr>
          <p:cNvPr id="8" name="TextBox 7"/>
          <p:cNvSpPr txBox="1"/>
          <p:nvPr/>
        </p:nvSpPr>
        <p:spPr>
          <a:xfrm>
            <a:off x="10972800" y="6537960"/>
            <a:ext cx="914400" cy="320040"/>
          </a:xfrm>
          <a:prstGeom prst="rect">
            <a:avLst/>
          </a:prstGeom>
          <a:noFill/>
        </p:spPr>
        <p:txBody>
          <a:bodyPr wrap="square" lIns="73152" rIns="73152" tIns="36576" bIns="36576" anchor="ctr">
            <a:spAutoFit/>
          </a:bodyPr>
          <a:lstStyle/>
          <a:p>
            <a:pPr algn="r">
              <a:spcAft>
                <a:spcPts val="400"/>
              </a:spcAft>
            </a:pPr>
            <a:r>
              <a:rPr sz="1000" b="0">
                <a:solidFill>
                  <a:srgbClr val="5F6B7A"/>
                </a:solidFill>
                <a:latin typeface="Calibri"/>
              </a:rPr>
              <a:t>C / 14</a:t>
            </a:r>
          </a:p>
        </p:txBody>
      </p:sp>
      <p:graphicFrame>
        <p:nvGraphicFramePr>
          <p:cNvPr id="9" name="Table 8"/>
          <p:cNvGraphicFramePr>
            <a:graphicFrameLocks noGrp="1"/>
          </p:cNvGraphicFramePr>
          <p:nvPr/>
        </p:nvGraphicFramePr>
        <p:xfrm>
          <a:off x="365760" y="1097280"/>
          <a:ext cx="11430000" cy="4206240"/>
        </p:xfrm>
        <a:graphic>
          <a:graphicData uri="http://schemas.openxmlformats.org/drawingml/2006/table">
            <a:tbl>
              <a:tblPr firstRow="1" bandRow="1">
                <a:tableStyleId>{5C22544A-7EE6-4342-B048-85BDC9FD1C3A}</a:tableStyleId>
              </a:tblPr>
              <a:tblGrid>
                <a:gridCol w="640080"/>
                <a:gridCol w="3108960"/>
                <a:gridCol w="457200"/>
                <a:gridCol w="640080"/>
                <a:gridCol w="5486400"/>
                <a:gridCol w="1097280"/>
              </a:tblGrid>
              <a:tr h="467360">
                <a:tc>
                  <a:txBody>
                    <a:bodyPr wrap="square"/>
                    <a:lstStyle/>
                    <a:p>
                      <a:r>
                        <a:rPr sz="1000" b="1">
                          <a:solidFill>
                            <a:srgbClr val="FFFFFF"/>
                          </a:solidFill>
                          <a:latin typeface="Calibri"/>
                        </a:rPr>
                        <a:t>ID</a:t>
                      </a:r>
                    </a:p>
                  </a:txBody>
                  <a:tcPr marL="45720" marR="45720" marT="18288" marB="18288">
                    <a:solidFill>
                      <a:srgbClr val="00A39B"/>
                    </a:solidFill>
                  </a:tcPr>
                </a:tc>
                <a:tc>
                  <a:txBody>
                    <a:bodyPr wrap="square"/>
                    <a:lstStyle/>
                    <a:p>
                      <a:r>
                        <a:rPr sz="1000" b="1">
                          <a:solidFill>
                            <a:srgbClr val="FFFFFF"/>
                          </a:solidFill>
                          <a:latin typeface="Calibri"/>
                        </a:rPr>
                        <a:t>Rủi ro</a:t>
                      </a:r>
                    </a:p>
                  </a:txBody>
                  <a:tcPr marL="45720" marR="45720" marT="18288" marB="18288">
                    <a:solidFill>
                      <a:srgbClr val="00A39B"/>
                    </a:solidFill>
                  </a:tcPr>
                </a:tc>
                <a:tc>
                  <a:txBody>
                    <a:bodyPr wrap="square"/>
                    <a:lstStyle/>
                    <a:p>
                      <a:r>
                        <a:rPr sz="1000" b="1">
                          <a:solidFill>
                            <a:srgbClr val="FFFFFF"/>
                          </a:solidFill>
                          <a:latin typeface="Calibri"/>
                        </a:rPr>
                        <a:t>L</a:t>
                      </a:r>
                    </a:p>
                  </a:txBody>
                  <a:tcPr marL="45720" marR="45720" marT="18288" marB="18288">
                    <a:solidFill>
                      <a:srgbClr val="00A39B"/>
                    </a:solidFill>
                  </a:tcPr>
                </a:tc>
                <a:tc>
                  <a:txBody>
                    <a:bodyPr wrap="square"/>
                    <a:lstStyle/>
                    <a:p>
                      <a:r>
                        <a:rPr sz="1000" b="1">
                          <a:solidFill>
                            <a:srgbClr val="FFFFFF"/>
                          </a:solidFill>
                          <a:latin typeface="Calibri"/>
                        </a:rPr>
                        <a:t>I</a:t>
                      </a:r>
                    </a:p>
                  </a:txBody>
                  <a:tcPr marL="45720" marR="45720" marT="18288" marB="18288">
                    <a:solidFill>
                      <a:srgbClr val="00A39B"/>
                    </a:solidFill>
                  </a:tcPr>
                </a:tc>
                <a:tc>
                  <a:txBody>
                    <a:bodyPr wrap="square"/>
                    <a:lstStyle/>
                    <a:p>
                      <a:r>
                        <a:rPr sz="1000" b="1">
                          <a:solidFill>
                            <a:srgbClr val="FFFFFF"/>
                          </a:solidFill>
                          <a:latin typeface="Calibri"/>
                        </a:rPr>
                        <a:t>Kiểm soát chính</a:t>
                      </a:r>
                    </a:p>
                  </a:txBody>
                  <a:tcPr marL="45720" marR="45720" marT="18288" marB="18288">
                    <a:solidFill>
                      <a:srgbClr val="00A39B"/>
                    </a:solidFill>
                  </a:tcPr>
                </a:tc>
                <a:tc>
                  <a:txBody>
                    <a:bodyPr wrap="square"/>
                    <a:lstStyle/>
                    <a:p>
                      <a:r>
                        <a:rPr sz="1000" b="1">
                          <a:solidFill>
                            <a:srgbClr val="FFFFFF"/>
                          </a:solidFill>
                          <a:latin typeface="Calibri"/>
                        </a:rPr>
                        <a:t>Owner</a:t>
                      </a:r>
                    </a:p>
                  </a:txBody>
                  <a:tcPr marL="45720" marR="45720" marT="18288" marB="18288">
                    <a:solidFill>
                      <a:srgbClr val="00A39B"/>
                    </a:solidFill>
                  </a:tcPr>
                </a:tc>
              </a:tr>
              <a:tr h="467360">
                <a:tc>
                  <a:txBody>
                    <a:bodyPr wrap="square"/>
                    <a:lstStyle/>
                    <a:p>
                      <a:r>
                        <a:rPr sz="1000">
                          <a:solidFill>
                            <a:srgbClr val="1E252F"/>
                          </a:solidFill>
                          <a:latin typeface="Calibri"/>
                        </a:rPr>
                        <a:t>R-01</a:t>
                      </a:r>
                    </a:p>
                  </a:txBody>
                  <a:tcPr marL="45720" marR="45720" marT="18288" marB="18288">
                    <a:solidFill>
                      <a:srgbClr val="FFFFFF"/>
                    </a:solidFill>
                  </a:tcPr>
                </a:tc>
                <a:tc>
                  <a:txBody>
                    <a:bodyPr wrap="square"/>
                    <a:lstStyle/>
                    <a:p>
                      <a:r>
                        <a:rPr sz="1000">
                          <a:solidFill>
                            <a:srgbClr val="1E252F"/>
                          </a:solidFill>
                          <a:latin typeface="Calibri"/>
                        </a:rPr>
                        <a:t>Lộ đáp án qua jailbreak / paraphrase</a:t>
                      </a:r>
                    </a:p>
                  </a:txBody>
                  <a:tcPr marL="45720" marR="45720" marT="18288" marB="18288">
                    <a:solidFill>
                      <a:srgbClr val="FFFFFF"/>
                    </a:solidFill>
                  </a:tcPr>
                </a:tc>
                <a:tc>
                  <a:txBody>
                    <a:bodyPr wrap="square"/>
                    <a:lstStyle/>
                    <a:p>
                      <a:r>
                        <a:rPr sz="1000">
                          <a:solidFill>
                            <a:srgbClr val="1E252F"/>
                          </a:solidFill>
                          <a:latin typeface="Calibri"/>
                        </a:rPr>
                        <a:t>M</a:t>
                      </a:r>
                    </a:p>
                  </a:txBody>
                  <a:tcPr marL="45720" marR="45720" marT="18288" marB="18288">
                    <a:solidFill>
                      <a:srgbClr val="FFFFFF"/>
                    </a:solidFill>
                  </a:tcPr>
                </a:tc>
                <a:tc>
                  <a:txBody>
                    <a:bodyPr wrap="square"/>
                    <a:lstStyle/>
                    <a:p>
                      <a:r>
                        <a:rPr sz="1000">
                          <a:solidFill>
                            <a:srgbClr val="1E252F"/>
                          </a:solidFill>
                          <a:latin typeface="Calibri"/>
                        </a:rPr>
                        <a:t>H</a:t>
                      </a:r>
                    </a:p>
                  </a:txBody>
                  <a:tcPr marL="45720" marR="45720" marT="18288" marB="18288">
                    <a:solidFill>
                      <a:srgbClr val="FFFFFF"/>
                    </a:solidFill>
                  </a:tcPr>
                </a:tc>
                <a:tc>
                  <a:txBody>
                    <a:bodyPr wrap="square"/>
                    <a:lstStyle/>
                    <a:p>
                      <a:r>
                        <a:rPr sz="1000">
                          <a:solidFill>
                            <a:srgbClr val="1E252F"/>
                          </a:solidFill>
                          <a:latin typeface="Calibri"/>
                        </a:rPr>
                        <a:t>LLM không nhận Vault · CAS-leak check · leak clf · adversarial eval mỗi release</a:t>
                      </a:r>
                    </a:p>
                  </a:txBody>
                  <a:tcPr marL="45720" marR="45720" marT="18288" marB="18288">
                    <a:solidFill>
                      <a:srgbClr val="FFFFFF"/>
                    </a:solidFill>
                  </a:tcPr>
                </a:tc>
                <a:tc>
                  <a:txBody>
                    <a:bodyPr wrap="square"/>
                    <a:lstStyle/>
                    <a:p>
                      <a:r>
                        <a:t>Phụng</a:t>
                      </a:r>
                    </a:p>
                  </a:txBody>
                  <a:tcPr marL="45720" marR="45720" marT="18288" marB="18288">
                    <a:solidFill>
                      <a:srgbClr val="FFFFFF"/>
                    </a:solidFill>
                  </a:tcPr>
                </a:tc>
              </a:tr>
              <a:tr h="467360">
                <a:tc>
                  <a:txBody>
                    <a:bodyPr wrap="square"/>
                    <a:lstStyle/>
                    <a:p>
                      <a:r>
                        <a:rPr sz="1000">
                          <a:solidFill>
                            <a:srgbClr val="1E252F"/>
                          </a:solidFill>
                          <a:latin typeface="Calibri"/>
                        </a:rPr>
                        <a:t>R-02</a:t>
                      </a:r>
                    </a:p>
                  </a:txBody>
                  <a:tcPr marL="45720" marR="45720" marT="18288" marB="18288">
                    <a:solidFill>
                      <a:srgbClr val="F4F6F9"/>
                    </a:solidFill>
                  </a:tcPr>
                </a:tc>
                <a:tc>
                  <a:txBody>
                    <a:bodyPr wrap="square"/>
                    <a:lstStyle/>
                    <a:p>
                      <a:r>
                        <a:rPr sz="1000">
                          <a:solidFill>
                            <a:srgbClr val="1E252F"/>
                          </a:solidFill>
                          <a:latin typeface="Calibri"/>
                        </a:rPr>
                        <a:t>Nội dung có hại tới trẻ (self-harm, grooming)</a:t>
                      </a:r>
                    </a:p>
                  </a:txBody>
                  <a:tcPr marL="45720" marR="45720" marT="18288" marB="18288">
                    <a:solidFill>
                      <a:srgbClr val="F4F6F9"/>
                    </a:solidFill>
                  </a:tcPr>
                </a:tc>
                <a:tc>
                  <a:txBody>
                    <a:bodyPr wrap="square"/>
                    <a:lstStyle/>
                    <a:p>
                      <a:r>
                        <a:rPr sz="1000">
                          <a:solidFill>
                            <a:srgbClr val="1E252F"/>
                          </a:solidFill>
                          <a:latin typeface="Calibri"/>
                        </a:rPr>
                        <a:t>L</a:t>
                      </a:r>
                    </a:p>
                  </a:txBody>
                  <a:tcPr marL="45720" marR="45720" marT="18288" marB="18288">
                    <a:solidFill>
                      <a:srgbClr val="F4F6F9"/>
                    </a:solidFill>
                  </a:tcPr>
                </a:tc>
                <a:tc>
                  <a:txBody>
                    <a:bodyPr wrap="square"/>
                    <a:lstStyle/>
                    <a:p>
                      <a:r>
                        <a:rPr sz="1000">
                          <a:solidFill>
                            <a:srgbClr val="1E252F"/>
                          </a:solidFill>
                          <a:latin typeface="Calibri"/>
                        </a:rPr>
                        <a:t>Rất H</a:t>
                      </a:r>
                    </a:p>
                  </a:txBody>
                  <a:tcPr marL="45720" marR="45720" marT="18288" marB="18288">
                    <a:solidFill>
                      <a:srgbClr val="F4F6F9"/>
                    </a:solidFill>
                  </a:tcPr>
                </a:tc>
                <a:tc>
                  <a:txBody>
                    <a:bodyPr wrap="square"/>
                    <a:lstStyle/>
                    <a:p>
                      <a:r>
                        <a:rPr sz="1000">
                          <a:solidFill>
                            <a:srgbClr val="1E252F"/>
                          </a:solidFill>
                          <a:latin typeface="Calibri"/>
                        </a:rPr>
                        <a:t>3 lớp guard · self-harm protocol · 0 red-team escape gate</a:t>
                      </a:r>
                    </a:p>
                  </a:txBody>
                  <a:tcPr marL="45720" marR="45720" marT="18288" marB="18288">
                    <a:solidFill>
                      <a:srgbClr val="F4F6F9"/>
                    </a:solidFill>
                  </a:tcPr>
                </a:tc>
                <a:tc>
                  <a:txBody>
                    <a:bodyPr wrap="square"/>
                    <a:lstStyle/>
                    <a:p>
                      <a:r>
                        <a:t>Phụng</a:t>
                      </a:r>
                    </a:p>
                  </a:txBody>
                  <a:tcPr marL="45720" marR="45720" marT="18288" marB="18288">
                    <a:solidFill>
                      <a:srgbClr val="F4F6F9"/>
                    </a:solidFill>
                  </a:tcPr>
                </a:tc>
              </a:tr>
              <a:tr h="467360">
                <a:tc>
                  <a:txBody>
                    <a:bodyPr wrap="square"/>
                    <a:lstStyle/>
                    <a:p>
                      <a:r>
                        <a:rPr sz="1000">
                          <a:solidFill>
                            <a:srgbClr val="1E252F"/>
                          </a:solidFill>
                          <a:latin typeface="Calibri"/>
                        </a:rPr>
                        <a:t>R-03</a:t>
                      </a:r>
                    </a:p>
                  </a:txBody>
                  <a:tcPr marL="45720" marR="45720" marT="18288" marB="18288">
                    <a:solidFill>
                      <a:srgbClr val="FFFFFF"/>
                    </a:solidFill>
                  </a:tcPr>
                </a:tc>
                <a:tc>
                  <a:txBody>
                    <a:bodyPr wrap="square"/>
                    <a:lstStyle/>
                    <a:p>
                      <a:r>
                        <a:rPr sz="1000">
                          <a:solidFill>
                            <a:srgbClr val="1E252F"/>
                          </a:solidFill>
                          <a:latin typeface="Calibri"/>
                        </a:rPr>
                        <a:t>Hint sai kiến thức / lệch chương trình</a:t>
                      </a:r>
                    </a:p>
                  </a:txBody>
                  <a:tcPr marL="45720" marR="45720" marT="18288" marB="18288">
                    <a:solidFill>
                      <a:srgbClr val="FFFFFF"/>
                    </a:solidFill>
                  </a:tcPr>
                </a:tc>
                <a:tc>
                  <a:txBody>
                    <a:bodyPr wrap="square"/>
                    <a:lstStyle/>
                    <a:p>
                      <a:r>
                        <a:rPr sz="1000">
                          <a:solidFill>
                            <a:srgbClr val="1E252F"/>
                          </a:solidFill>
                          <a:latin typeface="Calibri"/>
                        </a:rPr>
                        <a:t>M</a:t>
                      </a:r>
                    </a:p>
                  </a:txBody>
                  <a:tcPr marL="45720" marR="45720" marT="18288" marB="18288">
                    <a:solidFill>
                      <a:srgbClr val="FFFFFF"/>
                    </a:solidFill>
                  </a:tcPr>
                </a:tc>
                <a:tc>
                  <a:txBody>
                    <a:bodyPr wrap="square"/>
                    <a:lstStyle/>
                    <a:p>
                      <a:r>
                        <a:rPr sz="1000">
                          <a:solidFill>
                            <a:srgbClr val="1E252F"/>
                          </a:solidFill>
                          <a:latin typeface="Calibri"/>
                        </a:rPr>
                        <a:t>H</a:t>
                      </a:r>
                    </a:p>
                  </a:txBody>
                  <a:tcPr marL="45720" marR="45720" marT="18288" marB="18288">
                    <a:solidFill>
                      <a:srgbClr val="FFFFFF"/>
                    </a:solidFill>
                  </a:tcPr>
                </a:tc>
                <a:tc>
                  <a:txBody>
                    <a:bodyPr wrap="square"/>
                    <a:lstStyle/>
                    <a:p>
                      <a:r>
                        <a:rPr sz="1000">
                          <a:solidFill>
                            <a:srgbClr val="1E252F"/>
                          </a:solidFill>
                          <a:latin typeface="Calibri"/>
                        </a:rPr>
                        <a:t>Ladder giáo viên duyệt · CAS · grounding check ≥ 97%</a:t>
                      </a:r>
                    </a:p>
                  </a:txBody>
                  <a:tcPr marL="45720" marR="45720" marT="18288" marB="18288">
                    <a:solidFill>
                      <a:srgbClr val="FFFFFF"/>
                    </a:solidFill>
                  </a:tcPr>
                </a:tc>
                <a:tc>
                  <a:txBody>
                    <a:bodyPr wrap="square"/>
                    <a:lstStyle/>
                    <a:p>
                      <a:r>
                        <a:t>Hòa</a:t>
                      </a:r>
                    </a:p>
                  </a:txBody>
                  <a:tcPr marL="45720" marR="45720" marT="18288" marB="18288">
                    <a:solidFill>
                      <a:srgbClr val="FFFFFF"/>
                    </a:solidFill>
                  </a:tcPr>
                </a:tc>
              </a:tr>
              <a:tr h="467360">
                <a:tc>
                  <a:txBody>
                    <a:bodyPr wrap="square"/>
                    <a:lstStyle/>
                    <a:p>
                      <a:r>
                        <a:rPr sz="1000">
                          <a:solidFill>
                            <a:srgbClr val="1E252F"/>
                          </a:solidFill>
                          <a:latin typeface="Calibri"/>
                        </a:rPr>
                        <a:t>R-04</a:t>
                      </a:r>
                    </a:p>
                  </a:txBody>
                  <a:tcPr marL="45720" marR="45720" marT="18288" marB="18288">
                    <a:solidFill>
                      <a:srgbClr val="F4F6F9"/>
                    </a:solidFill>
                  </a:tcPr>
                </a:tc>
                <a:tc>
                  <a:txBody>
                    <a:bodyPr wrap="square"/>
                    <a:lstStyle/>
                    <a:p>
                      <a:r>
                        <a:rPr sz="1000">
                          <a:solidFill>
                            <a:srgbClr val="1E252F"/>
                          </a:solidFill>
                          <a:latin typeface="Calibri"/>
                        </a:rPr>
                        <a:t>Vi phạm dữ liệu trẻ em (consent, retention)</a:t>
                      </a:r>
                    </a:p>
                  </a:txBody>
                  <a:tcPr marL="45720" marR="45720" marT="18288" marB="18288">
                    <a:solidFill>
                      <a:srgbClr val="F4F6F9"/>
                    </a:solidFill>
                  </a:tcPr>
                </a:tc>
                <a:tc>
                  <a:txBody>
                    <a:bodyPr wrap="square"/>
                    <a:lstStyle/>
                    <a:p>
                      <a:r>
                        <a:rPr sz="1000">
                          <a:solidFill>
                            <a:srgbClr val="1E252F"/>
                          </a:solidFill>
                          <a:latin typeface="Calibri"/>
                        </a:rPr>
                        <a:t>L</a:t>
                      </a:r>
                    </a:p>
                  </a:txBody>
                  <a:tcPr marL="45720" marR="45720" marT="18288" marB="18288">
                    <a:solidFill>
                      <a:srgbClr val="F4F6F9"/>
                    </a:solidFill>
                  </a:tcPr>
                </a:tc>
                <a:tc>
                  <a:txBody>
                    <a:bodyPr wrap="square"/>
                    <a:lstStyle/>
                    <a:p>
                      <a:r>
                        <a:rPr sz="1000">
                          <a:solidFill>
                            <a:srgbClr val="1E252F"/>
                          </a:solidFill>
                          <a:latin typeface="Calibri"/>
                        </a:rPr>
                        <a:t>Rất H</a:t>
                      </a:r>
                    </a:p>
                  </a:txBody>
                  <a:tcPr marL="45720" marR="45720" marT="18288" marB="18288">
                    <a:solidFill>
                      <a:srgbClr val="F4F6F9"/>
                    </a:solidFill>
                  </a:tcPr>
                </a:tc>
                <a:tc>
                  <a:txBody>
                    <a:bodyPr wrap="square"/>
                    <a:lstStyle/>
                    <a:p>
                      <a:r>
                        <a:rPr sz="1000">
                          <a:solidFill>
                            <a:srgbClr val="1E252F"/>
                          </a:solidFill>
                          <a:latin typeface="Calibri"/>
                        </a:rPr>
                        <a:t>Consent gate · pseudonymous · 30d retention · DPIA</a:t>
                      </a:r>
                    </a:p>
                  </a:txBody>
                  <a:tcPr marL="45720" marR="45720" marT="18288" marB="18288">
                    <a:solidFill>
                      <a:srgbClr val="F4F6F9"/>
                    </a:solidFill>
                  </a:tcPr>
                </a:tc>
                <a:tc>
                  <a:txBody>
                    <a:bodyPr wrap="square"/>
                    <a:lstStyle/>
                    <a:p>
                      <a:r>
                        <a:t>Phụng</a:t>
                      </a:r>
                    </a:p>
                  </a:txBody>
                  <a:tcPr marL="45720" marR="45720" marT="18288" marB="18288">
                    <a:solidFill>
                      <a:srgbClr val="F4F6F9"/>
                    </a:solidFill>
                  </a:tcPr>
                </a:tc>
              </a:tr>
              <a:tr h="467360">
                <a:tc>
                  <a:txBody>
                    <a:bodyPr wrap="square"/>
                    <a:lstStyle/>
                    <a:p>
                      <a:r>
                        <a:rPr sz="1000">
                          <a:solidFill>
                            <a:srgbClr val="1E252F"/>
                          </a:solidFill>
                          <a:latin typeface="Calibri"/>
                        </a:rPr>
                        <a:t>R-05</a:t>
                      </a:r>
                    </a:p>
                  </a:txBody>
                  <a:tcPr marL="45720" marR="45720" marT="18288" marB="18288">
                    <a:solidFill>
                      <a:srgbClr val="FFFFFF"/>
                    </a:solidFill>
                  </a:tcPr>
                </a:tc>
                <a:tc>
                  <a:txBody>
                    <a:bodyPr wrap="square"/>
                    <a:lstStyle/>
                    <a:p>
                      <a:r>
                        <a:rPr sz="1000">
                          <a:solidFill>
                            <a:srgbClr val="1E252F"/>
                          </a:solidFill>
                          <a:latin typeface="Calibri"/>
                        </a:rPr>
                        <a:t>Provider LLM outage / latency spike</a:t>
                      </a:r>
                    </a:p>
                  </a:txBody>
                  <a:tcPr marL="45720" marR="45720" marT="18288" marB="18288">
                    <a:solidFill>
                      <a:srgbClr val="FFFFFF"/>
                    </a:solidFill>
                  </a:tcPr>
                </a:tc>
                <a:tc>
                  <a:txBody>
                    <a:bodyPr wrap="square"/>
                    <a:lstStyle/>
                    <a:p>
                      <a:r>
                        <a:rPr sz="1000">
                          <a:solidFill>
                            <a:srgbClr val="1E252F"/>
                          </a:solidFill>
                          <a:latin typeface="Calibri"/>
                        </a:rPr>
                        <a:t>M</a:t>
                      </a:r>
                    </a:p>
                  </a:txBody>
                  <a:tcPr marL="45720" marR="45720" marT="18288" marB="18288">
                    <a:solidFill>
                      <a:srgbClr val="FFFFFF"/>
                    </a:solidFill>
                  </a:tcPr>
                </a:tc>
                <a:tc>
                  <a:txBody>
                    <a:bodyPr wrap="square"/>
                    <a:lstStyle/>
                    <a:p>
                      <a:r>
                        <a:rPr sz="1000">
                          <a:solidFill>
                            <a:srgbClr val="1E252F"/>
                          </a:solidFill>
                          <a:latin typeface="Calibri"/>
                        </a:rPr>
                        <a:t>M</a:t>
                      </a:r>
                    </a:p>
                  </a:txBody>
                  <a:tcPr marL="45720" marR="45720" marT="18288" marB="18288">
                    <a:solidFill>
                      <a:srgbClr val="FFFFFF"/>
                    </a:solidFill>
                  </a:tcPr>
                </a:tc>
                <a:tc>
                  <a:txBody>
                    <a:bodyPr wrap="square"/>
                    <a:lstStyle/>
                    <a:p>
                      <a:r>
                        <a:rPr sz="1000">
                          <a:solidFill>
                            <a:srgbClr val="1E252F"/>
                          </a:solidFill>
                          <a:latin typeface="Calibri"/>
                        </a:rPr>
                        <a:t>2 provider · provisioned throughput · Static Ladder Mode</a:t>
                      </a:r>
                    </a:p>
                  </a:txBody>
                  <a:tcPr marL="45720" marR="45720" marT="18288" marB="18288">
                    <a:solidFill>
                      <a:srgbClr val="FFFFFF"/>
                    </a:solidFill>
                  </a:tcPr>
                </a:tc>
                <a:tc>
                  <a:txBody>
                    <a:bodyPr wrap="square"/>
                    <a:lstStyle/>
                    <a:p>
                      <a:r>
                        <a:t>Bình</a:t>
                      </a:r>
                    </a:p>
                  </a:txBody>
                  <a:tcPr marL="45720" marR="45720" marT="18288" marB="18288">
                    <a:solidFill>
                      <a:srgbClr val="FFFFFF"/>
                    </a:solidFill>
                  </a:tcPr>
                </a:tc>
              </a:tr>
              <a:tr h="467360">
                <a:tc>
                  <a:txBody>
                    <a:bodyPr wrap="square"/>
                    <a:lstStyle/>
                    <a:p>
                      <a:r>
                        <a:rPr sz="1000">
                          <a:solidFill>
                            <a:srgbClr val="1E252F"/>
                          </a:solidFill>
                          <a:latin typeface="Calibri"/>
                        </a:rPr>
                        <a:t>R-06</a:t>
                      </a:r>
                    </a:p>
                  </a:txBody>
                  <a:tcPr marL="45720" marR="45720" marT="18288" marB="18288">
                    <a:solidFill>
                      <a:srgbClr val="F4F6F9"/>
                    </a:solidFill>
                  </a:tcPr>
                </a:tc>
                <a:tc>
                  <a:txBody>
                    <a:bodyPr wrap="square"/>
                    <a:lstStyle/>
                    <a:p>
                      <a:r>
                        <a:rPr sz="1000">
                          <a:solidFill>
                            <a:srgbClr val="1E252F"/>
                          </a:solidFill>
                          <a:latin typeface="Calibri"/>
                        </a:rPr>
                        <a:t>Peak 8× vượt dự báo</a:t>
                      </a:r>
                    </a:p>
                  </a:txBody>
                  <a:tcPr marL="45720" marR="45720" marT="18288" marB="18288">
                    <a:solidFill>
                      <a:srgbClr val="F4F6F9"/>
                    </a:solidFill>
                  </a:tcPr>
                </a:tc>
                <a:tc>
                  <a:txBody>
                    <a:bodyPr wrap="square"/>
                    <a:lstStyle/>
                    <a:p>
                      <a:r>
                        <a:rPr sz="1000">
                          <a:solidFill>
                            <a:srgbClr val="1E252F"/>
                          </a:solidFill>
                          <a:latin typeface="Calibri"/>
                        </a:rPr>
                        <a:t>M</a:t>
                      </a:r>
                    </a:p>
                  </a:txBody>
                  <a:tcPr marL="45720" marR="45720" marT="18288" marB="18288">
                    <a:solidFill>
                      <a:srgbClr val="F4F6F9"/>
                    </a:solidFill>
                  </a:tcPr>
                </a:tc>
                <a:tc>
                  <a:txBody>
                    <a:bodyPr wrap="square"/>
                    <a:lstStyle/>
                    <a:p>
                      <a:r>
                        <a:rPr sz="1000">
                          <a:solidFill>
                            <a:srgbClr val="1E252F"/>
                          </a:solidFill>
                          <a:latin typeface="Calibri"/>
                        </a:rPr>
                        <a:t>M</a:t>
                      </a:r>
                    </a:p>
                  </a:txBody>
                  <a:tcPr marL="45720" marR="45720" marT="18288" marB="18288">
                    <a:solidFill>
                      <a:srgbClr val="F4F6F9"/>
                    </a:solidFill>
                  </a:tcPr>
                </a:tc>
                <a:tc>
                  <a:txBody>
                    <a:bodyPr wrap="square"/>
                    <a:lstStyle/>
                    <a:p>
                      <a:r>
                        <a:rPr sz="1000">
                          <a:solidFill>
                            <a:srgbClr val="1E252F"/>
                          </a:solidFill>
                          <a:latin typeface="Calibri"/>
                        </a:rPr>
                        <a:t>HPA/KEDA · quota free · load test 10×</a:t>
                      </a:r>
                    </a:p>
                  </a:txBody>
                  <a:tcPr marL="45720" marR="45720" marT="18288" marB="18288">
                    <a:solidFill>
                      <a:srgbClr val="F4F6F9"/>
                    </a:solidFill>
                  </a:tcPr>
                </a:tc>
                <a:tc>
                  <a:txBody>
                    <a:bodyPr wrap="square"/>
                    <a:lstStyle/>
                    <a:p>
                      <a:r>
                        <a:t>Bình</a:t>
                      </a:r>
                    </a:p>
                  </a:txBody>
                  <a:tcPr marL="45720" marR="45720" marT="18288" marB="18288">
                    <a:solidFill>
                      <a:srgbClr val="F4F6F9"/>
                    </a:solidFill>
                  </a:tcPr>
                </a:tc>
              </a:tr>
              <a:tr h="467360">
                <a:tc>
                  <a:txBody>
                    <a:bodyPr wrap="square"/>
                    <a:lstStyle/>
                    <a:p>
                      <a:r>
                        <a:rPr sz="1000">
                          <a:solidFill>
                            <a:srgbClr val="1E252F"/>
                          </a:solidFill>
                          <a:latin typeface="Calibri"/>
                        </a:rPr>
                        <a:t>R-07</a:t>
                      </a:r>
                    </a:p>
                  </a:txBody>
                  <a:tcPr marL="45720" marR="45720" marT="18288" marB="18288">
                    <a:solidFill>
                      <a:srgbClr val="FFFFFF"/>
                    </a:solidFill>
                  </a:tcPr>
                </a:tc>
                <a:tc>
                  <a:txBody>
                    <a:bodyPr wrap="square"/>
                    <a:lstStyle/>
                    <a:p>
                      <a:r>
                        <a:rPr sz="1000">
                          <a:solidFill>
                            <a:srgbClr val="1E252F"/>
                          </a:solidFill>
                          <a:latin typeface="Calibri"/>
                        </a:rPr>
                        <a:t>Cost vượt trần 20% doanh thu</a:t>
                      </a:r>
                    </a:p>
                  </a:txBody>
                  <a:tcPr marL="45720" marR="45720" marT="18288" marB="18288">
                    <a:solidFill>
                      <a:srgbClr val="FFFFFF"/>
                    </a:solidFill>
                  </a:tcPr>
                </a:tc>
                <a:tc>
                  <a:txBody>
                    <a:bodyPr wrap="square"/>
                    <a:lstStyle/>
                    <a:p>
                      <a:r>
                        <a:rPr sz="1000">
                          <a:solidFill>
                            <a:srgbClr val="1E252F"/>
                          </a:solidFill>
                          <a:latin typeface="Calibri"/>
                        </a:rPr>
                        <a:t>M</a:t>
                      </a:r>
                    </a:p>
                  </a:txBody>
                  <a:tcPr marL="45720" marR="45720" marT="18288" marB="18288">
                    <a:solidFill>
                      <a:srgbClr val="FFFFFF"/>
                    </a:solidFill>
                  </a:tcPr>
                </a:tc>
                <a:tc>
                  <a:txBody>
                    <a:bodyPr wrap="square"/>
                    <a:lstStyle/>
                    <a:p>
                      <a:r>
                        <a:rPr sz="1000">
                          <a:solidFill>
                            <a:srgbClr val="1E252F"/>
                          </a:solidFill>
                          <a:latin typeface="Calibri"/>
                        </a:rPr>
                        <a:t>M</a:t>
                      </a:r>
                    </a:p>
                  </a:txBody>
                  <a:tcPr marL="45720" marR="45720" marT="18288" marB="18288">
                    <a:solidFill>
                      <a:srgbClr val="FFFFFF"/>
                    </a:solidFill>
                  </a:tcPr>
                </a:tc>
                <a:tc>
                  <a:txBody>
                    <a:bodyPr wrap="square"/>
                    <a:lstStyle/>
                    <a:p>
                      <a:r>
                        <a:rPr sz="1000">
                          <a:solidFill>
                            <a:srgbClr val="1E252F"/>
                          </a:solidFill>
                          <a:latin typeface="Calibri"/>
                        </a:rPr>
                        <a:t>Tiering · cache · quota · alert 80% / kill 120%</a:t>
                      </a:r>
                    </a:p>
                  </a:txBody>
                  <a:tcPr marL="45720" marR="45720" marT="18288" marB="18288">
                    <a:solidFill>
                      <a:srgbClr val="FFFFFF"/>
                    </a:solidFill>
                  </a:tcPr>
                </a:tc>
                <a:tc>
                  <a:txBody>
                    <a:bodyPr wrap="square"/>
                    <a:lstStyle/>
                    <a:p>
                      <a:r>
                        <a:t>Phú</a:t>
                      </a:r>
                    </a:p>
                  </a:txBody>
                  <a:tcPr marL="45720" marR="45720" marT="18288" marB="18288">
                    <a:solidFill>
                      <a:srgbClr val="FFFFFF"/>
                    </a:solidFill>
                  </a:tcPr>
                </a:tc>
              </a:tr>
              <a:tr h="467360">
                <a:tc>
                  <a:txBody>
                    <a:bodyPr wrap="square"/>
                    <a:lstStyle/>
                    <a:p>
                      <a:r>
                        <a:rPr sz="1000">
                          <a:solidFill>
                            <a:srgbClr val="1E252F"/>
                          </a:solidFill>
                          <a:latin typeface="Calibri"/>
                        </a:rPr>
                        <a:t>R-08</a:t>
                      </a:r>
                    </a:p>
                  </a:txBody>
                  <a:tcPr marL="45720" marR="45720" marT="18288" marB="18288">
                    <a:solidFill>
                      <a:srgbClr val="F4F6F9"/>
                    </a:solidFill>
                  </a:tcPr>
                </a:tc>
                <a:tc>
                  <a:txBody>
                    <a:bodyPr wrap="square"/>
                    <a:lstStyle/>
                    <a:p>
                      <a:r>
                        <a:rPr sz="1000">
                          <a:solidFill>
                            <a:srgbClr val="1E252F"/>
                          </a:solidFill>
                          <a:latin typeface="Calibri"/>
                        </a:rPr>
                        <a:t>Cold-start: ladder tổng hợp kém, học sinh không dùng</a:t>
                      </a:r>
                    </a:p>
                  </a:txBody>
                  <a:tcPr marL="45720" marR="45720" marT="18288" marB="18288">
                    <a:solidFill>
                      <a:srgbClr val="F4F6F9"/>
                    </a:solidFill>
                  </a:tcPr>
                </a:tc>
                <a:tc>
                  <a:txBody>
                    <a:bodyPr wrap="square"/>
                    <a:lstStyle/>
                    <a:p>
                      <a:r>
                        <a:rPr sz="1000">
                          <a:solidFill>
                            <a:srgbClr val="1E252F"/>
                          </a:solidFill>
                          <a:latin typeface="Calibri"/>
                        </a:rPr>
                        <a:t>M</a:t>
                      </a:r>
                    </a:p>
                  </a:txBody>
                  <a:tcPr marL="45720" marR="45720" marT="18288" marB="18288">
                    <a:solidFill>
                      <a:srgbClr val="F4F6F9"/>
                    </a:solidFill>
                  </a:tcPr>
                </a:tc>
                <a:tc>
                  <a:txBody>
                    <a:bodyPr wrap="square"/>
                    <a:lstStyle/>
                    <a:p>
                      <a:r>
                        <a:rPr sz="1000">
                          <a:solidFill>
                            <a:srgbClr val="1E252F"/>
                          </a:solidFill>
                          <a:latin typeface="Calibri"/>
                        </a:rPr>
                        <a:t>H</a:t>
                      </a:r>
                    </a:p>
                  </a:txBody>
                  <a:tcPr marL="45720" marR="45720" marT="18288" marB="18288">
                    <a:solidFill>
                      <a:srgbClr val="F4F6F9"/>
                    </a:solidFill>
                  </a:tcPr>
                </a:tc>
                <a:tc>
                  <a:txBody>
                    <a:bodyPr wrap="square"/>
                    <a:lstStyle/>
                    <a:p>
                      <a:r>
                        <a:rPr sz="1000">
                          <a:solidFill>
                            <a:srgbClr val="1E252F"/>
                          </a:solidFill>
                          <a:latin typeface="Calibri"/>
                        </a:rPr>
                        <a:t>Beta 2k HS · giáo viên duyệt · KPI abandonment theo tuần</a:t>
                      </a:r>
                    </a:p>
                  </a:txBody>
                  <a:tcPr marL="45720" marR="45720" marT="18288" marB="18288">
                    <a:solidFill>
                      <a:srgbClr val="F4F6F9"/>
                    </a:solidFill>
                  </a:tcPr>
                </a:tc>
                <a:tc>
                  <a:txBody>
                    <a:bodyPr wrap="square"/>
                    <a:lstStyle/>
                    <a:p>
                      <a:r>
                        <a:t>Hòa</a:t>
                      </a:r>
                    </a:p>
                  </a:txBody>
                  <a:tcPr marL="45720" marR="45720" marT="18288" marB="18288">
                    <a:solidFill>
                      <a:srgbClr val="F4F6F9"/>
                    </a:solidFill>
                  </a:tcPr>
                </a:tc>
              </a:tr>
            </a:tbl>
          </a:graphicData>
        </a:graphic>
      </p:graphicFrame>
      <p:sp>
        <p:nvSpPr>
          <p:cNvPr id="10" name="TextBox 9"/>
          <p:cNvSpPr txBox="1"/>
          <p:nvPr/>
        </p:nvSpPr>
        <p:spPr>
          <a:xfrm>
            <a:off x="365760" y="5440680"/>
            <a:ext cx="11430000" cy="914400"/>
          </a:xfrm>
          <a:prstGeom prst="rect">
            <a:avLst/>
          </a:prstGeom>
          <a:noFill/>
        </p:spPr>
        <p:txBody>
          <a:bodyPr wrap="square" lIns="73152" rIns="73152" tIns="36576" bIns="36576" anchor="t">
            <a:spAutoFit/>
          </a:bodyPr>
          <a:lstStyle/>
          <a:p>
            <a:pPr algn="l">
              <a:spcAft>
                <a:spcPts val="400"/>
              </a:spcAft>
            </a:pPr>
            <a:r>
              <a:rPr sz="1000" b="0">
                <a:solidFill>
                  <a:srgbClr val="5F6B7A"/>
                </a:solidFill>
                <a:latin typeface="Calibri"/>
              </a:rPr>
              <a:t>L = likelihood · I = impact. Review 2 tuần/lần; R-01/R-02 có KRI theo ngày (ALR, escape count). Full register 15 mục + threat model prompt-injection: ATAD §8, §11.5.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01200" cy="731520"/>
          </a:xfrm>
          <a:prstGeom prst="rect">
            <a:avLst/>
          </a:prstGeom>
          <a:noFill/>
        </p:spPr>
        <p:txBody>
          <a:bodyPr wrap="square" lIns="73152" rIns="73152" tIns="36576" bIns="36576" anchor="ctr">
            <a:spAutoFit/>
          </a:bodyPr>
          <a:lstStyle/>
          <a:p>
            <a:pPr algn="l">
              <a:spcAft>
                <a:spcPts val="400"/>
              </a:spcAft>
            </a:pPr>
            <a:r>
              <a:rPr sz="2600" b="1">
                <a:solidFill>
                  <a:srgbClr val="FFFFFF"/>
                </a:solidFill>
                <a:latin typeface="Calibri"/>
              </a:rPr>
              <a:t>Appendix D · Requirement · Assumption · Proposal</a:t>
            </a:r>
          </a:p>
        </p:txBody>
      </p:sp>
      <p:sp>
        <p:nvSpPr>
          <p:cNvPr id="4" name="TextBox 3"/>
          <p:cNvSpPr txBox="1"/>
          <p:nvPr/>
        </p:nvSpPr>
        <p:spPr>
          <a:xfrm>
            <a:off x="9692640" y="109728"/>
            <a:ext cx="2286000" cy="365760"/>
          </a:xfrm>
          <a:prstGeom prst="rect">
            <a:avLst/>
          </a:prstGeom>
          <a:noFill/>
        </p:spPr>
        <p:txBody>
          <a:bodyPr wrap="square" lIns="73152" rIns="73152" tIns="36576" bIns="36576" anchor="t">
            <a:spAutoFit/>
          </a:bodyPr>
          <a:lstStyle/>
          <a:p>
            <a:pPr algn="r">
              <a:spcAft>
                <a:spcPts val="400"/>
              </a:spcAft>
            </a:pPr>
            <a:r>
              <a:rPr sz="1200" b="1">
                <a:solidFill>
                  <a:srgbClr val="00A39B"/>
                </a:solidFill>
                <a:latin typeface="Calibri"/>
              </a:rPr>
              <a:t>PIC: Thuận (M1)</a:t>
            </a:r>
          </a:p>
        </p:txBody>
      </p:sp>
      <p:sp>
        <p:nvSpPr>
          <p:cNvPr id="5" name="TextBox 4"/>
          <p:cNvSpPr txBox="1"/>
          <p:nvPr/>
        </p:nvSpPr>
        <p:spPr>
          <a:xfrm>
            <a:off x="9692640" y="457200"/>
            <a:ext cx="2286000" cy="365760"/>
          </a:xfrm>
          <a:prstGeom prst="rect">
            <a:avLst/>
          </a:prstGeom>
          <a:noFill/>
        </p:spPr>
        <p:txBody>
          <a:bodyPr wrap="square" lIns="73152" rIns="73152" tIns="36576" bIns="36576" anchor="t">
            <a:spAutoFit/>
          </a:bodyPr>
          <a:lstStyle/>
          <a:p>
            <a:pPr algn="r">
              <a:spcAft>
                <a:spcPts val="400"/>
              </a:spcAft>
            </a:pPr>
            <a:r>
              <a:rPr sz="1100" b="0">
                <a:solidFill>
                  <a:srgbClr val="F28C28"/>
                </a:solidFill>
                <a:latin typeface="Calibri"/>
              </a:rPr>
              <a:t>Rubric 4.5 · 4.2</a:t>
            </a:r>
          </a:p>
        </p:txBody>
      </p:sp>
      <p:sp>
        <p:nvSpPr>
          <p:cNvPr id="6" name="Rectangle 5"/>
          <p:cNvSpPr/>
          <p:nvPr/>
        </p:nvSpPr>
        <p:spPr>
          <a:xfrm>
            <a:off x="0" y="6537960"/>
            <a:ext cx="12191695" cy="3200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37960"/>
            <a:ext cx="8229600" cy="320040"/>
          </a:xfrm>
          <a:prstGeom prst="rect">
            <a:avLst/>
          </a:prstGeom>
          <a:noFill/>
        </p:spPr>
        <p:txBody>
          <a:bodyPr wrap="square" lIns="73152" rIns="73152" tIns="36576" bIns="36576" anchor="ctr">
            <a:spAutoFit/>
          </a:bodyPr>
          <a:lstStyle/>
          <a:p>
            <a:pPr algn="l">
              <a:spcAft>
                <a:spcPts val="400"/>
              </a:spcAft>
            </a:pPr>
            <a:r>
              <a:rPr sz="1000" b="0">
                <a:solidFill>
                  <a:srgbClr val="5F6B7A"/>
                </a:solidFill>
                <a:latin typeface="Calibri"/>
              </a:rPr>
              <a:t>TutorMate · EduNova · Workshop 2 – Scenario B · ATAD v1.0</a:t>
            </a:r>
          </a:p>
        </p:txBody>
      </p:sp>
      <p:sp>
        <p:nvSpPr>
          <p:cNvPr id="8" name="TextBox 7"/>
          <p:cNvSpPr txBox="1"/>
          <p:nvPr/>
        </p:nvSpPr>
        <p:spPr>
          <a:xfrm>
            <a:off x="10972800" y="6537960"/>
            <a:ext cx="914400" cy="320040"/>
          </a:xfrm>
          <a:prstGeom prst="rect">
            <a:avLst/>
          </a:prstGeom>
          <a:noFill/>
        </p:spPr>
        <p:txBody>
          <a:bodyPr wrap="square" lIns="73152" rIns="73152" tIns="36576" bIns="36576" anchor="ctr">
            <a:spAutoFit/>
          </a:bodyPr>
          <a:lstStyle/>
          <a:p>
            <a:pPr algn="r">
              <a:spcAft>
                <a:spcPts val="400"/>
              </a:spcAft>
            </a:pPr>
            <a:r>
              <a:rPr sz="1000" b="0">
                <a:solidFill>
                  <a:srgbClr val="5F6B7A"/>
                </a:solidFill>
                <a:latin typeface="Calibri"/>
              </a:rPr>
              <a:t>D / 14</a:t>
            </a:r>
          </a:p>
        </p:txBody>
      </p:sp>
      <p:sp>
        <p:nvSpPr>
          <p:cNvPr id="9" name="TextBox 8"/>
          <p:cNvSpPr txBox="1"/>
          <p:nvPr/>
        </p:nvSpPr>
        <p:spPr>
          <a:xfrm>
            <a:off x="365760" y="1051560"/>
            <a:ext cx="11430000" cy="411480"/>
          </a:xfrm>
          <a:prstGeom prst="rect">
            <a:avLst/>
          </a:prstGeom>
          <a:noFill/>
        </p:spPr>
        <p:txBody>
          <a:bodyPr wrap="square" lIns="73152" rIns="73152" tIns="36576" bIns="36576" anchor="t">
            <a:spAutoFit/>
          </a:bodyPr>
          <a:lstStyle/>
          <a:p>
            <a:pPr algn="l">
              <a:spcAft>
                <a:spcPts val="400"/>
              </a:spcAft>
            </a:pPr>
            <a:r>
              <a:rPr sz="1000" b="1">
                <a:solidFill>
                  <a:srgbClr val="00A39B"/>
                </a:solidFill>
                <a:latin typeface="Calibri"/>
              </a:rPr>
              <a:t>[R] Requirement = đề bài workshop đưa, không thương lượng  ·  [A] Working assumption = nhóm giả định, xác nhận ở beta  ·  [P] Architect proposal = nhóm đề xuất, có ADR  ·  [D] Data/training prerequisite = điều kiện bật một thành phần</a:t>
            </a:r>
          </a:p>
        </p:txBody>
      </p:sp>
      <p:graphicFrame>
        <p:nvGraphicFramePr>
          <p:cNvPr id="10" name="Table 9"/>
          <p:cNvGraphicFramePr>
            <a:graphicFrameLocks noGrp="1"/>
          </p:cNvGraphicFramePr>
          <p:nvPr/>
        </p:nvGraphicFramePr>
        <p:xfrm>
          <a:off x="365760" y="1508760"/>
          <a:ext cx="11430000" cy="4297680"/>
        </p:xfrm>
        <a:graphic>
          <a:graphicData uri="http://schemas.openxmlformats.org/drawingml/2006/table">
            <a:tbl>
              <a:tblPr firstRow="1" bandRow="1">
                <a:tableStyleId>{5C22544A-7EE6-4342-B048-85BDC9FD1C3A}</a:tableStyleId>
              </a:tblPr>
              <a:tblGrid>
                <a:gridCol w="1463040"/>
                <a:gridCol w="5120640"/>
                <a:gridCol w="3657600"/>
                <a:gridCol w="1188720"/>
              </a:tblGrid>
              <a:tr h="390698">
                <a:tc>
                  <a:txBody>
                    <a:bodyPr wrap="square"/>
                    <a:lstStyle/>
                    <a:p>
                      <a:r>
                        <a:rPr sz="1000" b="1">
                          <a:solidFill>
                            <a:srgbClr val="FFFFFF"/>
                          </a:solidFill>
                          <a:latin typeface="Calibri"/>
                        </a:rPr>
                        <a:t>Loại</a:t>
                      </a:r>
                    </a:p>
                  </a:txBody>
                  <a:tcPr marL="45720" marR="45720" marT="18288" marB="18288">
                    <a:solidFill>
                      <a:srgbClr val="00A39B"/>
                    </a:solidFill>
                  </a:tcPr>
                </a:tc>
                <a:tc>
                  <a:txBody>
                    <a:bodyPr wrap="square"/>
                    <a:lstStyle/>
                    <a:p>
                      <a:r>
                        <a:rPr sz="1000" b="1">
                          <a:solidFill>
                            <a:srgbClr val="FFFFFF"/>
                          </a:solidFill>
                          <a:latin typeface="Calibri"/>
                        </a:rPr>
                        <a:t>Phát biểu</a:t>
                      </a:r>
                    </a:p>
                  </a:txBody>
                  <a:tcPr marL="45720" marR="45720" marT="18288" marB="18288">
                    <a:solidFill>
                      <a:srgbClr val="00A39B"/>
                    </a:solidFill>
                  </a:tcPr>
                </a:tc>
                <a:tc>
                  <a:txBody>
                    <a:bodyPr wrap="square"/>
                    <a:lstStyle/>
                    <a:p>
                      <a:r>
                        <a:rPr sz="1000" b="1">
                          <a:solidFill>
                            <a:srgbClr val="FFFFFF"/>
                          </a:solidFill>
                          <a:latin typeface="Calibri"/>
                        </a:rPr>
                        <a:t>Nguồn / cách xác nhận</a:t>
                      </a:r>
                    </a:p>
                  </a:txBody>
                  <a:tcPr marL="45720" marR="45720" marT="18288" marB="18288">
                    <a:solidFill>
                      <a:srgbClr val="00A39B"/>
                    </a:solidFill>
                  </a:tcPr>
                </a:tc>
                <a:tc>
                  <a:txBody>
                    <a:bodyPr wrap="square"/>
                    <a:lstStyle/>
                    <a:p>
                      <a:r>
                        <a:rPr sz="1000" b="1">
                          <a:solidFill>
                            <a:srgbClr val="FFFFFF"/>
                          </a:solidFill>
                          <a:latin typeface="Calibri"/>
                        </a:rPr>
                        <a:t>Owner</a:t>
                      </a:r>
                    </a:p>
                  </a:txBody>
                  <a:tcPr marL="45720" marR="45720" marT="18288" marB="18288">
                    <a:solidFill>
                      <a:srgbClr val="00A39B"/>
                    </a:solidFill>
                  </a:tcPr>
                </a:tc>
              </a:tr>
              <a:tr h="390698">
                <a:tc>
                  <a:txBody>
                    <a:bodyPr wrap="square"/>
                    <a:lstStyle/>
                    <a:p>
                      <a:r>
                        <a:rPr sz="1000">
                          <a:solidFill>
                            <a:srgbClr val="1E252F"/>
                          </a:solidFill>
                          <a:latin typeface="Calibri"/>
                        </a:rPr>
                        <a:t>[R] Requirement</a:t>
                      </a:r>
                    </a:p>
                  </a:txBody>
                  <a:tcPr marL="45720" marR="45720" marT="18288" marB="18288">
                    <a:solidFill>
                      <a:srgbClr val="FFFFFF"/>
                    </a:solidFill>
                  </a:tcPr>
                </a:tc>
                <a:tc>
                  <a:txBody>
                    <a:bodyPr wrap="square"/>
                    <a:lstStyle/>
                    <a:p>
                      <a:r>
                        <a:rPr sz="1000">
                          <a:solidFill>
                            <a:srgbClr val="1E252F"/>
                          </a:solidFill>
                          <a:latin typeface="Calibri"/>
                        </a:rPr>
                        <a:t>p95 latency &lt; 3s toàn lượt</a:t>
                      </a:r>
                    </a:p>
                  </a:txBody>
                  <a:tcPr marL="45720" marR="45720" marT="18288" marB="18288">
                    <a:solidFill>
                      <a:srgbClr val="FFFFFF"/>
                    </a:solidFill>
                  </a:tcPr>
                </a:tc>
                <a:tc>
                  <a:txBody>
                    <a:bodyPr wrap="square"/>
                    <a:lstStyle/>
                    <a:p>
                      <a:r>
                        <a:rPr sz="1000">
                          <a:solidFill>
                            <a:srgbClr val="1E252F"/>
                          </a:solidFill>
                          <a:latin typeface="Calibri"/>
                        </a:rPr>
                        <a:t>Đề bài Scenario B</a:t>
                      </a:r>
                    </a:p>
                  </a:txBody>
                  <a:tcPr marL="45720" marR="45720" marT="18288" marB="18288">
                    <a:solidFill>
                      <a:srgbClr val="FFFFFF"/>
                    </a:solidFill>
                  </a:tcPr>
                </a:tc>
                <a:tc>
                  <a:txBody>
                    <a:bodyPr wrap="square"/>
                    <a:lstStyle/>
                    <a:p>
                      <a:r>
                        <a:t>Bình</a:t>
                      </a:r>
                    </a:p>
                  </a:txBody>
                  <a:tcPr marL="45720" marR="45720" marT="18288" marB="18288">
                    <a:solidFill>
                      <a:srgbClr val="FFFFFF"/>
                    </a:solidFill>
                  </a:tcPr>
                </a:tc>
              </a:tr>
              <a:tr h="390698">
                <a:tc>
                  <a:txBody>
                    <a:bodyPr wrap="square"/>
                    <a:lstStyle/>
                    <a:p>
                      <a:r>
                        <a:rPr sz="1000">
                          <a:solidFill>
                            <a:srgbClr val="1E252F"/>
                          </a:solidFill>
                          <a:latin typeface="Calibri"/>
                        </a:rPr>
                        <a:t>[R] Requirement</a:t>
                      </a:r>
                    </a:p>
                  </a:txBody>
                  <a:tcPr marL="45720" marR="45720" marT="18288" marB="18288">
                    <a:solidFill>
                      <a:srgbClr val="F4F6F9"/>
                    </a:solidFill>
                  </a:tcPr>
                </a:tc>
                <a:tc>
                  <a:txBody>
                    <a:bodyPr wrap="square"/>
                    <a:lstStyle/>
                    <a:p>
                      <a:r>
                        <a:rPr sz="1000">
                          <a:solidFill>
                            <a:srgbClr val="1E252F"/>
                          </a:solidFill>
                          <a:latin typeface="Calibri"/>
                        </a:rPr>
                        <a:t>Chịu 5–8× peak; không lộ đáp án trực tiếp; consent phụ huynh; freemium</a:t>
                      </a:r>
                    </a:p>
                  </a:txBody>
                  <a:tcPr marL="45720" marR="45720" marT="18288" marB="18288">
                    <a:solidFill>
                      <a:srgbClr val="F4F6F9"/>
                    </a:solidFill>
                  </a:tcPr>
                </a:tc>
                <a:tc>
                  <a:txBody>
                    <a:bodyPr wrap="square"/>
                    <a:lstStyle/>
                    <a:p>
                      <a:r>
                        <a:rPr sz="1000">
                          <a:solidFill>
                            <a:srgbClr val="1E252F"/>
                          </a:solidFill>
                          <a:latin typeface="Calibri"/>
                        </a:rPr>
                        <a:t>Đề bài Scenario B</a:t>
                      </a:r>
                    </a:p>
                  </a:txBody>
                  <a:tcPr marL="45720" marR="45720" marT="18288" marB="18288">
                    <a:solidFill>
                      <a:srgbClr val="F4F6F9"/>
                    </a:solidFill>
                  </a:tcPr>
                </a:tc>
                <a:tc>
                  <a:txBody>
                    <a:bodyPr wrap="square"/>
                    <a:lstStyle/>
                    <a:p>
                      <a:r>
                        <a:t>Thuận</a:t>
                      </a:r>
                    </a:p>
                  </a:txBody>
                  <a:tcPr marL="45720" marR="45720" marT="18288" marB="18288">
                    <a:solidFill>
                      <a:srgbClr val="F4F6F9"/>
                    </a:solidFill>
                  </a:tcPr>
                </a:tc>
              </a:tr>
              <a:tr h="390698">
                <a:tc>
                  <a:txBody>
                    <a:bodyPr wrap="square"/>
                    <a:lstStyle/>
                    <a:p>
                      <a:r>
                        <a:rPr sz="1000">
                          <a:solidFill>
                            <a:srgbClr val="1E252F"/>
                          </a:solidFill>
                          <a:latin typeface="Calibri"/>
                        </a:rPr>
                        <a:t>[A] Assumption</a:t>
                      </a:r>
                    </a:p>
                  </a:txBody>
                  <a:tcPr marL="45720" marR="45720" marT="18288" marB="18288">
                    <a:solidFill>
                      <a:srgbClr val="FFFFFF"/>
                    </a:solidFill>
                  </a:tcPr>
                </a:tc>
                <a:tc>
                  <a:txBody>
                    <a:bodyPr wrap="square"/>
                    <a:lstStyle/>
                    <a:p>
                      <a:r>
                        <a:rPr sz="1000">
                          <a:solidFill>
                            <a:srgbClr val="1E252F"/>
                          </a:solidFill>
                          <a:latin typeface="Calibri"/>
                        </a:rPr>
                        <a:t>30% DAU dùng tutor × 8 lượt → 960k lượt/ngày, 29M/tháng</a:t>
                      </a:r>
                    </a:p>
                  </a:txBody>
                  <a:tcPr marL="45720" marR="45720" marT="18288" marB="18288">
                    <a:solidFill>
                      <a:srgbClr val="FFFFFF"/>
                    </a:solidFill>
                  </a:tcPr>
                </a:tc>
                <a:tc>
                  <a:txBody>
                    <a:bodyPr wrap="square"/>
                    <a:lstStyle/>
                    <a:p>
                      <a:r>
                        <a:rPr sz="1000">
                          <a:solidFill>
                            <a:srgbClr val="1E252F"/>
                          </a:solidFill>
                          <a:latin typeface="Calibri"/>
                        </a:rPr>
                        <a:t>Đo ở beta 2k HS; cập nhật cost model tuần</a:t>
                      </a:r>
                    </a:p>
                  </a:txBody>
                  <a:tcPr marL="45720" marR="45720" marT="18288" marB="18288">
                    <a:solidFill>
                      <a:srgbClr val="FFFFFF"/>
                    </a:solidFill>
                  </a:tcPr>
                </a:tc>
                <a:tc>
                  <a:txBody>
                    <a:bodyPr wrap="square"/>
                    <a:lstStyle/>
                    <a:p>
                      <a:r>
                        <a:t>Phú</a:t>
                      </a:r>
                    </a:p>
                  </a:txBody>
                  <a:tcPr marL="45720" marR="45720" marT="18288" marB="18288">
                    <a:solidFill>
                      <a:srgbClr val="FFFFFF"/>
                    </a:solidFill>
                  </a:tcPr>
                </a:tc>
              </a:tr>
              <a:tr h="390698">
                <a:tc>
                  <a:txBody>
                    <a:bodyPr wrap="square"/>
                    <a:lstStyle/>
                    <a:p>
                      <a:r>
                        <a:rPr sz="1000">
                          <a:solidFill>
                            <a:srgbClr val="1E252F"/>
                          </a:solidFill>
                          <a:latin typeface="Calibri"/>
                        </a:rPr>
                        <a:t>[A] Assumption</a:t>
                      </a:r>
                    </a:p>
                  </a:txBody>
                  <a:tcPr marL="45720" marR="45720" marT="18288" marB="18288">
                    <a:solidFill>
                      <a:srgbClr val="F4F6F9"/>
                    </a:solidFill>
                  </a:tcPr>
                </a:tc>
                <a:tc>
                  <a:txBody>
                    <a:bodyPr wrap="square"/>
                    <a:lstStyle/>
                    <a:p>
                      <a:r>
                        <a:rPr sz="1000">
                          <a:solidFill>
                            <a:srgbClr val="1E252F"/>
                          </a:solidFill>
                          <a:latin typeface="Calibri"/>
                        </a:rPr>
                        <a:t>Thị trường chính Việt Nam (Nghị định 13); mix trả phí 10% (sens. 5/15%)</a:t>
                      </a:r>
                    </a:p>
                  </a:txBody>
                  <a:tcPr marL="45720" marR="45720" marT="18288" marB="18288">
                    <a:solidFill>
                      <a:srgbClr val="F4F6F9"/>
                    </a:solidFill>
                  </a:tcPr>
                </a:tc>
                <a:tc>
                  <a:txBody>
                    <a:bodyPr wrap="square"/>
                    <a:lstStyle/>
                    <a:p>
                      <a:r>
                        <a:rPr sz="1000">
                          <a:solidFill>
                            <a:srgbClr val="1E252F"/>
                          </a:solidFill>
                          <a:latin typeface="Calibri"/>
                        </a:rPr>
                        <a:t>Legal + finance xác nhận</a:t>
                      </a:r>
                    </a:p>
                  </a:txBody>
                  <a:tcPr marL="45720" marR="45720" marT="18288" marB="18288">
                    <a:solidFill>
                      <a:srgbClr val="F4F6F9"/>
                    </a:solidFill>
                  </a:tcPr>
                </a:tc>
                <a:tc>
                  <a:txBody>
                    <a:bodyPr wrap="square"/>
                    <a:lstStyle/>
                    <a:p>
                      <a:r>
                        <a:t>Phụng</a:t>
                      </a:r>
                    </a:p>
                  </a:txBody>
                  <a:tcPr marL="45720" marR="45720" marT="18288" marB="18288">
                    <a:solidFill>
                      <a:srgbClr val="F4F6F9"/>
                    </a:solidFill>
                  </a:tcPr>
                </a:tc>
              </a:tr>
              <a:tr h="390698">
                <a:tc>
                  <a:txBody>
                    <a:bodyPr wrap="square"/>
                    <a:lstStyle/>
                    <a:p>
                      <a:r>
                        <a:rPr sz="1000">
                          <a:solidFill>
                            <a:srgbClr val="1E252F"/>
                          </a:solidFill>
                          <a:latin typeface="Calibri"/>
                        </a:rPr>
                        <a:t>[A] Assumption</a:t>
                      </a:r>
                    </a:p>
                  </a:txBody>
                  <a:tcPr marL="45720" marR="45720" marT="18288" marB="18288">
                    <a:solidFill>
                      <a:srgbClr val="FFFFFF"/>
                    </a:solidFill>
                  </a:tcPr>
                </a:tc>
                <a:tc>
                  <a:txBody>
                    <a:bodyPr wrap="square"/>
                    <a:lstStyle/>
                    <a:p>
                      <a:r>
                        <a:rPr sz="1000">
                          <a:solidFill>
                            <a:srgbClr val="1E252F"/>
                          </a:solidFill>
                          <a:latin typeface="Calibri"/>
                        </a:rPr>
                        <a:t>Managed small model đủ chất lượng Socratic khi có ladder + policy</a:t>
                      </a:r>
                    </a:p>
                  </a:txBody>
                  <a:tcPr marL="45720" marR="45720" marT="18288" marB="18288">
                    <a:solidFill>
                      <a:srgbClr val="FFFFFF"/>
                    </a:solidFill>
                  </a:tcPr>
                </a:tc>
                <a:tc>
                  <a:txBody>
                    <a:bodyPr wrap="square"/>
                    <a:lstStyle/>
                    <a:p>
                      <a:r>
                        <a:rPr sz="1000">
                          <a:solidFill>
                            <a:srgbClr val="1E252F"/>
                          </a:solidFill>
                          <a:latin typeface="Calibri"/>
                        </a:rPr>
                        <a:t>Golden set ≥ 1,000, Pedagogy ≥ 4.0/5 ở beta</a:t>
                      </a:r>
                    </a:p>
                  </a:txBody>
                  <a:tcPr marL="45720" marR="45720" marT="18288" marB="18288">
                    <a:solidFill>
                      <a:srgbClr val="FFFFFF"/>
                    </a:solidFill>
                  </a:tcPr>
                </a:tc>
                <a:tc>
                  <a:txBody>
                    <a:bodyPr wrap="square"/>
                    <a:lstStyle/>
                    <a:p>
                      <a:r>
                        <a:t>Hòa</a:t>
                      </a:r>
                    </a:p>
                  </a:txBody>
                  <a:tcPr marL="45720" marR="45720" marT="18288" marB="18288">
                    <a:solidFill>
                      <a:srgbClr val="FFFFFF"/>
                    </a:solidFill>
                  </a:tcPr>
                </a:tc>
              </a:tr>
              <a:tr h="390698">
                <a:tc>
                  <a:txBody>
                    <a:bodyPr wrap="square"/>
                    <a:lstStyle/>
                    <a:p>
                      <a:r>
                        <a:rPr sz="1000">
                          <a:solidFill>
                            <a:srgbClr val="1E252F"/>
                          </a:solidFill>
                          <a:latin typeface="Calibri"/>
                        </a:rPr>
                        <a:t>[P] Proposal</a:t>
                      </a:r>
                    </a:p>
                  </a:txBody>
                  <a:tcPr marL="45720" marR="45720" marT="18288" marB="18288">
                    <a:solidFill>
                      <a:srgbClr val="F4F6F9"/>
                    </a:solidFill>
                  </a:tcPr>
                </a:tc>
                <a:tc>
                  <a:txBody>
                    <a:bodyPr wrap="square"/>
                    <a:lstStyle/>
                    <a:p>
                      <a:r>
                        <a:rPr sz="1000">
                          <a:solidFill>
                            <a:srgbClr val="1E252F"/>
                          </a:solidFill>
                          <a:latin typeface="Calibri"/>
                        </a:rPr>
                        <a:t>ALR ≤ 1.0% golden · ≤ 0.5% prod · golden set ≥ 1,000 · release gate 4 điều kiện</a:t>
                      </a:r>
                    </a:p>
                  </a:txBody>
                  <a:tcPr marL="45720" marR="45720" marT="18288" marB="18288">
                    <a:solidFill>
                      <a:srgbClr val="F4F6F9"/>
                    </a:solidFill>
                  </a:tcPr>
                </a:tc>
                <a:tc>
                  <a:txBody>
                    <a:bodyPr wrap="square"/>
                    <a:lstStyle/>
                    <a:p>
                      <a:r>
                        <a:rPr sz="1000">
                          <a:solidFill>
                            <a:srgbClr val="1E252F"/>
                          </a:solidFill>
                          <a:latin typeface="Calibri"/>
                        </a:rPr>
                        <a:t>ADR-001/-004; panel có thể thách thức ngưỡng</a:t>
                      </a:r>
                    </a:p>
                  </a:txBody>
                  <a:tcPr marL="45720" marR="45720" marT="18288" marB="18288">
                    <a:solidFill>
                      <a:srgbClr val="F4F6F9"/>
                    </a:solidFill>
                  </a:tcPr>
                </a:tc>
                <a:tc>
                  <a:txBody>
                    <a:bodyPr wrap="square"/>
                    <a:lstStyle/>
                    <a:p>
                      <a:r>
                        <a:t>Phụng</a:t>
                      </a:r>
                    </a:p>
                  </a:txBody>
                  <a:tcPr marL="45720" marR="45720" marT="18288" marB="18288">
                    <a:solidFill>
                      <a:srgbClr val="F4F6F9"/>
                    </a:solidFill>
                  </a:tcPr>
                </a:tc>
              </a:tr>
              <a:tr h="390698">
                <a:tc>
                  <a:txBody>
                    <a:bodyPr wrap="square"/>
                    <a:lstStyle/>
                    <a:p>
                      <a:r>
                        <a:rPr sz="1000">
                          <a:solidFill>
                            <a:srgbClr val="1E252F"/>
                          </a:solidFill>
                          <a:latin typeface="Calibri"/>
                        </a:rPr>
                        <a:t>[P] Proposal</a:t>
                      </a:r>
                    </a:p>
                  </a:txBody>
                  <a:tcPr marL="45720" marR="45720" marT="18288" marB="18288">
                    <a:solidFill>
                      <a:srgbClr val="FFFFFF"/>
                    </a:solidFill>
                  </a:tcPr>
                </a:tc>
                <a:tc>
                  <a:txBody>
                    <a:bodyPr wrap="square"/>
                    <a:lstStyle/>
                    <a:p>
                      <a:r>
                        <a:rPr sz="1000">
                          <a:solidFill>
                            <a:srgbClr val="1E252F"/>
                          </a:solidFill>
                          <a:latin typeface="Calibri"/>
                        </a:rPr>
                        <a:t>Hybrid policy + RAG + tools + managed LLM; AWS + pgvector; BKT</a:t>
                      </a:r>
                    </a:p>
                  </a:txBody>
                  <a:tcPr marL="45720" marR="45720" marT="18288" marB="18288">
                    <a:solidFill>
                      <a:srgbClr val="FFFFFF"/>
                    </a:solidFill>
                  </a:tcPr>
                </a:tc>
                <a:tc>
                  <a:txBody>
                    <a:bodyPr wrap="square"/>
                    <a:lstStyle/>
                    <a:p>
                      <a:r>
                        <a:rPr sz="1000">
                          <a:solidFill>
                            <a:srgbClr val="1E252F"/>
                          </a:solidFill>
                          <a:latin typeface="Calibri"/>
                        </a:rPr>
                        <a:t>ADR-001…-005 (Accepted)</a:t>
                      </a:r>
                    </a:p>
                  </a:txBody>
                  <a:tcPr marL="45720" marR="45720" marT="18288" marB="18288">
                    <a:solidFill>
                      <a:srgbClr val="FFFFFF"/>
                    </a:solidFill>
                  </a:tcPr>
                </a:tc>
                <a:tc>
                  <a:txBody>
                    <a:bodyPr wrap="square"/>
                    <a:lstStyle/>
                    <a:p>
                      <a:r>
                        <a:t>Hòa</a:t>
                      </a:r>
                    </a:p>
                  </a:txBody>
                  <a:tcPr marL="45720" marR="45720" marT="18288" marB="18288">
                    <a:solidFill>
                      <a:srgbClr val="FFFFFF"/>
                    </a:solidFill>
                  </a:tcPr>
                </a:tc>
              </a:tr>
              <a:tr h="390698">
                <a:tc>
                  <a:txBody>
                    <a:bodyPr wrap="square"/>
                    <a:lstStyle/>
                    <a:p>
                      <a:r>
                        <a:rPr sz="1000">
                          <a:solidFill>
                            <a:srgbClr val="1E252F"/>
                          </a:solidFill>
                          <a:latin typeface="Calibri"/>
                        </a:rPr>
                        <a:t>[P] Proposal</a:t>
                      </a:r>
                    </a:p>
                  </a:txBody>
                  <a:tcPr marL="45720" marR="45720" marT="18288" marB="18288">
                    <a:solidFill>
                      <a:srgbClr val="F4F6F9"/>
                    </a:solidFill>
                  </a:tcPr>
                </a:tc>
                <a:tc>
                  <a:txBody>
                    <a:bodyPr wrap="square"/>
                    <a:lstStyle/>
                    <a:p>
                      <a:r>
                        <a:rPr sz="1000">
                          <a:solidFill>
                            <a:srgbClr val="1E252F"/>
                          </a:solidFill>
                          <a:latin typeface="Calibri"/>
                        </a:rPr>
                        <a:t>Cost ≤ $0.0007/lượt; AI ≤ 20% doanh thu</a:t>
                      </a:r>
                    </a:p>
                  </a:txBody>
                  <a:tcPr marL="45720" marR="45720" marT="18288" marB="18288">
                    <a:solidFill>
                      <a:srgbClr val="F4F6F9"/>
                    </a:solidFill>
                  </a:tcPr>
                </a:tc>
                <a:tc>
                  <a:txBody>
                    <a:bodyPr wrap="square"/>
                    <a:lstStyle/>
                    <a:p>
                      <a:r>
                        <a:rPr sz="1000">
                          <a:solidFill>
                            <a:srgbClr val="1E252F"/>
                          </a:solidFill>
                          <a:latin typeface="Calibri"/>
                        </a:rPr>
                        <a:t>Cost model §10; đo bằng gateway ledger</a:t>
                      </a:r>
                    </a:p>
                  </a:txBody>
                  <a:tcPr marL="45720" marR="45720" marT="18288" marB="18288">
                    <a:solidFill>
                      <a:srgbClr val="F4F6F9"/>
                    </a:solidFill>
                  </a:tcPr>
                </a:tc>
                <a:tc>
                  <a:txBody>
                    <a:bodyPr wrap="square"/>
                    <a:lstStyle/>
                    <a:p>
                      <a:r>
                        <a:t>Phú</a:t>
                      </a:r>
                    </a:p>
                  </a:txBody>
                  <a:tcPr marL="45720" marR="45720" marT="18288" marB="18288">
                    <a:solidFill>
                      <a:srgbClr val="F4F6F9"/>
                    </a:solidFill>
                  </a:tcPr>
                </a:tc>
              </a:tr>
              <a:tr h="390698">
                <a:tc>
                  <a:txBody>
                    <a:bodyPr wrap="square"/>
                    <a:lstStyle/>
                    <a:p>
                      <a:r>
                        <a:rPr sz="1000">
                          <a:solidFill>
                            <a:srgbClr val="1E252F"/>
                          </a:solidFill>
                          <a:latin typeface="Calibri"/>
                        </a:rPr>
                        <a:t>[D] Prerequisite</a:t>
                      </a:r>
                    </a:p>
                  </a:txBody>
                  <a:tcPr marL="45720" marR="45720" marT="18288" marB="18288">
                    <a:solidFill>
                      <a:srgbClr val="FFFFFF"/>
                    </a:solidFill>
                  </a:tcPr>
                </a:tc>
                <a:tc>
                  <a:txBody>
                    <a:bodyPr wrap="square"/>
                    <a:lstStyle/>
                    <a:p>
                      <a:r>
                        <a:rPr sz="1000">
                          <a:solidFill>
                            <a:srgbClr val="1E252F"/>
                          </a:solidFill>
                          <a:latin typeface="Calibri"/>
                        </a:rPr>
                        <a:t>≥ 50k lượt thật có nhãn trước khi SFT/DPO 8B self-host (Phase 2)</a:t>
                      </a:r>
                    </a:p>
                  </a:txBody>
                  <a:tcPr marL="45720" marR="45720" marT="18288" marB="18288">
                    <a:solidFill>
                      <a:srgbClr val="FFFFFF"/>
                    </a:solidFill>
                  </a:tcPr>
                </a:tc>
                <a:tc>
                  <a:txBody>
                    <a:bodyPr wrap="square"/>
                    <a:lstStyle/>
                    <a:p>
                      <a:r>
                        <a:rPr sz="1000">
                          <a:solidFill>
                            <a:srgbClr val="1E252F"/>
                          </a:solidFill>
                          <a:latin typeface="Calibri"/>
                        </a:rPr>
                        <a:t>ADR-005 Proposed — chưa bật</a:t>
                      </a:r>
                    </a:p>
                  </a:txBody>
                  <a:tcPr marL="45720" marR="45720" marT="18288" marB="18288">
                    <a:solidFill>
                      <a:srgbClr val="FFFFFF"/>
                    </a:solidFill>
                  </a:tcPr>
                </a:tc>
                <a:tc>
                  <a:txBody>
                    <a:bodyPr wrap="square"/>
                    <a:lstStyle/>
                    <a:p>
                      <a:r>
                        <a:t>Hòa</a:t>
                      </a:r>
                    </a:p>
                  </a:txBody>
                  <a:tcPr marL="45720" marR="45720" marT="18288" marB="18288">
                    <a:solidFill>
                      <a:srgbClr val="FFFFFF"/>
                    </a:solidFill>
                  </a:tcPr>
                </a:tc>
              </a:tr>
              <a:tr h="390700">
                <a:tc>
                  <a:txBody>
                    <a:bodyPr wrap="square"/>
                    <a:lstStyle/>
                    <a:p>
                      <a:r>
                        <a:rPr sz="1000">
                          <a:solidFill>
                            <a:srgbClr val="1E252F"/>
                          </a:solidFill>
                          <a:latin typeface="Calibri"/>
                        </a:rPr>
                        <a:t>[D] Prerequisite</a:t>
                      </a:r>
                    </a:p>
                  </a:txBody>
                  <a:tcPr marL="45720" marR="45720" marT="18288" marB="18288">
                    <a:solidFill>
                      <a:srgbClr val="F4F6F9"/>
                    </a:solidFill>
                  </a:tcPr>
                </a:tc>
                <a:tc>
                  <a:txBody>
                    <a:bodyPr wrap="square"/>
                    <a:lstStyle/>
                    <a:p>
                      <a:r>
                        <a:rPr sz="1000">
                          <a:solidFill>
                            <a:srgbClr val="1E252F"/>
                          </a:solidFill>
                          <a:latin typeface="Calibri"/>
                        </a:rPr>
                        <a:t>Ladder giáo viên duyệt ≥ 80% bài top-traffic trước launch</a:t>
                      </a:r>
                    </a:p>
                  </a:txBody>
                  <a:tcPr marL="45720" marR="45720" marT="18288" marB="18288">
                    <a:solidFill>
                      <a:srgbClr val="F4F6F9"/>
                    </a:solidFill>
                  </a:tcPr>
                </a:tc>
                <a:tc>
                  <a:txBody>
                    <a:bodyPr wrap="square"/>
                    <a:lstStyle/>
                    <a:p>
                      <a:r>
                        <a:rPr sz="1000">
                          <a:solidFill>
                            <a:srgbClr val="1E252F"/>
                          </a:solidFill>
                          <a:latin typeface="Calibri"/>
                        </a:rPr>
                        <a:t>Offline lane, tracker duyệt</a:t>
                      </a:r>
                    </a:p>
                  </a:txBody>
                  <a:tcPr marL="45720" marR="45720" marT="18288" marB="18288">
                    <a:solidFill>
                      <a:srgbClr val="F4F6F9"/>
                    </a:solidFill>
                  </a:tcPr>
                </a:tc>
                <a:tc>
                  <a:txBody>
                    <a:bodyPr wrap="square"/>
                    <a:lstStyle/>
                    <a:p>
                      <a:r>
                        <a:t>Huyền</a:t>
                      </a:r>
                    </a:p>
                  </a:txBody>
                  <a:tcPr marL="45720" marR="45720" marT="18288" marB="18288">
                    <a:solidFill>
                      <a:srgbClr val="F4F6F9"/>
                    </a:solidFill>
                  </a:tcPr>
                </a:tc>
              </a:tr>
            </a:tbl>
          </a:graphicData>
        </a:graphic>
      </p:graphicFrame>
      <p:sp>
        <p:nvSpPr>
          <p:cNvPr id="11" name="TextBox 10"/>
          <p:cNvSpPr txBox="1"/>
          <p:nvPr/>
        </p:nvSpPr>
        <p:spPr>
          <a:xfrm>
            <a:off x="365760" y="5897880"/>
            <a:ext cx="11430000" cy="548640"/>
          </a:xfrm>
          <a:prstGeom prst="rect">
            <a:avLst/>
          </a:prstGeom>
          <a:noFill/>
        </p:spPr>
        <p:txBody>
          <a:bodyPr wrap="square" lIns="73152" rIns="73152" tIns="36576" bIns="36576" anchor="t">
            <a:spAutoFit/>
          </a:bodyPr>
          <a:lstStyle/>
          <a:p>
            <a:pPr algn="l">
              <a:spcAft>
                <a:spcPts val="400"/>
              </a:spcAft>
            </a:pPr>
            <a:r>
              <a:rPr sz="1000" b="0">
                <a:solidFill>
                  <a:srgbClr val="5F6B7A"/>
                </a:solidFill>
                <a:latin typeface="Calibri"/>
              </a:rPr>
              <a:t>Full register 25+ mục: ATAD Appendix E. Mỗi ADR có Status (Accepted / Proposed) và điều kiện kích hoạt — không phát biểu nào được trình bày như 'đã đo trong production'.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