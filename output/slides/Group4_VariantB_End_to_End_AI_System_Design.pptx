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19d5a56f51241bf" /><Relationship Type="http://schemas.openxmlformats.org/officeDocument/2006/relationships/extended-properties" Target="/docProps/app.xml" Id="R3a31c16b9e154b00" /><Relationship Type="http://schemas.openxmlformats.org/officeDocument/2006/relationships/officeDocument" Target="/ppt/presentation.xml" Id="Rc649162f45664bc9" /></Relationships>
</file>

<file path=ppt/presentation.xml><?xml version="1.0" encoding="utf-8"?>
<p:presentation xmlns:p="http://schemas.openxmlformats.org/presentationml/2006/main">
  <p:sldMasterIdLst>
    <p:sldMasterId xmlns:r="http://schemas.openxmlformats.org/officeDocument/2006/relationships" id="2147483648" r:id="Rb86abda8a3db4b92"/>
  </p:sldMasterIdLst>
  <p:notesMasterIdLst>
    <p:notesMasterId xmlns:r="http://schemas.openxmlformats.org/officeDocument/2006/relationships" r:id="R55819a513c884621"/>
  </p:notesMasterIdLst>
  <p:sldIdLst>
    <p:sldId xmlns:r="http://schemas.openxmlformats.org/officeDocument/2006/relationships" id="256" r:id="R3df394d22ae4418c"/>
    <p:sldId xmlns:r="http://schemas.openxmlformats.org/officeDocument/2006/relationships" id="257" r:id="R87fe651b08dd4a93"/>
    <p:sldId xmlns:r="http://schemas.openxmlformats.org/officeDocument/2006/relationships" id="258" r:id="R6886a0a53b8b43ba"/>
    <p:sldId xmlns:r="http://schemas.openxmlformats.org/officeDocument/2006/relationships" id="259" r:id="Rcdc9624cfe0c45ca"/>
    <p:sldId xmlns:r="http://schemas.openxmlformats.org/officeDocument/2006/relationships" id="260" r:id="R056e53d794574769"/>
    <p:sldId xmlns:r="http://schemas.openxmlformats.org/officeDocument/2006/relationships" id="261" r:id="R31346185b9f6450b"/>
    <p:sldId xmlns:r="http://schemas.openxmlformats.org/officeDocument/2006/relationships" id="262" r:id="Re257a47a39be4131"/>
    <p:sldId xmlns:r="http://schemas.openxmlformats.org/officeDocument/2006/relationships" id="263" r:id="R59f88f6630cf421b"/>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a48c28cdcff4e58" /><Relationship Type="http://schemas.openxmlformats.org/officeDocument/2006/relationships/slideMaster" Target="/ppt/slideMasters/slideMaster1.xml" Id="Rb86abda8a3db4b92" /><Relationship Type="http://schemas.openxmlformats.org/officeDocument/2006/relationships/notesMaster" Target="/ppt/notesMasters/notesMaster1.xml" Id="R55819a513c884621" /><Relationship Type="http://schemas.openxmlformats.org/officeDocument/2006/relationships/presProps" Target="/ppt/presProps.xml" Id="R71a828eea45b47a7" /><Relationship Type="http://schemas.openxmlformats.org/officeDocument/2006/relationships/tableStyles" Target="/ppt/tableStyles.xml" Id="Rcd8457d9248d4b3f" /><Relationship Type="http://schemas.openxmlformats.org/officeDocument/2006/relationships/slide" Target="/ppt/slides/slide1.xml" Id="R3df394d22ae4418c" /><Relationship Type="http://schemas.openxmlformats.org/officeDocument/2006/relationships/slide" Target="/ppt/slides/slide2.xml" Id="R87fe651b08dd4a93" /><Relationship Type="http://schemas.openxmlformats.org/officeDocument/2006/relationships/slide" Target="/ppt/slides/slide3.xml" Id="R6886a0a53b8b43ba" /><Relationship Type="http://schemas.openxmlformats.org/officeDocument/2006/relationships/slide" Target="/ppt/slides/slide4.xml" Id="Rcdc9624cfe0c45ca" /><Relationship Type="http://schemas.openxmlformats.org/officeDocument/2006/relationships/slide" Target="/ppt/slides/slide5.xml" Id="R056e53d794574769" /><Relationship Type="http://schemas.openxmlformats.org/officeDocument/2006/relationships/slide" Target="/ppt/slides/slide6.xml" Id="R31346185b9f6450b" /><Relationship Type="http://schemas.openxmlformats.org/officeDocument/2006/relationships/slide" Target="/ppt/slides/slide7.xml" Id="Re257a47a39be4131" /><Relationship Type="http://schemas.openxmlformats.org/officeDocument/2006/relationships/slide" Target="/ppt/slides/slide8.xml" Id="R59f88f6630cf42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dcd5516374846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fb5f1b5547d4ee1" /><Relationship Type="http://schemas.openxmlformats.org/officeDocument/2006/relationships/notesMaster" Target="/ppt/notesMasters/notesMaster1.xml" Id="R962dd50c4515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4853ed3430241a1" /><Relationship Type="http://schemas.openxmlformats.org/officeDocument/2006/relationships/notesMaster" Target="/ppt/notesMasters/notesMaster1.xml" Id="R8a40e6661dc142e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a37ed86233b4455" /><Relationship Type="http://schemas.openxmlformats.org/officeDocument/2006/relationships/notesMaster" Target="/ppt/notesMasters/notesMaster1.xml" Id="Rf30a22816a76472a" /></Relationships>
</file>

<file path=ppt/notesSlides/_rels/notesSlide4.xml.rels>&#65279;<?xml version="1.0" encoding="utf-8"?><Relationships xmlns="http://schemas.openxmlformats.org/package/2006/relationships"><Relationship Type="http://schemas.openxmlformats.org/officeDocument/2006/relationships/slide" Target="/ppt/slides/slide4.xml" Id="R1cf31976b1994b49" /><Relationship Type="http://schemas.openxmlformats.org/officeDocument/2006/relationships/notesMaster" Target="/ppt/notesMasters/notesMaster1.xml" Id="Ra15d90d95b9846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d53ae1c7e6b64e02" /><Relationship Type="http://schemas.openxmlformats.org/officeDocument/2006/relationships/notesMaster" Target="/ppt/notesMasters/notesMaster1.xml" Id="Rb5b5986027b74f12" /></Relationships>
</file>

<file path=ppt/notesSlides/_rels/notesSlide6.xml.rels>&#65279;<?xml version="1.0" encoding="utf-8"?><Relationships xmlns="http://schemas.openxmlformats.org/package/2006/relationships"><Relationship Type="http://schemas.openxmlformats.org/officeDocument/2006/relationships/slide" Target="/ppt/slides/slide6.xml" Id="R0a00322aad404403" /><Relationship Type="http://schemas.openxmlformats.org/officeDocument/2006/relationships/notesMaster" Target="/ppt/notesMasters/notesMaster1.xml" Id="R94cb32fcac224bcf"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cdb436c3064918" /><Relationship Type="http://schemas.openxmlformats.org/officeDocument/2006/relationships/notesMaster" Target="/ppt/notesMasters/notesMaster1.xml" Id="R48c569089f2645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63244d7497214794" /><Relationship Type="http://schemas.openxmlformats.org/officeDocument/2006/relationships/notesMaster" Target="/ppt/notesMasters/notesMaster1.xml" Id="R5fd57e94f8fa43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MERLIN authoritative; let AI fail without stopping a truck. We add intelligence beside MERLIN, never inside it. The sidecar runs statistical forecasts and deterministic, bounded replenishment rules, but MERLIN still creates every supplier order and alone sends fixed-schema EDI. If AI is unavailable, late, incomplete, uncertain, invalid, or deliberately disabled, no override appears and MERLIN's incumbent min/max path continues. That is our removal test: take away the sidecar and stores still receive morning deliveries. Today we authorize discovery, replay, and shadow only. Production influence waits for measured MERLIN timing, certified adapters, peak tests, observed cost, and funded operations. That continuity is the architecture's primary acceptance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Change only the edges: nightly batch, override table, and review queue. We may build an external sidecar, monitoring, audit, and narrow certified adapters. We may not modify MERLIN's engine or authority, touch POS, alter supplier EDI, or move 04:00. The nightly extension supplies a dated read-only snapshot. The override table is read before order generation. The review queue operates after generation. Undocumented tables, scheduler hooks, manual rows, and direct supplier paths are unsafe. Inventory is only 78 percent accurate, so it is an uncertainty input with age, intervals, caps, and suppression, never real-time shelf truth. These are constraints, not preferences we plan to renegotiate.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sidecar is advisory; every authoritative action stays inside MERLIN. A dated snapshot enters validation for schema, freshness, completeness, checksum, and residency. Statistical ML produces demand quantiles and confidence. A deterministic optimizer applies whole cases, shelf life, inventory intervals, DC capacity, and category caps. Only the certified adapter can write bounded current-run rows to the supported override table. MERLIN reads them, runs its unmodified engine, and owns native review and EDI. The sidecar has no route to POS, suppliers, or the EDI connector. Current MERLIN quantity may return only after generation through certified queue correlation. Without that contract, comparison and automated influence remain disabled. The dashed return is evidence, not a control dependency.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closes at 02:00 so MERLIN owns the final two hours. Validation finishes by 22:20, forecasting by 00:20, and deterministic optimization by 01:20. No new retry starts after 01:30. At 01:45 every required partition, model, ruleset, constraint, checksum, and audit record must form one complete manifest. A short permit and same-transaction epoch check guard any certified write, and all AI writes close at 02:00. MERLIN then generates, reviews, and sends EDI before 04:00. Missing partitions, stale inputs, low confidence, expired permits, or failed commits become no override. Recovery at 03:30 stays closed. The 02:00 gate itself needs measured MERLIN P99 of at most 90 minutes or it moves earlier. Late output is retained only for diagnosis and later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Value and capacity fit on paper; production waits for measured proof. Success targets OOS from 7.2 to 3.0 percent, waste from 4.8 to 3.0 percent, WAPE from 41 to at most 25 percent, and lookup from about 50 to under 15 minutes per shift, while protecting 8,400 associates and a 2.4 percent margin. Capacity is 27 million forecasts and 7.04 million optimizations; the conservative six-times test is 162 million and 42.24 million at 30,000 and 15,000 per second. The 198.66-minute plan is reported as 198.7, leaving 41.3 minutes. Storage assumes 1.2 kilobytes per output: 32.4 gigabytes normal and 194.4 at six-times. Cost targets about 3.8 million dollars under 4 million. Production requires peak tests, measured storage and MERLIN timing, observed bills, and Finance approval.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Sidecar wins on supported isolation, not convenience. With criteria totaling 100, the external sidecar scores 4.80 because it best protects legacy safety, fail-open continuity, supported interfaces, and rollback. Managed elastic batch scores 4.65 for deadline control and six-times scale. Hybrid hierarchical statistical ML scores 4.55 for quality, promotions, and uncertainty. We accept duplicated snapshots, reconciliation, SAP-certified adapter work, provider controls, and two-system operations. Sensitivity matters: shifting weight from WAPE to cost ties hybrid and global models at 4.45, so replay evidence decides the final statistical model. Scores select architecture direction; they never waive production gates. No LLM option enters numeric forecasting or replenishment optimization.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top risk has a tripwire that leaves MERLIN running. Deadline and inventory each score 20, peak and model behavior scores 16, and legacy integrity plus safety score 15. Critical examples are any write at or after 02:00, inventory coverage below 85 percent, forecast throughput below 22,500 per second at peak, a stale-epoch commit or manual-row change, and any generated or unsupported safety display. The response is bypass, suppression, slice disablement, independent access revocation, or refusal and escalation; it is never a desperate retry toward 04:00. Residency, cost, review fatigue, and provider outage scored 10 or less and remain controlled NFRs. Omitted contenders are promoted if later evidence changes their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Earn influence in stages; disable it in minutes. Discovery certifies timing, queue fields, transaction behavior, ownership, and cleanup. Replay tests quality, intervals, six-times load, cost, and failure behavior. Shadow runs for at least four representative weeks with zero MERLIN writes. Only after every gate passes may a pilot cover 20 stores, two low-risk non-fresh categories, no more than 5,000 rows within the measured adapter cap, and at most 100 reviews nightly. To disable, set a new epoch, stop permits, reject writes within 60 seconds, independently revoke SAP access if needed, clean exact AI-owned rows, and verify safe within five minutes. MERLIN continues throughout. Re-enable requires clean shadow evidence, cause closure, and renewed approval.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6dd92e9a9d943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51d213b314a4c64" /><Relationship Type="http://schemas.openxmlformats.org/officeDocument/2006/relationships/slideLayout" Target="/ppt/slideLayouts/slideLayout1.xml" Id="R2fd4a8c92b1d470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fd4a8c92b1d470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6160966201a4c6e" /><Relationship Type="http://schemas.openxmlformats.org/officeDocument/2006/relationships/notesSlide" Target="/ppt/notesSlides/notesSlide1.xml" Id="Rae538ad8a0ad43e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4942b6db5fe44fa" /><Relationship Type="http://schemas.openxmlformats.org/officeDocument/2006/relationships/notesSlide" Target="/ppt/notesSlides/notesSlide2.xml" Id="R847f641a196a4a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147acb8f01a4114" /><Relationship Type="http://schemas.openxmlformats.org/officeDocument/2006/relationships/notesSlide" Target="/ppt/notesSlides/notesSlide3.xml" Id="R53f96a5149b94b1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1c1286322a94818" /><Relationship Type="http://schemas.openxmlformats.org/officeDocument/2006/relationships/notesSlide" Target="/ppt/notesSlides/notesSlide4.xml" Id="R97be10c766434c1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9bd82eac55e470e" /><Relationship Type="http://schemas.openxmlformats.org/officeDocument/2006/relationships/notesSlide" Target="/ppt/notesSlides/notesSlide5.xml" Id="Rb11d07b4a15042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b0e8d7c9b6c4608" /><Relationship Type="http://schemas.openxmlformats.org/officeDocument/2006/relationships/notesSlide" Target="/ppt/notesSlides/notesSlide6.xml" Id="R120edd8e74c0426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03c53dafa4b4088" /><Relationship Type="http://schemas.openxmlformats.org/officeDocument/2006/relationships/notesSlide" Target="/ppt/notesSlides/notesSlide7.xml" Id="R81acfc4de4674d5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8dfb9af08f54dd1" /><Relationship Type="http://schemas.openxmlformats.org/officeDocument/2006/relationships/notesSlide" Target="/ppt/notesSlides/notesSlide8.xml" Id="R93c45dedd80e498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1-kicker">
            <a:extLst xmlns:a="http://schemas.openxmlformats.org/drawingml/2006/main">
              <a:ext uri="{FF2B5EF4-FFF2-40B4-BE49-F238E27FC236}">
                <a16:creationId xmlns:a16="http://schemas.microsoft.com/office/drawing/2014/main" id="{1308D3AE-43F1-40BF-BF42-BBE942E762B5}"/>
              </a:ext>
            </a:extLst>
          </p:cNvPr>
          <p:cNvSpPr>
            <a:spLocks xmlns:a="http://schemas.openxmlformats.org/drawingml/2006/main" noGrp="1"/>
          </p:cNvSpPr>
          <p:nvPr/>
        </p:nvSpPr>
        <p:spPr>
          <a:xfrm xmlns:a="http://schemas.openxmlformats.org/drawingml/2006/main">
            <a:off x="400050" y="381000"/>
            <a:ext cx="66675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3D8DFF"/>
                </a:solidFill>
                <a:latin typeface="Arial"/>
                <a:ea typeface="Arial"/>
                <a:cs typeface="Arial"/>
              </a:defRPr>
            </a:pPr>
            <a:r>
              <a:rPr sz="1800" b="1">
                <a:solidFill>
                  <a:srgbClr val="3D8DFF"/>
                </a:solidFill>
                <a:latin typeface="Arial"/>
                <a:ea typeface="Arial"/>
                <a:cs typeface="Arial"/>
              </a:rPr>
              <a:t>GROUP 4  •  VARIANT B — AI RETROFIT</a:t>
            </a:r>
          </a:p>
        </p:txBody>
      </p:sp>
      <p:sp>
        <p:nvSpPr>
          <p:cNvPr id="2" name="slide-1-hero">
            <a:extLst xmlns:a="http://schemas.openxmlformats.org/drawingml/2006/main">
              <a:ext uri="{FF2B5EF4-FFF2-40B4-BE49-F238E27FC236}">
                <a16:creationId xmlns:a16="http://schemas.microsoft.com/office/drawing/2014/main" id="{EBF9D962-53B5-48C0-A060-A3A04900B4E5}"/>
              </a:ext>
            </a:extLst>
          </p:cNvPr>
          <p:cNvSpPr>
            <a:spLocks xmlns:a="http://schemas.openxmlformats.org/drawingml/2006/main" noGrp="1"/>
          </p:cNvSpPr>
          <p:nvPr/>
        </p:nvSpPr>
        <p:spPr>
          <a:xfrm xmlns:a="http://schemas.openxmlformats.org/drawingml/2006/main">
            <a:off x="400050" y="1504950"/>
            <a:ext cx="10572750" cy="215265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5400" b="1">
                <a:solidFill>
                  <a:srgbClr val="000000"/>
                </a:solidFill>
                <a:latin typeface="Arial"/>
                <a:ea typeface="Arial"/>
                <a:cs typeface="Arial"/>
              </a:defRPr>
            </a:pPr>
            <a:r>
              <a:rPr sz="5400" b="1">
                <a:solidFill>
                  <a:srgbClr val="000000"/>
                </a:solidFill>
                <a:latin typeface="Arial"/>
                <a:ea typeface="Arial"/>
                <a:cs typeface="Arial"/>
              </a:rPr>
              <a:t>Keep MERLIN in control;
let AI fail without stopping a truck</a:t>
            </a:r>
          </a:p>
        </p:txBody>
      </p:sp>
      <p:sp>
        <p:nvSpPr>
          <p:cNvPr id="3" name="slide-1-authority-rule">
            <a:extLst xmlns:a="http://schemas.openxmlformats.org/drawingml/2006/main">
              <a:ext uri="{FF2B5EF4-FFF2-40B4-BE49-F238E27FC236}">
                <a16:creationId xmlns:a16="http://schemas.microsoft.com/office/drawing/2014/main" id="{952D49B4-7B9E-45FD-BEAB-A55FD7A5F853}"/>
              </a:ext>
            </a:extLst>
          </p:cNvPr>
          <p:cNvSpPr>
            <a:spLocks xmlns:a="http://schemas.openxmlformats.org/drawingml/2006/main" noGrp="1"/>
          </p:cNvSpPr>
          <p:nvPr/>
        </p:nvSpPr>
        <p:spPr>
          <a:xfrm xmlns:a="http://schemas.openxmlformats.org/drawingml/2006/main">
            <a:off x="400050" y="4000500"/>
            <a:ext cx="10763250" cy="2857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slide-1-merlin-marker">
            <a:extLst xmlns:a="http://schemas.openxmlformats.org/drawingml/2006/main">
              <a:ext uri="{FF2B5EF4-FFF2-40B4-BE49-F238E27FC236}">
                <a16:creationId xmlns:a16="http://schemas.microsoft.com/office/drawing/2014/main" id="{2E4A8854-7ED6-406D-A8B4-BAAE4A01CCEF}"/>
              </a:ext>
            </a:extLst>
          </p:cNvPr>
          <p:cNvSpPr>
            <a:spLocks xmlns:a="http://schemas.openxmlformats.org/drawingml/2006/main" noGrp="1"/>
          </p:cNvSpPr>
          <p:nvPr/>
        </p:nvSpPr>
        <p:spPr>
          <a:xfrm xmlns:a="http://schemas.openxmlformats.org/drawingml/2006/main">
            <a:off x="10744200" y="3905250"/>
            <a:ext cx="209550" cy="20955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solidFill>
              <a:srgbClr val="000000"/>
            </a:solidFill>
            <a:prstDash val="solid"/>
          </a:ln>
        </p:spPr>
      </p:sp>
      <p:sp>
        <p:nvSpPr>
          <p:cNvPr id="5" name="slide-1-sidecar-marker">
            <a:extLst xmlns:a="http://schemas.openxmlformats.org/drawingml/2006/main">
              <a:ext uri="{FF2B5EF4-FFF2-40B4-BE49-F238E27FC236}">
                <a16:creationId xmlns:a16="http://schemas.microsoft.com/office/drawing/2014/main" id="{2F53CDF5-2524-43A9-87BA-E5DC79A25128}"/>
              </a:ext>
            </a:extLst>
          </p:cNvPr>
          <p:cNvSpPr>
            <a:spLocks xmlns:a="http://schemas.openxmlformats.org/drawingml/2006/main" noGrp="1"/>
          </p:cNvSpPr>
          <p:nvPr/>
        </p:nvSpPr>
        <p:spPr>
          <a:xfrm xmlns:a="http://schemas.openxmlformats.org/drawingml/2006/main">
            <a:off x="11163300" y="3905250"/>
            <a:ext cx="209550" cy="209550"/>
          </a:xfrm>
          <a:prstGeom xmlns:a="http://schemas.openxmlformats.org/drawingml/2006/main" prst="roundRect">
            <a:avLst>
              <a:gd name="adj" fmla="val 50000"/>
            </a:avLst>
          </a:prstGeom>
          <a:solidFill xmlns:a="http://schemas.openxmlformats.org/drawingml/2006/main">
            <a:srgbClr val="3D8DFF"/>
          </a:solidFill>
          <a:ln xmlns:a="http://schemas.openxmlformats.org/drawingml/2006/main" w="0">
            <a:solidFill>
              <a:srgbClr val="3D8DFF"/>
            </a:solidFill>
            <a:prstDash val="solid"/>
          </a:ln>
        </p:spPr>
      </p:sp>
      <p:sp>
        <p:nvSpPr>
          <p:cNvPr id="6" name="slide-1-proof-points">
            <a:extLst xmlns:a="http://schemas.openxmlformats.org/drawingml/2006/main">
              <a:ext uri="{FF2B5EF4-FFF2-40B4-BE49-F238E27FC236}">
                <a16:creationId xmlns:a16="http://schemas.microsoft.com/office/drawing/2014/main" id="{7DD5D7EF-8352-4B64-8B5B-31019D7B2B38}"/>
              </a:ext>
            </a:extLst>
          </p:cNvPr>
          <p:cNvSpPr>
            <a:spLocks xmlns:a="http://schemas.openxmlformats.org/drawingml/2006/main" noGrp="1"/>
          </p:cNvSpPr>
          <p:nvPr/>
        </p:nvSpPr>
        <p:spPr>
          <a:xfrm xmlns:a="http://schemas.openxmlformats.org/drawingml/2006/main">
            <a:off x="400050" y="4343400"/>
            <a:ext cx="9906000" cy="16764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a:solidFill>
                  <a:srgbClr val="000000"/>
                </a:solidFill>
                <a:latin typeface="Arial"/>
                <a:ea typeface="Arial"/>
                <a:cs typeface="Arial"/>
              </a:defRPr>
            </a:pPr>
            <a:r>
              <a:rPr sz="1800">
                <a:solidFill>
                  <a:srgbClr val="000000"/>
                </a:solidFill>
                <a:latin typeface="Arial"/>
                <a:ea typeface="Arial"/>
                <a:cs typeface="Arial"/>
              </a:rPr>
              <a:t>• External, asynchronous, fail-open AI sidecar
• Statistical forecast ML + deterministic replenishment rules
• MERLIN generates every order and alone sends supplier EDI
• No valid AI output = unchanged min/max replenishment
• Replay and shadow only until measured release gates pass</a:t>
            </a:r>
          </a:p>
        </p:txBody>
      </p:sp>
      <p:sp>
        <p:nvSpPr>
          <p:cNvPr id="7" name="owner-footer-1">
            <a:extLst xmlns:a="http://schemas.openxmlformats.org/drawingml/2006/main">
              <a:ext uri="{FF2B5EF4-FFF2-40B4-BE49-F238E27FC236}">
                <a16:creationId xmlns:a16="http://schemas.microsoft.com/office/drawing/2014/main" id="{900EDBDB-4028-444B-8FD4-03BC4957B93F}"/>
              </a:ext>
            </a:extLst>
          </p:cNvPr>
          <p:cNvSpPr>
            <a:spLocks xmlns:a="http://schemas.openxmlformats.org/drawingml/2006/main" noGrp="1"/>
          </p:cNvSpPr>
          <p:nvPr/>
        </p:nvSpPr>
        <p:spPr>
          <a:xfrm xmlns:a="http://schemas.openxmlformats.org/drawingml/2006/main">
            <a:off x="400050" y="6191250"/>
            <a:ext cx="8096250" cy="20955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200">
                <a:solidFill>
                  <a:srgbClr val="586174"/>
                </a:solidFill>
                <a:latin typeface="Arial"/>
                <a:ea typeface="Arial"/>
                <a:cs typeface="Arial"/>
              </a:defRPr>
            </a:pPr>
            <a:r>
              <a:rPr sz="1200">
                <a:solidFill>
                  <a:srgbClr val="586174"/>
                </a:solidFill>
                <a:latin typeface="Arial"/>
                <a:ea typeface="Arial"/>
                <a:cs typeface="Arial"/>
              </a:rPr>
              <a:t>Owner: ĐINH XUÂN DŨNG (123015)</a:t>
            </a:r>
          </a:p>
        </p:txBody>
      </p:sp>
      <p:sp>
        <p:nvSpPr>
          <p:cNvPr id="8" name="artifact-footer-1">
            <a:extLst xmlns:a="http://schemas.openxmlformats.org/drawingml/2006/main">
              <a:ext uri="{FF2B5EF4-FFF2-40B4-BE49-F238E27FC236}">
                <a16:creationId xmlns:a16="http://schemas.microsoft.com/office/drawing/2014/main" id="{2A85DA14-0691-4BC5-B723-5C76E2114A02}"/>
              </a:ext>
            </a:extLst>
          </p:cNvPr>
          <p:cNvSpPr>
            <a:spLocks xmlns:a="http://schemas.openxmlformats.org/drawingml/2006/main" noGrp="1"/>
          </p:cNvSpPr>
          <p:nvPr/>
        </p:nvSpPr>
        <p:spPr>
          <a:xfrm xmlns:a="http://schemas.openxmlformats.org/drawingml/2006/main">
            <a:off x="3676650" y="6419850"/>
            <a:ext cx="49530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350">
                <a:solidFill>
                  <a:srgbClr val="586174"/>
                </a:solidFill>
                <a:latin typeface="Arial"/>
                <a:ea typeface="Arial"/>
                <a:cs typeface="Arial"/>
              </a:defRPr>
            </a:pPr>
            <a:r>
              <a:rPr sz="1350">
                <a:solidFill>
                  <a:srgbClr val="586174"/>
                </a:solidFill>
                <a:latin typeface="Arial"/>
                <a:ea typeface="Arial"/>
                <a:cs typeface="Arial"/>
              </a:rPr>
              <a:t>Workshop 1 — End-to-End AI System Design Lab</a:t>
            </a:r>
          </a:p>
        </p:txBody>
      </p:sp>
      <p:sp>
        <p:nvSpPr>
          <p:cNvPr id="9" name="page-number-1">
            <a:extLst xmlns:a="http://schemas.openxmlformats.org/drawingml/2006/main">
              <a:ext uri="{FF2B5EF4-FFF2-40B4-BE49-F238E27FC236}">
                <a16:creationId xmlns:a16="http://schemas.microsoft.com/office/drawing/2014/main" id="{1C8EAE8D-9566-4321-ABC7-040EDADCED26}"/>
              </a:ext>
            </a:extLst>
          </p:cNvPr>
          <p:cNvSpPr>
            <a:spLocks xmlns:a="http://schemas.openxmlformats.org/drawingml/2006/main" noGrp="1"/>
          </p:cNvSpPr>
          <p:nvPr/>
        </p:nvSpPr>
        <p:spPr>
          <a:xfrm xmlns:a="http://schemas.openxmlformats.org/drawingml/2006/main">
            <a:off x="11296650" y="6419850"/>
            <a:ext cx="4953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350">
                <a:solidFill>
                  <a:srgbClr val="000000"/>
                </a:solidFill>
                <a:latin typeface="Arial"/>
                <a:ea typeface="Arial"/>
                <a:cs typeface="Arial"/>
              </a:defRPr>
            </a:pPr>
            <a:r>
              <a:rPr sz="1350">
                <a:solidFill>
                  <a:srgbClr val="000000"/>
                </a:solidFill>
                <a:latin typeface="Arial"/>
                <a:ea typeface="Arial"/>
                <a:cs typeface="Arial"/>
              </a:rPr>
              <a:t>1</a:t>
            </a:r>
          </a:p>
        </p:txBody>
      </p:sp>
    </p:spTree>
    <p:extLst>
      <p:ext uri="{BB962C8B-B14F-4D97-AF65-F5344CB8AC3E}">
        <p14:creationId xmlns:p14="http://schemas.microsoft.com/office/powerpoint/2010/main" val="21188618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lide-2-title">
            <a:extLst xmlns:a="http://schemas.openxmlformats.org/drawingml/2006/main">
              <a:ext uri="{FF2B5EF4-FFF2-40B4-BE49-F238E27FC236}">
                <a16:creationId xmlns:a16="http://schemas.microsoft.com/office/drawing/2014/main" id="{5F90CEFE-CE80-4531-8EF5-3C325374BA2D}"/>
              </a:ext>
            </a:extLst>
          </p:cNvPr>
          <p:cNvSpPr>
            <a:spLocks xmlns:a="http://schemas.openxmlformats.org/drawingml/2006/main" noGrp="1"/>
          </p:cNvSpPr>
          <p:nvPr/>
        </p:nvSpPr>
        <p:spPr>
          <a:xfrm xmlns:a="http://schemas.openxmlformats.org/drawingml/2006/main">
            <a:off x="400050" y="323850"/>
            <a:ext cx="1139190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Change only the edges: three supported MERLIN extensions</a:t>
            </a:r>
          </a:p>
        </p:txBody>
      </p:sp>
      <p:sp>
        <p:nvSpPr>
          <p:cNvPr id="2" name="slide-2-column-rule-1">
            <a:extLst xmlns:a="http://schemas.openxmlformats.org/drawingml/2006/main">
              <a:ext uri="{FF2B5EF4-FFF2-40B4-BE49-F238E27FC236}">
                <a16:creationId xmlns:a16="http://schemas.microsoft.com/office/drawing/2014/main" id="{125AA2A0-7900-4342-A089-0F5FAD4F4BB7}"/>
              </a:ext>
            </a:extLst>
          </p:cNvPr>
          <p:cNvSpPr>
            <a:spLocks xmlns:a="http://schemas.openxmlformats.org/drawingml/2006/main" noGrp="1"/>
          </p:cNvSpPr>
          <p:nvPr/>
        </p:nvSpPr>
        <p:spPr>
          <a:xfrm xmlns:a="http://schemas.openxmlformats.org/drawingml/2006/main">
            <a:off x="400050" y="1809750"/>
            <a:ext cx="59055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 name="slide-2-column-heading-1">
            <a:extLst xmlns:a="http://schemas.openxmlformats.org/drawingml/2006/main">
              <a:ext uri="{FF2B5EF4-FFF2-40B4-BE49-F238E27FC236}">
                <a16:creationId xmlns:a16="http://schemas.microsoft.com/office/drawing/2014/main" id="{7DD83E21-8169-4D90-8D30-13BC81AE0F71}"/>
              </a:ext>
            </a:extLst>
          </p:cNvPr>
          <p:cNvSpPr>
            <a:spLocks xmlns:a="http://schemas.openxmlformats.org/drawingml/2006/main" noGrp="1"/>
          </p:cNvSpPr>
          <p:nvPr/>
        </p:nvSpPr>
        <p:spPr>
          <a:xfrm xmlns:a="http://schemas.openxmlformats.org/drawingml/2006/main">
            <a:off x="400050" y="2190750"/>
            <a:ext cx="33528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Can change</a:t>
            </a:r>
          </a:p>
        </p:txBody>
      </p:sp>
      <p:sp>
        <p:nvSpPr>
          <p:cNvPr id="4" name="slide-2-column-body-1">
            <a:extLst xmlns:a="http://schemas.openxmlformats.org/drawingml/2006/main">
              <a:ext uri="{FF2B5EF4-FFF2-40B4-BE49-F238E27FC236}">
                <a16:creationId xmlns:a16="http://schemas.microsoft.com/office/drawing/2014/main" id="{4BB314BA-058A-484C-B13B-584663E61727}"/>
              </a:ext>
            </a:extLst>
          </p:cNvPr>
          <p:cNvSpPr>
            <a:spLocks xmlns:a="http://schemas.openxmlformats.org/drawingml/2006/main" noGrp="1"/>
          </p:cNvSpPr>
          <p:nvPr/>
        </p:nvSpPr>
        <p:spPr>
          <a:xfrm xmlns:a="http://schemas.openxmlformats.org/drawingml/2006/main">
            <a:off x="400050" y="3009900"/>
            <a:ext cx="3352800" cy="1752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a:solidFill>
                  <a:srgbClr val="000000"/>
                </a:solidFill>
                <a:latin typeface="Arial"/>
                <a:ea typeface="Arial"/>
                <a:cs typeface="Arial"/>
              </a:defRPr>
            </a:pPr>
            <a:r>
              <a:rPr sz="1800">
                <a:solidFill>
                  <a:srgbClr val="000000"/>
                </a:solidFill>
                <a:latin typeface="Arial"/>
                <a:ea typeface="Arial"/>
                <a:cs typeface="Arial"/>
              </a:rPr>
              <a:t>External sidecar
Narrow adapters
Control + immutable audit</a:t>
            </a:r>
          </a:p>
        </p:txBody>
      </p:sp>
      <p:sp>
        <p:nvSpPr>
          <p:cNvPr id="5" name="slide-2-column-rule-2">
            <a:extLst xmlns:a="http://schemas.openxmlformats.org/drawingml/2006/main">
              <a:ext uri="{FF2B5EF4-FFF2-40B4-BE49-F238E27FC236}">
                <a16:creationId xmlns:a16="http://schemas.microsoft.com/office/drawing/2014/main" id="{4E690BBA-9889-453C-A238-AD4D7FA34F40}"/>
              </a:ext>
            </a:extLst>
          </p:cNvPr>
          <p:cNvSpPr>
            <a:spLocks xmlns:a="http://schemas.openxmlformats.org/drawingml/2006/main" noGrp="1"/>
          </p:cNvSpPr>
          <p:nvPr/>
        </p:nvSpPr>
        <p:spPr>
          <a:xfrm xmlns:a="http://schemas.openxmlformats.org/drawingml/2006/main">
            <a:off x="4324350" y="1809750"/>
            <a:ext cx="590550" cy="76200"/>
          </a:xfrm>
          <a:prstGeom xmlns:a="http://schemas.openxmlformats.org/drawingml/2006/main" prst="rect">
            <a:avLst/>
          </a:prstGeom>
          <a:solidFill xmlns:a="http://schemas.openxmlformats.org/drawingml/2006/main">
            <a:srgbClr val="000000"/>
          </a:solidFill>
          <a:ln xmlns:a="http://schemas.openxmlformats.org/drawingml/2006/main" w="0">
            <a:solidFill>
              <a:srgbClr val="000000"/>
            </a:solidFill>
            <a:prstDash val="solid"/>
          </a:ln>
        </p:spPr>
      </p:sp>
      <p:sp>
        <p:nvSpPr>
          <p:cNvPr id="6" name="slide-2-column-heading-2">
            <a:extLst xmlns:a="http://schemas.openxmlformats.org/drawingml/2006/main">
              <a:ext uri="{FF2B5EF4-FFF2-40B4-BE49-F238E27FC236}">
                <a16:creationId xmlns:a16="http://schemas.microsoft.com/office/drawing/2014/main" id="{BE566189-F2FA-43F5-8402-EC3E41E763FF}"/>
              </a:ext>
            </a:extLst>
          </p:cNvPr>
          <p:cNvSpPr>
            <a:spLocks xmlns:a="http://schemas.openxmlformats.org/drawingml/2006/main" noGrp="1"/>
          </p:cNvSpPr>
          <p:nvPr/>
        </p:nvSpPr>
        <p:spPr>
          <a:xfrm xmlns:a="http://schemas.openxmlformats.org/drawingml/2006/main">
            <a:off x="4324350" y="2190750"/>
            <a:ext cx="33528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Cannot change</a:t>
            </a:r>
          </a:p>
        </p:txBody>
      </p:sp>
      <p:sp>
        <p:nvSpPr>
          <p:cNvPr id="7" name="slide-2-column-body-2">
            <a:extLst xmlns:a="http://schemas.openxmlformats.org/drawingml/2006/main">
              <a:ext uri="{FF2B5EF4-FFF2-40B4-BE49-F238E27FC236}">
                <a16:creationId xmlns:a16="http://schemas.microsoft.com/office/drawing/2014/main" id="{032CCC11-92ED-4292-B474-0ED17669CF25}"/>
              </a:ext>
            </a:extLst>
          </p:cNvPr>
          <p:cNvSpPr>
            <a:spLocks xmlns:a="http://schemas.openxmlformats.org/drawingml/2006/main" noGrp="1"/>
          </p:cNvSpPr>
          <p:nvPr/>
        </p:nvSpPr>
        <p:spPr>
          <a:xfrm xmlns:a="http://schemas.openxmlformats.org/drawingml/2006/main">
            <a:off x="4324350" y="3009900"/>
            <a:ext cx="3352800" cy="1752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a:solidFill>
                  <a:srgbClr val="000000"/>
                </a:solidFill>
                <a:latin typeface="Arial"/>
                <a:ea typeface="Arial"/>
                <a:cs typeface="Arial"/>
              </a:defRPr>
            </a:pPr>
            <a:r>
              <a:rPr sz="1800">
                <a:solidFill>
                  <a:srgbClr val="000000"/>
                </a:solidFill>
                <a:latin typeface="Arial"/>
                <a:ea typeface="Arial"/>
                <a:cs typeface="Arial"/>
              </a:rPr>
              <a:t>MERLIN engine + authority
POS and fixed EDI schema
04:00 supplier cut-off</a:t>
            </a:r>
          </a:p>
        </p:txBody>
      </p:sp>
      <p:sp>
        <p:nvSpPr>
          <p:cNvPr id="8" name="slide-2-column-rule-3">
            <a:extLst xmlns:a="http://schemas.openxmlformats.org/drawingml/2006/main">
              <a:ext uri="{FF2B5EF4-FFF2-40B4-BE49-F238E27FC236}">
                <a16:creationId xmlns:a16="http://schemas.microsoft.com/office/drawing/2014/main" id="{16A5C0B3-B794-40B1-A97A-F9065092E818}"/>
              </a:ext>
            </a:extLst>
          </p:cNvPr>
          <p:cNvSpPr>
            <a:spLocks xmlns:a="http://schemas.openxmlformats.org/drawingml/2006/main" noGrp="1"/>
          </p:cNvSpPr>
          <p:nvPr/>
        </p:nvSpPr>
        <p:spPr>
          <a:xfrm xmlns:a="http://schemas.openxmlformats.org/drawingml/2006/main">
            <a:off x="8248650" y="1809750"/>
            <a:ext cx="590550" cy="76200"/>
          </a:xfrm>
          <a:prstGeom xmlns:a="http://schemas.openxmlformats.org/drawingml/2006/main" prst="rect">
            <a:avLst/>
          </a:prstGeom>
          <a:solidFill xmlns:a="http://schemas.openxmlformats.org/drawingml/2006/main">
            <a:srgbClr val="586174"/>
          </a:solidFill>
          <a:ln xmlns:a="http://schemas.openxmlformats.org/drawingml/2006/main" w="0">
            <a:solidFill>
              <a:srgbClr val="586174"/>
            </a:solidFill>
            <a:prstDash val="solid"/>
          </a:ln>
        </p:spPr>
      </p:sp>
      <p:sp>
        <p:nvSpPr>
          <p:cNvPr id="9" name="slide-2-column-heading-3">
            <a:extLst xmlns:a="http://schemas.openxmlformats.org/drawingml/2006/main">
              <a:ext uri="{FF2B5EF4-FFF2-40B4-BE49-F238E27FC236}">
                <a16:creationId xmlns:a16="http://schemas.microsoft.com/office/drawing/2014/main" id="{D05A4599-12D5-4524-BB11-825F8BB954F3}"/>
              </a:ext>
            </a:extLst>
          </p:cNvPr>
          <p:cNvSpPr>
            <a:spLocks xmlns:a="http://schemas.openxmlformats.org/drawingml/2006/main" noGrp="1"/>
          </p:cNvSpPr>
          <p:nvPr/>
        </p:nvSpPr>
        <p:spPr>
          <a:xfrm xmlns:a="http://schemas.openxmlformats.org/drawingml/2006/main">
            <a:off x="8248650" y="2190750"/>
            <a:ext cx="33528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Unsafe to touch</a:t>
            </a:r>
          </a:p>
        </p:txBody>
      </p:sp>
      <p:sp>
        <p:nvSpPr>
          <p:cNvPr id="10" name="slide-2-column-body-3">
            <a:extLst xmlns:a="http://schemas.openxmlformats.org/drawingml/2006/main">
              <a:ext uri="{FF2B5EF4-FFF2-40B4-BE49-F238E27FC236}">
                <a16:creationId xmlns:a16="http://schemas.microsoft.com/office/drawing/2014/main" id="{B4392E72-7444-4EC0-B699-C38F52B95BA1}"/>
              </a:ext>
            </a:extLst>
          </p:cNvPr>
          <p:cNvSpPr>
            <a:spLocks xmlns:a="http://schemas.openxmlformats.org/drawingml/2006/main" noGrp="1"/>
          </p:cNvSpPr>
          <p:nvPr/>
        </p:nvSpPr>
        <p:spPr>
          <a:xfrm xmlns:a="http://schemas.openxmlformats.org/drawingml/2006/main">
            <a:off x="8248650" y="3009900"/>
            <a:ext cx="3352800" cy="1752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a:solidFill>
                  <a:srgbClr val="000000"/>
                </a:solidFill>
                <a:latin typeface="Arial"/>
                <a:ea typeface="Arial"/>
                <a:cs typeface="Arial"/>
              </a:defRPr>
            </a:pPr>
            <a:r>
              <a:rPr sz="1800">
                <a:solidFill>
                  <a:srgbClr val="000000"/>
                </a:solidFill>
                <a:latin typeface="Arial"/>
                <a:ea typeface="Arial"/>
                <a:cs typeface="Arial"/>
              </a:rPr>
              <a:t>Scheduler + undocumented tables
Manual rows
Point inventory as truth</a:t>
            </a:r>
          </a:p>
        </p:txBody>
      </p:sp>
      <p:sp>
        <p:nvSpPr>
          <p:cNvPr id="11" name="slide-2-supported-rule">
            <a:extLst xmlns:a="http://schemas.openxmlformats.org/drawingml/2006/main">
              <a:ext uri="{FF2B5EF4-FFF2-40B4-BE49-F238E27FC236}">
                <a16:creationId xmlns:a16="http://schemas.microsoft.com/office/drawing/2014/main" id="{0FE51358-7AA3-48D5-9DEF-18D48A77029B}"/>
              </a:ext>
            </a:extLst>
          </p:cNvPr>
          <p:cNvSpPr>
            <a:spLocks xmlns:a="http://schemas.openxmlformats.org/drawingml/2006/main" noGrp="1"/>
          </p:cNvSpPr>
          <p:nvPr/>
        </p:nvSpPr>
        <p:spPr>
          <a:xfrm xmlns:a="http://schemas.openxmlformats.org/drawingml/2006/main">
            <a:off x="400050" y="5219700"/>
            <a:ext cx="11391900" cy="381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slide-2-supported-crossings">
            <a:extLst xmlns:a="http://schemas.openxmlformats.org/drawingml/2006/main">
              <a:ext uri="{FF2B5EF4-FFF2-40B4-BE49-F238E27FC236}">
                <a16:creationId xmlns:a16="http://schemas.microsoft.com/office/drawing/2014/main" id="{903D4A7C-1E09-4DD3-9C4E-A401B6180049}"/>
              </a:ext>
            </a:extLst>
          </p:cNvPr>
          <p:cNvSpPr>
            <a:spLocks xmlns:a="http://schemas.openxmlformats.org/drawingml/2006/main" noGrp="1"/>
          </p:cNvSpPr>
          <p:nvPr/>
        </p:nvSpPr>
        <p:spPr>
          <a:xfrm xmlns:a="http://schemas.openxmlformats.org/drawingml/2006/main">
            <a:off x="400050" y="5410200"/>
            <a:ext cx="11391900" cy="571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3D8DFF"/>
                </a:solidFill>
                <a:latin typeface="Arial"/>
                <a:ea typeface="Arial"/>
                <a:cs typeface="Arial"/>
              </a:defRPr>
            </a:pPr>
            <a:r>
              <a:rPr sz="1800" b="1">
                <a:solidFill>
                  <a:srgbClr val="3D8DFF"/>
                </a:solidFill>
                <a:latin typeface="Arial"/>
                <a:ea typeface="Arial"/>
                <a:cs typeface="Arial"/>
              </a:rPr>
              <a:t>Only supported crossings  →  nightly batch  •  pre-generation override table  •  post-generation review queue</a:t>
            </a:r>
          </a:p>
        </p:txBody>
      </p:sp>
      <p:sp>
        <p:nvSpPr>
          <p:cNvPr id="13" name="owner-footer-2">
            <a:extLst xmlns:a="http://schemas.openxmlformats.org/drawingml/2006/main">
              <a:ext uri="{FF2B5EF4-FFF2-40B4-BE49-F238E27FC236}">
                <a16:creationId xmlns:a16="http://schemas.microsoft.com/office/drawing/2014/main" id="{0A9278B2-3D43-4BC4-849B-0356C4A78BBB}"/>
              </a:ext>
            </a:extLst>
          </p:cNvPr>
          <p:cNvSpPr>
            <a:spLocks xmlns:a="http://schemas.openxmlformats.org/drawingml/2006/main" noGrp="1"/>
          </p:cNvSpPr>
          <p:nvPr/>
        </p:nvSpPr>
        <p:spPr>
          <a:xfrm xmlns:a="http://schemas.openxmlformats.org/drawingml/2006/main">
            <a:off x="400050" y="6191250"/>
            <a:ext cx="8096250" cy="20955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200">
                <a:solidFill>
                  <a:srgbClr val="586174"/>
                </a:solidFill>
                <a:latin typeface="Arial"/>
                <a:ea typeface="Arial"/>
                <a:cs typeface="Arial"/>
              </a:defRPr>
            </a:pPr>
            <a:r>
              <a:rPr sz="1200">
                <a:solidFill>
                  <a:srgbClr val="586174"/>
                </a:solidFill>
                <a:latin typeface="Arial"/>
                <a:ea typeface="Arial"/>
                <a:cs typeface="Arial"/>
              </a:rPr>
              <a:t>Owner: TRẦN TRỌNG PHÚ (197320)</a:t>
            </a:r>
          </a:p>
        </p:txBody>
      </p:sp>
      <p:sp>
        <p:nvSpPr>
          <p:cNvPr id="14" name="artifact-footer-2">
            <a:extLst xmlns:a="http://schemas.openxmlformats.org/drawingml/2006/main">
              <a:ext uri="{FF2B5EF4-FFF2-40B4-BE49-F238E27FC236}">
                <a16:creationId xmlns:a16="http://schemas.microsoft.com/office/drawing/2014/main" id="{171E0B32-2595-4E30-8DA6-2B99E7FB21E6}"/>
              </a:ext>
            </a:extLst>
          </p:cNvPr>
          <p:cNvSpPr>
            <a:spLocks xmlns:a="http://schemas.openxmlformats.org/drawingml/2006/main" noGrp="1"/>
          </p:cNvSpPr>
          <p:nvPr/>
        </p:nvSpPr>
        <p:spPr>
          <a:xfrm xmlns:a="http://schemas.openxmlformats.org/drawingml/2006/main">
            <a:off x="3676650" y="6419850"/>
            <a:ext cx="49530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350">
                <a:solidFill>
                  <a:srgbClr val="586174"/>
                </a:solidFill>
                <a:latin typeface="Arial"/>
                <a:ea typeface="Arial"/>
                <a:cs typeface="Arial"/>
              </a:defRPr>
            </a:pPr>
            <a:r>
              <a:rPr sz="1350">
                <a:solidFill>
                  <a:srgbClr val="586174"/>
                </a:solidFill>
                <a:latin typeface="Arial"/>
                <a:ea typeface="Arial"/>
                <a:cs typeface="Arial"/>
              </a:rPr>
              <a:t>Legacy assessment</a:t>
            </a:r>
          </a:p>
        </p:txBody>
      </p:sp>
      <p:sp>
        <p:nvSpPr>
          <p:cNvPr id="15" name="page-number-2">
            <a:extLst xmlns:a="http://schemas.openxmlformats.org/drawingml/2006/main">
              <a:ext uri="{FF2B5EF4-FFF2-40B4-BE49-F238E27FC236}">
                <a16:creationId xmlns:a16="http://schemas.microsoft.com/office/drawing/2014/main" id="{F7745957-5FD8-4C58-ACF0-9A2FAD25EAE0}"/>
              </a:ext>
            </a:extLst>
          </p:cNvPr>
          <p:cNvSpPr>
            <a:spLocks xmlns:a="http://schemas.openxmlformats.org/drawingml/2006/main" noGrp="1"/>
          </p:cNvSpPr>
          <p:nvPr/>
        </p:nvSpPr>
        <p:spPr>
          <a:xfrm xmlns:a="http://schemas.openxmlformats.org/drawingml/2006/main">
            <a:off x="11296650" y="6419850"/>
            <a:ext cx="4953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350">
                <a:solidFill>
                  <a:srgbClr val="000000"/>
                </a:solidFill>
                <a:latin typeface="Arial"/>
                <a:ea typeface="Arial"/>
                <a:cs typeface="Arial"/>
              </a:defRPr>
            </a:pPr>
            <a:r>
              <a:rPr sz="1350">
                <a:solidFill>
                  <a:srgbClr val="000000"/>
                </a:solidFill>
                <a:latin typeface="Arial"/>
                <a:ea typeface="Arial"/>
                <a:cs typeface="Arial"/>
              </a:rPr>
              <a:t>2</a:t>
            </a:r>
          </a:p>
        </p:txBody>
      </p:sp>
    </p:spTree>
    <p:extLst>
      <p:ext uri="{BB962C8B-B14F-4D97-AF65-F5344CB8AC3E}">
        <p14:creationId xmlns:p14="http://schemas.microsoft.com/office/powerpoint/2010/main" val="131112428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slide-3-title">
            <a:extLst xmlns:a="http://schemas.openxmlformats.org/drawingml/2006/main">
              <a:ext uri="{FF2B5EF4-FFF2-40B4-BE49-F238E27FC236}">
                <a16:creationId xmlns:a16="http://schemas.microsoft.com/office/drawing/2014/main" id="{78134939-7E98-414C-98C6-A14BA00E7397}"/>
              </a:ext>
            </a:extLst>
          </p:cNvPr>
          <p:cNvSpPr>
            <a:spLocks xmlns:a="http://schemas.openxmlformats.org/drawingml/2006/main" noGrp="1"/>
          </p:cNvSpPr>
          <p:nvPr/>
        </p:nvSpPr>
        <p:spPr>
          <a:xfrm xmlns:a="http://schemas.openxmlformats.org/drawingml/2006/main">
            <a:off x="400050" y="323850"/>
            <a:ext cx="1139190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The sidecar is advisory; authority stays inside MERLIN</a:t>
            </a:r>
          </a:p>
        </p:txBody>
      </p:sp>
      <p:sp>
        <p:nvSpPr>
          <p:cNvPr id="2" name="slide-3-boundary-invariants">
            <a:extLst xmlns:a="http://schemas.openxmlformats.org/drawingml/2006/main">
              <a:ext uri="{FF2B5EF4-FFF2-40B4-BE49-F238E27FC236}">
                <a16:creationId xmlns:a16="http://schemas.microsoft.com/office/drawing/2014/main" id="{A9672ACD-354C-4427-B3E1-35645454F8D9}"/>
              </a:ext>
            </a:extLst>
          </p:cNvPr>
          <p:cNvSpPr>
            <a:spLocks xmlns:a="http://schemas.openxmlformats.org/drawingml/2006/main" noGrp="1"/>
          </p:cNvSpPr>
          <p:nvPr/>
        </p:nvSpPr>
        <p:spPr>
          <a:xfrm xmlns:a="http://schemas.openxmlformats.org/drawingml/2006/main">
            <a:off x="400050" y="1524000"/>
            <a:ext cx="5581650" cy="4476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a:solidFill>
                  <a:srgbClr val="000000"/>
                </a:solidFill>
                <a:latin typeface="Arial"/>
                <a:ea typeface="Arial"/>
                <a:cs typeface="Arial"/>
              </a:defRPr>
            </a:pPr>
            <a:r>
              <a:rPr sz="1725">
                <a:solidFill>
                  <a:srgbClr val="000000"/>
                </a:solidFill>
                <a:latin typeface="Arial"/>
                <a:ea typeface="Arial"/>
                <a:cs typeface="Arial"/>
              </a:rPr>
              <a:t>• Nightly snapshot → validation → features → statistical forecast ML → deterministic optimizer
• Only certified adapters can write bounded current-run rows
• MERLIN generates orders; current quantity returns only after a certified post-generation join
• Loyalty PII stays country-local; copilot remains separate from POS and ordering</a:t>
            </a:r>
          </a:p>
        </p:txBody>
      </p:sp>
      <p:sp>
        <p:nvSpPr>
          <p:cNvPr id="3" name="slide-3-ai-zone">
            <a:extLst xmlns:a="http://schemas.openxmlformats.org/drawingml/2006/main">
              <a:ext uri="{FF2B5EF4-FFF2-40B4-BE49-F238E27FC236}">
                <a16:creationId xmlns:a16="http://schemas.microsoft.com/office/drawing/2014/main" id="{36753153-4414-43AC-9F21-84308D43C24C}"/>
              </a:ext>
            </a:extLst>
          </p:cNvPr>
          <p:cNvSpPr>
            <a:spLocks xmlns:a="http://schemas.openxmlformats.org/drawingml/2006/main" noGrp="1"/>
          </p:cNvSpPr>
          <p:nvPr/>
        </p:nvSpPr>
        <p:spPr>
          <a:xfrm xmlns:a="http://schemas.openxmlformats.org/drawingml/2006/main">
            <a:off x="6419850" y="1581150"/>
            <a:ext cx="2457450" cy="4419600"/>
          </a:xfrm>
          <a:prstGeom xmlns:a="http://schemas.openxmlformats.org/drawingml/2006/main" prst="roundRect">
            <a:avLst>
              <a:gd name="adj" fmla="val 3876"/>
            </a:avLst>
          </a:prstGeom>
          <a:solidFill xmlns:a="http://schemas.openxmlformats.org/drawingml/2006/main">
            <a:srgbClr val="EAF5FB"/>
          </a:solidFill>
          <a:ln xmlns:a="http://schemas.openxmlformats.org/drawingml/2006/main" w="14288">
            <a:solidFill>
              <a:srgbClr val="3D8DFF"/>
            </a:solidFill>
            <a:prstDash val="solid"/>
          </a:ln>
        </p:spPr>
      </p:sp>
      <p:sp>
        <p:nvSpPr>
          <p:cNvPr id="4" name="slide-3-merlin-zone">
            <a:extLst xmlns:a="http://schemas.openxmlformats.org/drawingml/2006/main">
              <a:ext uri="{FF2B5EF4-FFF2-40B4-BE49-F238E27FC236}">
                <a16:creationId xmlns:a16="http://schemas.microsoft.com/office/drawing/2014/main" id="{D8E01AEE-4292-4E28-84E0-A6A174CFCC87}"/>
              </a:ext>
            </a:extLst>
          </p:cNvPr>
          <p:cNvSpPr>
            <a:spLocks xmlns:a="http://schemas.openxmlformats.org/drawingml/2006/main" noGrp="1"/>
          </p:cNvSpPr>
          <p:nvPr/>
        </p:nvSpPr>
        <p:spPr>
          <a:xfrm xmlns:a="http://schemas.openxmlformats.org/drawingml/2006/main">
            <a:off x="9105900" y="1581150"/>
            <a:ext cx="2457450" cy="4419600"/>
          </a:xfrm>
          <a:prstGeom xmlns:a="http://schemas.openxmlformats.org/drawingml/2006/main" prst="roundRect">
            <a:avLst>
              <a:gd name="adj" fmla="val 3876"/>
            </a:avLst>
          </a:prstGeom>
          <a:solidFill xmlns:a="http://schemas.openxmlformats.org/drawingml/2006/main">
            <a:srgbClr val="F5F5F5"/>
          </a:solidFill>
          <a:ln xmlns:a="http://schemas.openxmlformats.org/drawingml/2006/main" w="14288">
            <a:solidFill>
              <a:srgbClr val="000000"/>
            </a:solidFill>
            <a:prstDash val="solid"/>
          </a:ln>
        </p:spPr>
      </p:sp>
      <p:sp>
        <p:nvSpPr>
          <p:cNvPr id="5" name="slide-3-ai-zone-title">
            <a:extLst xmlns:a="http://schemas.openxmlformats.org/drawingml/2006/main">
              <a:ext uri="{FF2B5EF4-FFF2-40B4-BE49-F238E27FC236}">
                <a16:creationId xmlns:a16="http://schemas.microsoft.com/office/drawing/2014/main" id="{179B0A20-6E64-4D46-9248-7ECA9AD26C70}"/>
              </a:ext>
            </a:extLst>
          </p:cNvPr>
          <p:cNvSpPr>
            <a:spLocks xmlns:a="http://schemas.openxmlformats.org/drawingml/2006/main" noGrp="1"/>
          </p:cNvSpPr>
          <p:nvPr/>
        </p:nvSpPr>
        <p:spPr>
          <a:xfrm xmlns:a="http://schemas.openxmlformats.org/drawingml/2006/main">
            <a:off x="6315075" y="1752600"/>
            <a:ext cx="26670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3D8DFF"/>
                </a:solidFill>
                <a:latin typeface="Arial"/>
                <a:ea typeface="Arial"/>
                <a:cs typeface="Arial"/>
              </a:defRPr>
            </a:pPr>
            <a:r>
              <a:rPr sz="1650" b="1">
                <a:solidFill>
                  <a:srgbClr val="3D8DFF"/>
                </a:solidFill>
                <a:latin typeface="Arial"/>
                <a:ea typeface="Arial"/>
                <a:cs typeface="Arial"/>
              </a:rPr>
              <a:t>AI SIDECAR — ADVISORY</a:t>
            </a:r>
          </a:p>
        </p:txBody>
      </p:sp>
      <p:sp>
        <p:nvSpPr>
          <p:cNvPr id="6" name="slide-3-merlin-zone-title">
            <a:extLst xmlns:a="http://schemas.openxmlformats.org/drawingml/2006/main">
              <a:ext uri="{FF2B5EF4-FFF2-40B4-BE49-F238E27FC236}">
                <a16:creationId xmlns:a16="http://schemas.microsoft.com/office/drawing/2014/main" id="{AE3AF973-6EAC-4DA3-A183-9D944A7AE70F}"/>
              </a:ext>
            </a:extLst>
          </p:cNvPr>
          <p:cNvSpPr>
            <a:spLocks xmlns:a="http://schemas.openxmlformats.org/drawingml/2006/main" noGrp="1"/>
          </p:cNvSpPr>
          <p:nvPr/>
        </p:nvSpPr>
        <p:spPr>
          <a:xfrm xmlns:a="http://schemas.openxmlformats.org/drawingml/2006/main">
            <a:off x="9144000" y="1752600"/>
            <a:ext cx="23812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000000"/>
                </a:solidFill>
                <a:latin typeface="Arial"/>
                <a:ea typeface="Arial"/>
                <a:cs typeface="Arial"/>
              </a:defRPr>
            </a:pPr>
            <a:r>
              <a:rPr sz="1650" b="1">
                <a:solidFill>
                  <a:srgbClr val="000000"/>
                </a:solidFill>
                <a:latin typeface="Arial"/>
                <a:ea typeface="Arial"/>
                <a:cs typeface="Arial"/>
              </a:rPr>
              <a:t>MERLIN — AUTHORITY</a:t>
            </a:r>
          </a:p>
        </p:txBody>
      </p:sp>
      <p:sp>
        <p:nvSpPr>
          <p:cNvPr id="7" name="owner-footer-3">
            <a:extLst xmlns:a="http://schemas.openxmlformats.org/drawingml/2006/main">
              <a:ext uri="{FF2B5EF4-FFF2-40B4-BE49-F238E27FC236}">
                <a16:creationId xmlns:a16="http://schemas.microsoft.com/office/drawing/2014/main" id="{3B6EBF34-A40D-4B29-ADA9-83B27D0FDDB4}"/>
              </a:ext>
            </a:extLst>
          </p:cNvPr>
          <p:cNvSpPr>
            <a:spLocks xmlns:a="http://schemas.openxmlformats.org/drawingml/2006/main" noGrp="1"/>
          </p:cNvSpPr>
          <p:nvPr/>
        </p:nvSpPr>
        <p:spPr>
          <a:xfrm xmlns:a="http://schemas.openxmlformats.org/drawingml/2006/main">
            <a:off x="400050" y="6191250"/>
            <a:ext cx="8096250" cy="20955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200">
                <a:solidFill>
                  <a:srgbClr val="586174"/>
                </a:solidFill>
                <a:latin typeface="Arial"/>
                <a:ea typeface="Arial"/>
                <a:cs typeface="Arial"/>
              </a:defRPr>
            </a:pPr>
            <a:r>
              <a:rPr sz="1200">
                <a:solidFill>
                  <a:srgbClr val="586174"/>
                </a:solidFill>
                <a:latin typeface="Arial"/>
                <a:ea typeface="Arial"/>
                <a:cs typeface="Arial"/>
              </a:rPr>
              <a:t>Owner: LÊ NGUYỄN SỸ BÌNH (122980)</a:t>
            </a:r>
          </a:p>
        </p:txBody>
      </p:sp>
      <p:sp>
        <p:nvSpPr>
          <p:cNvPr id="8" name="artifact-footer-3">
            <a:extLst xmlns:a="http://schemas.openxmlformats.org/drawingml/2006/main">
              <a:ext uri="{FF2B5EF4-FFF2-40B4-BE49-F238E27FC236}">
                <a16:creationId xmlns:a16="http://schemas.microsoft.com/office/drawing/2014/main" id="{D2ED22F3-6AD6-43EE-B6F8-4F2805079460}"/>
              </a:ext>
            </a:extLst>
          </p:cNvPr>
          <p:cNvSpPr>
            <a:spLocks xmlns:a="http://schemas.openxmlformats.org/drawingml/2006/main" noGrp="1"/>
          </p:cNvSpPr>
          <p:nvPr/>
        </p:nvSpPr>
        <p:spPr>
          <a:xfrm xmlns:a="http://schemas.openxmlformats.org/drawingml/2006/main">
            <a:off x="3676650" y="6419850"/>
            <a:ext cx="49530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350">
                <a:solidFill>
                  <a:srgbClr val="586174"/>
                </a:solidFill>
                <a:latin typeface="Arial"/>
                <a:ea typeface="Arial"/>
                <a:cs typeface="Arial"/>
              </a:defRPr>
            </a:pPr>
            <a:r>
              <a:rPr sz="1350">
                <a:solidFill>
                  <a:srgbClr val="586174"/>
                </a:solidFill>
                <a:latin typeface="Arial"/>
                <a:ea typeface="Arial"/>
                <a:cs typeface="Arial"/>
              </a:rPr>
              <a:t>C4 context + container</a:t>
            </a:r>
          </a:p>
        </p:txBody>
      </p:sp>
      <p:sp>
        <p:nvSpPr>
          <p:cNvPr id="9" name="page-number-3">
            <a:extLst xmlns:a="http://schemas.openxmlformats.org/drawingml/2006/main">
              <a:ext uri="{FF2B5EF4-FFF2-40B4-BE49-F238E27FC236}">
                <a16:creationId xmlns:a16="http://schemas.microsoft.com/office/drawing/2014/main" id="{3E669202-30DA-4877-9EDE-F3B0E9401D51}"/>
              </a:ext>
            </a:extLst>
          </p:cNvPr>
          <p:cNvSpPr>
            <a:spLocks xmlns:a="http://schemas.openxmlformats.org/drawingml/2006/main" noGrp="1"/>
          </p:cNvSpPr>
          <p:nvPr/>
        </p:nvSpPr>
        <p:spPr>
          <a:xfrm xmlns:a="http://schemas.openxmlformats.org/drawingml/2006/main">
            <a:off x="11296650" y="6419850"/>
            <a:ext cx="4953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350">
                <a:solidFill>
                  <a:srgbClr val="000000"/>
                </a:solidFill>
                <a:latin typeface="Arial"/>
                <a:ea typeface="Arial"/>
                <a:cs typeface="Arial"/>
              </a:defRPr>
            </a:pPr>
            <a:r>
              <a:rPr sz="1350">
                <a:solidFill>
                  <a:srgbClr val="000000"/>
                </a:solidFill>
                <a:latin typeface="Arial"/>
                <a:ea typeface="Arial"/>
                <a:cs typeface="Arial"/>
              </a:rPr>
              <a:t>3</a:t>
            </a:r>
          </a:p>
        </p:txBody>
      </p:sp>
      <p:sp>
        <p:nvSpPr>
          <p:cNvPr id="10" name="slide-3-anchor-snapshot">
            <a:extLst xmlns:a="http://schemas.openxmlformats.org/drawingml/2006/main">
              <a:ext uri="{FF2B5EF4-FFF2-40B4-BE49-F238E27FC236}">
                <a16:creationId xmlns:a16="http://schemas.microsoft.com/office/drawing/2014/main" id="{639FE6D9-84D5-410E-A6B1-E0C83CED1682}"/>
              </a:ext>
            </a:extLst>
          </p:cNvPr>
          <p:cNvSpPr>
            <a:spLocks xmlns:a="http://schemas.openxmlformats.org/drawingml/2006/main" noGrp="1"/>
          </p:cNvSpPr>
          <p:nvPr/>
        </p:nvSpPr>
        <p:spPr>
          <a:xfrm xmlns:a="http://schemas.openxmlformats.org/drawingml/2006/main">
            <a:off x="6629400" y="2152650"/>
            <a:ext cx="2038350" cy="457200"/>
          </a:xfrm>
          <a:prstGeom xmlns:a="http://schemas.openxmlformats.org/drawingml/2006/main" prst="rect">
            <a:avLst/>
          </a:prstGeom>
          <a:solidFill xmlns:a="http://schemas.openxmlformats.org/drawingml/2006/main">
            <a:srgbClr val="FFFFFF">
              <a:alpha val="0"/>
            </a:srgbClr>
          </a:solidFill>
          <a:ln xmlns:a="http://schemas.openxmlformats.org/drawingml/2006/main" w="0">
            <a:solidFill>
              <a:srgbClr val="FFFFFF">
                <a:alpha val="0"/>
              </a:srgbClr>
            </a:solidFill>
            <a:prstDash val="solid"/>
          </a:ln>
        </p:spPr>
      </p:sp>
      <p:sp>
        <p:nvSpPr>
          <p:cNvPr id="11" name="slide-3-anchor-validate">
            <a:extLst xmlns:a="http://schemas.openxmlformats.org/drawingml/2006/main">
              <a:ext uri="{FF2B5EF4-FFF2-40B4-BE49-F238E27FC236}">
                <a16:creationId xmlns:a16="http://schemas.microsoft.com/office/drawing/2014/main" id="{28C1CCBC-7660-4861-827B-9B9CE533B5B7}"/>
              </a:ext>
            </a:extLst>
          </p:cNvPr>
          <p:cNvSpPr>
            <a:spLocks xmlns:a="http://schemas.openxmlformats.org/drawingml/2006/main" noGrp="1"/>
          </p:cNvSpPr>
          <p:nvPr/>
        </p:nvSpPr>
        <p:spPr>
          <a:xfrm xmlns:a="http://schemas.openxmlformats.org/drawingml/2006/main">
            <a:off x="6629400" y="2800350"/>
            <a:ext cx="2038350" cy="457200"/>
          </a:xfrm>
          <a:prstGeom xmlns:a="http://schemas.openxmlformats.org/drawingml/2006/main" prst="rect">
            <a:avLst/>
          </a:prstGeom>
          <a:solidFill xmlns:a="http://schemas.openxmlformats.org/drawingml/2006/main">
            <a:srgbClr val="FFFFFF">
              <a:alpha val="0"/>
            </a:srgbClr>
          </a:solidFill>
          <a:ln xmlns:a="http://schemas.openxmlformats.org/drawingml/2006/main" w="0">
            <a:solidFill>
              <a:srgbClr val="FFFFFF">
                <a:alpha val="0"/>
              </a:srgbClr>
            </a:solidFill>
            <a:prstDash val="solid"/>
          </a:ln>
        </p:spPr>
      </p:sp>
      <p:sp>
        <p:nvSpPr>
          <p:cNvPr id="12" name="slide-3-anchor-forecast">
            <a:extLst xmlns:a="http://schemas.openxmlformats.org/drawingml/2006/main">
              <a:ext uri="{FF2B5EF4-FFF2-40B4-BE49-F238E27FC236}">
                <a16:creationId xmlns:a16="http://schemas.microsoft.com/office/drawing/2014/main" id="{6B014073-CADA-4423-B916-F194A9041F2F}"/>
              </a:ext>
            </a:extLst>
          </p:cNvPr>
          <p:cNvSpPr>
            <a:spLocks xmlns:a="http://schemas.openxmlformats.org/drawingml/2006/main" noGrp="1"/>
          </p:cNvSpPr>
          <p:nvPr/>
        </p:nvSpPr>
        <p:spPr>
          <a:xfrm xmlns:a="http://schemas.openxmlformats.org/drawingml/2006/main">
            <a:off x="6629400" y="3448050"/>
            <a:ext cx="2038350" cy="457200"/>
          </a:xfrm>
          <a:prstGeom xmlns:a="http://schemas.openxmlformats.org/drawingml/2006/main" prst="rect">
            <a:avLst/>
          </a:prstGeom>
          <a:solidFill xmlns:a="http://schemas.openxmlformats.org/drawingml/2006/main">
            <a:srgbClr val="FFFFFF">
              <a:alpha val="0"/>
            </a:srgbClr>
          </a:solidFill>
          <a:ln xmlns:a="http://schemas.openxmlformats.org/drawingml/2006/main" w="0">
            <a:solidFill>
              <a:srgbClr val="FFFFFF">
                <a:alpha val="0"/>
              </a:srgbClr>
            </a:solidFill>
            <a:prstDash val="solid"/>
          </a:ln>
        </p:spPr>
      </p:sp>
      <p:sp>
        <p:nvSpPr>
          <p:cNvPr id="13" name="slide-3-anchor-optimize">
            <a:extLst xmlns:a="http://schemas.openxmlformats.org/drawingml/2006/main">
              <a:ext uri="{FF2B5EF4-FFF2-40B4-BE49-F238E27FC236}">
                <a16:creationId xmlns:a16="http://schemas.microsoft.com/office/drawing/2014/main" id="{CDF28F4E-41E4-4342-9795-7A297CA49432}"/>
              </a:ext>
            </a:extLst>
          </p:cNvPr>
          <p:cNvSpPr>
            <a:spLocks xmlns:a="http://schemas.openxmlformats.org/drawingml/2006/main" noGrp="1"/>
          </p:cNvSpPr>
          <p:nvPr/>
        </p:nvSpPr>
        <p:spPr>
          <a:xfrm xmlns:a="http://schemas.openxmlformats.org/drawingml/2006/main">
            <a:off x="6629400" y="4095750"/>
            <a:ext cx="2038350" cy="457200"/>
          </a:xfrm>
          <a:prstGeom xmlns:a="http://schemas.openxmlformats.org/drawingml/2006/main" prst="rect">
            <a:avLst/>
          </a:prstGeom>
          <a:solidFill xmlns:a="http://schemas.openxmlformats.org/drawingml/2006/main">
            <a:srgbClr val="FFFFFF">
              <a:alpha val="0"/>
            </a:srgbClr>
          </a:solidFill>
          <a:ln xmlns:a="http://schemas.openxmlformats.org/drawingml/2006/main" w="0">
            <a:solidFill>
              <a:srgbClr val="FFFFFF">
                <a:alpha val="0"/>
              </a:srgbClr>
            </a:solidFill>
            <a:prstDash val="solid"/>
          </a:ln>
        </p:spPr>
      </p:sp>
      <p:sp>
        <p:nvSpPr>
          <p:cNvPr id="14" name="slide-3-anchor-adapters">
            <a:extLst xmlns:a="http://schemas.openxmlformats.org/drawingml/2006/main">
              <a:ext uri="{FF2B5EF4-FFF2-40B4-BE49-F238E27FC236}">
                <a16:creationId xmlns:a16="http://schemas.microsoft.com/office/drawing/2014/main" id="{8CC764A5-0C26-4815-A35C-C62174757EEC}"/>
              </a:ext>
            </a:extLst>
          </p:cNvPr>
          <p:cNvSpPr>
            <a:spLocks xmlns:a="http://schemas.openxmlformats.org/drawingml/2006/main" noGrp="1"/>
          </p:cNvSpPr>
          <p:nvPr/>
        </p:nvSpPr>
        <p:spPr>
          <a:xfrm xmlns:a="http://schemas.openxmlformats.org/drawingml/2006/main">
            <a:off x="6457950" y="4857750"/>
            <a:ext cx="2381250" cy="552450"/>
          </a:xfrm>
          <a:prstGeom xmlns:a="http://schemas.openxmlformats.org/drawingml/2006/main" prst="rect">
            <a:avLst/>
          </a:prstGeom>
          <a:solidFill xmlns:a="http://schemas.openxmlformats.org/drawingml/2006/main">
            <a:srgbClr val="FFFFFF">
              <a:alpha val="0"/>
            </a:srgbClr>
          </a:solidFill>
          <a:ln xmlns:a="http://schemas.openxmlformats.org/drawingml/2006/main" w="0">
            <a:solidFill>
              <a:srgbClr val="FFFFFF">
                <a:alpha val="0"/>
              </a:srgbClr>
            </a:solidFill>
            <a:prstDash val="solid"/>
          </a:ln>
        </p:spPr>
      </p:sp>
      <p:sp>
        <p:nvSpPr>
          <p:cNvPr id="15" name="slide-3-anchor-pos">
            <a:extLst xmlns:a="http://schemas.openxmlformats.org/drawingml/2006/main">
              <a:ext uri="{FF2B5EF4-FFF2-40B4-BE49-F238E27FC236}">
                <a16:creationId xmlns:a16="http://schemas.microsoft.com/office/drawing/2014/main" id="{85CC87C4-A0F3-4745-9A8D-C5FC7F0AE54D}"/>
              </a:ext>
            </a:extLst>
          </p:cNvPr>
          <p:cNvSpPr>
            <a:spLocks xmlns:a="http://schemas.openxmlformats.org/drawingml/2006/main" noGrp="1"/>
          </p:cNvSpPr>
          <p:nvPr/>
        </p:nvSpPr>
        <p:spPr>
          <a:xfrm xmlns:a="http://schemas.openxmlformats.org/drawingml/2006/main">
            <a:off x="9315450" y="2152650"/>
            <a:ext cx="2038350" cy="457200"/>
          </a:xfrm>
          <a:prstGeom xmlns:a="http://schemas.openxmlformats.org/drawingml/2006/main" prst="rect">
            <a:avLst/>
          </a:prstGeom>
          <a:solidFill xmlns:a="http://schemas.openxmlformats.org/drawingml/2006/main">
            <a:srgbClr val="FFFFFF">
              <a:alpha val="0"/>
            </a:srgbClr>
          </a:solidFill>
          <a:ln xmlns:a="http://schemas.openxmlformats.org/drawingml/2006/main" w="0">
            <a:solidFill>
              <a:srgbClr val="FFFFFF">
                <a:alpha val="0"/>
              </a:srgbClr>
            </a:solidFill>
            <a:prstDash val="solid"/>
          </a:ln>
        </p:spPr>
      </p:sp>
      <p:sp>
        <p:nvSpPr>
          <p:cNvPr id="16" name="slide-3-anchor-override">
            <a:extLst xmlns:a="http://schemas.openxmlformats.org/drawingml/2006/main">
              <a:ext uri="{FF2B5EF4-FFF2-40B4-BE49-F238E27FC236}">
                <a16:creationId xmlns:a16="http://schemas.microsoft.com/office/drawing/2014/main" id="{F9F20E52-0CAC-4C81-8DD2-529B3243082D}"/>
              </a:ext>
            </a:extLst>
          </p:cNvPr>
          <p:cNvSpPr>
            <a:spLocks xmlns:a="http://schemas.openxmlformats.org/drawingml/2006/main" noGrp="1"/>
          </p:cNvSpPr>
          <p:nvPr/>
        </p:nvSpPr>
        <p:spPr>
          <a:xfrm xmlns:a="http://schemas.openxmlformats.org/drawingml/2006/main">
            <a:off x="9315450" y="2800350"/>
            <a:ext cx="2038350" cy="457200"/>
          </a:xfrm>
          <a:prstGeom xmlns:a="http://schemas.openxmlformats.org/drawingml/2006/main" prst="rect">
            <a:avLst/>
          </a:prstGeom>
          <a:solidFill xmlns:a="http://schemas.openxmlformats.org/drawingml/2006/main">
            <a:srgbClr val="FFFFFF">
              <a:alpha val="0"/>
            </a:srgbClr>
          </a:solidFill>
          <a:ln xmlns:a="http://schemas.openxmlformats.org/drawingml/2006/main" w="0">
            <a:solidFill>
              <a:srgbClr val="FFFFFF">
                <a:alpha val="0"/>
              </a:srgbClr>
            </a:solidFill>
            <a:prstDash val="solid"/>
          </a:ln>
        </p:spPr>
      </p:sp>
      <p:sp>
        <p:nvSpPr>
          <p:cNvPr id="17" name="slide-3-anchor-engine">
            <a:extLst xmlns:a="http://schemas.openxmlformats.org/drawingml/2006/main">
              <a:ext uri="{FF2B5EF4-FFF2-40B4-BE49-F238E27FC236}">
                <a16:creationId xmlns:a16="http://schemas.microsoft.com/office/drawing/2014/main" id="{202F21F5-6A3D-4866-A550-43EA849EEF73}"/>
              </a:ext>
            </a:extLst>
          </p:cNvPr>
          <p:cNvSpPr>
            <a:spLocks xmlns:a="http://schemas.openxmlformats.org/drawingml/2006/main" noGrp="1"/>
          </p:cNvSpPr>
          <p:nvPr/>
        </p:nvSpPr>
        <p:spPr>
          <a:xfrm xmlns:a="http://schemas.openxmlformats.org/drawingml/2006/main">
            <a:off x="9315450" y="3448050"/>
            <a:ext cx="2038350" cy="457200"/>
          </a:xfrm>
          <a:prstGeom xmlns:a="http://schemas.openxmlformats.org/drawingml/2006/main" prst="rect">
            <a:avLst/>
          </a:prstGeom>
          <a:solidFill xmlns:a="http://schemas.openxmlformats.org/drawingml/2006/main">
            <a:srgbClr val="FFFFFF">
              <a:alpha val="0"/>
            </a:srgbClr>
          </a:solidFill>
          <a:ln xmlns:a="http://schemas.openxmlformats.org/drawingml/2006/main" w="0">
            <a:solidFill>
              <a:srgbClr val="FFFFFF">
                <a:alpha val="0"/>
              </a:srgbClr>
            </a:solidFill>
            <a:prstDash val="solid"/>
          </a:ln>
        </p:spPr>
      </p:sp>
      <p:sp>
        <p:nvSpPr>
          <p:cNvPr id="18" name="slide-3-anchor-edi">
            <a:extLst xmlns:a="http://schemas.openxmlformats.org/drawingml/2006/main">
              <a:ext uri="{FF2B5EF4-FFF2-40B4-BE49-F238E27FC236}">
                <a16:creationId xmlns:a16="http://schemas.microsoft.com/office/drawing/2014/main" id="{74B1B77E-C78C-43B0-9C61-32113FA97D0C}"/>
              </a:ext>
            </a:extLst>
          </p:cNvPr>
          <p:cNvSpPr>
            <a:spLocks xmlns:a="http://schemas.openxmlformats.org/drawingml/2006/main" noGrp="1"/>
          </p:cNvSpPr>
          <p:nvPr/>
        </p:nvSpPr>
        <p:spPr>
          <a:xfrm xmlns:a="http://schemas.openxmlformats.org/drawingml/2006/main">
            <a:off x="9315450" y="4095750"/>
            <a:ext cx="1809750" cy="552450"/>
          </a:xfrm>
          <a:prstGeom xmlns:a="http://schemas.openxmlformats.org/drawingml/2006/main" prst="rect">
            <a:avLst/>
          </a:prstGeom>
          <a:solidFill xmlns:a="http://schemas.openxmlformats.org/drawingml/2006/main">
            <a:srgbClr val="FFFFFF">
              <a:alpha val="0"/>
            </a:srgbClr>
          </a:solidFill>
          <a:ln xmlns:a="http://schemas.openxmlformats.org/drawingml/2006/main" w="0">
            <a:solidFill>
              <a:srgbClr val="FFFFFF">
                <a:alpha val="0"/>
              </a:srgbClr>
            </a:solidFill>
            <a:prstDash val="solid"/>
          </a:ln>
        </p:spPr>
      </p:sp>
      <p:sp>
        <p:nvSpPr>
          <p:cNvPr id="19" name="slide-3-anchor-review">
            <a:extLst xmlns:a="http://schemas.openxmlformats.org/drawingml/2006/main">
              <a:ext uri="{FF2B5EF4-FFF2-40B4-BE49-F238E27FC236}">
                <a16:creationId xmlns:a16="http://schemas.microsoft.com/office/drawing/2014/main" id="{4C306A88-EB5B-46ED-989F-3F493B543670}"/>
              </a:ext>
            </a:extLst>
          </p:cNvPr>
          <p:cNvSpPr>
            <a:spLocks xmlns:a="http://schemas.openxmlformats.org/drawingml/2006/main" noGrp="1"/>
          </p:cNvSpPr>
          <p:nvPr/>
        </p:nvSpPr>
        <p:spPr>
          <a:xfrm xmlns:a="http://schemas.openxmlformats.org/drawingml/2006/main">
            <a:off x="9315450" y="4857750"/>
            <a:ext cx="1809750" cy="457200"/>
          </a:xfrm>
          <a:prstGeom xmlns:a="http://schemas.openxmlformats.org/drawingml/2006/main" prst="rect">
            <a:avLst/>
          </a:prstGeom>
          <a:solidFill xmlns:a="http://schemas.openxmlformats.org/drawingml/2006/main">
            <a:srgbClr val="FFFFFF">
              <a:alpha val="0"/>
            </a:srgbClr>
          </a:solidFill>
          <a:ln xmlns:a="http://schemas.openxmlformats.org/drawingml/2006/main" w="0">
            <a:solidFill>
              <a:srgbClr val="FFFFFF">
                <a:alpha val="0"/>
              </a:srgbClr>
            </a:solidFill>
            <a:prstDash val="solid"/>
          </a:ln>
        </p:spPr>
      </p:sp>
      <p:cxnSp>
        <p:nvCxnSpPr>
          <p:cNvPr id="254" name=""/>
          <p:cNvCxnSpPr>
            <a:stCxn xmlns:a="http://schemas.openxmlformats.org/drawingml/2006/main" id="10" idx="2"/>
            <a:endCxn xmlns:a="http://schemas.openxmlformats.org/drawingml/2006/main" id="11" idx="0"/>
          </p:cNvCxnSpPr>
          <p:nvPr/>
        </p:nvCxnSpPr>
        <p:spPr>
          <a:xfrm xmlns:a="http://schemas.openxmlformats.org/drawingml/2006/main">
            <a:off x="7648575" y="2609850"/>
            <a:ext cx="0" cy="190500"/>
          </a:xfrm>
          <a:prstGeom xmlns:a="http://schemas.openxmlformats.org/drawingml/2006/main" prst="straightConnector1">
            <a:avLst/>
          </a:prstGeom>
          <a:ln xmlns:a="http://schemas.openxmlformats.org/drawingml/2006/main" w="19050">
            <a:solidFill>
              <a:srgbClr val="3D8DFF"/>
            </a:solidFill>
            <a:prstDash val="solid"/>
            <a:tailEnd type="arrow" w="med" len="med"/>
          </a:ln>
        </p:spPr>
      </p:cxnSp>
      <p:cxnSp>
        <p:nvCxnSpPr>
          <p:cNvPr id="255" name=""/>
          <p:cNvCxnSpPr>
            <a:stCxn xmlns:a="http://schemas.openxmlformats.org/drawingml/2006/main" id="11" idx="2"/>
            <a:endCxn xmlns:a="http://schemas.openxmlformats.org/drawingml/2006/main" id="12" idx="0"/>
          </p:cNvCxnSpPr>
          <p:nvPr/>
        </p:nvCxnSpPr>
        <p:spPr>
          <a:xfrm xmlns:a="http://schemas.openxmlformats.org/drawingml/2006/main">
            <a:off x="7648575" y="3257550"/>
            <a:ext cx="0" cy="190500"/>
          </a:xfrm>
          <a:prstGeom xmlns:a="http://schemas.openxmlformats.org/drawingml/2006/main" prst="straightConnector1">
            <a:avLst/>
          </a:prstGeom>
          <a:ln xmlns:a="http://schemas.openxmlformats.org/drawingml/2006/main" w="19050">
            <a:solidFill>
              <a:srgbClr val="3D8DFF"/>
            </a:solidFill>
            <a:prstDash val="solid"/>
            <a:tailEnd type="arrow" w="med" len="med"/>
          </a:ln>
        </p:spPr>
      </p:cxnSp>
      <p:cxnSp>
        <p:nvCxnSpPr>
          <p:cNvPr id="256" name=""/>
          <p:cNvCxnSpPr>
            <a:stCxn xmlns:a="http://schemas.openxmlformats.org/drawingml/2006/main" id="12" idx="2"/>
            <a:endCxn xmlns:a="http://schemas.openxmlformats.org/drawingml/2006/main" id="13" idx="0"/>
          </p:cNvCxnSpPr>
          <p:nvPr/>
        </p:nvCxnSpPr>
        <p:spPr>
          <a:xfrm xmlns:a="http://schemas.openxmlformats.org/drawingml/2006/main">
            <a:off x="7648575" y="3905250"/>
            <a:ext cx="0" cy="190500"/>
          </a:xfrm>
          <a:prstGeom xmlns:a="http://schemas.openxmlformats.org/drawingml/2006/main" prst="straightConnector1">
            <a:avLst/>
          </a:prstGeom>
          <a:ln xmlns:a="http://schemas.openxmlformats.org/drawingml/2006/main" w="19050">
            <a:solidFill>
              <a:srgbClr val="3D8DFF"/>
            </a:solidFill>
            <a:prstDash val="solid"/>
            <a:tailEnd type="arrow" w="med" len="med"/>
          </a:ln>
        </p:spPr>
      </p:cxnSp>
      <p:cxnSp>
        <p:nvCxnSpPr>
          <p:cNvPr id="257" name=""/>
          <p:cNvCxnSpPr>
            <a:stCxn xmlns:a="http://schemas.openxmlformats.org/drawingml/2006/main" id="13" idx="2"/>
            <a:endCxn xmlns:a="http://schemas.openxmlformats.org/drawingml/2006/main" id="14" idx="0"/>
          </p:cNvCxnSpPr>
          <p:nvPr/>
        </p:nvCxnSpPr>
        <p:spPr>
          <a:xfrm xmlns:a="http://schemas.openxmlformats.org/drawingml/2006/main">
            <a:off x="7648575" y="4552950"/>
            <a:ext cx="0" cy="304800"/>
          </a:xfrm>
          <a:prstGeom xmlns:a="http://schemas.openxmlformats.org/drawingml/2006/main" prst="straightConnector1">
            <a:avLst/>
          </a:prstGeom>
          <a:ln xmlns:a="http://schemas.openxmlformats.org/drawingml/2006/main" w="19050">
            <a:solidFill>
              <a:srgbClr val="3D8DFF"/>
            </a:solidFill>
            <a:prstDash val="solid"/>
            <a:tailEnd type="arrow" w="med" len="med"/>
          </a:ln>
        </p:spPr>
      </p:cxnSp>
      <p:cxnSp>
        <p:nvCxnSpPr>
          <p:cNvPr id="258" name=""/>
          <p:cNvCxnSpPr>
            <a:stCxn xmlns:a="http://schemas.openxmlformats.org/drawingml/2006/main" id="14" idx="3"/>
            <a:endCxn xmlns:a="http://schemas.openxmlformats.org/drawingml/2006/main" id="16" idx="1"/>
          </p:cNvCxnSpPr>
          <p:nvPr/>
        </p:nvCxnSpPr>
        <p:spPr>
          <a:xfrm xmlns:a="http://schemas.openxmlformats.org/drawingml/2006/main" flipV="1">
            <a:off x="8839200" y="3028950"/>
            <a:ext cx="476250" cy="2105025"/>
          </a:xfrm>
          <a:prstGeom xmlns:a="http://schemas.openxmlformats.org/drawingml/2006/main" prst="bentConnector3">
            <a:avLst>
              <a:gd name="adj1" fmla="val 50000"/>
            </a:avLst>
          </a:prstGeom>
          <a:ln xmlns:a="http://schemas.openxmlformats.org/drawingml/2006/main" w="19050">
            <a:solidFill>
              <a:srgbClr val="3D8DFF"/>
            </a:solidFill>
            <a:prstDash val="solid"/>
            <a:tailEnd type="arrow" w="med" len="med"/>
          </a:ln>
        </p:spPr>
      </p:cxnSp>
      <p:cxnSp>
        <p:nvCxnSpPr>
          <p:cNvPr id="259" name=""/>
          <p:cNvCxnSpPr>
            <a:stCxn xmlns:a="http://schemas.openxmlformats.org/drawingml/2006/main" id="16" idx="2"/>
            <a:endCxn xmlns:a="http://schemas.openxmlformats.org/drawingml/2006/main" id="17" idx="0"/>
          </p:cNvCxnSpPr>
          <p:nvPr/>
        </p:nvCxnSpPr>
        <p:spPr>
          <a:xfrm xmlns:a="http://schemas.openxmlformats.org/drawingml/2006/main">
            <a:off x="10334625" y="3257550"/>
            <a:ext cx="0" cy="190500"/>
          </a:xfrm>
          <a:prstGeom xmlns:a="http://schemas.openxmlformats.org/drawingml/2006/main" prst="straightConnector1">
            <a:avLst/>
          </a:prstGeom>
          <a:ln xmlns:a="http://schemas.openxmlformats.org/drawingml/2006/main" w="19050">
            <a:solidFill>
              <a:srgbClr val="000000"/>
            </a:solidFill>
            <a:prstDash val="solid"/>
            <a:tailEnd type="arrow" w="med" len="med"/>
          </a:ln>
        </p:spPr>
      </p:cxnSp>
      <p:cxnSp>
        <p:nvCxnSpPr>
          <p:cNvPr id="260" name=""/>
          <p:cNvCxnSpPr>
            <a:stCxn xmlns:a="http://schemas.openxmlformats.org/drawingml/2006/main" id="17" idx="2"/>
            <a:endCxn xmlns:a="http://schemas.openxmlformats.org/drawingml/2006/main" id="18" idx="0"/>
          </p:cNvCxnSpPr>
          <p:nvPr/>
        </p:nvCxnSpPr>
        <p:spPr>
          <a:xfrm xmlns:a="http://schemas.openxmlformats.org/drawingml/2006/main" flipH="1">
            <a:off x="10220325" y="3905250"/>
            <a:ext cx="114300" cy="190500"/>
          </a:xfrm>
          <a:prstGeom xmlns:a="http://schemas.openxmlformats.org/drawingml/2006/main" prst="straightConnector1">
            <a:avLst/>
          </a:prstGeom>
          <a:ln xmlns:a="http://schemas.openxmlformats.org/drawingml/2006/main" w="19050">
            <a:solidFill>
              <a:srgbClr val="000000"/>
            </a:solidFill>
            <a:prstDash val="solid"/>
            <a:tailEnd type="arrow" w="med" len="med"/>
          </a:ln>
        </p:spPr>
      </p:cxnSp>
      <p:cxnSp>
        <p:nvCxnSpPr>
          <p:cNvPr id="261" name=""/>
          <p:cNvCxnSpPr>
            <a:stCxn xmlns:a="http://schemas.openxmlformats.org/drawingml/2006/main" id="17" idx="3"/>
            <a:endCxn xmlns:a="http://schemas.openxmlformats.org/drawingml/2006/main" id="19" idx="3"/>
          </p:cNvCxnSpPr>
          <p:nvPr/>
        </p:nvCxnSpPr>
        <p:spPr>
          <a:xfrm xmlns:a="http://schemas.openxmlformats.org/drawingml/2006/main" flipH="1">
            <a:off x="11125200" y="3676650"/>
            <a:ext cx="228600" cy="1409700"/>
          </a:xfrm>
          <a:prstGeom xmlns:a="http://schemas.openxmlformats.org/drawingml/2006/main" prst="bentConnector3">
            <a:avLst>
              <a:gd name="adj1" fmla="val 50000"/>
            </a:avLst>
          </a:prstGeom>
          <a:ln xmlns:a="http://schemas.openxmlformats.org/drawingml/2006/main" w="19050">
            <a:solidFill>
              <a:srgbClr val="000000"/>
            </a:solidFill>
            <a:prstDash val="solid"/>
            <a:tailEnd type="arrow" w="med" len="med"/>
          </a:ln>
        </p:spPr>
      </p:cxnSp>
      <p:cxnSp>
        <p:nvCxnSpPr>
          <p:cNvPr id="262" name=""/>
          <p:cNvCxnSpPr>
            <a:stCxn xmlns:a="http://schemas.openxmlformats.org/drawingml/2006/main" id="19" idx="1"/>
            <a:endCxn xmlns:a="http://schemas.openxmlformats.org/drawingml/2006/main" id="14" idx="3"/>
          </p:cNvCxnSpPr>
          <p:nvPr/>
        </p:nvCxnSpPr>
        <p:spPr>
          <a:xfrm xmlns:a="http://schemas.openxmlformats.org/drawingml/2006/main" flipH="1">
            <a:off x="8839200" y="5086350"/>
            <a:ext cx="476250" cy="47625"/>
          </a:xfrm>
          <a:prstGeom xmlns:a="http://schemas.openxmlformats.org/drawingml/2006/main" prst="bentConnector3">
            <a:avLst>
              <a:gd name="adj1" fmla="val 50000"/>
            </a:avLst>
          </a:prstGeom>
          <a:ln xmlns:a="http://schemas.openxmlformats.org/drawingml/2006/main" w="19050">
            <a:solidFill>
              <a:srgbClr val="586174"/>
            </a:solidFill>
            <a:prstDash val="dash"/>
            <a:tailEnd type="arrow" w="med" len="med"/>
          </a:ln>
        </p:spPr>
      </p:cxnSp>
      <p:sp>
        <p:nvSpPr>
          <p:cNvPr id="29" name="slide-3-node-snapshot">
            <a:extLst xmlns:a="http://schemas.openxmlformats.org/drawingml/2006/main">
              <a:ext uri="{FF2B5EF4-FFF2-40B4-BE49-F238E27FC236}">
                <a16:creationId xmlns:a16="http://schemas.microsoft.com/office/drawing/2014/main" id="{4CB87F1C-8E27-4CD0-881C-F6F9F6CDCDA4}"/>
              </a:ext>
            </a:extLst>
          </p:cNvPr>
          <p:cNvSpPr>
            <a:spLocks xmlns:a="http://schemas.openxmlformats.org/drawingml/2006/main" noGrp="1"/>
          </p:cNvSpPr>
          <p:nvPr/>
        </p:nvSpPr>
        <p:spPr>
          <a:xfrm xmlns:a="http://schemas.openxmlformats.org/drawingml/2006/main">
            <a:off x="6629400" y="2152650"/>
            <a:ext cx="2038350" cy="457200"/>
          </a:xfrm>
          <a:prstGeom xmlns:a="http://schemas.openxmlformats.org/drawingml/2006/main" prst="roundRect">
            <a:avLst>
              <a:gd name="adj" fmla="val 14583"/>
            </a:avLst>
          </a:prstGeom>
          <a:solidFill xmlns:a="http://schemas.openxmlformats.org/drawingml/2006/main">
            <a:srgbClr val="FFFFFF"/>
          </a:solidFill>
          <a:ln xmlns:a="http://schemas.openxmlformats.org/drawingml/2006/main" w="11430">
            <a:solidFill>
              <a:srgbClr val="3D8DFF"/>
            </a:solidFill>
            <a:prstDash val="solid"/>
          </a:ln>
        </p:spPr>
        <p:txBody>
          <a:bodyPr xmlns:a="http://schemas.openxmlformats.org/drawingml/2006/main" anchor="ctr"/>
          <a:lstStyle xmlns:a="http://schemas.openxmlformats.org/drawingml/2006/main"/>
          <a:p xmlns:a="http://schemas.openxmlformats.org/drawingml/2006/main">
            <a:pPr algn="ctr">
              <a:buNone/>
              <a:defRPr sz="1613" b="1">
                <a:solidFill>
                  <a:srgbClr val="3D8DFF"/>
                </a:solidFill>
                <a:latin typeface="Arial"/>
                <a:ea typeface="Arial"/>
                <a:cs typeface="Arial"/>
              </a:defRPr>
            </a:pPr>
            <a:r>
              <a:rPr sz="1613" b="1">
                <a:solidFill>
                  <a:srgbClr val="3D8DFF"/>
                </a:solidFill>
                <a:latin typeface="Arial"/>
                <a:ea typeface="Arial"/>
                <a:cs typeface="Arial"/>
              </a:rPr>
              <a:t>Nightly snapshot</a:t>
            </a:r>
          </a:p>
        </p:txBody>
      </p:sp>
      <p:sp>
        <p:nvSpPr>
          <p:cNvPr id="30" name="slide-3-node-validate">
            <a:extLst xmlns:a="http://schemas.openxmlformats.org/drawingml/2006/main">
              <a:ext uri="{FF2B5EF4-FFF2-40B4-BE49-F238E27FC236}">
                <a16:creationId xmlns:a16="http://schemas.microsoft.com/office/drawing/2014/main" id="{ADF8B903-F578-4B00-B19A-8A8690901434}"/>
              </a:ext>
            </a:extLst>
          </p:cNvPr>
          <p:cNvSpPr>
            <a:spLocks xmlns:a="http://schemas.openxmlformats.org/drawingml/2006/main" noGrp="1"/>
          </p:cNvSpPr>
          <p:nvPr/>
        </p:nvSpPr>
        <p:spPr>
          <a:xfrm xmlns:a="http://schemas.openxmlformats.org/drawingml/2006/main">
            <a:off x="6629400" y="2800350"/>
            <a:ext cx="2038350" cy="457200"/>
          </a:xfrm>
          <a:prstGeom xmlns:a="http://schemas.openxmlformats.org/drawingml/2006/main" prst="roundRect">
            <a:avLst>
              <a:gd name="adj" fmla="val 14583"/>
            </a:avLst>
          </a:prstGeom>
          <a:solidFill xmlns:a="http://schemas.openxmlformats.org/drawingml/2006/main">
            <a:srgbClr val="FFFFFF"/>
          </a:solidFill>
          <a:ln xmlns:a="http://schemas.openxmlformats.org/drawingml/2006/main" w="11430">
            <a:solidFill>
              <a:srgbClr val="3D8DFF"/>
            </a:solidFill>
            <a:prstDash val="solid"/>
          </a:ln>
        </p:spPr>
        <p:txBody>
          <a:bodyPr xmlns:a="http://schemas.openxmlformats.org/drawingml/2006/main" anchor="ctr"/>
          <a:lstStyle xmlns:a="http://schemas.openxmlformats.org/drawingml/2006/main"/>
          <a:p xmlns:a="http://schemas.openxmlformats.org/drawingml/2006/main">
            <a:pPr algn="ctr">
              <a:buNone/>
              <a:defRPr sz="1613" b="1">
                <a:solidFill>
                  <a:srgbClr val="3D8DFF"/>
                </a:solidFill>
                <a:latin typeface="Arial"/>
                <a:ea typeface="Arial"/>
                <a:cs typeface="Arial"/>
              </a:defRPr>
            </a:pPr>
            <a:r>
              <a:rPr sz="1613" b="1">
                <a:solidFill>
                  <a:srgbClr val="3D8DFF"/>
                </a:solidFill>
                <a:latin typeface="Arial"/>
                <a:ea typeface="Arial"/>
                <a:cs typeface="Arial"/>
              </a:rPr>
              <a:t>Validate + features</a:t>
            </a:r>
          </a:p>
        </p:txBody>
      </p:sp>
      <p:sp>
        <p:nvSpPr>
          <p:cNvPr id="31" name="slide-3-node-forecast">
            <a:extLst xmlns:a="http://schemas.openxmlformats.org/drawingml/2006/main">
              <a:ext uri="{FF2B5EF4-FFF2-40B4-BE49-F238E27FC236}">
                <a16:creationId xmlns:a16="http://schemas.microsoft.com/office/drawing/2014/main" id="{3AC8001A-9210-43E3-A20A-89ADE046DC63}"/>
              </a:ext>
            </a:extLst>
          </p:cNvPr>
          <p:cNvSpPr>
            <a:spLocks xmlns:a="http://schemas.openxmlformats.org/drawingml/2006/main" noGrp="1"/>
          </p:cNvSpPr>
          <p:nvPr/>
        </p:nvSpPr>
        <p:spPr>
          <a:xfrm xmlns:a="http://schemas.openxmlformats.org/drawingml/2006/main">
            <a:off x="6629400" y="3448050"/>
            <a:ext cx="2038350" cy="457200"/>
          </a:xfrm>
          <a:prstGeom xmlns:a="http://schemas.openxmlformats.org/drawingml/2006/main" prst="roundRect">
            <a:avLst>
              <a:gd name="adj" fmla="val 14583"/>
            </a:avLst>
          </a:prstGeom>
          <a:solidFill xmlns:a="http://schemas.openxmlformats.org/drawingml/2006/main">
            <a:srgbClr val="FFFFFF"/>
          </a:solidFill>
          <a:ln xmlns:a="http://schemas.openxmlformats.org/drawingml/2006/main" w="11430">
            <a:solidFill>
              <a:srgbClr val="3D8DFF"/>
            </a:solidFill>
            <a:prstDash val="solid"/>
          </a:ln>
        </p:spPr>
        <p:txBody>
          <a:bodyPr xmlns:a="http://schemas.openxmlformats.org/drawingml/2006/main" anchor="ctr"/>
          <a:lstStyle xmlns:a="http://schemas.openxmlformats.org/drawingml/2006/main"/>
          <a:p xmlns:a="http://schemas.openxmlformats.org/drawingml/2006/main">
            <a:pPr algn="ctr">
              <a:buNone/>
              <a:defRPr sz="1613" b="1">
                <a:solidFill>
                  <a:srgbClr val="3D8DFF"/>
                </a:solidFill>
                <a:latin typeface="Arial"/>
                <a:ea typeface="Arial"/>
                <a:cs typeface="Arial"/>
              </a:defRPr>
            </a:pPr>
            <a:r>
              <a:rPr sz="1613" b="1">
                <a:solidFill>
                  <a:srgbClr val="3D8DFF"/>
                </a:solidFill>
                <a:latin typeface="Arial"/>
                <a:ea typeface="Arial"/>
                <a:cs typeface="Arial"/>
              </a:rPr>
              <a:t>Statistical forecast ML</a:t>
            </a:r>
          </a:p>
        </p:txBody>
      </p:sp>
      <p:sp>
        <p:nvSpPr>
          <p:cNvPr id="32" name="slide-3-node-optimize">
            <a:extLst xmlns:a="http://schemas.openxmlformats.org/drawingml/2006/main">
              <a:ext uri="{FF2B5EF4-FFF2-40B4-BE49-F238E27FC236}">
                <a16:creationId xmlns:a16="http://schemas.microsoft.com/office/drawing/2014/main" id="{76E09F24-249C-4B90-A8DE-6849EBFA6023}"/>
              </a:ext>
            </a:extLst>
          </p:cNvPr>
          <p:cNvSpPr>
            <a:spLocks xmlns:a="http://schemas.openxmlformats.org/drawingml/2006/main" noGrp="1"/>
          </p:cNvSpPr>
          <p:nvPr/>
        </p:nvSpPr>
        <p:spPr>
          <a:xfrm xmlns:a="http://schemas.openxmlformats.org/drawingml/2006/main">
            <a:off x="6629400" y="4095750"/>
            <a:ext cx="2038350" cy="457200"/>
          </a:xfrm>
          <a:prstGeom xmlns:a="http://schemas.openxmlformats.org/drawingml/2006/main" prst="roundRect">
            <a:avLst>
              <a:gd name="adj" fmla="val 14583"/>
            </a:avLst>
          </a:prstGeom>
          <a:solidFill xmlns:a="http://schemas.openxmlformats.org/drawingml/2006/main">
            <a:srgbClr val="FFFFFF"/>
          </a:solidFill>
          <a:ln xmlns:a="http://schemas.openxmlformats.org/drawingml/2006/main" w="11430">
            <a:solidFill>
              <a:srgbClr val="3D8DFF"/>
            </a:solidFill>
            <a:prstDash val="solid"/>
          </a:ln>
        </p:spPr>
        <p:txBody>
          <a:bodyPr xmlns:a="http://schemas.openxmlformats.org/drawingml/2006/main" anchor="ctr"/>
          <a:lstStyle xmlns:a="http://schemas.openxmlformats.org/drawingml/2006/main"/>
          <a:p xmlns:a="http://schemas.openxmlformats.org/drawingml/2006/main">
            <a:pPr algn="ctr">
              <a:buNone/>
              <a:defRPr sz="1613" b="1">
                <a:solidFill>
                  <a:srgbClr val="3D8DFF"/>
                </a:solidFill>
                <a:latin typeface="Arial"/>
                <a:ea typeface="Arial"/>
                <a:cs typeface="Arial"/>
              </a:defRPr>
            </a:pPr>
            <a:r>
              <a:rPr sz="1613" b="1">
                <a:solidFill>
                  <a:srgbClr val="3D8DFF"/>
                </a:solidFill>
                <a:latin typeface="Arial"/>
                <a:ea typeface="Arial"/>
                <a:cs typeface="Arial"/>
              </a:rPr>
              <a:t>Deterministic optimizer</a:t>
            </a:r>
          </a:p>
        </p:txBody>
      </p:sp>
      <p:sp>
        <p:nvSpPr>
          <p:cNvPr id="33" name="slide-3-node-adapters">
            <a:extLst xmlns:a="http://schemas.openxmlformats.org/drawingml/2006/main">
              <a:ext uri="{FF2B5EF4-FFF2-40B4-BE49-F238E27FC236}">
                <a16:creationId xmlns:a16="http://schemas.microsoft.com/office/drawing/2014/main" id="{FC7CACEC-1B70-4AE6-8EBB-2ECC0E2060E0}"/>
              </a:ext>
            </a:extLst>
          </p:cNvPr>
          <p:cNvSpPr>
            <a:spLocks xmlns:a="http://schemas.openxmlformats.org/drawingml/2006/main" noGrp="1"/>
          </p:cNvSpPr>
          <p:nvPr/>
        </p:nvSpPr>
        <p:spPr>
          <a:xfrm xmlns:a="http://schemas.openxmlformats.org/drawingml/2006/main">
            <a:off x="6457950" y="4857750"/>
            <a:ext cx="2381250" cy="552450"/>
          </a:xfrm>
          <a:prstGeom xmlns:a="http://schemas.openxmlformats.org/drawingml/2006/main" prst="roundRect">
            <a:avLst>
              <a:gd name="adj" fmla="val 12069"/>
            </a:avLst>
          </a:prstGeom>
          <a:solidFill xmlns:a="http://schemas.openxmlformats.org/drawingml/2006/main">
            <a:srgbClr val="3D8DFF"/>
          </a:solidFill>
          <a:ln xmlns:a="http://schemas.openxmlformats.org/drawingml/2006/main" w="11430">
            <a:solidFill>
              <a:srgbClr val="3D8DFF"/>
            </a:solidFill>
            <a:prstDash val="solid"/>
          </a:ln>
        </p:spPr>
        <p:txBody>
          <a:bodyPr xmlns:a="http://schemas.openxmlformats.org/drawingml/2006/main" anchor="ctr"/>
          <a:lstStyle xmlns:a="http://schemas.openxmlformats.org/drawingml/2006/main"/>
          <a:p xmlns:a="http://schemas.openxmlformats.org/drawingml/2006/main">
            <a:pPr algn="ctr">
              <a:buNone/>
              <a:defRPr sz="1613" b="1">
                <a:solidFill>
                  <a:srgbClr val="FFFFFF"/>
                </a:solidFill>
                <a:latin typeface="Arial"/>
                <a:ea typeface="Arial"/>
                <a:cs typeface="Arial"/>
              </a:defRPr>
            </a:pPr>
            <a:r>
              <a:rPr sz="1613" b="1">
                <a:solidFill>
                  <a:srgbClr val="FFFFFF"/>
                </a:solidFill>
                <a:latin typeface="Arial"/>
                <a:ea typeface="Arial"/>
                <a:cs typeface="Arial"/>
              </a:rPr>
              <a:t>Certified adapters</a:t>
            </a:r>
          </a:p>
          <a:p xmlns:a="http://schemas.openxmlformats.org/drawingml/2006/main">
            <a:pPr algn="ctr">
              <a:buNone/>
              <a:defRPr sz="1613" b="1">
                <a:solidFill>
                  <a:srgbClr val="FFFFFF"/>
                </a:solidFill>
                <a:latin typeface="Arial"/>
                <a:ea typeface="Arial"/>
                <a:cs typeface="Arial"/>
              </a:defRPr>
            </a:pPr>
            <a:r>
              <a:rPr sz="1613" b="1">
                <a:solidFill>
                  <a:srgbClr val="FFFFFF"/>
                </a:solidFill>
                <a:latin typeface="Arial"/>
                <a:ea typeface="Arial"/>
                <a:cs typeface="Arial"/>
              </a:rPr>
              <a:t>write + post-gen join</a:t>
            </a:r>
          </a:p>
        </p:txBody>
      </p:sp>
      <p:sp>
        <p:nvSpPr>
          <p:cNvPr id="34" name="slide-3-node-pos">
            <a:extLst xmlns:a="http://schemas.openxmlformats.org/drawingml/2006/main">
              <a:ext uri="{FF2B5EF4-FFF2-40B4-BE49-F238E27FC236}">
                <a16:creationId xmlns:a16="http://schemas.microsoft.com/office/drawing/2014/main" id="{CF12E4FC-FBCC-43FB-AB38-D4F3CF9B2978}"/>
              </a:ext>
            </a:extLst>
          </p:cNvPr>
          <p:cNvSpPr>
            <a:spLocks xmlns:a="http://schemas.openxmlformats.org/drawingml/2006/main" noGrp="1"/>
          </p:cNvSpPr>
          <p:nvPr/>
        </p:nvSpPr>
        <p:spPr>
          <a:xfrm xmlns:a="http://schemas.openxmlformats.org/drawingml/2006/main">
            <a:off x="9315450" y="2152650"/>
            <a:ext cx="2038350" cy="457200"/>
          </a:xfrm>
          <a:prstGeom xmlns:a="http://schemas.openxmlformats.org/drawingml/2006/main" prst="roundRect">
            <a:avLst>
              <a:gd name="adj" fmla="val 14583"/>
            </a:avLst>
          </a:prstGeom>
          <a:solidFill xmlns:a="http://schemas.openxmlformats.org/drawingml/2006/main">
            <a:srgbClr val="EDEDED"/>
          </a:solidFill>
          <a:ln xmlns:a="http://schemas.openxmlformats.org/drawingml/2006/main" w="11430">
            <a:solidFill>
              <a:srgbClr val="B8BCC4"/>
            </a:solidFill>
            <a:prstDash val="solid"/>
          </a:ln>
        </p:spPr>
        <p:txBody>
          <a:bodyPr xmlns:a="http://schemas.openxmlformats.org/drawingml/2006/main" anchor="ctr"/>
          <a:lstStyle xmlns:a="http://schemas.openxmlformats.org/drawingml/2006/main"/>
          <a:p xmlns:a="http://schemas.openxmlformats.org/drawingml/2006/main">
            <a:pPr algn="ctr">
              <a:buNone/>
              <a:defRPr sz="1613" b="1">
                <a:solidFill>
                  <a:srgbClr val="586174"/>
                </a:solidFill>
                <a:latin typeface="Arial"/>
                <a:ea typeface="Arial"/>
                <a:cs typeface="Arial"/>
              </a:defRPr>
            </a:pPr>
            <a:r>
              <a:rPr sz="1613" b="1">
                <a:solidFill>
                  <a:srgbClr val="586174"/>
                </a:solidFill>
                <a:latin typeface="Arial"/>
                <a:ea typeface="Arial"/>
                <a:cs typeface="Arial"/>
              </a:rPr>
              <a:t>POS isolated</a:t>
            </a:r>
          </a:p>
        </p:txBody>
      </p:sp>
      <p:sp>
        <p:nvSpPr>
          <p:cNvPr id="35" name="slide-3-node-override">
            <a:extLst xmlns:a="http://schemas.openxmlformats.org/drawingml/2006/main">
              <a:ext uri="{FF2B5EF4-FFF2-40B4-BE49-F238E27FC236}">
                <a16:creationId xmlns:a16="http://schemas.microsoft.com/office/drawing/2014/main" id="{20785732-9D0F-43DE-BF12-AAB1E7866868}"/>
              </a:ext>
            </a:extLst>
          </p:cNvPr>
          <p:cNvSpPr>
            <a:spLocks xmlns:a="http://schemas.openxmlformats.org/drawingml/2006/main" noGrp="1"/>
          </p:cNvSpPr>
          <p:nvPr/>
        </p:nvSpPr>
        <p:spPr>
          <a:xfrm xmlns:a="http://schemas.openxmlformats.org/drawingml/2006/main">
            <a:off x="9315450" y="2800350"/>
            <a:ext cx="2038350" cy="457200"/>
          </a:xfrm>
          <a:prstGeom xmlns:a="http://schemas.openxmlformats.org/drawingml/2006/main" prst="roundRect">
            <a:avLst>
              <a:gd name="adj" fmla="val 14583"/>
            </a:avLst>
          </a:prstGeom>
          <a:solidFill xmlns:a="http://schemas.openxmlformats.org/drawingml/2006/main">
            <a:srgbClr val="FFFFFF"/>
          </a:solidFill>
          <a:ln xmlns:a="http://schemas.openxmlformats.org/drawingml/2006/main" w="11430">
            <a:solidFill>
              <a:srgbClr val="000000"/>
            </a:solidFill>
            <a:prstDash val="solid"/>
          </a:ln>
        </p:spPr>
        <p:txBody>
          <a:bodyPr xmlns:a="http://schemas.openxmlformats.org/drawingml/2006/main" anchor="ctr"/>
          <a:lstStyle xmlns:a="http://schemas.openxmlformats.org/drawingml/2006/main"/>
          <a:p xmlns:a="http://schemas.openxmlformats.org/drawingml/2006/main">
            <a:pPr algn="ctr">
              <a:buNone/>
              <a:defRPr sz="1613" b="1">
                <a:solidFill>
                  <a:srgbClr val="000000"/>
                </a:solidFill>
                <a:latin typeface="Arial"/>
                <a:ea typeface="Arial"/>
                <a:cs typeface="Arial"/>
              </a:defRPr>
            </a:pPr>
            <a:r>
              <a:rPr sz="1613" b="1">
                <a:solidFill>
                  <a:srgbClr val="000000"/>
                </a:solidFill>
                <a:latin typeface="Arial"/>
                <a:ea typeface="Arial"/>
                <a:cs typeface="Arial"/>
              </a:rPr>
              <a:t>Override table</a:t>
            </a:r>
          </a:p>
        </p:txBody>
      </p:sp>
      <p:sp>
        <p:nvSpPr>
          <p:cNvPr id="36" name="slide-3-node-engine">
            <a:extLst xmlns:a="http://schemas.openxmlformats.org/drawingml/2006/main">
              <a:ext uri="{FF2B5EF4-FFF2-40B4-BE49-F238E27FC236}">
                <a16:creationId xmlns:a16="http://schemas.microsoft.com/office/drawing/2014/main" id="{A7545EF5-4612-4616-9AE1-A89839D1CEE1}"/>
              </a:ext>
            </a:extLst>
          </p:cNvPr>
          <p:cNvSpPr>
            <a:spLocks xmlns:a="http://schemas.openxmlformats.org/drawingml/2006/main" noGrp="1"/>
          </p:cNvSpPr>
          <p:nvPr/>
        </p:nvSpPr>
        <p:spPr>
          <a:xfrm xmlns:a="http://schemas.openxmlformats.org/drawingml/2006/main">
            <a:off x="9315450" y="3448050"/>
            <a:ext cx="2038350" cy="457200"/>
          </a:xfrm>
          <a:prstGeom xmlns:a="http://schemas.openxmlformats.org/drawingml/2006/main" prst="roundRect">
            <a:avLst>
              <a:gd name="adj" fmla="val 14583"/>
            </a:avLst>
          </a:prstGeom>
          <a:solidFill xmlns:a="http://schemas.openxmlformats.org/drawingml/2006/main">
            <a:srgbClr val="000000"/>
          </a:solidFill>
          <a:ln xmlns:a="http://schemas.openxmlformats.org/drawingml/2006/main" w="11430">
            <a:solidFill>
              <a:srgbClr val="000000"/>
            </a:solidFill>
            <a:prstDash val="solid"/>
          </a:ln>
        </p:spPr>
        <p:txBody>
          <a:bodyPr xmlns:a="http://schemas.openxmlformats.org/drawingml/2006/main" anchor="ctr"/>
          <a:lstStyle xmlns:a="http://schemas.openxmlformats.org/drawingml/2006/main"/>
          <a:p xmlns:a="http://schemas.openxmlformats.org/drawingml/2006/main">
            <a:pPr algn="ctr">
              <a:buNone/>
              <a:defRPr sz="1613" b="1">
                <a:solidFill>
                  <a:srgbClr val="FFFFFF"/>
                </a:solidFill>
                <a:latin typeface="Arial"/>
                <a:ea typeface="Arial"/>
                <a:cs typeface="Arial"/>
              </a:defRPr>
            </a:pPr>
            <a:r>
              <a:rPr sz="1613" b="1">
                <a:solidFill>
                  <a:srgbClr val="FFFFFF"/>
                </a:solidFill>
                <a:latin typeface="Arial"/>
                <a:ea typeface="Arial"/>
                <a:cs typeface="Arial"/>
              </a:rPr>
              <a:t>MERLIN engine</a:t>
            </a:r>
          </a:p>
        </p:txBody>
      </p:sp>
      <p:sp>
        <p:nvSpPr>
          <p:cNvPr id="37" name="slide-3-node-review">
            <a:extLst xmlns:a="http://schemas.openxmlformats.org/drawingml/2006/main">
              <a:ext uri="{FF2B5EF4-FFF2-40B4-BE49-F238E27FC236}">
                <a16:creationId xmlns:a16="http://schemas.microsoft.com/office/drawing/2014/main" id="{A2030621-0EE0-4096-B9B6-EC3E86EDD294}"/>
              </a:ext>
            </a:extLst>
          </p:cNvPr>
          <p:cNvSpPr>
            <a:spLocks xmlns:a="http://schemas.openxmlformats.org/drawingml/2006/main" noGrp="1"/>
          </p:cNvSpPr>
          <p:nvPr/>
        </p:nvSpPr>
        <p:spPr>
          <a:xfrm xmlns:a="http://schemas.openxmlformats.org/drawingml/2006/main">
            <a:off x="9315450" y="4857750"/>
            <a:ext cx="1809750" cy="457200"/>
          </a:xfrm>
          <a:prstGeom xmlns:a="http://schemas.openxmlformats.org/drawingml/2006/main" prst="roundRect">
            <a:avLst>
              <a:gd name="adj" fmla="val 14583"/>
            </a:avLst>
          </a:prstGeom>
          <a:solidFill xmlns:a="http://schemas.openxmlformats.org/drawingml/2006/main">
            <a:srgbClr val="FFFFFF"/>
          </a:solidFill>
          <a:ln xmlns:a="http://schemas.openxmlformats.org/drawingml/2006/main" w="11430">
            <a:solidFill>
              <a:srgbClr val="000000"/>
            </a:solidFill>
            <a:prstDash val="solid"/>
          </a:ln>
        </p:spPr>
        <p:txBody>
          <a:bodyPr xmlns:a="http://schemas.openxmlformats.org/drawingml/2006/main" anchor="ctr"/>
          <a:lstStyle xmlns:a="http://schemas.openxmlformats.org/drawingml/2006/main"/>
          <a:p xmlns:a="http://schemas.openxmlformats.org/drawingml/2006/main">
            <a:pPr algn="ctr">
              <a:buNone/>
              <a:defRPr sz="1613" b="1">
                <a:solidFill>
                  <a:srgbClr val="000000"/>
                </a:solidFill>
                <a:latin typeface="Arial"/>
                <a:ea typeface="Arial"/>
                <a:cs typeface="Arial"/>
              </a:defRPr>
            </a:pPr>
            <a:r>
              <a:rPr sz="1613" b="1">
                <a:solidFill>
                  <a:srgbClr val="000000"/>
                </a:solidFill>
                <a:latin typeface="Arial"/>
                <a:ea typeface="Arial"/>
                <a:cs typeface="Arial"/>
              </a:rPr>
              <a:t>Review queue</a:t>
            </a:r>
          </a:p>
        </p:txBody>
      </p:sp>
      <p:sp>
        <p:nvSpPr>
          <p:cNvPr id="38" name="slide-3-node-edi">
            <a:extLst xmlns:a="http://schemas.openxmlformats.org/drawingml/2006/main">
              <a:ext uri="{FF2B5EF4-FFF2-40B4-BE49-F238E27FC236}">
                <a16:creationId xmlns:a16="http://schemas.microsoft.com/office/drawing/2014/main" id="{F81A9773-C7A9-4A8D-89D8-9EAEFAD15664}"/>
              </a:ext>
            </a:extLst>
          </p:cNvPr>
          <p:cNvSpPr>
            <a:spLocks xmlns:a="http://schemas.openxmlformats.org/drawingml/2006/main" noGrp="1"/>
          </p:cNvSpPr>
          <p:nvPr/>
        </p:nvSpPr>
        <p:spPr>
          <a:xfrm xmlns:a="http://schemas.openxmlformats.org/drawingml/2006/main">
            <a:off x="9315450" y="4095750"/>
            <a:ext cx="1809750" cy="552450"/>
          </a:xfrm>
          <a:prstGeom xmlns:a="http://schemas.openxmlformats.org/drawingml/2006/main" prst="roundRect">
            <a:avLst>
              <a:gd name="adj" fmla="val 12069"/>
            </a:avLst>
          </a:prstGeom>
          <a:solidFill xmlns:a="http://schemas.openxmlformats.org/drawingml/2006/main">
            <a:srgbClr val="FFFFFF"/>
          </a:solidFill>
          <a:ln xmlns:a="http://schemas.openxmlformats.org/drawingml/2006/main" w="11430">
            <a:solidFill>
              <a:srgbClr val="000000"/>
            </a:solidFill>
            <a:prstDash val="solid"/>
          </a:ln>
        </p:spPr>
        <p:txBody>
          <a:bodyPr xmlns:a="http://schemas.openxmlformats.org/drawingml/2006/main" anchor="ctr"/>
          <a:lstStyle xmlns:a="http://schemas.openxmlformats.org/drawingml/2006/main"/>
          <a:p xmlns:a="http://schemas.openxmlformats.org/drawingml/2006/main">
            <a:pPr algn="ctr">
              <a:buNone/>
              <a:defRPr sz="1613" b="1">
                <a:solidFill>
                  <a:srgbClr val="000000"/>
                </a:solidFill>
                <a:latin typeface="Arial"/>
                <a:ea typeface="Arial"/>
                <a:cs typeface="Arial"/>
              </a:defRPr>
            </a:pPr>
            <a:r>
              <a:rPr sz="1613" b="1">
                <a:solidFill>
                  <a:srgbClr val="000000"/>
                </a:solidFill>
                <a:latin typeface="Arial"/>
                <a:ea typeface="Arial"/>
                <a:cs typeface="Arial"/>
              </a:rPr>
              <a:t>EDI → suppliers</a:t>
            </a:r>
          </a:p>
          <a:p xmlns:a="http://schemas.openxmlformats.org/drawingml/2006/main">
            <a:pPr algn="ctr">
              <a:buNone/>
              <a:defRPr sz="1613" b="1">
                <a:solidFill>
                  <a:srgbClr val="000000"/>
                </a:solidFill>
                <a:latin typeface="Arial"/>
                <a:ea typeface="Arial"/>
                <a:cs typeface="Arial"/>
              </a:defRPr>
            </a:pPr>
            <a:r>
              <a:rPr sz="1613" b="1">
                <a:solidFill>
                  <a:srgbClr val="000000"/>
                </a:solidFill>
                <a:latin typeface="Arial"/>
                <a:ea typeface="Arial"/>
                <a:cs typeface="Arial"/>
              </a:rPr>
              <a:t>MERLIN only</a:t>
            </a:r>
          </a:p>
        </p:txBody>
      </p:sp>
    </p:spTree>
    <p:extLst>
      <p:ext uri="{BB962C8B-B14F-4D97-AF65-F5344CB8AC3E}">
        <p14:creationId xmlns:p14="http://schemas.microsoft.com/office/powerpoint/2010/main" val="13867217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lide-4-title">
            <a:extLst xmlns:a="http://schemas.openxmlformats.org/drawingml/2006/main">
              <a:ext uri="{FF2B5EF4-FFF2-40B4-BE49-F238E27FC236}">
                <a16:creationId xmlns:a16="http://schemas.microsoft.com/office/drawing/2014/main" id="{8BFA18FD-7080-4ED7-B967-36914B1A4EAC}"/>
              </a:ext>
            </a:extLst>
          </p:cNvPr>
          <p:cNvSpPr>
            <a:spLocks xmlns:a="http://schemas.openxmlformats.org/drawingml/2006/main" noGrp="1"/>
          </p:cNvSpPr>
          <p:nvPr/>
        </p:nvSpPr>
        <p:spPr>
          <a:xfrm xmlns:a="http://schemas.openxmlformats.org/drawingml/2006/main">
            <a:off x="400050" y="323850"/>
            <a:ext cx="1139190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AI closes at 02:00 to protect the immovable 04:00 cut-off</a:t>
            </a:r>
          </a:p>
        </p:txBody>
      </p:sp>
      <p:sp>
        <p:nvSpPr>
          <p:cNvPr id="2" name="slide-4-grid-v-0">
            <a:extLst xmlns:a="http://schemas.openxmlformats.org/drawingml/2006/main">
              <a:ext uri="{FF2B5EF4-FFF2-40B4-BE49-F238E27FC236}">
                <a16:creationId xmlns:a16="http://schemas.microsoft.com/office/drawing/2014/main" id="{EA73165B-1439-4EE9-ACF9-D32BA256A00D}"/>
              </a:ext>
            </a:extLst>
          </p:cNvPr>
          <p:cNvSpPr>
            <a:spLocks xmlns:a="http://schemas.openxmlformats.org/drawingml/2006/main" noGrp="1"/>
          </p:cNvSpPr>
          <p:nvPr/>
        </p:nvSpPr>
        <p:spPr>
          <a:xfrm xmlns:a="http://schemas.openxmlformats.org/drawingml/2006/main">
            <a:off x="400050" y="1409700"/>
            <a:ext cx="11430" cy="4000500"/>
          </a:xfrm>
          <a:prstGeom xmlns:a="http://schemas.openxmlformats.org/drawingml/2006/main" prst="rect">
            <a:avLst/>
          </a:prstGeom>
          <a:solidFill xmlns:a="http://schemas.openxmlformats.org/drawingml/2006/main">
            <a:srgbClr val="000000"/>
          </a:solidFill>
          <a:ln xmlns:a="http://schemas.openxmlformats.org/drawingml/2006/main" w="0">
            <a:solidFill>
              <a:srgbClr val="000000"/>
            </a:solidFill>
            <a:prstDash val="solid"/>
          </a:ln>
        </p:spPr>
      </p:sp>
      <p:sp>
        <p:nvSpPr>
          <p:cNvPr id="3" name="slide-4-grid-v-1">
            <a:extLst xmlns:a="http://schemas.openxmlformats.org/drawingml/2006/main">
              <a:ext uri="{FF2B5EF4-FFF2-40B4-BE49-F238E27FC236}">
                <a16:creationId xmlns:a16="http://schemas.microsoft.com/office/drawing/2014/main" id="{CAED5505-5972-441F-A6E3-AF817AE1F73E}"/>
              </a:ext>
            </a:extLst>
          </p:cNvPr>
          <p:cNvSpPr>
            <a:spLocks xmlns:a="http://schemas.openxmlformats.org/drawingml/2006/main" noGrp="1"/>
          </p:cNvSpPr>
          <p:nvPr/>
        </p:nvSpPr>
        <p:spPr>
          <a:xfrm xmlns:a="http://schemas.openxmlformats.org/drawingml/2006/main">
            <a:off x="2678430" y="1409700"/>
            <a:ext cx="11430" cy="400050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slide-4-grid-v-2">
            <a:extLst xmlns:a="http://schemas.openxmlformats.org/drawingml/2006/main">
              <a:ext uri="{FF2B5EF4-FFF2-40B4-BE49-F238E27FC236}">
                <a16:creationId xmlns:a16="http://schemas.microsoft.com/office/drawing/2014/main" id="{2E4900A2-FDD6-4017-8E86-0133EC82E211}"/>
              </a:ext>
            </a:extLst>
          </p:cNvPr>
          <p:cNvSpPr>
            <a:spLocks xmlns:a="http://schemas.openxmlformats.org/drawingml/2006/main" noGrp="1"/>
          </p:cNvSpPr>
          <p:nvPr/>
        </p:nvSpPr>
        <p:spPr>
          <a:xfrm xmlns:a="http://schemas.openxmlformats.org/drawingml/2006/main">
            <a:off x="4956810" y="1409700"/>
            <a:ext cx="11430" cy="400050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5" name="slide-4-grid-v-3">
            <a:extLst xmlns:a="http://schemas.openxmlformats.org/drawingml/2006/main">
              <a:ext uri="{FF2B5EF4-FFF2-40B4-BE49-F238E27FC236}">
                <a16:creationId xmlns:a16="http://schemas.microsoft.com/office/drawing/2014/main" id="{F008B03D-F594-4367-B310-E136D01E0988}"/>
              </a:ext>
            </a:extLst>
          </p:cNvPr>
          <p:cNvSpPr>
            <a:spLocks xmlns:a="http://schemas.openxmlformats.org/drawingml/2006/main" noGrp="1"/>
          </p:cNvSpPr>
          <p:nvPr/>
        </p:nvSpPr>
        <p:spPr>
          <a:xfrm xmlns:a="http://schemas.openxmlformats.org/drawingml/2006/main">
            <a:off x="7235190" y="1409700"/>
            <a:ext cx="11430" cy="400050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6" name="slide-4-grid-v-4">
            <a:extLst xmlns:a="http://schemas.openxmlformats.org/drawingml/2006/main">
              <a:ext uri="{FF2B5EF4-FFF2-40B4-BE49-F238E27FC236}">
                <a16:creationId xmlns:a16="http://schemas.microsoft.com/office/drawing/2014/main" id="{2A6F46C9-8928-4A65-BA0B-C6B1A9C317E5}"/>
              </a:ext>
            </a:extLst>
          </p:cNvPr>
          <p:cNvSpPr>
            <a:spLocks xmlns:a="http://schemas.openxmlformats.org/drawingml/2006/main" noGrp="1"/>
          </p:cNvSpPr>
          <p:nvPr/>
        </p:nvSpPr>
        <p:spPr>
          <a:xfrm xmlns:a="http://schemas.openxmlformats.org/drawingml/2006/main">
            <a:off x="9513570" y="1409700"/>
            <a:ext cx="11430" cy="400050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7" name="slide-4-grid-v-5">
            <a:extLst xmlns:a="http://schemas.openxmlformats.org/drawingml/2006/main">
              <a:ext uri="{FF2B5EF4-FFF2-40B4-BE49-F238E27FC236}">
                <a16:creationId xmlns:a16="http://schemas.microsoft.com/office/drawing/2014/main" id="{856B0D74-6A83-4B13-A7A0-DD0D997276CC}"/>
              </a:ext>
            </a:extLst>
          </p:cNvPr>
          <p:cNvSpPr>
            <a:spLocks xmlns:a="http://schemas.openxmlformats.org/drawingml/2006/main" noGrp="1"/>
          </p:cNvSpPr>
          <p:nvPr/>
        </p:nvSpPr>
        <p:spPr>
          <a:xfrm xmlns:a="http://schemas.openxmlformats.org/drawingml/2006/main">
            <a:off x="11791950" y="1409700"/>
            <a:ext cx="11430" cy="4000500"/>
          </a:xfrm>
          <a:prstGeom xmlns:a="http://schemas.openxmlformats.org/drawingml/2006/main" prst="rect">
            <a:avLst/>
          </a:prstGeom>
          <a:solidFill xmlns:a="http://schemas.openxmlformats.org/drawingml/2006/main">
            <a:srgbClr val="000000"/>
          </a:solidFill>
          <a:ln xmlns:a="http://schemas.openxmlformats.org/drawingml/2006/main" w="0">
            <a:solidFill>
              <a:srgbClr val="000000"/>
            </a:solidFill>
            <a:prstDash val="solid"/>
          </a:ln>
        </p:spPr>
      </p:sp>
      <p:sp>
        <p:nvSpPr>
          <p:cNvPr id="8" name="slide-4-grid-top">
            <a:extLst xmlns:a="http://schemas.openxmlformats.org/drawingml/2006/main">
              <a:ext uri="{FF2B5EF4-FFF2-40B4-BE49-F238E27FC236}">
                <a16:creationId xmlns:a16="http://schemas.microsoft.com/office/drawing/2014/main" id="{FC90A7E2-DCF9-46F7-96F6-4C2E8F104D84}"/>
              </a:ext>
            </a:extLst>
          </p:cNvPr>
          <p:cNvSpPr>
            <a:spLocks xmlns:a="http://schemas.openxmlformats.org/drawingml/2006/main" noGrp="1"/>
          </p:cNvSpPr>
          <p:nvPr/>
        </p:nvSpPr>
        <p:spPr>
          <a:xfrm xmlns:a="http://schemas.openxmlformats.org/drawingml/2006/main">
            <a:off x="400050" y="1409700"/>
            <a:ext cx="11391900" cy="11430"/>
          </a:xfrm>
          <a:prstGeom xmlns:a="http://schemas.openxmlformats.org/drawingml/2006/main" prst="rect">
            <a:avLst/>
          </a:prstGeom>
          <a:solidFill xmlns:a="http://schemas.openxmlformats.org/drawingml/2006/main">
            <a:srgbClr val="000000"/>
          </a:solidFill>
          <a:ln xmlns:a="http://schemas.openxmlformats.org/drawingml/2006/main" w="0">
            <a:solidFill>
              <a:srgbClr val="000000"/>
            </a:solidFill>
            <a:prstDash val="solid"/>
          </a:ln>
        </p:spPr>
      </p:sp>
      <p:sp>
        <p:nvSpPr>
          <p:cNvPr id="9" name="slide-4-header-1">
            <a:extLst xmlns:a="http://schemas.openxmlformats.org/drawingml/2006/main">
              <a:ext uri="{FF2B5EF4-FFF2-40B4-BE49-F238E27FC236}">
                <a16:creationId xmlns:a16="http://schemas.microsoft.com/office/drawing/2014/main" id="{87E2C8CE-5D7C-44F6-A92B-B74B705A2DDD}"/>
              </a:ext>
            </a:extLst>
          </p:cNvPr>
          <p:cNvSpPr>
            <a:spLocks xmlns:a="http://schemas.openxmlformats.org/drawingml/2006/main" noGrp="1"/>
          </p:cNvSpPr>
          <p:nvPr/>
        </p:nvSpPr>
        <p:spPr>
          <a:xfrm xmlns:a="http://schemas.openxmlformats.org/drawingml/2006/main">
            <a:off x="495300" y="1543050"/>
            <a:ext cx="208788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000000"/>
                </a:solidFill>
                <a:latin typeface="Arial"/>
                <a:ea typeface="Arial"/>
                <a:cs typeface="Arial"/>
              </a:defRPr>
            </a:pPr>
            <a:r>
              <a:rPr sz="1650" b="1">
                <a:solidFill>
                  <a:srgbClr val="000000"/>
                </a:solidFill>
                <a:latin typeface="Arial"/>
                <a:ea typeface="Arial"/>
                <a:cs typeface="Arial"/>
              </a:rPr>
              <a:t>22:00–22:20</a:t>
            </a:r>
          </a:p>
        </p:txBody>
      </p:sp>
      <p:sp>
        <p:nvSpPr>
          <p:cNvPr id="10" name="slide-4-header-2">
            <a:extLst xmlns:a="http://schemas.openxmlformats.org/drawingml/2006/main">
              <a:ext uri="{FF2B5EF4-FFF2-40B4-BE49-F238E27FC236}">
                <a16:creationId xmlns:a16="http://schemas.microsoft.com/office/drawing/2014/main" id="{0C828AA8-BC12-46CE-8BDC-9402ACBE26BB}"/>
              </a:ext>
            </a:extLst>
          </p:cNvPr>
          <p:cNvSpPr>
            <a:spLocks xmlns:a="http://schemas.openxmlformats.org/drawingml/2006/main" noGrp="1"/>
          </p:cNvSpPr>
          <p:nvPr/>
        </p:nvSpPr>
        <p:spPr>
          <a:xfrm xmlns:a="http://schemas.openxmlformats.org/drawingml/2006/main">
            <a:off x="2773680" y="1543050"/>
            <a:ext cx="208788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000000"/>
                </a:solidFill>
                <a:latin typeface="Arial"/>
                <a:ea typeface="Arial"/>
                <a:cs typeface="Arial"/>
              </a:defRPr>
            </a:pPr>
            <a:r>
              <a:rPr sz="1650" b="1">
                <a:solidFill>
                  <a:srgbClr val="000000"/>
                </a:solidFill>
                <a:latin typeface="Arial"/>
                <a:ea typeface="Arial"/>
                <a:cs typeface="Arial"/>
              </a:rPr>
              <a:t>22:20–00:20</a:t>
            </a:r>
          </a:p>
        </p:txBody>
      </p:sp>
      <p:sp>
        <p:nvSpPr>
          <p:cNvPr id="11" name="slide-4-header-3">
            <a:extLst xmlns:a="http://schemas.openxmlformats.org/drawingml/2006/main">
              <a:ext uri="{FF2B5EF4-FFF2-40B4-BE49-F238E27FC236}">
                <a16:creationId xmlns:a16="http://schemas.microsoft.com/office/drawing/2014/main" id="{D77E000E-FD5A-4D44-AD5A-3FB9218BEA2F}"/>
              </a:ext>
            </a:extLst>
          </p:cNvPr>
          <p:cNvSpPr>
            <a:spLocks xmlns:a="http://schemas.openxmlformats.org/drawingml/2006/main" noGrp="1"/>
          </p:cNvSpPr>
          <p:nvPr/>
        </p:nvSpPr>
        <p:spPr>
          <a:xfrm xmlns:a="http://schemas.openxmlformats.org/drawingml/2006/main">
            <a:off x="5052060" y="1543050"/>
            <a:ext cx="208788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000000"/>
                </a:solidFill>
                <a:latin typeface="Arial"/>
                <a:ea typeface="Arial"/>
                <a:cs typeface="Arial"/>
              </a:defRPr>
            </a:pPr>
            <a:r>
              <a:rPr sz="1650" b="1">
                <a:solidFill>
                  <a:srgbClr val="000000"/>
                </a:solidFill>
                <a:latin typeface="Arial"/>
                <a:ea typeface="Arial"/>
                <a:cs typeface="Arial"/>
              </a:rPr>
              <a:t>00:20–01:20</a:t>
            </a:r>
          </a:p>
        </p:txBody>
      </p:sp>
      <p:sp>
        <p:nvSpPr>
          <p:cNvPr id="12" name="slide-4-header-4">
            <a:extLst xmlns:a="http://schemas.openxmlformats.org/drawingml/2006/main">
              <a:ext uri="{FF2B5EF4-FFF2-40B4-BE49-F238E27FC236}">
                <a16:creationId xmlns:a16="http://schemas.microsoft.com/office/drawing/2014/main" id="{761CCE97-42F8-44BD-B39F-55110582413C}"/>
              </a:ext>
            </a:extLst>
          </p:cNvPr>
          <p:cNvSpPr>
            <a:spLocks xmlns:a="http://schemas.openxmlformats.org/drawingml/2006/main" noGrp="1"/>
          </p:cNvSpPr>
          <p:nvPr/>
        </p:nvSpPr>
        <p:spPr>
          <a:xfrm xmlns:a="http://schemas.openxmlformats.org/drawingml/2006/main">
            <a:off x="7330440" y="1543050"/>
            <a:ext cx="208788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000000"/>
                </a:solidFill>
                <a:latin typeface="Arial"/>
                <a:ea typeface="Arial"/>
                <a:cs typeface="Arial"/>
              </a:defRPr>
            </a:pPr>
            <a:r>
              <a:rPr sz="1650" b="1">
                <a:solidFill>
                  <a:srgbClr val="000000"/>
                </a:solidFill>
                <a:latin typeface="Arial"/>
                <a:ea typeface="Arial"/>
                <a:cs typeface="Arial"/>
              </a:rPr>
              <a:t>01:20–02:00</a:t>
            </a:r>
          </a:p>
        </p:txBody>
      </p:sp>
      <p:sp>
        <p:nvSpPr>
          <p:cNvPr id="13" name="slide-4-header-5">
            <a:extLst xmlns:a="http://schemas.openxmlformats.org/drawingml/2006/main">
              <a:ext uri="{FF2B5EF4-FFF2-40B4-BE49-F238E27FC236}">
                <a16:creationId xmlns:a16="http://schemas.microsoft.com/office/drawing/2014/main" id="{AF0F06F4-6B93-49D7-947A-A8CA4ABC720A}"/>
              </a:ext>
            </a:extLst>
          </p:cNvPr>
          <p:cNvSpPr>
            <a:spLocks xmlns:a="http://schemas.openxmlformats.org/drawingml/2006/main" noGrp="1"/>
          </p:cNvSpPr>
          <p:nvPr/>
        </p:nvSpPr>
        <p:spPr>
          <a:xfrm xmlns:a="http://schemas.openxmlformats.org/drawingml/2006/main">
            <a:off x="9608820" y="1543050"/>
            <a:ext cx="208788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000000"/>
                </a:solidFill>
                <a:latin typeface="Arial"/>
                <a:ea typeface="Arial"/>
                <a:cs typeface="Arial"/>
              </a:defRPr>
            </a:pPr>
            <a:r>
              <a:rPr sz="1650" b="1">
                <a:solidFill>
                  <a:srgbClr val="000000"/>
                </a:solidFill>
                <a:latin typeface="Arial"/>
                <a:ea typeface="Arial"/>
                <a:cs typeface="Arial"/>
              </a:rPr>
              <a:t>02:00–04:00</a:t>
            </a:r>
          </a:p>
        </p:txBody>
      </p:sp>
      <p:sp>
        <p:nvSpPr>
          <p:cNvPr id="14" name="slide-4-stage-1">
            <a:extLst xmlns:a="http://schemas.openxmlformats.org/drawingml/2006/main">
              <a:ext uri="{FF2B5EF4-FFF2-40B4-BE49-F238E27FC236}">
                <a16:creationId xmlns:a16="http://schemas.microsoft.com/office/drawing/2014/main" id="{89D03F3F-BDB0-43CC-A0B3-BDCB72F06A23}"/>
              </a:ext>
            </a:extLst>
          </p:cNvPr>
          <p:cNvSpPr>
            <a:spLocks xmlns:a="http://schemas.openxmlformats.org/drawingml/2006/main" noGrp="1"/>
          </p:cNvSpPr>
          <p:nvPr/>
        </p:nvSpPr>
        <p:spPr>
          <a:xfrm xmlns:a="http://schemas.openxmlformats.org/drawingml/2006/main">
            <a:off x="514350" y="2152650"/>
            <a:ext cx="2049780" cy="533400"/>
          </a:xfrm>
          <a:prstGeom xmlns:a="http://schemas.openxmlformats.org/drawingml/2006/main" prst="roundRect">
            <a:avLst>
              <a:gd name="adj" fmla="val 12500"/>
            </a:avLst>
          </a:prstGeom>
          <a:solidFill xmlns:a="http://schemas.openxmlformats.org/drawingml/2006/main">
            <a:srgbClr val="EAF5FB"/>
          </a:solidFill>
          <a:ln xmlns:a="http://schemas.openxmlformats.org/drawingml/2006/main" w="9525">
            <a:solidFill>
              <a:srgbClr val="B8BCC4"/>
            </a:solidFill>
            <a:prstDash val="solid"/>
          </a:ln>
        </p:spPr>
      </p:sp>
      <p:sp>
        <p:nvSpPr>
          <p:cNvPr id="15" name="slide-4-stage-label-1">
            <a:extLst xmlns:a="http://schemas.openxmlformats.org/drawingml/2006/main">
              <a:ext uri="{FF2B5EF4-FFF2-40B4-BE49-F238E27FC236}">
                <a16:creationId xmlns:a16="http://schemas.microsoft.com/office/drawing/2014/main" id="{EA8A99A2-7046-42C9-8DEB-A18E4ACA290D}"/>
              </a:ext>
            </a:extLst>
          </p:cNvPr>
          <p:cNvSpPr>
            <a:spLocks xmlns:a="http://schemas.openxmlformats.org/drawingml/2006/main" noGrp="1"/>
          </p:cNvSpPr>
          <p:nvPr/>
        </p:nvSpPr>
        <p:spPr>
          <a:xfrm xmlns:a="http://schemas.openxmlformats.org/drawingml/2006/main">
            <a:off x="609600" y="2228850"/>
            <a:ext cx="1859280" cy="4000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613" b="1">
                <a:solidFill>
                  <a:srgbClr val="3D8DFF"/>
                </a:solidFill>
                <a:latin typeface="Arial"/>
                <a:ea typeface="Arial"/>
                <a:cs typeface="Arial"/>
              </a:defRPr>
            </a:pPr>
            <a:r>
              <a:rPr sz="1613" b="1">
                <a:solidFill>
                  <a:srgbClr val="3D8DFF"/>
                </a:solidFill>
                <a:latin typeface="Arial"/>
                <a:ea typeface="Arial"/>
                <a:cs typeface="Arial"/>
              </a:rPr>
              <a:t>Validate immutable
snapshot</a:t>
            </a:r>
          </a:p>
        </p:txBody>
      </p:sp>
      <p:sp>
        <p:nvSpPr>
          <p:cNvPr id="16" name="slide-4-stage-2">
            <a:extLst xmlns:a="http://schemas.openxmlformats.org/drawingml/2006/main">
              <a:ext uri="{FF2B5EF4-FFF2-40B4-BE49-F238E27FC236}">
                <a16:creationId xmlns:a16="http://schemas.microsoft.com/office/drawing/2014/main" id="{C8A1B5AC-62E8-4EB0-ABE9-D2931979F3CC}"/>
              </a:ext>
            </a:extLst>
          </p:cNvPr>
          <p:cNvSpPr>
            <a:spLocks xmlns:a="http://schemas.openxmlformats.org/drawingml/2006/main" noGrp="1"/>
          </p:cNvSpPr>
          <p:nvPr/>
        </p:nvSpPr>
        <p:spPr>
          <a:xfrm xmlns:a="http://schemas.openxmlformats.org/drawingml/2006/main">
            <a:off x="2792730" y="2800350"/>
            <a:ext cx="2049780" cy="533400"/>
          </a:xfrm>
          <a:prstGeom xmlns:a="http://schemas.openxmlformats.org/drawingml/2006/main" prst="roundRect">
            <a:avLst>
              <a:gd name="adj" fmla="val 12500"/>
            </a:avLst>
          </a:prstGeom>
          <a:solidFill xmlns:a="http://schemas.openxmlformats.org/drawingml/2006/main">
            <a:srgbClr val="EDEDED"/>
          </a:solidFill>
          <a:ln xmlns:a="http://schemas.openxmlformats.org/drawingml/2006/main" w="9525">
            <a:solidFill>
              <a:srgbClr val="B8BCC4"/>
            </a:solidFill>
            <a:prstDash val="solid"/>
          </a:ln>
        </p:spPr>
      </p:sp>
      <p:sp>
        <p:nvSpPr>
          <p:cNvPr id="17" name="slide-4-stage-label-2">
            <a:extLst xmlns:a="http://schemas.openxmlformats.org/drawingml/2006/main">
              <a:ext uri="{FF2B5EF4-FFF2-40B4-BE49-F238E27FC236}">
                <a16:creationId xmlns:a16="http://schemas.microsoft.com/office/drawing/2014/main" id="{AFA5DD3C-509C-4450-A8EF-C746B3EC1887}"/>
              </a:ext>
            </a:extLst>
          </p:cNvPr>
          <p:cNvSpPr>
            <a:spLocks xmlns:a="http://schemas.openxmlformats.org/drawingml/2006/main" noGrp="1"/>
          </p:cNvSpPr>
          <p:nvPr/>
        </p:nvSpPr>
        <p:spPr>
          <a:xfrm xmlns:a="http://schemas.openxmlformats.org/drawingml/2006/main">
            <a:off x="2887980" y="2876550"/>
            <a:ext cx="1859280" cy="4000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613" b="1">
                <a:solidFill>
                  <a:srgbClr val="000000"/>
                </a:solidFill>
                <a:latin typeface="Arial"/>
                <a:ea typeface="Arial"/>
                <a:cs typeface="Arial"/>
              </a:defRPr>
            </a:pPr>
            <a:r>
              <a:rPr sz="1613" b="1">
                <a:solidFill>
                  <a:srgbClr val="000000"/>
                </a:solidFill>
                <a:latin typeface="Arial"/>
                <a:ea typeface="Arial"/>
                <a:cs typeface="Arial"/>
              </a:rPr>
              <a:t>Statistical
forecasts</a:t>
            </a:r>
          </a:p>
        </p:txBody>
      </p:sp>
      <p:sp>
        <p:nvSpPr>
          <p:cNvPr id="18" name="slide-4-stage-3">
            <a:extLst xmlns:a="http://schemas.openxmlformats.org/drawingml/2006/main">
              <a:ext uri="{FF2B5EF4-FFF2-40B4-BE49-F238E27FC236}">
                <a16:creationId xmlns:a16="http://schemas.microsoft.com/office/drawing/2014/main" id="{415DAD57-0365-4FD8-95AC-0A41538D7900}"/>
              </a:ext>
            </a:extLst>
          </p:cNvPr>
          <p:cNvSpPr>
            <a:spLocks xmlns:a="http://schemas.openxmlformats.org/drawingml/2006/main" noGrp="1"/>
          </p:cNvSpPr>
          <p:nvPr/>
        </p:nvSpPr>
        <p:spPr>
          <a:xfrm xmlns:a="http://schemas.openxmlformats.org/drawingml/2006/main">
            <a:off x="5071110" y="3448050"/>
            <a:ext cx="2049780" cy="533400"/>
          </a:xfrm>
          <a:prstGeom xmlns:a="http://schemas.openxmlformats.org/drawingml/2006/main" prst="roundRect">
            <a:avLst>
              <a:gd name="adj" fmla="val 12500"/>
            </a:avLst>
          </a:prstGeom>
          <a:solidFill xmlns:a="http://schemas.openxmlformats.org/drawingml/2006/main">
            <a:srgbClr val="EDEDED"/>
          </a:solidFill>
          <a:ln xmlns:a="http://schemas.openxmlformats.org/drawingml/2006/main" w="9525">
            <a:solidFill>
              <a:srgbClr val="B8BCC4"/>
            </a:solidFill>
            <a:prstDash val="solid"/>
          </a:ln>
        </p:spPr>
      </p:sp>
      <p:sp>
        <p:nvSpPr>
          <p:cNvPr id="19" name="slide-4-stage-label-3">
            <a:extLst xmlns:a="http://schemas.openxmlformats.org/drawingml/2006/main">
              <a:ext uri="{FF2B5EF4-FFF2-40B4-BE49-F238E27FC236}">
                <a16:creationId xmlns:a16="http://schemas.microsoft.com/office/drawing/2014/main" id="{BCBF741D-8591-46F3-BA1C-678B260D3C65}"/>
              </a:ext>
            </a:extLst>
          </p:cNvPr>
          <p:cNvSpPr>
            <a:spLocks xmlns:a="http://schemas.openxmlformats.org/drawingml/2006/main" noGrp="1"/>
          </p:cNvSpPr>
          <p:nvPr/>
        </p:nvSpPr>
        <p:spPr>
          <a:xfrm xmlns:a="http://schemas.openxmlformats.org/drawingml/2006/main">
            <a:off x="5166360" y="3524250"/>
            <a:ext cx="1859280" cy="4000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613" b="1">
                <a:solidFill>
                  <a:srgbClr val="000000"/>
                </a:solidFill>
                <a:latin typeface="Arial"/>
                <a:ea typeface="Arial"/>
                <a:cs typeface="Arial"/>
              </a:defRPr>
            </a:pPr>
            <a:r>
              <a:rPr sz="1613" b="1">
                <a:solidFill>
                  <a:srgbClr val="000000"/>
                </a:solidFill>
                <a:latin typeface="Arial"/>
                <a:ea typeface="Arial"/>
                <a:cs typeface="Arial"/>
              </a:rPr>
              <a:t>Deterministic
optimization</a:t>
            </a:r>
          </a:p>
        </p:txBody>
      </p:sp>
      <p:sp>
        <p:nvSpPr>
          <p:cNvPr id="20" name="slide-4-stage-4">
            <a:extLst xmlns:a="http://schemas.openxmlformats.org/drawingml/2006/main">
              <a:ext uri="{FF2B5EF4-FFF2-40B4-BE49-F238E27FC236}">
                <a16:creationId xmlns:a16="http://schemas.microsoft.com/office/drawing/2014/main" id="{FB270D2F-AEF1-4307-A8D7-C9D28902EF46}"/>
              </a:ext>
            </a:extLst>
          </p:cNvPr>
          <p:cNvSpPr>
            <a:spLocks xmlns:a="http://schemas.openxmlformats.org/drawingml/2006/main" noGrp="1"/>
          </p:cNvSpPr>
          <p:nvPr/>
        </p:nvSpPr>
        <p:spPr>
          <a:xfrm xmlns:a="http://schemas.openxmlformats.org/drawingml/2006/main">
            <a:off x="7349490" y="4095750"/>
            <a:ext cx="2049780" cy="533400"/>
          </a:xfrm>
          <a:prstGeom xmlns:a="http://schemas.openxmlformats.org/drawingml/2006/main" prst="roundRect">
            <a:avLst>
              <a:gd name="adj" fmla="val 12500"/>
            </a:avLst>
          </a:prstGeom>
          <a:solidFill xmlns:a="http://schemas.openxmlformats.org/drawingml/2006/main">
            <a:srgbClr val="EAF5FB"/>
          </a:solidFill>
          <a:ln xmlns:a="http://schemas.openxmlformats.org/drawingml/2006/main" w="9525">
            <a:solidFill>
              <a:srgbClr val="B8BCC4"/>
            </a:solidFill>
            <a:prstDash val="solid"/>
          </a:ln>
        </p:spPr>
      </p:sp>
      <p:sp>
        <p:nvSpPr>
          <p:cNvPr id="21" name="slide-4-stage-label-4">
            <a:extLst xmlns:a="http://schemas.openxmlformats.org/drawingml/2006/main">
              <a:ext uri="{FF2B5EF4-FFF2-40B4-BE49-F238E27FC236}">
                <a16:creationId xmlns:a16="http://schemas.microsoft.com/office/drawing/2014/main" id="{3B9ACC2D-E7EB-485D-B04D-0B6E61B14D98}"/>
              </a:ext>
            </a:extLst>
          </p:cNvPr>
          <p:cNvSpPr>
            <a:spLocks xmlns:a="http://schemas.openxmlformats.org/drawingml/2006/main" noGrp="1"/>
          </p:cNvSpPr>
          <p:nvPr/>
        </p:nvSpPr>
        <p:spPr>
          <a:xfrm xmlns:a="http://schemas.openxmlformats.org/drawingml/2006/main">
            <a:off x="7444740" y="4171950"/>
            <a:ext cx="1859280" cy="4000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613" b="1">
                <a:solidFill>
                  <a:srgbClr val="3D8DFF"/>
                </a:solidFill>
                <a:latin typeface="Arial"/>
                <a:ea typeface="Arial"/>
                <a:cs typeface="Arial"/>
              </a:defRPr>
            </a:pPr>
            <a:r>
              <a:rPr sz="1613" b="1">
                <a:solidFill>
                  <a:srgbClr val="3D8DFF"/>
                </a:solidFill>
                <a:latin typeface="Arial"/>
                <a:ea typeface="Arial"/>
                <a:cs typeface="Arial"/>
              </a:rPr>
              <a:t>Reconcile, sign,
and publish</a:t>
            </a:r>
          </a:p>
        </p:txBody>
      </p:sp>
      <p:sp>
        <p:nvSpPr>
          <p:cNvPr id="22" name="slide-4-stage-5">
            <a:extLst xmlns:a="http://schemas.openxmlformats.org/drawingml/2006/main">
              <a:ext uri="{FF2B5EF4-FFF2-40B4-BE49-F238E27FC236}">
                <a16:creationId xmlns:a16="http://schemas.microsoft.com/office/drawing/2014/main" id="{26C3BDB4-4FE0-4957-8AE1-52BEE23D303F}"/>
              </a:ext>
            </a:extLst>
          </p:cNvPr>
          <p:cNvSpPr>
            <a:spLocks xmlns:a="http://schemas.openxmlformats.org/drawingml/2006/main" noGrp="1"/>
          </p:cNvSpPr>
          <p:nvPr/>
        </p:nvSpPr>
        <p:spPr>
          <a:xfrm xmlns:a="http://schemas.openxmlformats.org/drawingml/2006/main">
            <a:off x="9627870" y="4743450"/>
            <a:ext cx="2049780" cy="533400"/>
          </a:xfrm>
          <a:prstGeom xmlns:a="http://schemas.openxmlformats.org/drawingml/2006/main" prst="roundRect">
            <a:avLst>
              <a:gd name="adj" fmla="val 12500"/>
            </a:avLst>
          </a:prstGeom>
          <a:solidFill xmlns:a="http://schemas.openxmlformats.org/drawingml/2006/main">
            <a:srgbClr val="000000"/>
          </a:solidFill>
          <a:ln xmlns:a="http://schemas.openxmlformats.org/drawingml/2006/main" w="9525">
            <a:solidFill>
              <a:srgbClr val="000000"/>
            </a:solidFill>
            <a:prstDash val="solid"/>
          </a:ln>
        </p:spPr>
      </p:sp>
      <p:sp>
        <p:nvSpPr>
          <p:cNvPr id="23" name="slide-4-stage-label-5">
            <a:extLst xmlns:a="http://schemas.openxmlformats.org/drawingml/2006/main">
              <a:ext uri="{FF2B5EF4-FFF2-40B4-BE49-F238E27FC236}">
                <a16:creationId xmlns:a16="http://schemas.microsoft.com/office/drawing/2014/main" id="{C06D1A5B-3906-4A16-B19C-C75B4D8F0E73}"/>
              </a:ext>
            </a:extLst>
          </p:cNvPr>
          <p:cNvSpPr>
            <a:spLocks xmlns:a="http://schemas.openxmlformats.org/drawingml/2006/main" noGrp="1"/>
          </p:cNvSpPr>
          <p:nvPr/>
        </p:nvSpPr>
        <p:spPr>
          <a:xfrm xmlns:a="http://schemas.openxmlformats.org/drawingml/2006/main">
            <a:off x="9627870" y="4772025"/>
            <a:ext cx="2049780" cy="4762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613" b="1">
                <a:solidFill>
                  <a:srgbClr val="FFFFFF"/>
                </a:solidFill>
                <a:latin typeface="Arial"/>
                <a:ea typeface="Arial"/>
                <a:cs typeface="Arial"/>
              </a:defRPr>
            </a:pPr>
            <a:r>
              <a:rPr sz="1613" b="1">
                <a:solidFill>
                  <a:srgbClr val="FFFFFF"/>
                </a:solidFill>
                <a:latin typeface="Arial"/>
                <a:ea typeface="Arial"/>
                <a:cs typeface="Arial"/>
              </a:rPr>
              <a:t>MERLIN generation,
review, and EDI</a:t>
            </a:r>
          </a:p>
        </p:txBody>
      </p:sp>
      <p:sp>
        <p:nvSpPr>
          <p:cNvPr id="24" name="slide-4-publication-gates">
            <a:extLst xmlns:a="http://schemas.openxmlformats.org/drawingml/2006/main">
              <a:ext uri="{FF2B5EF4-FFF2-40B4-BE49-F238E27FC236}">
                <a16:creationId xmlns:a16="http://schemas.microsoft.com/office/drawing/2014/main" id="{B5FB1320-22E0-48C0-AB09-3EE0E24BCEEE}"/>
              </a:ext>
            </a:extLst>
          </p:cNvPr>
          <p:cNvSpPr>
            <a:spLocks xmlns:a="http://schemas.openxmlformats.org/drawingml/2006/main" noGrp="1"/>
          </p:cNvSpPr>
          <p:nvPr/>
        </p:nvSpPr>
        <p:spPr>
          <a:xfrm xmlns:a="http://schemas.openxmlformats.org/drawingml/2006/main">
            <a:off x="7406640" y="1924050"/>
            <a:ext cx="193548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01:30 retry stop
01:45 complete-set gate
02:00 write close</a:t>
            </a:r>
          </a:p>
        </p:txBody>
      </p:sp>
      <p:sp>
        <p:nvSpPr>
          <p:cNvPr id="25" name="slide-4-fail-open-rail">
            <a:extLst xmlns:a="http://schemas.openxmlformats.org/drawingml/2006/main">
              <a:ext uri="{FF2B5EF4-FFF2-40B4-BE49-F238E27FC236}">
                <a16:creationId xmlns:a16="http://schemas.microsoft.com/office/drawing/2014/main" id="{43481988-3480-4A7F-9D32-52F40FAC87B5}"/>
              </a:ext>
            </a:extLst>
          </p:cNvPr>
          <p:cNvSpPr>
            <a:spLocks xmlns:a="http://schemas.openxmlformats.org/drawingml/2006/main" noGrp="1"/>
          </p:cNvSpPr>
          <p:nvPr/>
        </p:nvSpPr>
        <p:spPr>
          <a:xfrm xmlns:a="http://schemas.openxmlformats.org/drawingml/2006/main">
            <a:off x="514350" y="5562600"/>
            <a:ext cx="11163300" cy="495300"/>
          </a:xfrm>
          <a:prstGeom xmlns:a="http://schemas.openxmlformats.org/drawingml/2006/main" prst="roundRect">
            <a:avLst>
              <a:gd name="adj" fmla="val 13462"/>
            </a:avLst>
          </a:prstGeom>
          <a:solidFill xmlns:a="http://schemas.openxmlformats.org/drawingml/2006/main">
            <a:srgbClr val="F5F5F5"/>
          </a:solidFill>
          <a:ln xmlns:a="http://schemas.openxmlformats.org/drawingml/2006/main" w="9525">
            <a:solidFill>
              <a:srgbClr val="B8BCC4"/>
            </a:solidFill>
            <a:prstDash val="solid"/>
          </a:ln>
        </p:spPr>
      </p:sp>
      <p:sp>
        <p:nvSpPr>
          <p:cNvPr id="26" name="slide-4-fail-open-label">
            <a:extLst xmlns:a="http://schemas.openxmlformats.org/drawingml/2006/main">
              <a:ext uri="{FF2B5EF4-FFF2-40B4-BE49-F238E27FC236}">
                <a16:creationId xmlns:a16="http://schemas.microsoft.com/office/drawing/2014/main" id="{741E3F23-6FE3-48C3-898E-D355431CC38B}"/>
              </a:ext>
            </a:extLst>
          </p:cNvPr>
          <p:cNvSpPr>
            <a:spLocks xmlns:a="http://schemas.openxmlformats.org/drawingml/2006/main" noGrp="1"/>
          </p:cNvSpPr>
          <p:nvPr/>
        </p:nvSpPr>
        <p:spPr>
          <a:xfrm xmlns:a="http://schemas.openxmlformats.org/drawingml/2006/main">
            <a:off x="685800" y="5600700"/>
            <a:ext cx="10820400" cy="4191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000000"/>
                </a:solidFill>
                <a:latin typeface="Arial"/>
                <a:ea typeface="Arial"/>
                <a:cs typeface="Arial"/>
              </a:defRPr>
            </a:pPr>
            <a:r>
              <a:rPr sz="1650" b="1">
                <a:solidFill>
                  <a:srgbClr val="000000"/>
                </a:solidFill>
                <a:latin typeface="Arial"/>
                <a:ea typeface="Arial"/>
                <a:cs typeface="Arial"/>
              </a:rPr>
              <a:t>Any late, incomplete, stale, uncertain, expired-permit, or failed transaction → publish nothing; MERLIN continues</a:t>
            </a:r>
          </a:p>
        </p:txBody>
      </p:sp>
      <p:sp>
        <p:nvSpPr>
          <p:cNvPr id="27" name="owner-footer-4">
            <a:extLst xmlns:a="http://schemas.openxmlformats.org/drawingml/2006/main">
              <a:ext uri="{FF2B5EF4-FFF2-40B4-BE49-F238E27FC236}">
                <a16:creationId xmlns:a16="http://schemas.microsoft.com/office/drawing/2014/main" id="{7279C91D-54AC-4978-93F8-766285CA1131}"/>
              </a:ext>
            </a:extLst>
          </p:cNvPr>
          <p:cNvSpPr>
            <a:spLocks xmlns:a="http://schemas.openxmlformats.org/drawingml/2006/main" noGrp="1"/>
          </p:cNvSpPr>
          <p:nvPr/>
        </p:nvSpPr>
        <p:spPr>
          <a:xfrm xmlns:a="http://schemas.openxmlformats.org/drawingml/2006/main">
            <a:off x="400050" y="6191250"/>
            <a:ext cx="8096250" cy="20955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200">
                <a:solidFill>
                  <a:srgbClr val="586174"/>
                </a:solidFill>
                <a:latin typeface="Arial"/>
                <a:ea typeface="Arial"/>
                <a:cs typeface="Arial"/>
              </a:defRPr>
            </a:pPr>
            <a:r>
              <a:rPr sz="1200">
                <a:solidFill>
                  <a:srgbClr val="586174"/>
                </a:solidFill>
                <a:latin typeface="Arial"/>
                <a:ea typeface="Arial"/>
                <a:cs typeface="Arial"/>
              </a:rPr>
              <a:t>Owner: LÊ NGUYỄN SỸ BÌNH (122980)</a:t>
            </a:r>
          </a:p>
        </p:txBody>
      </p:sp>
      <p:sp>
        <p:nvSpPr>
          <p:cNvPr id="28" name="artifact-footer-4">
            <a:extLst xmlns:a="http://schemas.openxmlformats.org/drawingml/2006/main">
              <a:ext uri="{FF2B5EF4-FFF2-40B4-BE49-F238E27FC236}">
                <a16:creationId xmlns:a16="http://schemas.microsoft.com/office/drawing/2014/main" id="{7532590D-D2A5-4572-9E83-503044BE6C8F}"/>
              </a:ext>
            </a:extLst>
          </p:cNvPr>
          <p:cNvSpPr>
            <a:spLocks xmlns:a="http://schemas.openxmlformats.org/drawingml/2006/main" noGrp="1"/>
          </p:cNvSpPr>
          <p:nvPr/>
        </p:nvSpPr>
        <p:spPr>
          <a:xfrm xmlns:a="http://schemas.openxmlformats.org/drawingml/2006/main">
            <a:off x="3676650" y="6419850"/>
            <a:ext cx="49530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350">
                <a:solidFill>
                  <a:srgbClr val="586174"/>
                </a:solidFill>
                <a:latin typeface="Arial"/>
                <a:ea typeface="Arial"/>
                <a:cs typeface="Arial"/>
              </a:defRPr>
            </a:pPr>
            <a:r>
              <a:rPr sz="1350">
                <a:solidFill>
                  <a:srgbClr val="586174"/>
                </a:solidFill>
                <a:latin typeface="Arial"/>
                <a:ea typeface="Arial"/>
                <a:cs typeface="Arial"/>
              </a:rPr>
              <a:t>End-to-end nightly batch</a:t>
            </a:r>
          </a:p>
        </p:txBody>
      </p:sp>
      <p:sp>
        <p:nvSpPr>
          <p:cNvPr id="29" name="page-number-4">
            <a:extLst xmlns:a="http://schemas.openxmlformats.org/drawingml/2006/main">
              <a:ext uri="{FF2B5EF4-FFF2-40B4-BE49-F238E27FC236}">
                <a16:creationId xmlns:a16="http://schemas.microsoft.com/office/drawing/2014/main" id="{4D885C3B-3BDC-49F9-A825-B9389777289F}"/>
              </a:ext>
            </a:extLst>
          </p:cNvPr>
          <p:cNvSpPr>
            <a:spLocks xmlns:a="http://schemas.openxmlformats.org/drawingml/2006/main" noGrp="1"/>
          </p:cNvSpPr>
          <p:nvPr/>
        </p:nvSpPr>
        <p:spPr>
          <a:xfrm xmlns:a="http://schemas.openxmlformats.org/drawingml/2006/main">
            <a:off x="11296650" y="6419850"/>
            <a:ext cx="4953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350">
                <a:solidFill>
                  <a:srgbClr val="000000"/>
                </a:solidFill>
                <a:latin typeface="Arial"/>
                <a:ea typeface="Arial"/>
                <a:cs typeface="Arial"/>
              </a:defRPr>
            </a:pPr>
            <a:r>
              <a:rPr sz="1350">
                <a:solidFill>
                  <a:srgbClr val="000000"/>
                </a:solidFill>
                <a:latin typeface="Arial"/>
                <a:ea typeface="Arial"/>
                <a:cs typeface="Arial"/>
              </a:rPr>
              <a:t>4</a:t>
            </a:r>
          </a:p>
        </p:txBody>
      </p:sp>
    </p:spTree>
    <p:extLst>
      <p:ext uri="{BB962C8B-B14F-4D97-AF65-F5344CB8AC3E}">
        <p14:creationId xmlns:p14="http://schemas.microsoft.com/office/powerpoint/2010/main" val="9204695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lide-5-title">
            <a:extLst xmlns:a="http://schemas.openxmlformats.org/drawingml/2006/main">
              <a:ext uri="{FF2B5EF4-FFF2-40B4-BE49-F238E27FC236}">
                <a16:creationId xmlns:a16="http://schemas.microsoft.com/office/drawing/2014/main" id="{409AA7E3-065B-4A7C-B7C5-D4E9F3071B5E}"/>
              </a:ext>
            </a:extLst>
          </p:cNvPr>
          <p:cNvSpPr>
            <a:spLocks xmlns:a="http://schemas.openxmlformats.org/drawingml/2006/main" noGrp="1"/>
          </p:cNvSpPr>
          <p:nvPr/>
        </p:nvSpPr>
        <p:spPr>
          <a:xfrm xmlns:a="http://schemas.openxmlformats.org/drawingml/2006/main">
            <a:off x="400050" y="323850"/>
            <a:ext cx="11391900" cy="990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Value and capacity fit on paper; production waits for proof</a:t>
            </a:r>
          </a:p>
        </p:txBody>
      </p:sp>
      <p:sp>
        <p:nvSpPr>
          <p:cNvPr id="2" name="slide-5-publication-proof">
            <a:extLst xmlns:a="http://schemas.openxmlformats.org/drawingml/2006/main">
              <a:ext uri="{FF2B5EF4-FFF2-40B4-BE49-F238E27FC236}">
                <a16:creationId xmlns:a16="http://schemas.microsoft.com/office/drawing/2014/main" id="{208BD496-91A0-436A-B6A9-312C8A9660AB}"/>
              </a:ext>
            </a:extLst>
          </p:cNvPr>
          <p:cNvSpPr>
            <a:spLocks xmlns:a="http://schemas.openxmlformats.org/drawingml/2006/main" noGrp="1"/>
          </p:cNvSpPr>
          <p:nvPr/>
        </p:nvSpPr>
        <p:spPr>
          <a:xfrm xmlns:a="http://schemas.openxmlformats.org/drawingml/2006/main">
            <a:off x="400050" y="1409700"/>
            <a:ext cx="113919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3D8DFF"/>
                </a:solidFill>
                <a:latin typeface="Arial"/>
                <a:ea typeface="Arial"/>
                <a:cs typeface="Arial"/>
              </a:defRPr>
            </a:pPr>
            <a:r>
              <a:rPr sz="1800" b="1">
                <a:solidFill>
                  <a:srgbClr val="3D8DFF"/>
                </a:solidFill>
                <a:latin typeface="Arial"/>
                <a:ea typeface="Arial"/>
                <a:cs typeface="Arial"/>
              </a:rPr>
              <a:t>Business outcomes: OOS 7.2% → 3.0% • fresh waste 4.8% → 3.0% • WAPE 41% → ≤25% • lookup ~50 → &lt;15 min/shift</a:t>
            </a:r>
          </a:p>
        </p:txBody>
      </p:sp>
      <p:sp>
        <p:nvSpPr>
          <p:cNvPr id="3" name="slide-5-release-gates">
            <a:extLst xmlns:a="http://schemas.openxmlformats.org/drawingml/2006/main">
              <a:ext uri="{FF2B5EF4-FFF2-40B4-BE49-F238E27FC236}">
                <a16:creationId xmlns:a16="http://schemas.microsoft.com/office/drawing/2014/main" id="{BA507C21-7543-4F71-9B85-E83F820A7E85}"/>
              </a:ext>
            </a:extLst>
          </p:cNvPr>
          <p:cNvSpPr>
            <a:spLocks xmlns:a="http://schemas.openxmlformats.org/drawingml/2006/main" noGrp="1"/>
          </p:cNvSpPr>
          <p:nvPr/>
        </p:nvSpPr>
        <p:spPr>
          <a:xfrm xmlns:a="http://schemas.openxmlformats.org/drawingml/2006/main">
            <a:off x="400050" y="2190750"/>
            <a:ext cx="113919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a:solidFill>
                  <a:srgbClr val="000000"/>
                </a:solidFill>
                <a:latin typeface="Arial"/>
                <a:ea typeface="Arial"/>
                <a:cs typeface="Arial"/>
              </a:defRPr>
            </a:pPr>
            <a:r>
              <a:rPr sz="1650">
                <a:solidFill>
                  <a:srgbClr val="000000"/>
                </a:solidFill>
                <a:latin typeface="Arial"/>
                <a:ea typeface="Arial"/>
                <a:cs typeface="Arial"/>
              </a:rPr>
              <a:t>Guardrails: retain 8,400 associates • protect 2.4% margin • no AI-driven reduction • measured gates before production</a:t>
            </a:r>
          </a:p>
        </p:txBody>
      </p:sp>
      <p:sp>
        <p:nvSpPr>
          <p:cNvPr id="4" name="slide-5-card-1">
            <a:extLst xmlns:a="http://schemas.openxmlformats.org/drawingml/2006/main">
              <a:ext uri="{FF2B5EF4-FFF2-40B4-BE49-F238E27FC236}">
                <a16:creationId xmlns:a16="http://schemas.microsoft.com/office/drawing/2014/main" id="{E9FF3E87-5D82-4934-A0BC-4BBAD570753E}"/>
              </a:ext>
            </a:extLst>
          </p:cNvPr>
          <p:cNvSpPr>
            <a:spLocks xmlns:a="http://schemas.openxmlformats.org/drawingml/2006/main" noGrp="1"/>
          </p:cNvSpPr>
          <p:nvPr/>
        </p:nvSpPr>
        <p:spPr>
          <a:xfrm xmlns:a="http://schemas.openxmlformats.org/drawingml/2006/main">
            <a:off x="400050" y="2876550"/>
            <a:ext cx="3562350" cy="2895600"/>
          </a:xfrm>
          <a:prstGeom xmlns:a="http://schemas.openxmlformats.org/drawingml/2006/main" prst="roundRect">
            <a:avLst>
              <a:gd name="adj" fmla="val 2632"/>
            </a:avLst>
          </a:prstGeom>
          <a:solidFill xmlns:a="http://schemas.openxmlformats.org/drawingml/2006/main">
            <a:srgbClr val="EDEDED"/>
          </a:solidFill>
          <a:ln xmlns:a="http://schemas.openxmlformats.org/drawingml/2006/main" w="0">
            <a:solidFill>
              <a:srgbClr val="EDEDED"/>
            </a:solidFill>
            <a:prstDash val="solid"/>
          </a:ln>
        </p:spPr>
      </p:sp>
      <p:sp>
        <p:nvSpPr>
          <p:cNvPr id="5" name="slide-5-stat-1">
            <a:extLst xmlns:a="http://schemas.openxmlformats.org/drawingml/2006/main">
              <a:ext uri="{FF2B5EF4-FFF2-40B4-BE49-F238E27FC236}">
                <a16:creationId xmlns:a16="http://schemas.microsoft.com/office/drawing/2014/main" id="{AAEE0F02-4DDE-43AB-9AB9-2CBD6A104B08}"/>
              </a:ext>
            </a:extLst>
          </p:cNvPr>
          <p:cNvSpPr>
            <a:spLocks xmlns:a="http://schemas.openxmlformats.org/drawingml/2006/main" noGrp="1"/>
          </p:cNvSpPr>
          <p:nvPr/>
        </p:nvSpPr>
        <p:spPr>
          <a:xfrm xmlns:a="http://schemas.openxmlformats.org/drawingml/2006/main">
            <a:off x="704850" y="3371850"/>
            <a:ext cx="2952750" cy="9144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27M / 7.04M</a:t>
            </a:r>
          </a:p>
        </p:txBody>
      </p:sp>
      <p:sp>
        <p:nvSpPr>
          <p:cNvPr id="6" name="slide-5-card-body-1">
            <a:extLst xmlns:a="http://schemas.openxmlformats.org/drawingml/2006/main">
              <a:ext uri="{FF2B5EF4-FFF2-40B4-BE49-F238E27FC236}">
                <a16:creationId xmlns:a16="http://schemas.microsoft.com/office/drawing/2014/main" id="{0A5BBCDD-E112-464B-81DD-2CE2D8D8D410}"/>
              </a:ext>
            </a:extLst>
          </p:cNvPr>
          <p:cNvSpPr>
            <a:spLocks xmlns:a="http://schemas.openxmlformats.org/drawingml/2006/main" noGrp="1"/>
          </p:cNvSpPr>
          <p:nvPr/>
        </p:nvSpPr>
        <p:spPr>
          <a:xfrm xmlns:a="http://schemas.openxmlformats.org/drawingml/2006/main">
            <a:off x="704850" y="4591050"/>
            <a:ext cx="295275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Forecasts / stocked candidates</a:t>
            </a:r>
          </a:p>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6×: 162M / 42.24M @ 30k/s / 15k/s</a:t>
            </a:r>
          </a:p>
        </p:txBody>
      </p:sp>
      <p:sp>
        <p:nvSpPr>
          <p:cNvPr id="7" name="slide-5-card-2">
            <a:extLst xmlns:a="http://schemas.openxmlformats.org/drawingml/2006/main">
              <a:ext uri="{FF2B5EF4-FFF2-40B4-BE49-F238E27FC236}">
                <a16:creationId xmlns:a16="http://schemas.microsoft.com/office/drawing/2014/main" id="{55854692-AA36-4BE5-A5BB-D1CFF1CB475D}"/>
              </a:ext>
            </a:extLst>
          </p:cNvPr>
          <p:cNvSpPr>
            <a:spLocks xmlns:a="http://schemas.openxmlformats.org/drawingml/2006/main" noGrp="1"/>
          </p:cNvSpPr>
          <p:nvPr/>
        </p:nvSpPr>
        <p:spPr>
          <a:xfrm xmlns:a="http://schemas.openxmlformats.org/drawingml/2006/main">
            <a:off x="4314825" y="2876550"/>
            <a:ext cx="3562350" cy="2895600"/>
          </a:xfrm>
          <a:prstGeom xmlns:a="http://schemas.openxmlformats.org/drawingml/2006/main" prst="roundRect">
            <a:avLst>
              <a:gd name="adj" fmla="val 2632"/>
            </a:avLst>
          </a:prstGeom>
          <a:solidFill xmlns:a="http://schemas.openxmlformats.org/drawingml/2006/main">
            <a:srgbClr val="EDEDED"/>
          </a:solidFill>
          <a:ln xmlns:a="http://schemas.openxmlformats.org/drawingml/2006/main" w="0">
            <a:solidFill>
              <a:srgbClr val="EDEDED"/>
            </a:solidFill>
            <a:prstDash val="solid"/>
          </a:ln>
        </p:spPr>
      </p:sp>
      <p:sp>
        <p:nvSpPr>
          <p:cNvPr id="8" name="slide-5-stat-2">
            <a:extLst xmlns:a="http://schemas.openxmlformats.org/drawingml/2006/main">
              <a:ext uri="{FF2B5EF4-FFF2-40B4-BE49-F238E27FC236}">
                <a16:creationId xmlns:a16="http://schemas.microsoft.com/office/drawing/2014/main" id="{391EB434-F1D9-4787-AFE3-8AC0FF111F45}"/>
              </a:ext>
            </a:extLst>
          </p:cNvPr>
          <p:cNvSpPr>
            <a:spLocks xmlns:a="http://schemas.openxmlformats.org/drawingml/2006/main" noGrp="1"/>
          </p:cNvSpPr>
          <p:nvPr/>
        </p:nvSpPr>
        <p:spPr>
          <a:xfrm xmlns:a="http://schemas.openxmlformats.org/drawingml/2006/main">
            <a:off x="4619625" y="3371850"/>
            <a:ext cx="2952750" cy="9144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32.4 / 194.4 GB</a:t>
            </a:r>
          </a:p>
        </p:txBody>
      </p:sp>
      <p:sp>
        <p:nvSpPr>
          <p:cNvPr id="9" name="slide-5-card-body-2">
            <a:extLst xmlns:a="http://schemas.openxmlformats.org/drawingml/2006/main">
              <a:ext uri="{FF2B5EF4-FFF2-40B4-BE49-F238E27FC236}">
                <a16:creationId xmlns:a16="http://schemas.microsoft.com/office/drawing/2014/main" id="{0ED45CBC-C6EF-4056-9BD6-B55E665B74A2}"/>
              </a:ext>
            </a:extLst>
          </p:cNvPr>
          <p:cNvSpPr>
            <a:spLocks xmlns:a="http://schemas.openxmlformats.org/drawingml/2006/main" noGrp="1"/>
          </p:cNvSpPr>
          <p:nvPr/>
        </p:nvSpPr>
        <p:spPr>
          <a:xfrm xmlns:a="http://schemas.openxmlformats.org/drawingml/2006/main">
            <a:off x="4619625" y="4591050"/>
            <a:ext cx="295275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Forecast records / run</a:t>
            </a:r>
          </a:p>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1.2 KB assumption; retention gated</a:t>
            </a:r>
          </a:p>
        </p:txBody>
      </p:sp>
      <p:sp>
        <p:nvSpPr>
          <p:cNvPr id="10" name="slide-5-card-3">
            <a:extLst xmlns:a="http://schemas.openxmlformats.org/drawingml/2006/main">
              <a:ext uri="{FF2B5EF4-FFF2-40B4-BE49-F238E27FC236}">
                <a16:creationId xmlns:a16="http://schemas.microsoft.com/office/drawing/2014/main" id="{EF9F7E25-0725-4A3E-9162-29572361413D}"/>
              </a:ext>
            </a:extLst>
          </p:cNvPr>
          <p:cNvSpPr>
            <a:spLocks xmlns:a="http://schemas.openxmlformats.org/drawingml/2006/main" noGrp="1"/>
          </p:cNvSpPr>
          <p:nvPr/>
        </p:nvSpPr>
        <p:spPr>
          <a:xfrm xmlns:a="http://schemas.openxmlformats.org/drawingml/2006/main">
            <a:off x="8229600" y="2876550"/>
            <a:ext cx="3562350" cy="2895600"/>
          </a:xfrm>
          <a:prstGeom xmlns:a="http://schemas.openxmlformats.org/drawingml/2006/main" prst="roundRect">
            <a:avLst>
              <a:gd name="adj" fmla="val 2632"/>
            </a:avLst>
          </a:prstGeom>
          <a:solidFill xmlns:a="http://schemas.openxmlformats.org/drawingml/2006/main">
            <a:srgbClr val="EDEDED"/>
          </a:solidFill>
          <a:ln xmlns:a="http://schemas.openxmlformats.org/drawingml/2006/main" w="0">
            <a:solidFill>
              <a:srgbClr val="EDEDED"/>
            </a:solidFill>
            <a:prstDash val="solid"/>
          </a:ln>
        </p:spPr>
      </p:sp>
      <p:sp>
        <p:nvSpPr>
          <p:cNvPr id="11" name="slide-5-stat-3">
            <a:extLst xmlns:a="http://schemas.openxmlformats.org/drawingml/2006/main">
              <a:ext uri="{FF2B5EF4-FFF2-40B4-BE49-F238E27FC236}">
                <a16:creationId xmlns:a16="http://schemas.microsoft.com/office/drawing/2014/main" id="{E92F1544-D485-46E5-977F-1D962DD9FD49}"/>
              </a:ext>
            </a:extLst>
          </p:cNvPr>
          <p:cNvSpPr>
            <a:spLocks xmlns:a="http://schemas.openxmlformats.org/drawingml/2006/main" noGrp="1"/>
          </p:cNvSpPr>
          <p:nvPr/>
        </p:nvSpPr>
        <p:spPr>
          <a:xfrm xmlns:a="http://schemas.openxmlformats.org/drawingml/2006/main">
            <a:off x="8534400" y="3371850"/>
            <a:ext cx="2952750" cy="9144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$3.8M / $4M</a:t>
            </a:r>
          </a:p>
        </p:txBody>
      </p:sp>
      <p:sp>
        <p:nvSpPr>
          <p:cNvPr id="12" name="slide-5-card-body-3">
            <a:extLst xmlns:a="http://schemas.openxmlformats.org/drawingml/2006/main">
              <a:ext uri="{FF2B5EF4-FFF2-40B4-BE49-F238E27FC236}">
                <a16:creationId xmlns:a16="http://schemas.microsoft.com/office/drawing/2014/main" id="{6CFC51D8-80EC-44C1-89DC-B8E4BD933387}"/>
              </a:ext>
            </a:extLst>
          </p:cNvPr>
          <p:cNvSpPr>
            <a:spLocks xmlns:a="http://schemas.openxmlformats.org/drawingml/2006/main" noGrp="1"/>
          </p:cNvSpPr>
          <p:nvPr/>
        </p:nvSpPr>
        <p:spPr>
          <a:xfrm xmlns:a="http://schemas.openxmlformats.org/drawingml/2006/main">
            <a:off x="8534400" y="4591050"/>
            <a:ext cx="295275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Annual target / ceiling</a:t>
            </a:r>
          </a:p>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198.7 / 240 min • 41.3 min headroom</a:t>
            </a:r>
          </a:p>
        </p:txBody>
      </p:sp>
      <p:sp>
        <p:nvSpPr>
          <p:cNvPr id="13" name="slide-5-targets-flag">
            <a:extLst xmlns:a="http://schemas.openxmlformats.org/drawingml/2006/main">
              <a:ext uri="{FF2B5EF4-FFF2-40B4-BE49-F238E27FC236}">
                <a16:creationId xmlns:a16="http://schemas.microsoft.com/office/drawing/2014/main" id="{2E702DF4-24E9-4F60-BAD9-A5F6A5F5C378}"/>
              </a:ext>
            </a:extLst>
          </p:cNvPr>
          <p:cNvSpPr>
            <a:spLocks xmlns:a="http://schemas.openxmlformats.org/drawingml/2006/main" noGrp="1"/>
          </p:cNvSpPr>
          <p:nvPr/>
        </p:nvSpPr>
        <p:spPr>
          <a:xfrm xmlns:a="http://schemas.openxmlformats.org/drawingml/2006/main">
            <a:off x="400050" y="5905500"/>
            <a:ext cx="11391900" cy="285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slide-5-targets-label">
            <a:extLst xmlns:a="http://schemas.openxmlformats.org/drawingml/2006/main">
              <a:ext uri="{FF2B5EF4-FFF2-40B4-BE49-F238E27FC236}">
                <a16:creationId xmlns:a16="http://schemas.microsoft.com/office/drawing/2014/main" id="{58AD68B4-3CE5-4F8B-A94D-D92948529640}"/>
              </a:ext>
            </a:extLst>
          </p:cNvPr>
          <p:cNvSpPr>
            <a:spLocks xmlns:a="http://schemas.openxmlformats.org/drawingml/2006/main" noGrp="1"/>
          </p:cNvSpPr>
          <p:nvPr/>
        </p:nvSpPr>
        <p:spPr>
          <a:xfrm xmlns:a="http://schemas.openxmlformats.org/drawingml/2006/main">
            <a:off x="400050" y="5953125"/>
            <a:ext cx="11391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FFFFFF"/>
                </a:solidFill>
                <a:latin typeface="Arial"/>
                <a:ea typeface="Arial"/>
                <a:cs typeface="Arial"/>
              </a:defRPr>
            </a:pPr>
            <a:r>
              <a:rPr sz="1350" b="1">
                <a:solidFill>
                  <a:srgbClr val="FFFFFF"/>
                </a:solidFill>
                <a:latin typeface="Arial"/>
                <a:ea typeface="Arial"/>
                <a:cs typeface="Arial"/>
              </a:rPr>
              <a:t>TARGETS, NOT BENCHMARK RESULTS</a:t>
            </a:r>
          </a:p>
        </p:txBody>
      </p:sp>
      <p:sp>
        <p:nvSpPr>
          <p:cNvPr id="15" name="owner-footer-5">
            <a:extLst xmlns:a="http://schemas.openxmlformats.org/drawingml/2006/main">
              <a:ext uri="{FF2B5EF4-FFF2-40B4-BE49-F238E27FC236}">
                <a16:creationId xmlns:a16="http://schemas.microsoft.com/office/drawing/2014/main" id="{E91A962C-6CF2-4D76-BA62-76AFA0EBE9A6}"/>
              </a:ext>
            </a:extLst>
          </p:cNvPr>
          <p:cNvSpPr>
            <a:spLocks xmlns:a="http://schemas.openxmlformats.org/drawingml/2006/main" noGrp="1"/>
          </p:cNvSpPr>
          <p:nvPr/>
        </p:nvSpPr>
        <p:spPr>
          <a:xfrm xmlns:a="http://schemas.openxmlformats.org/drawingml/2006/main">
            <a:off x="400050" y="6191250"/>
            <a:ext cx="8096250" cy="20955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200">
                <a:solidFill>
                  <a:srgbClr val="586174"/>
                </a:solidFill>
                <a:latin typeface="Arial"/>
                <a:ea typeface="Arial"/>
                <a:cs typeface="Arial"/>
              </a:defRPr>
            </a:pPr>
            <a:r>
              <a:rPr sz="1200">
                <a:solidFill>
                  <a:srgbClr val="586174"/>
                </a:solidFill>
                <a:latin typeface="Arial"/>
                <a:ea typeface="Arial"/>
                <a:cs typeface="Arial"/>
              </a:rPr>
              <a:t>Owner: TRẦN THANH PHỤNG (218924)</a:t>
            </a:r>
          </a:p>
        </p:txBody>
      </p:sp>
      <p:sp>
        <p:nvSpPr>
          <p:cNvPr id="16" name="artifact-footer-5">
            <a:extLst xmlns:a="http://schemas.openxmlformats.org/drawingml/2006/main">
              <a:ext uri="{FF2B5EF4-FFF2-40B4-BE49-F238E27FC236}">
                <a16:creationId xmlns:a16="http://schemas.microsoft.com/office/drawing/2014/main" id="{DB2CE09E-7AC1-4E98-87B3-FBF0C82CEA89}"/>
              </a:ext>
            </a:extLst>
          </p:cNvPr>
          <p:cNvSpPr>
            <a:spLocks xmlns:a="http://schemas.openxmlformats.org/drawingml/2006/main" noGrp="1"/>
          </p:cNvSpPr>
          <p:nvPr/>
        </p:nvSpPr>
        <p:spPr>
          <a:xfrm xmlns:a="http://schemas.openxmlformats.org/drawingml/2006/main">
            <a:off x="3676650" y="6419850"/>
            <a:ext cx="49530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350">
                <a:solidFill>
                  <a:srgbClr val="586174"/>
                </a:solidFill>
                <a:latin typeface="Arial"/>
                <a:ea typeface="Arial"/>
                <a:cs typeface="Arial"/>
              </a:defRPr>
            </a:pPr>
            <a:r>
              <a:rPr sz="1350">
                <a:solidFill>
                  <a:srgbClr val="586174"/>
                </a:solidFill>
                <a:latin typeface="Arial"/>
                <a:ea typeface="Arial"/>
                <a:cs typeface="Arial"/>
              </a:rPr>
              <a:t>NFR + cost check</a:t>
            </a:r>
          </a:p>
        </p:txBody>
      </p:sp>
      <p:sp>
        <p:nvSpPr>
          <p:cNvPr id="17" name="page-number-5">
            <a:extLst xmlns:a="http://schemas.openxmlformats.org/drawingml/2006/main">
              <a:ext uri="{FF2B5EF4-FFF2-40B4-BE49-F238E27FC236}">
                <a16:creationId xmlns:a16="http://schemas.microsoft.com/office/drawing/2014/main" id="{C9660B1A-BA50-4704-AA71-A169B557BA8E}"/>
              </a:ext>
            </a:extLst>
          </p:cNvPr>
          <p:cNvSpPr>
            <a:spLocks xmlns:a="http://schemas.openxmlformats.org/drawingml/2006/main" noGrp="1"/>
          </p:cNvSpPr>
          <p:nvPr/>
        </p:nvSpPr>
        <p:spPr>
          <a:xfrm xmlns:a="http://schemas.openxmlformats.org/drawingml/2006/main">
            <a:off x="11296650" y="6419850"/>
            <a:ext cx="4953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350">
                <a:solidFill>
                  <a:srgbClr val="000000"/>
                </a:solidFill>
                <a:latin typeface="Arial"/>
                <a:ea typeface="Arial"/>
                <a:cs typeface="Arial"/>
              </a:defRPr>
            </a:pPr>
            <a:r>
              <a:rPr sz="1350">
                <a:solidFill>
                  <a:srgbClr val="000000"/>
                </a:solidFill>
                <a:latin typeface="Arial"/>
                <a:ea typeface="Arial"/>
                <a:cs typeface="Arial"/>
              </a:rPr>
              <a:t>5</a:t>
            </a:r>
          </a:p>
        </p:txBody>
      </p:sp>
    </p:spTree>
    <p:extLst>
      <p:ext uri="{BB962C8B-B14F-4D97-AF65-F5344CB8AC3E}">
        <p14:creationId xmlns:p14="http://schemas.microsoft.com/office/powerpoint/2010/main" val="164753153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slide-6-title">
            <a:extLst xmlns:a="http://schemas.openxmlformats.org/drawingml/2006/main">
              <a:ext uri="{FF2B5EF4-FFF2-40B4-BE49-F238E27FC236}">
                <a16:creationId xmlns:a16="http://schemas.microsoft.com/office/drawing/2014/main" id="{3B7F2E28-0746-4975-A21C-EE0832C2ACF6}"/>
              </a:ext>
            </a:extLst>
          </p:cNvPr>
          <p:cNvSpPr>
            <a:spLocks xmlns:a="http://schemas.openxmlformats.org/drawingml/2006/main" noGrp="1"/>
          </p:cNvSpPr>
          <p:nvPr/>
        </p:nvSpPr>
        <p:spPr>
          <a:xfrm xmlns:a="http://schemas.openxmlformats.org/drawingml/2006/main">
            <a:off x="400050" y="323850"/>
            <a:ext cx="1139190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Sidecar wins on supported isolation, not convenience.</a:t>
            </a:r>
          </a:p>
        </p:txBody>
      </p:sp>
      <p:sp>
        <p:nvSpPr>
          <p:cNvPr id="2" name="slide-6-grid-0">
            <a:extLst xmlns:a="http://schemas.openxmlformats.org/drawingml/2006/main">
              <a:ext uri="{FF2B5EF4-FFF2-40B4-BE49-F238E27FC236}">
                <a16:creationId xmlns:a16="http://schemas.microsoft.com/office/drawing/2014/main" id="{C327F234-AC12-495A-BED3-1ADE75AA97E8}"/>
              </a:ext>
            </a:extLst>
          </p:cNvPr>
          <p:cNvSpPr>
            <a:spLocks xmlns:a="http://schemas.openxmlformats.org/drawingml/2006/main" noGrp="1"/>
          </p:cNvSpPr>
          <p:nvPr/>
        </p:nvSpPr>
        <p:spPr>
          <a:xfrm xmlns:a="http://schemas.openxmlformats.org/drawingml/2006/main">
            <a:off x="2114550" y="1619250"/>
            <a:ext cx="9525" cy="3790950"/>
          </a:xfrm>
          <a:prstGeom xmlns:a="http://schemas.openxmlformats.org/drawingml/2006/main" prst="rect">
            <a:avLst/>
          </a:prstGeom>
          <a:solidFill xmlns:a="http://schemas.openxmlformats.org/drawingml/2006/main">
            <a:srgbClr val="000000"/>
          </a:solidFill>
          <a:ln xmlns:a="http://schemas.openxmlformats.org/drawingml/2006/main" w="0">
            <a:solidFill>
              <a:srgbClr val="000000"/>
            </a:solidFill>
            <a:prstDash val="solid"/>
          </a:ln>
        </p:spPr>
      </p:sp>
      <p:sp>
        <p:nvSpPr>
          <p:cNvPr id="3" name="slide-6-tick-0">
            <a:extLst xmlns:a="http://schemas.openxmlformats.org/drawingml/2006/main">
              <a:ext uri="{FF2B5EF4-FFF2-40B4-BE49-F238E27FC236}">
                <a16:creationId xmlns:a16="http://schemas.microsoft.com/office/drawing/2014/main" id="{641F836F-C3B2-454A-9D91-6D629D83B97D}"/>
              </a:ext>
            </a:extLst>
          </p:cNvPr>
          <p:cNvSpPr>
            <a:spLocks xmlns:a="http://schemas.openxmlformats.org/drawingml/2006/main" noGrp="1"/>
          </p:cNvSpPr>
          <p:nvPr/>
        </p:nvSpPr>
        <p:spPr>
          <a:xfrm xmlns:a="http://schemas.openxmlformats.org/drawingml/2006/main">
            <a:off x="2000250" y="5467350"/>
            <a:ext cx="2286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a:solidFill>
                  <a:srgbClr val="586174"/>
                </a:solidFill>
                <a:latin typeface="Arial"/>
                <a:ea typeface="Arial"/>
                <a:cs typeface="Arial"/>
              </a:defRPr>
            </a:pPr>
            <a:r>
              <a:rPr sz="1350">
                <a:solidFill>
                  <a:srgbClr val="586174"/>
                </a:solidFill>
                <a:latin typeface="Arial"/>
                <a:ea typeface="Arial"/>
                <a:cs typeface="Arial"/>
              </a:rPr>
              <a:t>0</a:t>
            </a:r>
          </a:p>
        </p:txBody>
      </p:sp>
      <p:sp>
        <p:nvSpPr>
          <p:cNvPr id="4" name="slide-6-grid-1">
            <a:extLst xmlns:a="http://schemas.openxmlformats.org/drawingml/2006/main">
              <a:ext uri="{FF2B5EF4-FFF2-40B4-BE49-F238E27FC236}">
                <a16:creationId xmlns:a16="http://schemas.microsoft.com/office/drawing/2014/main" id="{82A7A8F1-44EF-4EBA-AF18-8BC112DE3064}"/>
              </a:ext>
            </a:extLst>
          </p:cNvPr>
          <p:cNvSpPr>
            <a:spLocks xmlns:a="http://schemas.openxmlformats.org/drawingml/2006/main" noGrp="1"/>
          </p:cNvSpPr>
          <p:nvPr/>
        </p:nvSpPr>
        <p:spPr>
          <a:xfrm xmlns:a="http://schemas.openxmlformats.org/drawingml/2006/main">
            <a:off x="2762250" y="1619250"/>
            <a:ext cx="9525" cy="37909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5" name="slide-6-tick-1">
            <a:extLst xmlns:a="http://schemas.openxmlformats.org/drawingml/2006/main">
              <a:ext uri="{FF2B5EF4-FFF2-40B4-BE49-F238E27FC236}">
                <a16:creationId xmlns:a16="http://schemas.microsoft.com/office/drawing/2014/main" id="{385B651E-C812-47F9-82EC-680EC4C649C2}"/>
              </a:ext>
            </a:extLst>
          </p:cNvPr>
          <p:cNvSpPr>
            <a:spLocks xmlns:a="http://schemas.openxmlformats.org/drawingml/2006/main" noGrp="1"/>
          </p:cNvSpPr>
          <p:nvPr/>
        </p:nvSpPr>
        <p:spPr>
          <a:xfrm xmlns:a="http://schemas.openxmlformats.org/drawingml/2006/main">
            <a:off x="2647950" y="5467350"/>
            <a:ext cx="2286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a:solidFill>
                  <a:srgbClr val="586174"/>
                </a:solidFill>
                <a:latin typeface="Arial"/>
                <a:ea typeface="Arial"/>
                <a:cs typeface="Arial"/>
              </a:defRPr>
            </a:pPr>
            <a:r>
              <a:rPr sz="1350">
                <a:solidFill>
                  <a:srgbClr val="586174"/>
                </a:solidFill>
                <a:latin typeface="Arial"/>
                <a:ea typeface="Arial"/>
                <a:cs typeface="Arial"/>
              </a:rPr>
              <a:t>1</a:t>
            </a:r>
          </a:p>
        </p:txBody>
      </p:sp>
      <p:sp>
        <p:nvSpPr>
          <p:cNvPr id="6" name="slide-6-grid-2">
            <a:extLst xmlns:a="http://schemas.openxmlformats.org/drawingml/2006/main">
              <a:ext uri="{FF2B5EF4-FFF2-40B4-BE49-F238E27FC236}">
                <a16:creationId xmlns:a16="http://schemas.microsoft.com/office/drawing/2014/main" id="{FBEB9778-21EA-4DE8-B06C-55E56764444F}"/>
              </a:ext>
            </a:extLst>
          </p:cNvPr>
          <p:cNvSpPr>
            <a:spLocks xmlns:a="http://schemas.openxmlformats.org/drawingml/2006/main" noGrp="1"/>
          </p:cNvSpPr>
          <p:nvPr/>
        </p:nvSpPr>
        <p:spPr>
          <a:xfrm xmlns:a="http://schemas.openxmlformats.org/drawingml/2006/main">
            <a:off x="3409950" y="1619250"/>
            <a:ext cx="9525" cy="37909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7" name="slide-6-tick-2">
            <a:extLst xmlns:a="http://schemas.openxmlformats.org/drawingml/2006/main">
              <a:ext uri="{FF2B5EF4-FFF2-40B4-BE49-F238E27FC236}">
                <a16:creationId xmlns:a16="http://schemas.microsoft.com/office/drawing/2014/main" id="{81FB8982-97F9-4FC2-8F1C-0B13717994C1}"/>
              </a:ext>
            </a:extLst>
          </p:cNvPr>
          <p:cNvSpPr>
            <a:spLocks xmlns:a="http://schemas.openxmlformats.org/drawingml/2006/main" noGrp="1"/>
          </p:cNvSpPr>
          <p:nvPr/>
        </p:nvSpPr>
        <p:spPr>
          <a:xfrm xmlns:a="http://schemas.openxmlformats.org/drawingml/2006/main">
            <a:off x="3295650" y="5467350"/>
            <a:ext cx="2286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a:solidFill>
                  <a:srgbClr val="586174"/>
                </a:solidFill>
                <a:latin typeface="Arial"/>
                <a:ea typeface="Arial"/>
                <a:cs typeface="Arial"/>
              </a:defRPr>
            </a:pPr>
            <a:r>
              <a:rPr sz="1350">
                <a:solidFill>
                  <a:srgbClr val="586174"/>
                </a:solidFill>
                <a:latin typeface="Arial"/>
                <a:ea typeface="Arial"/>
                <a:cs typeface="Arial"/>
              </a:rPr>
              <a:t>2</a:t>
            </a:r>
          </a:p>
        </p:txBody>
      </p:sp>
      <p:sp>
        <p:nvSpPr>
          <p:cNvPr id="8" name="slide-6-grid-3">
            <a:extLst xmlns:a="http://schemas.openxmlformats.org/drawingml/2006/main">
              <a:ext uri="{FF2B5EF4-FFF2-40B4-BE49-F238E27FC236}">
                <a16:creationId xmlns:a16="http://schemas.microsoft.com/office/drawing/2014/main" id="{3C7F3F84-33CF-4041-BB77-7699D16BF67C}"/>
              </a:ext>
            </a:extLst>
          </p:cNvPr>
          <p:cNvSpPr>
            <a:spLocks xmlns:a="http://schemas.openxmlformats.org/drawingml/2006/main" noGrp="1"/>
          </p:cNvSpPr>
          <p:nvPr/>
        </p:nvSpPr>
        <p:spPr>
          <a:xfrm xmlns:a="http://schemas.openxmlformats.org/drawingml/2006/main">
            <a:off x="4057650" y="1619250"/>
            <a:ext cx="9525" cy="37909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slide-6-tick-3">
            <a:extLst xmlns:a="http://schemas.openxmlformats.org/drawingml/2006/main">
              <a:ext uri="{FF2B5EF4-FFF2-40B4-BE49-F238E27FC236}">
                <a16:creationId xmlns:a16="http://schemas.microsoft.com/office/drawing/2014/main" id="{679BD08F-0372-4B3F-8F5B-63B3DB57250C}"/>
              </a:ext>
            </a:extLst>
          </p:cNvPr>
          <p:cNvSpPr>
            <a:spLocks xmlns:a="http://schemas.openxmlformats.org/drawingml/2006/main" noGrp="1"/>
          </p:cNvSpPr>
          <p:nvPr/>
        </p:nvSpPr>
        <p:spPr>
          <a:xfrm xmlns:a="http://schemas.openxmlformats.org/drawingml/2006/main">
            <a:off x="3943350" y="5467350"/>
            <a:ext cx="2286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a:solidFill>
                  <a:srgbClr val="586174"/>
                </a:solidFill>
                <a:latin typeface="Arial"/>
                <a:ea typeface="Arial"/>
                <a:cs typeface="Arial"/>
              </a:defRPr>
            </a:pPr>
            <a:r>
              <a:rPr sz="1350">
                <a:solidFill>
                  <a:srgbClr val="586174"/>
                </a:solidFill>
                <a:latin typeface="Arial"/>
                <a:ea typeface="Arial"/>
                <a:cs typeface="Arial"/>
              </a:rPr>
              <a:t>3</a:t>
            </a:r>
          </a:p>
        </p:txBody>
      </p:sp>
      <p:sp>
        <p:nvSpPr>
          <p:cNvPr id="10" name="slide-6-grid-4">
            <a:extLst xmlns:a="http://schemas.openxmlformats.org/drawingml/2006/main">
              <a:ext uri="{FF2B5EF4-FFF2-40B4-BE49-F238E27FC236}">
                <a16:creationId xmlns:a16="http://schemas.microsoft.com/office/drawing/2014/main" id="{E4E63612-EC1A-4E39-96FD-05B3E3403DAA}"/>
              </a:ext>
            </a:extLst>
          </p:cNvPr>
          <p:cNvSpPr>
            <a:spLocks xmlns:a="http://schemas.openxmlformats.org/drawingml/2006/main" noGrp="1"/>
          </p:cNvSpPr>
          <p:nvPr/>
        </p:nvSpPr>
        <p:spPr>
          <a:xfrm xmlns:a="http://schemas.openxmlformats.org/drawingml/2006/main">
            <a:off x="4705350" y="1619250"/>
            <a:ext cx="9525" cy="37909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1" name="slide-6-tick-4">
            <a:extLst xmlns:a="http://schemas.openxmlformats.org/drawingml/2006/main">
              <a:ext uri="{FF2B5EF4-FFF2-40B4-BE49-F238E27FC236}">
                <a16:creationId xmlns:a16="http://schemas.microsoft.com/office/drawing/2014/main" id="{4761CFA8-D963-4A56-900B-2C2E6049B93A}"/>
              </a:ext>
            </a:extLst>
          </p:cNvPr>
          <p:cNvSpPr>
            <a:spLocks xmlns:a="http://schemas.openxmlformats.org/drawingml/2006/main" noGrp="1"/>
          </p:cNvSpPr>
          <p:nvPr/>
        </p:nvSpPr>
        <p:spPr>
          <a:xfrm xmlns:a="http://schemas.openxmlformats.org/drawingml/2006/main">
            <a:off x="4591050" y="5467350"/>
            <a:ext cx="2286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a:solidFill>
                  <a:srgbClr val="586174"/>
                </a:solidFill>
                <a:latin typeface="Arial"/>
                <a:ea typeface="Arial"/>
                <a:cs typeface="Arial"/>
              </a:defRPr>
            </a:pPr>
            <a:r>
              <a:rPr sz="1350">
                <a:solidFill>
                  <a:srgbClr val="586174"/>
                </a:solidFill>
                <a:latin typeface="Arial"/>
                <a:ea typeface="Arial"/>
                <a:cs typeface="Arial"/>
              </a:rPr>
              <a:t>4</a:t>
            </a:r>
          </a:p>
        </p:txBody>
      </p:sp>
      <p:sp>
        <p:nvSpPr>
          <p:cNvPr id="12" name="slide-6-grid-5">
            <a:extLst xmlns:a="http://schemas.openxmlformats.org/drawingml/2006/main">
              <a:ext uri="{FF2B5EF4-FFF2-40B4-BE49-F238E27FC236}">
                <a16:creationId xmlns:a16="http://schemas.microsoft.com/office/drawing/2014/main" id="{51A9A3D7-5D7D-42A7-8EC7-3523FC05B70C}"/>
              </a:ext>
            </a:extLst>
          </p:cNvPr>
          <p:cNvSpPr>
            <a:spLocks xmlns:a="http://schemas.openxmlformats.org/drawingml/2006/main" noGrp="1"/>
          </p:cNvSpPr>
          <p:nvPr/>
        </p:nvSpPr>
        <p:spPr>
          <a:xfrm xmlns:a="http://schemas.openxmlformats.org/drawingml/2006/main">
            <a:off x="5353050" y="1619250"/>
            <a:ext cx="9525" cy="37909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slide-6-tick-5">
            <a:extLst xmlns:a="http://schemas.openxmlformats.org/drawingml/2006/main">
              <a:ext uri="{FF2B5EF4-FFF2-40B4-BE49-F238E27FC236}">
                <a16:creationId xmlns:a16="http://schemas.microsoft.com/office/drawing/2014/main" id="{65CE7798-E884-4861-AEC9-F51A215FA497}"/>
              </a:ext>
            </a:extLst>
          </p:cNvPr>
          <p:cNvSpPr>
            <a:spLocks xmlns:a="http://schemas.openxmlformats.org/drawingml/2006/main" noGrp="1"/>
          </p:cNvSpPr>
          <p:nvPr/>
        </p:nvSpPr>
        <p:spPr>
          <a:xfrm xmlns:a="http://schemas.openxmlformats.org/drawingml/2006/main">
            <a:off x="5238750" y="5467350"/>
            <a:ext cx="2286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a:solidFill>
                  <a:srgbClr val="586174"/>
                </a:solidFill>
                <a:latin typeface="Arial"/>
                <a:ea typeface="Arial"/>
                <a:cs typeface="Arial"/>
              </a:defRPr>
            </a:pPr>
            <a:r>
              <a:rPr sz="1350">
                <a:solidFill>
                  <a:srgbClr val="586174"/>
                </a:solidFill>
                <a:latin typeface="Arial"/>
                <a:ea typeface="Arial"/>
                <a:cs typeface="Arial"/>
              </a:rPr>
              <a:t>5</a:t>
            </a:r>
          </a:p>
        </p:txBody>
      </p:sp>
      <p:sp>
        <p:nvSpPr>
          <p:cNvPr id="14" name="slide-6-bar-label-1">
            <a:extLst xmlns:a="http://schemas.openxmlformats.org/drawingml/2006/main">
              <a:ext uri="{FF2B5EF4-FFF2-40B4-BE49-F238E27FC236}">
                <a16:creationId xmlns:a16="http://schemas.microsoft.com/office/drawing/2014/main" id="{7BBF2F2A-F9A7-48B9-B306-6C3EA41FC623}"/>
              </a:ext>
            </a:extLst>
          </p:cNvPr>
          <p:cNvSpPr>
            <a:spLocks xmlns:a="http://schemas.openxmlformats.org/drawingml/2006/main" noGrp="1"/>
          </p:cNvSpPr>
          <p:nvPr/>
        </p:nvSpPr>
        <p:spPr>
          <a:xfrm xmlns:a="http://schemas.openxmlformats.org/drawingml/2006/main">
            <a:off x="400050" y="1857375"/>
            <a:ext cx="16002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Integration</a:t>
            </a:r>
          </a:p>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Sidecar</a:t>
            </a:r>
          </a:p>
        </p:txBody>
      </p:sp>
      <p:sp>
        <p:nvSpPr>
          <p:cNvPr id="15" name="slide-6-bar-1">
            <a:extLst xmlns:a="http://schemas.openxmlformats.org/drawingml/2006/main">
              <a:ext uri="{FF2B5EF4-FFF2-40B4-BE49-F238E27FC236}">
                <a16:creationId xmlns:a16="http://schemas.microsoft.com/office/drawing/2014/main" id="{915DBF37-65AC-4754-85A0-1BFDC502B5C3}"/>
              </a:ext>
            </a:extLst>
          </p:cNvPr>
          <p:cNvSpPr>
            <a:spLocks xmlns:a="http://schemas.openxmlformats.org/drawingml/2006/main" noGrp="1"/>
          </p:cNvSpPr>
          <p:nvPr/>
        </p:nvSpPr>
        <p:spPr>
          <a:xfrm xmlns:a="http://schemas.openxmlformats.org/drawingml/2006/main">
            <a:off x="2114550" y="1809750"/>
            <a:ext cx="3108960" cy="400050"/>
          </a:xfrm>
          <a:prstGeom xmlns:a="http://schemas.openxmlformats.org/drawingml/2006/main" prst="roundRect">
            <a:avLst>
              <a:gd name="adj" fmla="val 9524"/>
            </a:avLst>
          </a:prstGeom>
          <a:solidFill xmlns:a="http://schemas.openxmlformats.org/drawingml/2006/main">
            <a:srgbClr val="3D8DFF"/>
          </a:solidFill>
          <a:ln xmlns:a="http://schemas.openxmlformats.org/drawingml/2006/main" w="0">
            <a:solidFill>
              <a:srgbClr val="3D8DFF"/>
            </a:solidFill>
            <a:prstDash val="solid"/>
          </a:ln>
        </p:spPr>
      </p:sp>
      <p:sp>
        <p:nvSpPr>
          <p:cNvPr id="16" name="slide-6-bar-value-1">
            <a:extLst xmlns:a="http://schemas.openxmlformats.org/drawingml/2006/main">
              <a:ext uri="{FF2B5EF4-FFF2-40B4-BE49-F238E27FC236}">
                <a16:creationId xmlns:a16="http://schemas.microsoft.com/office/drawing/2014/main" id="{8A469790-5B42-42B8-8567-78EC8D0747FC}"/>
              </a:ext>
            </a:extLst>
          </p:cNvPr>
          <p:cNvSpPr>
            <a:spLocks xmlns:a="http://schemas.openxmlformats.org/drawingml/2006/main" noGrp="1"/>
          </p:cNvSpPr>
          <p:nvPr/>
        </p:nvSpPr>
        <p:spPr>
          <a:xfrm xmlns:a="http://schemas.openxmlformats.org/drawingml/2006/main">
            <a:off x="5318760" y="1876425"/>
            <a:ext cx="6096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1">
                <a:solidFill>
                  <a:srgbClr val="3D8DFF"/>
                </a:solidFill>
                <a:latin typeface="Arial"/>
                <a:ea typeface="Arial"/>
                <a:cs typeface="Arial"/>
              </a:defRPr>
            </a:pPr>
            <a:r>
              <a:rPr sz="1650" b="1">
                <a:solidFill>
                  <a:srgbClr val="3D8DFF"/>
                </a:solidFill>
                <a:latin typeface="Arial"/>
                <a:ea typeface="Arial"/>
                <a:cs typeface="Arial"/>
              </a:rPr>
              <a:t>4.80</a:t>
            </a:r>
          </a:p>
        </p:txBody>
      </p:sp>
      <p:sp>
        <p:nvSpPr>
          <p:cNvPr id="17" name="slide-6-bar-label-2">
            <a:extLst xmlns:a="http://schemas.openxmlformats.org/drawingml/2006/main">
              <a:ext uri="{FF2B5EF4-FFF2-40B4-BE49-F238E27FC236}">
                <a16:creationId xmlns:a16="http://schemas.microsoft.com/office/drawing/2014/main" id="{CC811B21-B9B7-4CA8-BC15-C46FDE995147}"/>
              </a:ext>
            </a:extLst>
          </p:cNvPr>
          <p:cNvSpPr>
            <a:spLocks xmlns:a="http://schemas.openxmlformats.org/drawingml/2006/main" noGrp="1"/>
          </p:cNvSpPr>
          <p:nvPr/>
        </p:nvSpPr>
        <p:spPr>
          <a:xfrm xmlns:a="http://schemas.openxmlformats.org/drawingml/2006/main">
            <a:off x="400050" y="2581275"/>
            <a:ext cx="16002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000000"/>
                </a:solidFill>
                <a:latin typeface="Arial"/>
                <a:ea typeface="Arial"/>
                <a:cs typeface="Arial"/>
              </a:defRPr>
            </a:pPr>
            <a:r>
              <a:rPr sz="1650" b="0">
                <a:solidFill>
                  <a:srgbClr val="000000"/>
                </a:solidFill>
                <a:latin typeface="Arial"/>
                <a:ea typeface="Arial"/>
                <a:cs typeface="Arial"/>
              </a:rPr>
              <a:t>Batch platform</a:t>
            </a:r>
          </a:p>
          <a:p xmlns:a="http://schemas.openxmlformats.org/drawingml/2006/main">
            <a:pPr algn="l">
              <a:buNone/>
              <a:defRPr sz="1650" b="0">
                <a:solidFill>
                  <a:srgbClr val="000000"/>
                </a:solidFill>
                <a:latin typeface="Arial"/>
                <a:ea typeface="Arial"/>
                <a:cs typeface="Arial"/>
              </a:defRPr>
            </a:pPr>
            <a:r>
              <a:rPr sz="1650" b="0">
                <a:solidFill>
                  <a:srgbClr val="000000"/>
                </a:solidFill>
                <a:latin typeface="Arial"/>
                <a:ea typeface="Arial"/>
                <a:cs typeface="Arial"/>
              </a:rPr>
              <a:t>Managed elastic</a:t>
            </a:r>
          </a:p>
        </p:txBody>
      </p:sp>
      <p:sp>
        <p:nvSpPr>
          <p:cNvPr id="18" name="slide-6-bar-2">
            <a:extLst xmlns:a="http://schemas.openxmlformats.org/drawingml/2006/main">
              <a:ext uri="{FF2B5EF4-FFF2-40B4-BE49-F238E27FC236}">
                <a16:creationId xmlns:a16="http://schemas.microsoft.com/office/drawing/2014/main" id="{9CFD0AC8-33C9-411B-B2D4-B3D9DBC854F6}"/>
              </a:ext>
            </a:extLst>
          </p:cNvPr>
          <p:cNvSpPr>
            <a:spLocks xmlns:a="http://schemas.openxmlformats.org/drawingml/2006/main" noGrp="1"/>
          </p:cNvSpPr>
          <p:nvPr/>
        </p:nvSpPr>
        <p:spPr>
          <a:xfrm xmlns:a="http://schemas.openxmlformats.org/drawingml/2006/main">
            <a:off x="2114550" y="2533650"/>
            <a:ext cx="3011805" cy="400050"/>
          </a:xfrm>
          <a:prstGeom xmlns:a="http://schemas.openxmlformats.org/drawingml/2006/main" prst="roundRect">
            <a:avLst>
              <a:gd name="adj" fmla="val 9524"/>
            </a:avLst>
          </a:prstGeom>
          <a:solidFill xmlns:a="http://schemas.openxmlformats.org/drawingml/2006/main">
            <a:srgbClr val="B8BCC4"/>
          </a:solidFill>
          <a:ln xmlns:a="http://schemas.openxmlformats.org/drawingml/2006/main" w="0">
            <a:solidFill>
              <a:srgbClr val="B8BCC4"/>
            </a:solidFill>
            <a:prstDash val="solid"/>
          </a:ln>
        </p:spPr>
      </p:sp>
      <p:sp>
        <p:nvSpPr>
          <p:cNvPr id="19" name="slide-6-bar-value-2">
            <a:extLst xmlns:a="http://schemas.openxmlformats.org/drawingml/2006/main">
              <a:ext uri="{FF2B5EF4-FFF2-40B4-BE49-F238E27FC236}">
                <a16:creationId xmlns:a16="http://schemas.microsoft.com/office/drawing/2014/main" id="{5641CC0B-05E9-431A-9D58-CEB71AD2AC91}"/>
              </a:ext>
            </a:extLst>
          </p:cNvPr>
          <p:cNvSpPr>
            <a:spLocks xmlns:a="http://schemas.openxmlformats.org/drawingml/2006/main" noGrp="1"/>
          </p:cNvSpPr>
          <p:nvPr/>
        </p:nvSpPr>
        <p:spPr>
          <a:xfrm xmlns:a="http://schemas.openxmlformats.org/drawingml/2006/main">
            <a:off x="5221605" y="2600325"/>
            <a:ext cx="6096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586174"/>
                </a:solidFill>
                <a:latin typeface="Arial"/>
                <a:ea typeface="Arial"/>
                <a:cs typeface="Arial"/>
              </a:defRPr>
            </a:pPr>
            <a:r>
              <a:rPr sz="1650" b="0">
                <a:solidFill>
                  <a:srgbClr val="586174"/>
                </a:solidFill>
                <a:latin typeface="Arial"/>
                <a:ea typeface="Arial"/>
                <a:cs typeface="Arial"/>
              </a:rPr>
              <a:t>4.65</a:t>
            </a:r>
          </a:p>
        </p:txBody>
      </p:sp>
      <p:sp>
        <p:nvSpPr>
          <p:cNvPr id="20" name="slide-6-bar-label-3">
            <a:extLst xmlns:a="http://schemas.openxmlformats.org/drawingml/2006/main">
              <a:ext uri="{FF2B5EF4-FFF2-40B4-BE49-F238E27FC236}">
                <a16:creationId xmlns:a16="http://schemas.microsoft.com/office/drawing/2014/main" id="{0738B16F-A3EA-49FC-8854-104BEAA02940}"/>
              </a:ext>
            </a:extLst>
          </p:cNvPr>
          <p:cNvSpPr>
            <a:spLocks xmlns:a="http://schemas.openxmlformats.org/drawingml/2006/main" noGrp="1"/>
          </p:cNvSpPr>
          <p:nvPr/>
        </p:nvSpPr>
        <p:spPr>
          <a:xfrm xmlns:a="http://schemas.openxmlformats.org/drawingml/2006/main">
            <a:off x="400050" y="3305175"/>
            <a:ext cx="16002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000000"/>
                </a:solidFill>
                <a:latin typeface="Arial"/>
                <a:ea typeface="Arial"/>
                <a:cs typeface="Arial"/>
              </a:defRPr>
            </a:pPr>
            <a:r>
              <a:rPr sz="1650" b="0">
                <a:solidFill>
                  <a:srgbClr val="000000"/>
                </a:solidFill>
                <a:latin typeface="Arial"/>
                <a:ea typeface="Arial"/>
                <a:cs typeface="Arial"/>
              </a:rPr>
              <a:t>Model family</a:t>
            </a:r>
          </a:p>
          <a:p xmlns:a="http://schemas.openxmlformats.org/drawingml/2006/main">
            <a:pPr algn="l">
              <a:buNone/>
              <a:defRPr sz="1650" b="0">
                <a:solidFill>
                  <a:srgbClr val="000000"/>
                </a:solidFill>
                <a:latin typeface="Arial"/>
                <a:ea typeface="Arial"/>
                <a:cs typeface="Arial"/>
              </a:defRPr>
            </a:pPr>
            <a:r>
              <a:rPr sz="1650" b="0">
                <a:solidFill>
                  <a:srgbClr val="000000"/>
                </a:solidFill>
                <a:latin typeface="Arial"/>
                <a:ea typeface="Arial"/>
                <a:cs typeface="Arial"/>
              </a:rPr>
              <a:t>Hybrid hierarchy</a:t>
            </a:r>
          </a:p>
        </p:txBody>
      </p:sp>
      <p:sp>
        <p:nvSpPr>
          <p:cNvPr id="21" name="slide-6-bar-3">
            <a:extLst xmlns:a="http://schemas.openxmlformats.org/drawingml/2006/main">
              <a:ext uri="{FF2B5EF4-FFF2-40B4-BE49-F238E27FC236}">
                <a16:creationId xmlns:a16="http://schemas.microsoft.com/office/drawing/2014/main" id="{5F39E4DE-B27E-4711-9E46-979ECE0A4A6E}"/>
              </a:ext>
            </a:extLst>
          </p:cNvPr>
          <p:cNvSpPr>
            <a:spLocks xmlns:a="http://schemas.openxmlformats.org/drawingml/2006/main" noGrp="1"/>
          </p:cNvSpPr>
          <p:nvPr/>
        </p:nvSpPr>
        <p:spPr>
          <a:xfrm xmlns:a="http://schemas.openxmlformats.org/drawingml/2006/main">
            <a:off x="2114550" y="3257550"/>
            <a:ext cx="2947035" cy="400050"/>
          </a:xfrm>
          <a:prstGeom xmlns:a="http://schemas.openxmlformats.org/drawingml/2006/main" prst="roundRect">
            <a:avLst>
              <a:gd name="adj" fmla="val 9524"/>
            </a:avLst>
          </a:prstGeom>
          <a:solidFill xmlns:a="http://schemas.openxmlformats.org/drawingml/2006/main">
            <a:srgbClr val="B8BCC4"/>
          </a:solidFill>
          <a:ln xmlns:a="http://schemas.openxmlformats.org/drawingml/2006/main" w="0">
            <a:solidFill>
              <a:srgbClr val="B8BCC4"/>
            </a:solidFill>
            <a:prstDash val="solid"/>
          </a:ln>
        </p:spPr>
      </p:sp>
      <p:sp>
        <p:nvSpPr>
          <p:cNvPr id="22" name="slide-6-bar-value-3">
            <a:extLst xmlns:a="http://schemas.openxmlformats.org/drawingml/2006/main">
              <a:ext uri="{FF2B5EF4-FFF2-40B4-BE49-F238E27FC236}">
                <a16:creationId xmlns:a16="http://schemas.microsoft.com/office/drawing/2014/main" id="{552B228C-E3B8-4279-99AE-46EC74D3477E}"/>
              </a:ext>
            </a:extLst>
          </p:cNvPr>
          <p:cNvSpPr>
            <a:spLocks xmlns:a="http://schemas.openxmlformats.org/drawingml/2006/main" noGrp="1"/>
          </p:cNvSpPr>
          <p:nvPr/>
        </p:nvSpPr>
        <p:spPr>
          <a:xfrm xmlns:a="http://schemas.openxmlformats.org/drawingml/2006/main">
            <a:off x="5156835" y="3324225"/>
            <a:ext cx="6096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586174"/>
                </a:solidFill>
                <a:latin typeface="Arial"/>
                <a:ea typeface="Arial"/>
                <a:cs typeface="Arial"/>
              </a:defRPr>
            </a:pPr>
            <a:r>
              <a:rPr sz="1650" b="0">
                <a:solidFill>
                  <a:srgbClr val="586174"/>
                </a:solidFill>
                <a:latin typeface="Arial"/>
                <a:ea typeface="Arial"/>
                <a:cs typeface="Arial"/>
              </a:rPr>
              <a:t>4.55</a:t>
            </a:r>
          </a:p>
        </p:txBody>
      </p:sp>
      <p:sp>
        <p:nvSpPr>
          <p:cNvPr id="23" name="slide-6-bar-label-4">
            <a:extLst xmlns:a="http://schemas.openxmlformats.org/drawingml/2006/main">
              <a:ext uri="{FF2B5EF4-FFF2-40B4-BE49-F238E27FC236}">
                <a16:creationId xmlns:a16="http://schemas.microsoft.com/office/drawing/2014/main" id="{648580EA-FA4E-4894-9A3A-D46C142BCCB1}"/>
              </a:ext>
            </a:extLst>
          </p:cNvPr>
          <p:cNvSpPr>
            <a:spLocks xmlns:a="http://schemas.openxmlformats.org/drawingml/2006/main" noGrp="1"/>
          </p:cNvSpPr>
          <p:nvPr/>
        </p:nvSpPr>
        <p:spPr>
          <a:xfrm xmlns:a="http://schemas.openxmlformats.org/drawingml/2006/main">
            <a:off x="400050" y="4029075"/>
            <a:ext cx="16002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000000"/>
                </a:solidFill>
                <a:latin typeface="Arial"/>
                <a:ea typeface="Arial"/>
                <a:cs typeface="Arial"/>
              </a:defRPr>
            </a:pPr>
            <a:r>
              <a:rPr sz="1650" b="0">
                <a:solidFill>
                  <a:srgbClr val="000000"/>
                </a:solidFill>
                <a:latin typeface="Arial"/>
                <a:ea typeface="Arial"/>
                <a:cs typeface="Arial"/>
              </a:rPr>
              <a:t>Sensitivity</a:t>
            </a:r>
          </a:p>
          <a:p xmlns:a="http://schemas.openxmlformats.org/drawingml/2006/main">
            <a:pPr algn="l">
              <a:buNone/>
              <a:defRPr sz="1650" b="0">
                <a:solidFill>
                  <a:srgbClr val="000000"/>
                </a:solidFill>
                <a:latin typeface="Arial"/>
                <a:ea typeface="Arial"/>
                <a:cs typeface="Arial"/>
              </a:defRPr>
            </a:pPr>
            <a:r>
              <a:rPr sz="1650" b="0">
                <a:solidFill>
                  <a:srgbClr val="000000"/>
                </a:solidFill>
                <a:latin typeface="Arial"/>
                <a:ea typeface="Arial"/>
                <a:cs typeface="Arial"/>
              </a:rPr>
              <a:t>Hybrid = global</a:t>
            </a:r>
          </a:p>
        </p:txBody>
      </p:sp>
      <p:sp>
        <p:nvSpPr>
          <p:cNvPr id="24" name="slide-6-bar-4">
            <a:extLst xmlns:a="http://schemas.openxmlformats.org/drawingml/2006/main">
              <a:ext uri="{FF2B5EF4-FFF2-40B4-BE49-F238E27FC236}">
                <a16:creationId xmlns:a16="http://schemas.microsoft.com/office/drawing/2014/main" id="{4FBFE63C-E738-4529-A599-768774578A32}"/>
              </a:ext>
            </a:extLst>
          </p:cNvPr>
          <p:cNvSpPr>
            <a:spLocks xmlns:a="http://schemas.openxmlformats.org/drawingml/2006/main" noGrp="1"/>
          </p:cNvSpPr>
          <p:nvPr/>
        </p:nvSpPr>
        <p:spPr>
          <a:xfrm xmlns:a="http://schemas.openxmlformats.org/drawingml/2006/main">
            <a:off x="2114550" y="3981450"/>
            <a:ext cx="2882265" cy="400050"/>
          </a:xfrm>
          <a:prstGeom xmlns:a="http://schemas.openxmlformats.org/drawingml/2006/main" prst="roundRect">
            <a:avLst>
              <a:gd name="adj" fmla="val 9524"/>
            </a:avLst>
          </a:prstGeom>
          <a:solidFill xmlns:a="http://schemas.openxmlformats.org/drawingml/2006/main">
            <a:srgbClr val="B8BCC4"/>
          </a:solidFill>
          <a:ln xmlns:a="http://schemas.openxmlformats.org/drawingml/2006/main" w="0">
            <a:solidFill>
              <a:srgbClr val="B8BCC4"/>
            </a:solidFill>
            <a:prstDash val="solid"/>
          </a:ln>
        </p:spPr>
      </p:sp>
      <p:sp>
        <p:nvSpPr>
          <p:cNvPr id="25" name="slide-6-bar-value-4">
            <a:extLst xmlns:a="http://schemas.openxmlformats.org/drawingml/2006/main">
              <a:ext uri="{FF2B5EF4-FFF2-40B4-BE49-F238E27FC236}">
                <a16:creationId xmlns:a16="http://schemas.microsoft.com/office/drawing/2014/main" id="{933742A7-B58F-4047-9AA9-F215890D95F8}"/>
              </a:ext>
            </a:extLst>
          </p:cNvPr>
          <p:cNvSpPr>
            <a:spLocks xmlns:a="http://schemas.openxmlformats.org/drawingml/2006/main" noGrp="1"/>
          </p:cNvSpPr>
          <p:nvPr/>
        </p:nvSpPr>
        <p:spPr>
          <a:xfrm xmlns:a="http://schemas.openxmlformats.org/drawingml/2006/main">
            <a:off x="5092065" y="4048125"/>
            <a:ext cx="6096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586174"/>
                </a:solidFill>
                <a:latin typeface="Arial"/>
                <a:ea typeface="Arial"/>
                <a:cs typeface="Arial"/>
              </a:defRPr>
            </a:pPr>
            <a:r>
              <a:rPr sz="1650" b="0">
                <a:solidFill>
                  <a:srgbClr val="586174"/>
                </a:solidFill>
                <a:latin typeface="Arial"/>
                <a:ea typeface="Arial"/>
                <a:cs typeface="Arial"/>
              </a:rPr>
              <a:t>4.45</a:t>
            </a:r>
          </a:p>
        </p:txBody>
      </p:sp>
      <p:sp>
        <p:nvSpPr>
          <p:cNvPr id="29" name="slide-6-rail-1">
            <a:extLst xmlns:a="http://schemas.openxmlformats.org/drawingml/2006/main">
              <a:ext uri="{FF2B5EF4-FFF2-40B4-BE49-F238E27FC236}">
                <a16:creationId xmlns:a16="http://schemas.microsoft.com/office/drawing/2014/main" id="{BC0796FD-8DBF-4B9A-B58B-262E630A251B}"/>
              </a:ext>
            </a:extLst>
          </p:cNvPr>
          <p:cNvSpPr>
            <a:spLocks xmlns:a="http://schemas.openxmlformats.org/drawingml/2006/main" noGrp="1"/>
          </p:cNvSpPr>
          <p:nvPr/>
        </p:nvSpPr>
        <p:spPr>
          <a:xfrm xmlns:a="http://schemas.openxmlformats.org/drawingml/2006/main">
            <a:off x="6267450" y="1219200"/>
            <a:ext cx="5524500" cy="1409700"/>
          </a:xfrm>
          <a:prstGeom xmlns:a="http://schemas.openxmlformats.org/drawingml/2006/main" prst="roundRect">
            <a:avLst>
              <a:gd name="adj" fmla="val 5405"/>
            </a:avLst>
          </a:prstGeom>
          <a:solidFill xmlns:a="http://schemas.openxmlformats.org/drawingml/2006/main">
            <a:srgbClr val="EDEDED"/>
          </a:solidFill>
          <a:ln xmlns:a="http://schemas.openxmlformats.org/drawingml/2006/main" w="0">
            <a:solidFill>
              <a:srgbClr val="EDEDED"/>
            </a:solidFill>
            <a:prstDash val="solid"/>
          </a:ln>
        </p:spPr>
      </p:sp>
      <p:sp>
        <p:nvSpPr>
          <p:cNvPr id="30" name="slide-6-rail-title-1">
            <a:extLst xmlns:a="http://schemas.openxmlformats.org/drawingml/2006/main">
              <a:ext uri="{FF2B5EF4-FFF2-40B4-BE49-F238E27FC236}">
                <a16:creationId xmlns:a16="http://schemas.microsoft.com/office/drawing/2014/main" id="{17C8EE10-B632-49C3-883C-A0CFA3A34203}"/>
              </a:ext>
            </a:extLst>
          </p:cNvPr>
          <p:cNvSpPr>
            <a:spLocks xmlns:a="http://schemas.openxmlformats.org/drawingml/2006/main" noGrp="1"/>
          </p:cNvSpPr>
          <p:nvPr/>
        </p:nvSpPr>
        <p:spPr>
          <a:xfrm xmlns:a="http://schemas.openxmlformats.org/drawingml/2006/main">
            <a:off x="6572250" y="1447800"/>
            <a:ext cx="4914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ADR</a:t>
            </a:r>
          </a:p>
        </p:txBody>
      </p:sp>
      <p:sp>
        <p:nvSpPr>
          <p:cNvPr id="31" name="slide-6-rail-body-1">
            <a:extLst xmlns:a="http://schemas.openxmlformats.org/drawingml/2006/main">
              <a:ext uri="{FF2B5EF4-FFF2-40B4-BE49-F238E27FC236}">
                <a16:creationId xmlns:a16="http://schemas.microsoft.com/office/drawing/2014/main" id="{81E950E0-C784-4014-A6D7-029F36490D6D}"/>
              </a:ext>
            </a:extLst>
          </p:cNvPr>
          <p:cNvSpPr>
            <a:spLocks xmlns:a="http://schemas.openxmlformats.org/drawingml/2006/main" noGrp="1"/>
          </p:cNvSpPr>
          <p:nvPr/>
        </p:nvSpPr>
        <p:spPr>
          <a:xfrm xmlns:a="http://schemas.openxmlformats.org/drawingml/2006/main">
            <a:off x="6572250" y="1962150"/>
            <a:ext cx="49149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Fail-open sidecar via supported extensions; MERLIN stays authoritative.</a:t>
            </a:r>
          </a:p>
        </p:txBody>
      </p:sp>
      <p:sp>
        <p:nvSpPr>
          <p:cNvPr id="32" name="slide-6-rail-2">
            <a:extLst xmlns:a="http://schemas.openxmlformats.org/drawingml/2006/main">
              <a:ext uri="{FF2B5EF4-FFF2-40B4-BE49-F238E27FC236}">
                <a16:creationId xmlns:a16="http://schemas.microsoft.com/office/drawing/2014/main" id="{3F1AE27C-F5E4-4DE1-8FB1-15A793EF28C5}"/>
              </a:ext>
            </a:extLst>
          </p:cNvPr>
          <p:cNvSpPr>
            <a:spLocks xmlns:a="http://schemas.openxmlformats.org/drawingml/2006/main" noGrp="1"/>
          </p:cNvSpPr>
          <p:nvPr/>
        </p:nvSpPr>
        <p:spPr>
          <a:xfrm xmlns:a="http://schemas.openxmlformats.org/drawingml/2006/main">
            <a:off x="6267450" y="2952750"/>
            <a:ext cx="5524500" cy="1409700"/>
          </a:xfrm>
          <a:prstGeom xmlns:a="http://schemas.openxmlformats.org/drawingml/2006/main" prst="roundRect">
            <a:avLst>
              <a:gd name="adj" fmla="val 5405"/>
            </a:avLst>
          </a:prstGeom>
          <a:solidFill xmlns:a="http://schemas.openxmlformats.org/drawingml/2006/main">
            <a:srgbClr val="EDEDED"/>
          </a:solidFill>
          <a:ln xmlns:a="http://schemas.openxmlformats.org/drawingml/2006/main" w="0">
            <a:solidFill>
              <a:srgbClr val="EDEDED"/>
            </a:solidFill>
            <a:prstDash val="solid"/>
          </a:ln>
        </p:spPr>
      </p:sp>
      <p:sp>
        <p:nvSpPr>
          <p:cNvPr id="33" name="slide-6-rail-title-2">
            <a:extLst xmlns:a="http://schemas.openxmlformats.org/drawingml/2006/main">
              <a:ext uri="{FF2B5EF4-FFF2-40B4-BE49-F238E27FC236}">
                <a16:creationId xmlns:a16="http://schemas.microsoft.com/office/drawing/2014/main" id="{E19C710D-04F3-41C9-BD80-B4F8C2ACE2B5}"/>
              </a:ext>
            </a:extLst>
          </p:cNvPr>
          <p:cNvSpPr>
            <a:spLocks xmlns:a="http://schemas.openxmlformats.org/drawingml/2006/main" noGrp="1"/>
          </p:cNvSpPr>
          <p:nvPr/>
        </p:nvSpPr>
        <p:spPr>
          <a:xfrm xmlns:a="http://schemas.openxmlformats.org/drawingml/2006/main">
            <a:off x="6572250" y="3181350"/>
            <a:ext cx="4914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Accepted trade-off</a:t>
            </a:r>
          </a:p>
        </p:txBody>
      </p:sp>
      <p:sp>
        <p:nvSpPr>
          <p:cNvPr id="34" name="slide-6-rail-body-2">
            <a:extLst xmlns:a="http://schemas.openxmlformats.org/drawingml/2006/main">
              <a:ext uri="{FF2B5EF4-FFF2-40B4-BE49-F238E27FC236}">
                <a16:creationId xmlns:a16="http://schemas.microsoft.com/office/drawing/2014/main" id="{E3B06C33-CA29-47A0-92D1-F2D1A5633EFE}"/>
              </a:ext>
            </a:extLst>
          </p:cNvPr>
          <p:cNvSpPr>
            <a:spLocks xmlns:a="http://schemas.openxmlformats.org/drawingml/2006/main" noGrp="1"/>
          </p:cNvSpPr>
          <p:nvPr/>
        </p:nvSpPr>
        <p:spPr>
          <a:xfrm xmlns:a="http://schemas.openxmlformats.org/drawingml/2006/main">
            <a:off x="6572250" y="3695700"/>
            <a:ext cx="49149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Duplicate snapshots, reconciliation, certified adapter work, and two-system operations.</a:t>
            </a:r>
          </a:p>
        </p:txBody>
      </p:sp>
      <p:sp>
        <p:nvSpPr>
          <p:cNvPr id="35" name="slide-6-rail-3">
            <a:extLst xmlns:a="http://schemas.openxmlformats.org/drawingml/2006/main">
              <a:ext uri="{FF2B5EF4-FFF2-40B4-BE49-F238E27FC236}">
                <a16:creationId xmlns:a16="http://schemas.microsoft.com/office/drawing/2014/main" id="{5E65C489-5D7C-4E57-AE6F-3B81EDEAF97B}"/>
              </a:ext>
            </a:extLst>
          </p:cNvPr>
          <p:cNvSpPr>
            <a:spLocks xmlns:a="http://schemas.openxmlformats.org/drawingml/2006/main" noGrp="1"/>
          </p:cNvSpPr>
          <p:nvPr/>
        </p:nvSpPr>
        <p:spPr>
          <a:xfrm xmlns:a="http://schemas.openxmlformats.org/drawingml/2006/main">
            <a:off x="6267450" y="4686300"/>
            <a:ext cx="5524500" cy="1409700"/>
          </a:xfrm>
          <a:prstGeom xmlns:a="http://schemas.openxmlformats.org/drawingml/2006/main" prst="roundRect">
            <a:avLst>
              <a:gd name="adj" fmla="val 5405"/>
            </a:avLst>
          </a:prstGeom>
          <a:solidFill xmlns:a="http://schemas.openxmlformats.org/drawingml/2006/main">
            <a:srgbClr val="EDEDED"/>
          </a:solidFill>
          <a:ln xmlns:a="http://schemas.openxmlformats.org/drawingml/2006/main" w="0">
            <a:solidFill>
              <a:srgbClr val="EDEDED"/>
            </a:solidFill>
            <a:prstDash val="solid"/>
          </a:ln>
        </p:spPr>
      </p:sp>
      <p:sp>
        <p:nvSpPr>
          <p:cNvPr id="36" name="slide-6-rail-title-3">
            <a:extLst xmlns:a="http://schemas.openxmlformats.org/drawingml/2006/main">
              <a:ext uri="{FF2B5EF4-FFF2-40B4-BE49-F238E27FC236}">
                <a16:creationId xmlns:a16="http://schemas.microsoft.com/office/drawing/2014/main" id="{67C687B0-4ABF-499B-BA9A-EC8578A779DF}"/>
              </a:ext>
            </a:extLst>
          </p:cNvPr>
          <p:cNvSpPr>
            <a:spLocks xmlns:a="http://schemas.openxmlformats.org/drawingml/2006/main" noGrp="1"/>
          </p:cNvSpPr>
          <p:nvPr/>
        </p:nvSpPr>
        <p:spPr>
          <a:xfrm xmlns:a="http://schemas.openxmlformats.org/drawingml/2006/main">
            <a:off x="6572250" y="4914900"/>
            <a:ext cx="4914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Sensitivity boundary</a:t>
            </a:r>
          </a:p>
        </p:txBody>
      </p:sp>
      <p:sp>
        <p:nvSpPr>
          <p:cNvPr id="37" name="slide-6-rail-body-3">
            <a:extLst xmlns:a="http://schemas.openxmlformats.org/drawingml/2006/main">
              <a:ext uri="{FF2B5EF4-FFF2-40B4-BE49-F238E27FC236}">
                <a16:creationId xmlns:a16="http://schemas.microsoft.com/office/drawing/2014/main" id="{A6139F6F-5940-43BA-AE04-623872935E5C}"/>
              </a:ext>
            </a:extLst>
          </p:cNvPr>
          <p:cNvSpPr>
            <a:spLocks xmlns:a="http://schemas.openxmlformats.org/drawingml/2006/main" noGrp="1"/>
          </p:cNvSpPr>
          <p:nvPr/>
        </p:nvSpPr>
        <p:spPr>
          <a:xfrm xmlns:a="http://schemas.openxmlformats.org/drawingml/2006/main">
            <a:off x="6572250" y="5429250"/>
            <a:ext cx="49149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A cost-weight shift ties hybrid and global at 4.45; replay decides the final model.</a:t>
            </a:r>
          </a:p>
        </p:txBody>
      </p:sp>
      <p:sp>
        <p:nvSpPr>
          <p:cNvPr id="38" name="owner-footer-6">
            <a:extLst xmlns:a="http://schemas.openxmlformats.org/drawingml/2006/main">
              <a:ext uri="{FF2B5EF4-FFF2-40B4-BE49-F238E27FC236}">
                <a16:creationId xmlns:a16="http://schemas.microsoft.com/office/drawing/2014/main" id="{76FFF01E-C720-4C20-B668-A7ABFEDB612B}"/>
              </a:ext>
            </a:extLst>
          </p:cNvPr>
          <p:cNvSpPr>
            <a:spLocks xmlns:a="http://schemas.openxmlformats.org/drawingml/2006/main" noGrp="1"/>
          </p:cNvSpPr>
          <p:nvPr/>
        </p:nvSpPr>
        <p:spPr>
          <a:xfrm xmlns:a="http://schemas.openxmlformats.org/drawingml/2006/main">
            <a:off x="400050" y="6191250"/>
            <a:ext cx="8096250" cy="20955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975">
                <a:solidFill>
                  <a:srgbClr val="586174"/>
                </a:solidFill>
                <a:latin typeface="Arial"/>
                <a:ea typeface="Arial"/>
                <a:cs typeface="Arial"/>
              </a:defRPr>
            </a:pPr>
            <a:r>
              <a:rPr sz="975">
                <a:solidFill>
                  <a:srgbClr val="586174"/>
                </a:solidFill>
                <a:latin typeface="Arial"/>
                <a:ea typeface="Arial"/>
                <a:cs typeface="Arial"/>
              </a:rPr>
              <a:t>Owners: NGUYỄN HÒA (122989); PHẠM THỊ THANH HUYỀN (164955)</a:t>
            </a:r>
          </a:p>
        </p:txBody>
      </p:sp>
      <p:sp>
        <p:nvSpPr>
          <p:cNvPr id="39" name="artifact-footer-6">
            <a:extLst xmlns:a="http://schemas.openxmlformats.org/drawingml/2006/main">
              <a:ext uri="{FF2B5EF4-FFF2-40B4-BE49-F238E27FC236}">
                <a16:creationId xmlns:a16="http://schemas.microsoft.com/office/drawing/2014/main" id="{5E108F0D-3BA1-41C3-9F32-9932D1A37D91}"/>
              </a:ext>
            </a:extLst>
          </p:cNvPr>
          <p:cNvSpPr>
            <a:spLocks xmlns:a="http://schemas.openxmlformats.org/drawingml/2006/main" noGrp="1"/>
          </p:cNvSpPr>
          <p:nvPr/>
        </p:nvSpPr>
        <p:spPr>
          <a:xfrm xmlns:a="http://schemas.openxmlformats.org/drawingml/2006/main">
            <a:off x="3676650" y="6419850"/>
            <a:ext cx="49530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350">
                <a:solidFill>
                  <a:srgbClr val="586174"/>
                </a:solidFill>
                <a:latin typeface="Arial"/>
                <a:ea typeface="Arial"/>
                <a:cs typeface="Arial"/>
              </a:defRPr>
            </a:pPr>
            <a:r>
              <a:rPr sz="1350">
                <a:solidFill>
                  <a:srgbClr val="586174"/>
                </a:solidFill>
                <a:latin typeface="Arial"/>
                <a:ea typeface="Arial"/>
                <a:cs typeface="Arial"/>
              </a:rPr>
              <a:t>Technology selection + ADR</a:t>
            </a:r>
          </a:p>
        </p:txBody>
      </p:sp>
      <p:sp>
        <p:nvSpPr>
          <p:cNvPr id="40" name="page-number-6">
            <a:extLst xmlns:a="http://schemas.openxmlformats.org/drawingml/2006/main">
              <a:ext uri="{FF2B5EF4-FFF2-40B4-BE49-F238E27FC236}">
                <a16:creationId xmlns:a16="http://schemas.microsoft.com/office/drawing/2014/main" id="{BBB20812-961B-43CB-AD32-6E3DA4A42CFF}"/>
              </a:ext>
            </a:extLst>
          </p:cNvPr>
          <p:cNvSpPr>
            <a:spLocks xmlns:a="http://schemas.openxmlformats.org/drawingml/2006/main" noGrp="1"/>
          </p:cNvSpPr>
          <p:nvPr/>
        </p:nvSpPr>
        <p:spPr>
          <a:xfrm xmlns:a="http://schemas.openxmlformats.org/drawingml/2006/main">
            <a:off x="11296650" y="6419850"/>
            <a:ext cx="4953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350">
                <a:solidFill>
                  <a:srgbClr val="000000"/>
                </a:solidFill>
                <a:latin typeface="Arial"/>
                <a:ea typeface="Arial"/>
                <a:cs typeface="Arial"/>
              </a:defRPr>
            </a:pPr>
            <a:r>
              <a:rPr sz="1350">
                <a:solidFill>
                  <a:srgbClr val="000000"/>
                </a:solidFill>
                <a:latin typeface="Arial"/>
                <a:ea typeface="Arial"/>
                <a:cs typeface="Arial"/>
              </a:rPr>
              <a:t>6</a:t>
            </a:r>
          </a:p>
        </p:txBody>
      </p:sp>
    </p:spTree>
    <p:extLst>
      <p:ext uri="{BB962C8B-B14F-4D97-AF65-F5344CB8AC3E}">
        <p14:creationId xmlns:p14="http://schemas.microsoft.com/office/powerpoint/2010/main" val="12845532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7-title">
            <a:extLst xmlns:a="http://schemas.openxmlformats.org/drawingml/2006/main">
              <a:ext uri="{FF2B5EF4-FFF2-40B4-BE49-F238E27FC236}">
                <a16:creationId xmlns:a16="http://schemas.microsoft.com/office/drawing/2014/main" id="{A48AB400-8750-4527-96E9-FBDDB9CBEB29}"/>
              </a:ext>
            </a:extLst>
          </p:cNvPr>
          <p:cNvSpPr>
            <a:spLocks xmlns:a="http://schemas.openxmlformats.org/drawingml/2006/main" noGrp="1"/>
          </p:cNvSpPr>
          <p:nvPr/>
        </p:nvSpPr>
        <p:spPr>
          <a:xfrm xmlns:a="http://schemas.openxmlformats.org/drawingml/2006/main">
            <a:off x="400050" y="323850"/>
            <a:ext cx="1139190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Every top risk has a threshold and a safe fallback</a:t>
            </a:r>
          </a:p>
        </p:txBody>
      </p:sp>
      <p:sp>
        <p:nvSpPr>
          <p:cNvPr id="2" name="slide-7-intro">
            <a:extLst xmlns:a="http://schemas.openxmlformats.org/drawingml/2006/main">
              <a:ext uri="{FF2B5EF4-FFF2-40B4-BE49-F238E27FC236}">
                <a16:creationId xmlns:a16="http://schemas.microsoft.com/office/drawing/2014/main" id="{9F0786D5-C5D4-403F-B231-4E8671310F38}"/>
              </a:ext>
            </a:extLst>
          </p:cNvPr>
          <p:cNvSpPr>
            <a:spLocks xmlns:a="http://schemas.openxmlformats.org/drawingml/2006/main" noGrp="1"/>
          </p:cNvSpPr>
          <p:nvPr/>
        </p:nvSpPr>
        <p:spPr>
          <a:xfrm xmlns:a="http://schemas.openxmlformats.org/drawingml/2006/main">
            <a:off x="400050" y="1143000"/>
            <a:ext cx="11391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a:solidFill>
                  <a:srgbClr val="586174"/>
                </a:solidFill>
                <a:latin typeface="Arial"/>
                <a:ea typeface="Arial"/>
                <a:cs typeface="Arial"/>
              </a:defRPr>
            </a:pPr>
            <a:r>
              <a:rPr sz="1650">
                <a:solidFill>
                  <a:srgbClr val="586174"/>
                </a:solidFill>
                <a:latin typeface="Arial"/>
                <a:ea typeface="Arial"/>
                <a:cs typeface="Arial"/>
              </a:rPr>
              <a:t>All five exceed tolerance for unbounded influence; every stop condition leaves MERLIN and POS independent.</a:t>
            </a:r>
          </a:p>
        </p:txBody>
      </p:sp>
      <p:graphicFrame>
        <p:nvGraphicFramePr>
          <p:cNvPr id="11" name="slide-7-risk-table"/>
          <p:cNvGraphicFramePr/>
          <p:nvPr/>
        </p:nvGraphicFramePr>
        <p:xfrm>
          <a:off xmlns:a="http://schemas.openxmlformats.org/drawingml/2006/main" x="400050" y="1695450"/>
          <a:ext xmlns:a="http://schemas.openxmlformats.org/drawingml/2006/main" cx="11391900" cy="4476750"/>
        </p:xfrm>
        <a:graphic xmlns:a="http://schemas.openxmlformats.org/drawingml/2006/main">
          <a:graphicData uri="http://schemas.openxmlformats.org/drawingml/2006/table">
            <a:tbl>
              <a:tblPr/>
              <a:tblGrid>
                <a:gridCol w="1809750"/>
                <a:gridCol w="3048000"/>
                <a:gridCol w="3714750"/>
                <a:gridCol w="2819400"/>
              </a:tblGrid>
              <a:tr h="746125">
                <a:tc>
                  <a:txBody>
                    <a:bodyPr/>
                    <a:lstStyle/>
                    <a:p>
                      <a:r>
                        <a:t>Risk / score</a:t>
                      </a:r>
                    </a:p>
                  </a:txBody>
                  <a:tcPr marL="91440" marR="91440" marT="45720" marB="45720"/>
                </a:tc>
                <a:tc>
                  <a:txBody>
                    <a:bodyPr/>
                    <a:lstStyle/>
                    <a:p>
                      <a:r>
                        <a:t>Control</a:t>
                      </a:r>
                    </a:p>
                  </a:txBody>
                  <a:tcPr marL="91440" marR="91440" marT="45720" marB="45720"/>
                </a:tc>
                <a:tc>
                  <a:txBody>
                    <a:bodyPr/>
                    <a:lstStyle/>
                    <a:p>
                      <a:r>
                        <a:t>Critical trigger</a:t>
                      </a:r>
                    </a:p>
                  </a:txBody>
                  <a:tcPr marL="91440" marR="91440" marT="45720" marB="45720"/>
                </a:tc>
                <a:tc>
                  <a:txBody>
                    <a:bodyPr/>
                    <a:lstStyle/>
                    <a:p>
                      <a:r>
                        <a:t>Safe response</a:t>
                      </a:r>
                    </a:p>
                  </a:txBody>
                  <a:tcPr marL="91440" marR="91440" marT="45720" marB="45720"/>
                </a:tc>
              </a:tr>
              <a:tr h="746125">
                <a:tc>
                  <a:txBody>
                    <a:bodyPr/>
                    <a:lstStyle/>
                    <a:p>
                      <a:r>
                        <a:t>Deadline  20</a:t>
                      </a:r>
                    </a:p>
                  </a:txBody>
                  <a:tcPr marL="91440" marR="91440" marT="45720" marB="45720"/>
                </a:tc>
                <a:tc>
                  <a:txBody>
                    <a:bodyPr/>
                    <a:lstStyle/>
                    <a:p>
                      <a:r>
                        <a:t>01:30 stop; 01:45 gate; 02:00 close</a:t>
                      </a:r>
                    </a:p>
                  </a:txBody>
                  <a:tcPr marL="91440" marR="91440" marT="45720" marB="45720"/>
                </a:tc>
                <a:tc>
                  <a:txBody>
                    <a:bodyPr/>
                    <a:lstStyle/>
                    <a:p>
                      <a:r>
                        <a:t>Reserve &lt;30 min or EDI ≥04:00</a:t>
                      </a:r>
                    </a:p>
                  </a:txBody>
                  <a:tcPr marL="91440" marR="91440" marT="45720" marB="45720"/>
                </a:tc>
                <a:tc>
                  <a:txBody>
                    <a:bodyPr/>
                    <a:lstStyle/>
                    <a:p>
                      <a:r>
                        <a:t>Bypass AI</a:t>
                      </a:r>
                    </a:p>
                  </a:txBody>
                  <a:tcPr marL="91440" marR="91440" marT="45720" marB="45720"/>
                </a:tc>
              </a:tr>
              <a:tr h="746125">
                <a:tc>
                  <a:txBody>
                    <a:bodyPr/>
                    <a:lstStyle/>
                    <a:p>
                      <a:r>
                        <a:t>Inventory  20</a:t>
                      </a:r>
                    </a:p>
                  </a:txBody>
                  <a:tcPr marL="91440" marR="91440" marT="45720" marB="45720"/>
                </a:tc>
                <a:tc>
                  <a:txBody>
                    <a:bodyPr/>
                    <a:lstStyle/>
                    <a:p>
                      <a:r>
                        <a:t>Calibrated interval + absolute caps</a:t>
                      </a:r>
                    </a:p>
                  </a:txBody>
                  <a:tcPr marL="91440" marR="91440" marT="45720" marB="45720"/>
                </a:tc>
                <a:tc>
                  <a:txBody>
                    <a:bodyPr/>
                    <a:lstStyle/>
                    <a:p>
                      <a:r>
                        <a:t>Coverage &lt;85% or missing interval</a:t>
                      </a:r>
                    </a:p>
                  </a:txBody>
                  <a:tcPr marL="91440" marR="91440" marT="45720" marB="45720"/>
                </a:tc>
                <a:tc>
                  <a:txBody>
                    <a:bodyPr/>
                    <a:lstStyle/>
                    <a:p>
                      <a:r>
                        <a:t>Suppress row/scope</a:t>
                      </a:r>
                    </a:p>
                  </a:txBody>
                  <a:tcPr marL="91440" marR="91440" marT="45720" marB="45720"/>
                </a:tc>
              </a:tr>
              <a:tr h="746125">
                <a:tc>
                  <a:txBody>
                    <a:bodyPr/>
                    <a:lstStyle/>
                    <a:p>
                      <a:r>
                        <a:t>Peak / model  16</a:t>
                      </a:r>
                    </a:p>
                  </a:txBody>
                  <a:tcPr marL="91440" marR="91440" marT="45720" marB="45720"/>
                </a:tc>
                <a:tc>
                  <a:txBody>
                    <a:bodyPr/>
                    <a:lstStyle/>
                    <a:p>
                      <a:r>
                        <a:t>3× 6x tests + slice gates</a:t>
                      </a:r>
                    </a:p>
                  </a:txBody>
                  <a:tcPr marL="91440" marR="91440" marT="45720" marB="45720"/>
                </a:tc>
                <a:tc>
                  <a:txBody>
                    <a:bodyPr/>
                    <a:lstStyle/>
                    <a:p>
                      <a:r>
                        <a:t>WAPE &gt;30% or forecast &lt;22,500/s</a:t>
                      </a:r>
                    </a:p>
                  </a:txBody>
                  <a:tcPr marL="91440" marR="91440" marT="45720" marB="45720"/>
                </a:tc>
                <a:tc>
                  <a:txBody>
                    <a:bodyPr/>
                    <a:lstStyle/>
                    <a:p>
                      <a:r>
                        <a:t>Disable slice</a:t>
                      </a:r>
                    </a:p>
                  </a:txBody>
                  <a:tcPr marL="91440" marR="91440" marT="45720" marB="45720"/>
                </a:tc>
              </a:tr>
              <a:tr h="746125">
                <a:tc>
                  <a:txBody>
                    <a:bodyPr/>
                    <a:lstStyle/>
                    <a:p>
                      <a:r>
                        <a:t>Legacy adapter  15</a:t>
                      </a:r>
                    </a:p>
                  </a:txBody>
                  <a:tcPr marL="91440" marR="91440" marT="45720" marB="45720"/>
                </a:tc>
                <a:tc>
                  <a:txBody>
                    <a:bodyPr/>
                    <a:lstStyle/>
                    <a:p>
                      <a:r>
                        <a:t>Epoch + permit + exact ledger</a:t>
                      </a:r>
                    </a:p>
                  </a:txBody>
                  <a:tcPr marL="91440" marR="91440" marT="45720" marB="45720"/>
                </a:tc>
                <a:tc>
                  <a:txBody>
                    <a:bodyPr/>
                    <a:lstStyle/>
                    <a:p>
                      <a:r>
                        <a:t>Stale commit, manual-row change, MERLIN wait &gt;0</a:t>
                      </a:r>
                    </a:p>
                  </a:txBody>
                  <a:tcPr marL="91440" marR="91440" marT="45720" marB="45720"/>
                </a:tc>
                <a:tc>
                  <a:txBody>
                    <a:bodyPr/>
                    <a:lstStyle/>
                    <a:p>
                      <a:r>
                        <a:t>Kill / shadow</a:t>
                      </a:r>
                    </a:p>
                  </a:txBody>
                  <a:tcPr marL="91440" marR="91440" marT="45720" marB="45720"/>
                </a:tc>
              </a:tr>
              <a:tr h="746125">
                <a:tc>
                  <a:txBody>
                    <a:bodyPr/>
                    <a:lstStyle/>
                    <a:p>
                      <a:r>
                        <a:t>Safety / legal  15</a:t>
                      </a:r>
                    </a:p>
                  </a:txBody>
                  <a:tcPr marL="91440" marR="91440" marT="45720" marB="45720"/>
                </a:tc>
                <a:tc>
                  <a:txBody>
                    <a:bodyPr/>
                    <a:lstStyle/>
                    <a:p>
                      <a:r>
                        <a:t>Exact approved field + fixed template</a:t>
                      </a:r>
                    </a:p>
                  </a:txBody>
                  <a:tcPr marL="91440" marR="91440" marT="45720" marB="45720"/>
                </a:tc>
                <a:tc>
                  <a:txBody>
                    <a:bodyPr/>
                    <a:lstStyle/>
                    <a:p>
                      <a:r>
                        <a:t>Unsupported output or universal refusal</a:t>
                      </a:r>
                    </a:p>
                  </a:txBody>
                  <a:tcPr marL="91440" marR="91440" marT="45720" marB="45720"/>
                </a:tc>
                <a:tc>
                  <a:txBody>
                    <a:bodyPr/>
                    <a:lstStyle/>
                    <a:p>
                      <a:r>
                        <a:t>Refuse / disable / escalate</a:t>
                      </a:r>
                    </a:p>
                  </a:txBody>
                  <a:tcPr marL="91440" marR="91440" marT="45720" marB="45720"/>
                </a:tc>
              </a:tr>
            </a:tbl>
          </a:graphicData>
        </a:graphic>
      </p:graphicFrame>
      <p:sp>
        <p:nvSpPr>
          <p:cNvPr id="4" name="owner-footer-7">
            <a:extLst xmlns:a="http://schemas.openxmlformats.org/drawingml/2006/main">
              <a:ext uri="{FF2B5EF4-FFF2-40B4-BE49-F238E27FC236}">
                <a16:creationId xmlns:a16="http://schemas.microsoft.com/office/drawing/2014/main" id="{0712DB08-7756-451F-8B60-CFC3DC757AF5}"/>
              </a:ext>
            </a:extLst>
          </p:cNvPr>
          <p:cNvSpPr>
            <a:spLocks xmlns:a="http://schemas.openxmlformats.org/drawingml/2006/main" noGrp="1"/>
          </p:cNvSpPr>
          <p:nvPr/>
        </p:nvSpPr>
        <p:spPr>
          <a:xfrm xmlns:a="http://schemas.openxmlformats.org/drawingml/2006/main">
            <a:off x="400050" y="6191250"/>
            <a:ext cx="8096250" cy="20955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200">
                <a:solidFill>
                  <a:srgbClr val="586174"/>
                </a:solidFill>
                <a:latin typeface="Arial"/>
                <a:ea typeface="Arial"/>
                <a:cs typeface="Arial"/>
              </a:defRPr>
            </a:pPr>
            <a:r>
              <a:rPr sz="1200">
                <a:solidFill>
                  <a:srgbClr val="586174"/>
                </a:solidFill>
                <a:latin typeface="Arial"/>
                <a:ea typeface="Arial"/>
                <a:cs typeface="Arial"/>
              </a:rPr>
              <a:t>Owner: TRẦM QUỐC THUẬN (112287)</a:t>
            </a:r>
          </a:p>
        </p:txBody>
      </p:sp>
      <p:sp>
        <p:nvSpPr>
          <p:cNvPr id="5" name="artifact-footer-7">
            <a:extLst xmlns:a="http://schemas.openxmlformats.org/drawingml/2006/main">
              <a:ext uri="{FF2B5EF4-FFF2-40B4-BE49-F238E27FC236}">
                <a16:creationId xmlns:a16="http://schemas.microsoft.com/office/drawing/2014/main" id="{E297B4AD-FCA9-46A7-95A0-4EB5D8D326E3}"/>
              </a:ext>
            </a:extLst>
          </p:cNvPr>
          <p:cNvSpPr>
            <a:spLocks xmlns:a="http://schemas.openxmlformats.org/drawingml/2006/main" noGrp="1"/>
          </p:cNvSpPr>
          <p:nvPr/>
        </p:nvSpPr>
        <p:spPr>
          <a:xfrm xmlns:a="http://schemas.openxmlformats.org/drawingml/2006/main">
            <a:off x="3676650" y="6419850"/>
            <a:ext cx="49530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350">
                <a:solidFill>
                  <a:srgbClr val="586174"/>
                </a:solidFill>
                <a:latin typeface="Arial"/>
                <a:ea typeface="Arial"/>
                <a:cs typeface="Arial"/>
              </a:defRPr>
            </a:pPr>
            <a:r>
              <a:rPr sz="1350">
                <a:solidFill>
                  <a:srgbClr val="586174"/>
                </a:solidFill>
                <a:latin typeface="Arial"/>
                <a:ea typeface="Arial"/>
                <a:cs typeface="Arial"/>
              </a:rPr>
              <a:t>Top five architecture risks</a:t>
            </a:r>
          </a:p>
        </p:txBody>
      </p:sp>
      <p:sp>
        <p:nvSpPr>
          <p:cNvPr id="6" name="page-number-7">
            <a:extLst xmlns:a="http://schemas.openxmlformats.org/drawingml/2006/main">
              <a:ext uri="{FF2B5EF4-FFF2-40B4-BE49-F238E27FC236}">
                <a16:creationId xmlns:a16="http://schemas.microsoft.com/office/drawing/2014/main" id="{2869E845-D86B-4090-80DB-56A8861799CF}"/>
              </a:ext>
            </a:extLst>
          </p:cNvPr>
          <p:cNvSpPr>
            <a:spLocks xmlns:a="http://schemas.openxmlformats.org/drawingml/2006/main" noGrp="1"/>
          </p:cNvSpPr>
          <p:nvPr/>
        </p:nvSpPr>
        <p:spPr>
          <a:xfrm xmlns:a="http://schemas.openxmlformats.org/drawingml/2006/main">
            <a:off x="11296650" y="6419850"/>
            <a:ext cx="4953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350">
                <a:solidFill>
                  <a:srgbClr val="000000"/>
                </a:solidFill>
                <a:latin typeface="Arial"/>
                <a:ea typeface="Arial"/>
                <a:cs typeface="Arial"/>
              </a:defRPr>
            </a:pPr>
            <a:r>
              <a:rPr sz="1350">
                <a:solidFill>
                  <a:srgbClr val="000000"/>
                </a:solidFill>
                <a:latin typeface="Arial"/>
                <a:ea typeface="Arial"/>
                <a:cs typeface="Arial"/>
              </a:rPr>
              <a:t>7</a:t>
            </a:r>
          </a:p>
        </p:txBody>
      </p:sp>
    </p:spTree>
    <p:extLst>
      <p:ext uri="{BB962C8B-B14F-4D97-AF65-F5344CB8AC3E}">
        <p14:creationId xmlns:p14="http://schemas.microsoft.com/office/powerpoint/2010/main" val="82360735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lide-8-title">
            <a:extLst xmlns:a="http://schemas.openxmlformats.org/drawingml/2006/main">
              <a:ext uri="{FF2B5EF4-FFF2-40B4-BE49-F238E27FC236}">
                <a16:creationId xmlns:a16="http://schemas.microsoft.com/office/drawing/2014/main" id="{522EC446-C98D-4F8B-A3B1-9A568D92FAA9}"/>
              </a:ext>
            </a:extLst>
          </p:cNvPr>
          <p:cNvSpPr>
            <a:spLocks xmlns:a="http://schemas.openxmlformats.org/drawingml/2006/main" noGrp="1"/>
          </p:cNvSpPr>
          <p:nvPr/>
        </p:nvSpPr>
        <p:spPr>
          <a:xfrm xmlns:a="http://schemas.openxmlformats.org/drawingml/2006/main">
            <a:off x="400050" y="323850"/>
            <a:ext cx="1139190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 Earn influence; disable it in minutes</a:t>
            </a:r>
          </a:p>
        </p:txBody>
      </p:sp>
      <p:sp>
        <p:nvSpPr>
          <p:cNvPr id="2" name="slide-8-card-1">
            <a:extLst xmlns:a="http://schemas.openxmlformats.org/drawingml/2006/main">
              <a:ext uri="{FF2B5EF4-FFF2-40B4-BE49-F238E27FC236}">
                <a16:creationId xmlns:a16="http://schemas.microsoft.com/office/drawing/2014/main" id="{8715C2FE-C347-4496-B742-85961180F3DB}"/>
              </a:ext>
            </a:extLst>
          </p:cNvPr>
          <p:cNvSpPr>
            <a:spLocks xmlns:a="http://schemas.openxmlformats.org/drawingml/2006/main" noGrp="1"/>
          </p:cNvSpPr>
          <p:nvPr/>
        </p:nvSpPr>
        <p:spPr>
          <a:xfrm xmlns:a="http://schemas.openxmlformats.org/drawingml/2006/main">
            <a:off x="400050" y="1352550"/>
            <a:ext cx="3562350" cy="2914650"/>
          </a:xfrm>
          <a:prstGeom xmlns:a="http://schemas.openxmlformats.org/drawingml/2006/main" prst="roundRect">
            <a:avLst>
              <a:gd name="adj" fmla="val 2614"/>
            </a:avLst>
          </a:prstGeom>
          <a:solidFill xmlns:a="http://schemas.openxmlformats.org/drawingml/2006/main">
            <a:srgbClr val="EDEDED"/>
          </a:solidFill>
          <a:ln xmlns:a="http://schemas.openxmlformats.org/drawingml/2006/main" w="0">
            <a:solidFill>
              <a:srgbClr val="EDEDED"/>
            </a:solidFill>
            <a:prstDash val="solid"/>
          </a:ln>
        </p:spPr>
      </p:sp>
      <p:sp>
        <p:nvSpPr>
          <p:cNvPr id="3" name="slide-8-card-title-1">
            <a:extLst xmlns:a="http://schemas.openxmlformats.org/drawingml/2006/main">
              <a:ext uri="{FF2B5EF4-FFF2-40B4-BE49-F238E27FC236}">
                <a16:creationId xmlns:a16="http://schemas.microsoft.com/office/drawing/2014/main" id="{9E675BC5-8B23-4BAD-AB76-005E79AD6200}"/>
              </a:ext>
            </a:extLst>
          </p:cNvPr>
          <p:cNvSpPr>
            <a:spLocks xmlns:a="http://schemas.openxmlformats.org/drawingml/2006/main" noGrp="1"/>
          </p:cNvSpPr>
          <p:nvPr/>
        </p:nvSpPr>
        <p:spPr>
          <a:xfrm xmlns:a="http://schemas.openxmlformats.org/drawingml/2006/main">
            <a:off x="704850" y="1752600"/>
            <a:ext cx="29527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Discovery + replay</a:t>
            </a:r>
          </a:p>
        </p:txBody>
      </p:sp>
      <p:sp>
        <p:nvSpPr>
          <p:cNvPr id="4" name="slide-8-card-body-1">
            <a:extLst xmlns:a="http://schemas.openxmlformats.org/drawingml/2006/main">
              <a:ext uri="{FF2B5EF4-FFF2-40B4-BE49-F238E27FC236}">
                <a16:creationId xmlns:a16="http://schemas.microsoft.com/office/drawing/2014/main" id="{697E6FBA-1100-4D71-99BF-5F2AB6519D5E}"/>
              </a:ext>
            </a:extLst>
          </p:cNvPr>
          <p:cNvSpPr>
            <a:spLocks xmlns:a="http://schemas.openxmlformats.org/drawingml/2006/main" noGrp="1"/>
          </p:cNvSpPr>
          <p:nvPr/>
        </p:nvSpPr>
        <p:spPr>
          <a:xfrm xmlns:a="http://schemas.openxmlformats.org/drawingml/2006/main">
            <a:off x="704850" y="2457450"/>
            <a:ext cx="2952750" cy="1428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Certify contracts and timing
Prove quality, 6x capacity, cost, and failure drills</a:t>
            </a:r>
          </a:p>
        </p:txBody>
      </p:sp>
      <p:sp>
        <p:nvSpPr>
          <p:cNvPr id="5" name="slide-8-card-2">
            <a:extLst xmlns:a="http://schemas.openxmlformats.org/drawingml/2006/main">
              <a:ext uri="{FF2B5EF4-FFF2-40B4-BE49-F238E27FC236}">
                <a16:creationId xmlns:a16="http://schemas.microsoft.com/office/drawing/2014/main" id="{0FC0CD2A-E45E-4EC4-9238-D9F9E3FF3B03}"/>
              </a:ext>
            </a:extLst>
          </p:cNvPr>
          <p:cNvSpPr>
            <a:spLocks xmlns:a="http://schemas.openxmlformats.org/drawingml/2006/main" noGrp="1"/>
          </p:cNvSpPr>
          <p:nvPr/>
        </p:nvSpPr>
        <p:spPr>
          <a:xfrm xmlns:a="http://schemas.openxmlformats.org/drawingml/2006/main">
            <a:off x="4314825" y="1352550"/>
            <a:ext cx="3562350" cy="2914650"/>
          </a:xfrm>
          <a:prstGeom xmlns:a="http://schemas.openxmlformats.org/drawingml/2006/main" prst="roundRect">
            <a:avLst>
              <a:gd name="adj" fmla="val 2614"/>
            </a:avLst>
          </a:prstGeom>
          <a:solidFill xmlns:a="http://schemas.openxmlformats.org/drawingml/2006/main">
            <a:srgbClr val="EDEDED"/>
          </a:solidFill>
          <a:ln xmlns:a="http://schemas.openxmlformats.org/drawingml/2006/main" w="0">
            <a:solidFill>
              <a:srgbClr val="EDEDED"/>
            </a:solidFill>
            <a:prstDash val="solid"/>
          </a:ln>
        </p:spPr>
      </p:sp>
      <p:sp>
        <p:nvSpPr>
          <p:cNvPr id="6" name="slide-8-card-title-2">
            <a:extLst xmlns:a="http://schemas.openxmlformats.org/drawingml/2006/main">
              <a:ext uri="{FF2B5EF4-FFF2-40B4-BE49-F238E27FC236}">
                <a16:creationId xmlns:a16="http://schemas.microsoft.com/office/drawing/2014/main" id="{4762C138-F891-4B14-B08E-BBEB4BA51E4E}"/>
              </a:ext>
            </a:extLst>
          </p:cNvPr>
          <p:cNvSpPr>
            <a:spLocks xmlns:a="http://schemas.openxmlformats.org/drawingml/2006/main" noGrp="1"/>
          </p:cNvSpPr>
          <p:nvPr/>
        </p:nvSpPr>
        <p:spPr>
          <a:xfrm xmlns:a="http://schemas.openxmlformats.org/drawingml/2006/main">
            <a:off x="4619625" y="1752600"/>
            <a:ext cx="29527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Shadow ≥4 weeks</a:t>
            </a:r>
          </a:p>
        </p:txBody>
      </p:sp>
      <p:sp>
        <p:nvSpPr>
          <p:cNvPr id="7" name="slide-8-card-body-2">
            <a:extLst xmlns:a="http://schemas.openxmlformats.org/drawingml/2006/main">
              <a:ext uri="{FF2B5EF4-FFF2-40B4-BE49-F238E27FC236}">
                <a16:creationId xmlns:a16="http://schemas.microsoft.com/office/drawing/2014/main" id="{C55A508F-D2B7-4279-BE0D-0AE44987A249}"/>
              </a:ext>
            </a:extLst>
          </p:cNvPr>
          <p:cNvSpPr>
            <a:spLocks xmlns:a="http://schemas.openxmlformats.org/drawingml/2006/main" noGrp="1"/>
          </p:cNvSpPr>
          <p:nvPr/>
        </p:nvSpPr>
        <p:spPr>
          <a:xfrm xmlns:a="http://schemas.openxmlformats.org/drawingml/2006/main">
            <a:off x="4619625" y="2457450"/>
            <a:ext cx="2952750" cy="1428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Zero MERLIN writes
Representative promotions
Promotion evidence required</a:t>
            </a:r>
          </a:p>
        </p:txBody>
      </p:sp>
      <p:sp>
        <p:nvSpPr>
          <p:cNvPr id="8" name="slide-8-card-3">
            <a:extLst xmlns:a="http://schemas.openxmlformats.org/drawingml/2006/main">
              <a:ext uri="{FF2B5EF4-FFF2-40B4-BE49-F238E27FC236}">
                <a16:creationId xmlns:a16="http://schemas.microsoft.com/office/drawing/2014/main" id="{16D21EED-3A19-4F89-8336-0EBCC9DC8270}"/>
              </a:ext>
            </a:extLst>
          </p:cNvPr>
          <p:cNvSpPr>
            <a:spLocks xmlns:a="http://schemas.openxmlformats.org/drawingml/2006/main" noGrp="1"/>
          </p:cNvSpPr>
          <p:nvPr/>
        </p:nvSpPr>
        <p:spPr>
          <a:xfrm xmlns:a="http://schemas.openxmlformats.org/drawingml/2006/main">
            <a:off x="8229600" y="1352550"/>
            <a:ext cx="3562350" cy="2914650"/>
          </a:xfrm>
          <a:prstGeom xmlns:a="http://schemas.openxmlformats.org/drawingml/2006/main" prst="roundRect">
            <a:avLst>
              <a:gd name="adj" fmla="val 2614"/>
            </a:avLst>
          </a:prstGeom>
          <a:solidFill xmlns:a="http://schemas.openxmlformats.org/drawingml/2006/main">
            <a:srgbClr val="EDEDED"/>
          </a:solidFill>
          <a:ln xmlns:a="http://schemas.openxmlformats.org/drawingml/2006/main" w="0">
            <a:solidFill>
              <a:srgbClr val="EDEDED"/>
            </a:solidFill>
            <a:prstDash val="solid"/>
          </a:ln>
        </p:spPr>
      </p:sp>
      <p:sp>
        <p:nvSpPr>
          <p:cNvPr id="9" name="slide-8-card-title-3">
            <a:extLst xmlns:a="http://schemas.openxmlformats.org/drawingml/2006/main">
              <a:ext uri="{FF2B5EF4-FFF2-40B4-BE49-F238E27FC236}">
                <a16:creationId xmlns:a16="http://schemas.microsoft.com/office/drawing/2014/main" id="{B318A408-9BF0-4CD1-866B-F85907E3DC35}"/>
              </a:ext>
            </a:extLst>
          </p:cNvPr>
          <p:cNvSpPr>
            <a:spLocks xmlns:a="http://schemas.openxmlformats.org/drawingml/2006/main" noGrp="1"/>
          </p:cNvSpPr>
          <p:nvPr/>
        </p:nvSpPr>
        <p:spPr>
          <a:xfrm xmlns:a="http://schemas.openxmlformats.org/drawingml/2006/main">
            <a:off x="8534400" y="1752600"/>
            <a:ext cx="29527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Pilot → scale</a:t>
            </a:r>
          </a:p>
        </p:txBody>
      </p:sp>
      <p:sp>
        <p:nvSpPr>
          <p:cNvPr id="10" name="slide-8-card-body-3">
            <a:extLst xmlns:a="http://schemas.openxmlformats.org/drawingml/2006/main">
              <a:ext uri="{FF2B5EF4-FFF2-40B4-BE49-F238E27FC236}">
                <a16:creationId xmlns:a16="http://schemas.microsoft.com/office/drawing/2014/main" id="{3F969E26-E683-4D34-8BD1-45BC1F609C9C}"/>
              </a:ext>
            </a:extLst>
          </p:cNvPr>
          <p:cNvSpPr>
            <a:spLocks xmlns:a="http://schemas.openxmlformats.org/drawingml/2006/main" noGrp="1"/>
          </p:cNvSpPr>
          <p:nvPr/>
        </p:nvSpPr>
        <p:spPr>
          <a:xfrm xmlns:a="http://schemas.openxmlformats.org/drawingml/2006/main">
            <a:off x="8534400" y="2457450"/>
            <a:ext cx="2952750" cy="1428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a:solidFill>
                  <a:srgbClr val="000000"/>
                </a:solidFill>
                <a:latin typeface="Arial"/>
                <a:ea typeface="Arial"/>
                <a:cs typeface="Arial"/>
              </a:defRPr>
            </a:pPr>
            <a:r>
              <a:rPr sz="1650">
                <a:solidFill>
                  <a:srgbClr val="000000"/>
                </a:solidFill>
                <a:latin typeface="Arial"/>
                <a:ea typeface="Arial"/>
                <a:cs typeface="Arial"/>
              </a:rPr>
              <a:t>20 stores; 2 low-risk categories
≤min(5,000, measured cap) rows
≤100 reviews / night</a:t>
            </a:r>
          </a:p>
        </p:txBody>
      </p:sp>
      <p:sp>
        <p:nvSpPr>
          <p:cNvPr id="11" name="slide-8-control-strip">
            <a:extLst xmlns:a="http://schemas.openxmlformats.org/drawingml/2006/main">
              <a:ext uri="{FF2B5EF4-FFF2-40B4-BE49-F238E27FC236}">
                <a16:creationId xmlns:a16="http://schemas.microsoft.com/office/drawing/2014/main" id="{DB9DA5BB-547F-41F6-857E-F64B0AC1FFD6}"/>
              </a:ext>
            </a:extLst>
          </p:cNvPr>
          <p:cNvSpPr>
            <a:spLocks xmlns:a="http://schemas.openxmlformats.org/drawingml/2006/main" noGrp="1"/>
          </p:cNvSpPr>
          <p:nvPr/>
        </p:nvSpPr>
        <p:spPr>
          <a:xfrm xmlns:a="http://schemas.openxmlformats.org/drawingml/2006/main">
            <a:off x="400050" y="4476750"/>
            <a:ext cx="11391900" cy="590550"/>
          </a:xfrm>
          <a:prstGeom xmlns:a="http://schemas.openxmlformats.org/drawingml/2006/main" prst="roundRect">
            <a:avLst>
              <a:gd name="adj" fmla="val 11290"/>
            </a:avLst>
          </a:prstGeom>
          <a:solidFill xmlns:a="http://schemas.openxmlformats.org/drawingml/2006/main">
            <a:srgbClr val="EAF5FB"/>
          </a:solidFill>
          <a:ln xmlns:a="http://schemas.openxmlformats.org/drawingml/2006/main" w="11430">
            <a:solidFill>
              <a:srgbClr val="3D8DFF"/>
            </a:solidFill>
            <a:prstDash val="solid"/>
          </a:ln>
        </p:spPr>
      </p:sp>
      <p:sp>
        <p:nvSpPr>
          <p:cNvPr id="12" name="slide-8-control-strip-label">
            <a:extLst xmlns:a="http://schemas.openxmlformats.org/drawingml/2006/main">
              <a:ext uri="{FF2B5EF4-FFF2-40B4-BE49-F238E27FC236}">
                <a16:creationId xmlns:a16="http://schemas.microsoft.com/office/drawing/2014/main" id="{72841AB8-379A-4CA2-A86D-FD31B0458D3E}"/>
              </a:ext>
            </a:extLst>
          </p:cNvPr>
          <p:cNvSpPr>
            <a:spLocks xmlns:a="http://schemas.openxmlformats.org/drawingml/2006/main" noGrp="1"/>
          </p:cNvSpPr>
          <p:nvPr/>
        </p:nvSpPr>
        <p:spPr>
          <a:xfrm xmlns:a="http://schemas.openxmlformats.org/drawingml/2006/main">
            <a:off x="590550" y="4629150"/>
            <a:ext cx="110109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3D8DFF"/>
                </a:solidFill>
                <a:latin typeface="Arial"/>
                <a:ea typeface="Arial"/>
                <a:cs typeface="Arial"/>
              </a:defRPr>
            </a:pPr>
            <a:r>
              <a:rPr sz="1800" b="1">
                <a:solidFill>
                  <a:srgbClr val="3D8DFF"/>
                </a:solidFill>
                <a:latin typeface="Arial"/>
                <a:ea typeface="Arial"/>
                <a:cs typeface="Arial"/>
              </a:rPr>
              <a:t>deny-default epoch  →  short permit  →  independent SAP revoke  →  exact-row cleanup</a:t>
            </a:r>
          </a:p>
        </p:txBody>
      </p:sp>
      <p:sp>
        <p:nvSpPr>
          <p:cNvPr id="13" name="slide-8-timeline">
            <a:extLst xmlns:a="http://schemas.openxmlformats.org/drawingml/2006/main">
              <a:ext uri="{FF2B5EF4-FFF2-40B4-BE49-F238E27FC236}">
                <a16:creationId xmlns:a16="http://schemas.microsoft.com/office/drawing/2014/main" id="{6CBC893E-1139-4A72-A96D-03C42B732BAC}"/>
              </a:ext>
            </a:extLst>
          </p:cNvPr>
          <p:cNvSpPr>
            <a:spLocks xmlns:a="http://schemas.openxmlformats.org/drawingml/2006/main" noGrp="1"/>
          </p:cNvSpPr>
          <p:nvPr/>
        </p:nvSpPr>
        <p:spPr>
          <a:xfrm xmlns:a="http://schemas.openxmlformats.org/drawingml/2006/main">
            <a:off x="400050" y="5219700"/>
            <a:ext cx="11391900" cy="19050"/>
          </a:xfrm>
          <a:prstGeom xmlns:a="http://schemas.openxmlformats.org/drawingml/2006/main" prst="rect">
            <a:avLst/>
          </a:prstGeom>
          <a:solidFill xmlns:a="http://schemas.openxmlformats.org/drawingml/2006/main">
            <a:srgbClr val="000000"/>
          </a:solidFill>
          <a:ln xmlns:a="http://schemas.openxmlformats.org/drawingml/2006/main" w="0">
            <a:solidFill>
              <a:srgbClr val="000000"/>
            </a:solidFill>
            <a:prstDash val="solid"/>
          </a:ln>
        </p:spPr>
      </p:sp>
      <p:sp>
        <p:nvSpPr>
          <p:cNvPr id="14" name="slide-8-dot-1">
            <a:extLst xmlns:a="http://schemas.openxmlformats.org/drawingml/2006/main">
              <a:ext uri="{FF2B5EF4-FFF2-40B4-BE49-F238E27FC236}">
                <a16:creationId xmlns:a16="http://schemas.microsoft.com/office/drawing/2014/main" id="{82F4FC0A-F678-40F3-B0B0-2D03A6F11416}"/>
              </a:ext>
            </a:extLst>
          </p:cNvPr>
          <p:cNvSpPr>
            <a:spLocks xmlns:a="http://schemas.openxmlformats.org/drawingml/2006/main" noGrp="1"/>
          </p:cNvSpPr>
          <p:nvPr/>
        </p:nvSpPr>
        <p:spPr>
          <a:xfrm xmlns:a="http://schemas.openxmlformats.org/drawingml/2006/main">
            <a:off x="400050" y="5143500"/>
            <a:ext cx="171450" cy="17145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solidFill>
              <a:srgbClr val="000000"/>
            </a:solidFill>
            <a:prstDash val="solid"/>
          </a:ln>
        </p:spPr>
      </p:sp>
      <p:sp>
        <p:nvSpPr>
          <p:cNvPr id="15" name="slide-8-timeline-label-1">
            <a:extLst xmlns:a="http://schemas.openxmlformats.org/drawingml/2006/main">
              <a:ext uri="{FF2B5EF4-FFF2-40B4-BE49-F238E27FC236}">
                <a16:creationId xmlns:a16="http://schemas.microsoft.com/office/drawing/2014/main" id="{7C7CE522-C777-46D6-BF35-C696490D3D0B}"/>
              </a:ext>
            </a:extLst>
          </p:cNvPr>
          <p:cNvSpPr>
            <a:spLocks xmlns:a="http://schemas.openxmlformats.org/drawingml/2006/main" noGrp="1"/>
          </p:cNvSpPr>
          <p:nvPr/>
        </p:nvSpPr>
        <p:spPr>
          <a:xfrm xmlns:a="http://schemas.openxmlformats.org/drawingml/2006/main">
            <a:off x="400050" y="5410200"/>
            <a:ext cx="23812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Certify</a:t>
            </a:r>
          </a:p>
        </p:txBody>
      </p:sp>
      <p:sp>
        <p:nvSpPr>
          <p:cNvPr id="16" name="slide-8-dot-2">
            <a:extLst xmlns:a="http://schemas.openxmlformats.org/drawingml/2006/main">
              <a:ext uri="{FF2B5EF4-FFF2-40B4-BE49-F238E27FC236}">
                <a16:creationId xmlns:a16="http://schemas.microsoft.com/office/drawing/2014/main" id="{26F156FD-0388-4CE9-BBF2-FD84CA686A9E}"/>
              </a:ext>
            </a:extLst>
          </p:cNvPr>
          <p:cNvSpPr>
            <a:spLocks xmlns:a="http://schemas.openxmlformats.org/drawingml/2006/main" noGrp="1"/>
          </p:cNvSpPr>
          <p:nvPr/>
        </p:nvSpPr>
        <p:spPr>
          <a:xfrm xmlns:a="http://schemas.openxmlformats.org/drawingml/2006/main">
            <a:off x="4314825" y="5143500"/>
            <a:ext cx="171450" cy="17145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solidFill>
              <a:srgbClr val="000000"/>
            </a:solidFill>
            <a:prstDash val="solid"/>
          </a:ln>
        </p:spPr>
      </p:sp>
      <p:sp>
        <p:nvSpPr>
          <p:cNvPr id="17" name="slide-8-timeline-label-2">
            <a:extLst xmlns:a="http://schemas.openxmlformats.org/drawingml/2006/main">
              <a:ext uri="{FF2B5EF4-FFF2-40B4-BE49-F238E27FC236}">
                <a16:creationId xmlns:a16="http://schemas.microsoft.com/office/drawing/2014/main" id="{8250A85B-A3C0-4771-B914-71DD14F25722}"/>
              </a:ext>
            </a:extLst>
          </p:cNvPr>
          <p:cNvSpPr>
            <a:spLocks xmlns:a="http://schemas.openxmlformats.org/drawingml/2006/main" noGrp="1"/>
          </p:cNvSpPr>
          <p:nvPr/>
        </p:nvSpPr>
        <p:spPr>
          <a:xfrm xmlns:a="http://schemas.openxmlformats.org/drawingml/2006/main">
            <a:off x="4314825" y="5410200"/>
            <a:ext cx="23812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Prove</a:t>
            </a:r>
          </a:p>
        </p:txBody>
      </p:sp>
      <p:sp>
        <p:nvSpPr>
          <p:cNvPr id="18" name="slide-8-dot-3">
            <a:extLst xmlns:a="http://schemas.openxmlformats.org/drawingml/2006/main">
              <a:ext uri="{FF2B5EF4-FFF2-40B4-BE49-F238E27FC236}">
                <a16:creationId xmlns:a16="http://schemas.microsoft.com/office/drawing/2014/main" id="{D6E01007-902A-4F69-A222-81E2E70575BF}"/>
              </a:ext>
            </a:extLst>
          </p:cNvPr>
          <p:cNvSpPr>
            <a:spLocks xmlns:a="http://schemas.openxmlformats.org/drawingml/2006/main" noGrp="1"/>
          </p:cNvSpPr>
          <p:nvPr/>
        </p:nvSpPr>
        <p:spPr>
          <a:xfrm xmlns:a="http://schemas.openxmlformats.org/drawingml/2006/main">
            <a:off x="8229600" y="5143500"/>
            <a:ext cx="171450" cy="17145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solidFill>
              <a:srgbClr val="000000"/>
            </a:solidFill>
            <a:prstDash val="solid"/>
          </a:ln>
        </p:spPr>
      </p:sp>
      <p:sp>
        <p:nvSpPr>
          <p:cNvPr id="19" name="slide-8-timeline-label-3">
            <a:extLst xmlns:a="http://schemas.openxmlformats.org/drawingml/2006/main">
              <a:ext uri="{FF2B5EF4-FFF2-40B4-BE49-F238E27FC236}">
                <a16:creationId xmlns:a16="http://schemas.microsoft.com/office/drawing/2014/main" id="{E2A2E029-0E2E-4B0E-93A5-00B80DDF4FD1}"/>
              </a:ext>
            </a:extLst>
          </p:cNvPr>
          <p:cNvSpPr>
            <a:spLocks xmlns:a="http://schemas.openxmlformats.org/drawingml/2006/main" noGrp="1"/>
          </p:cNvSpPr>
          <p:nvPr/>
        </p:nvSpPr>
        <p:spPr>
          <a:xfrm xmlns:a="http://schemas.openxmlformats.org/drawingml/2006/main">
            <a:off x="8229600" y="5410200"/>
            <a:ext cx="23812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Bound + scale</a:t>
            </a:r>
          </a:p>
        </p:txBody>
      </p:sp>
      <p:sp>
        <p:nvSpPr>
          <p:cNvPr id="20" name="slide-8-final-defense">
            <a:extLst xmlns:a="http://schemas.openxmlformats.org/drawingml/2006/main">
              <a:ext uri="{FF2B5EF4-FFF2-40B4-BE49-F238E27FC236}">
                <a16:creationId xmlns:a16="http://schemas.microsoft.com/office/drawing/2014/main" id="{BCFF0246-32EC-4051-8956-CF08DC60803D}"/>
              </a:ext>
            </a:extLst>
          </p:cNvPr>
          <p:cNvSpPr>
            <a:spLocks xmlns:a="http://schemas.openxmlformats.org/drawingml/2006/main" noGrp="1"/>
          </p:cNvSpPr>
          <p:nvPr/>
        </p:nvSpPr>
        <p:spPr>
          <a:xfrm xmlns:a="http://schemas.openxmlformats.org/drawingml/2006/main">
            <a:off x="400050" y="5695950"/>
            <a:ext cx="1139190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3D8DFF"/>
                </a:solidFill>
                <a:latin typeface="Arial"/>
                <a:ea typeface="Arial"/>
                <a:cs typeface="Arial"/>
              </a:defRPr>
            </a:pPr>
            <a:r>
              <a:rPr sz="1650" b="1">
                <a:solidFill>
                  <a:srgbClr val="3D8DFF"/>
                </a:solidFill>
                <a:latin typeface="Arial"/>
                <a:ea typeface="Arial"/>
                <a:cs typeface="Arial"/>
              </a:rPr>
              <a:t>Kill proof: acknowledge ≤30 s  •  reject new writes ≤60 s  •  verified safe ≤5 min  —  Remove the sidecar and MERLIN still orders.</a:t>
            </a:r>
          </a:p>
        </p:txBody>
      </p:sp>
      <p:sp>
        <p:nvSpPr>
          <p:cNvPr id="21" name="owner-footer-8">
            <a:extLst xmlns:a="http://schemas.openxmlformats.org/drawingml/2006/main">
              <a:ext uri="{FF2B5EF4-FFF2-40B4-BE49-F238E27FC236}">
                <a16:creationId xmlns:a16="http://schemas.microsoft.com/office/drawing/2014/main" id="{68573208-3B09-4C41-930F-902A14E994D4}"/>
              </a:ext>
            </a:extLst>
          </p:cNvPr>
          <p:cNvSpPr>
            <a:spLocks xmlns:a="http://schemas.openxmlformats.org/drawingml/2006/main" noGrp="1"/>
          </p:cNvSpPr>
          <p:nvPr/>
        </p:nvSpPr>
        <p:spPr>
          <a:xfrm xmlns:a="http://schemas.openxmlformats.org/drawingml/2006/main">
            <a:off x="400050" y="6191250"/>
            <a:ext cx="8096250" cy="20955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200">
                <a:solidFill>
                  <a:srgbClr val="586174"/>
                </a:solidFill>
                <a:latin typeface="Arial"/>
                <a:ea typeface="Arial"/>
                <a:cs typeface="Arial"/>
              </a:defRPr>
            </a:pPr>
            <a:r>
              <a:rPr sz="1200">
                <a:solidFill>
                  <a:srgbClr val="586174"/>
                </a:solidFill>
                <a:latin typeface="Arial"/>
                <a:ea typeface="Arial"/>
                <a:cs typeface="Arial"/>
              </a:rPr>
              <a:t>Owner: TRẦN TRỌNG PHÚ (197320)</a:t>
            </a:r>
          </a:p>
        </p:txBody>
      </p:sp>
      <p:sp>
        <p:nvSpPr>
          <p:cNvPr id="22" name="artifact-footer-8">
            <a:extLst xmlns:a="http://schemas.openxmlformats.org/drawingml/2006/main">
              <a:ext uri="{FF2B5EF4-FFF2-40B4-BE49-F238E27FC236}">
                <a16:creationId xmlns:a16="http://schemas.microsoft.com/office/drawing/2014/main" id="{206D3625-0384-4A95-AC36-FAFF633AD289}"/>
              </a:ext>
            </a:extLst>
          </p:cNvPr>
          <p:cNvSpPr>
            <a:spLocks xmlns:a="http://schemas.openxmlformats.org/drawingml/2006/main" noGrp="1"/>
          </p:cNvSpPr>
          <p:nvPr/>
        </p:nvSpPr>
        <p:spPr>
          <a:xfrm xmlns:a="http://schemas.openxmlformats.org/drawingml/2006/main">
            <a:off x="3676650" y="6419850"/>
            <a:ext cx="49530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l">
              <a:buNone/>
              <a:defRPr sz="1350">
                <a:solidFill>
                  <a:srgbClr val="586174"/>
                </a:solidFill>
                <a:latin typeface="Arial"/>
                <a:ea typeface="Arial"/>
                <a:cs typeface="Arial"/>
              </a:defRPr>
            </a:pPr>
            <a:r>
              <a:rPr sz="1350">
                <a:solidFill>
                  <a:srgbClr val="586174"/>
                </a:solidFill>
                <a:latin typeface="Arial"/>
                <a:ea typeface="Arial"/>
                <a:cs typeface="Arial"/>
              </a:rPr>
              <a:t>Variant B rollout + kill switch</a:t>
            </a:r>
          </a:p>
        </p:txBody>
      </p:sp>
      <p:sp>
        <p:nvSpPr>
          <p:cNvPr id="23" name="page-number-8">
            <a:extLst xmlns:a="http://schemas.openxmlformats.org/drawingml/2006/main">
              <a:ext uri="{FF2B5EF4-FFF2-40B4-BE49-F238E27FC236}">
                <a16:creationId xmlns:a16="http://schemas.microsoft.com/office/drawing/2014/main" id="{A32F54F9-5B01-4348-AFCA-1605EFF11543}"/>
              </a:ext>
            </a:extLst>
          </p:cNvPr>
          <p:cNvSpPr>
            <a:spLocks xmlns:a="http://schemas.openxmlformats.org/drawingml/2006/main" noGrp="1"/>
          </p:cNvSpPr>
          <p:nvPr/>
        </p:nvSpPr>
        <p:spPr>
          <a:xfrm xmlns:a="http://schemas.openxmlformats.org/drawingml/2006/main">
            <a:off x="11296650" y="6419850"/>
            <a:ext cx="495300" cy="228600"/>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350">
                <a:solidFill>
                  <a:srgbClr val="000000"/>
                </a:solidFill>
                <a:latin typeface="Arial"/>
                <a:ea typeface="Arial"/>
                <a:cs typeface="Arial"/>
              </a:defRPr>
            </a:pPr>
            <a:r>
              <a:rPr sz="1350">
                <a:solidFill>
                  <a:srgbClr val="000000"/>
                </a:solidFill>
                <a:latin typeface="Arial"/>
                <a:ea typeface="Arial"/>
                <a:cs typeface="Arial"/>
              </a:rPr>
              <a:t>8</a:t>
            </a:r>
          </a:p>
        </p:txBody>
      </p:sp>
    </p:spTree>
    <p:extLst>
      <p:ext uri="{BB962C8B-B14F-4D97-AF65-F5344CB8AC3E}">
        <p14:creationId xmlns:p14="http://schemas.microsoft.com/office/powerpoint/2010/main" val="9958936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2026-07-20T05:05:43.4450000Z</dcterms:created>
  <dcterms:modified xsi:type="dcterms:W3CDTF">2026-07-20T05:05:43.4450000Z</dcterms:modified>
</coreProperties>
</file>