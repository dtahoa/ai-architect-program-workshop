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c3deedd364aec" /><Relationship Type="http://schemas.openxmlformats.org/officeDocument/2006/relationships/extended-properties" Target="/docProps/app.xml" Id="R5ce62d0b951343eb" /><Relationship Type="http://schemas.openxmlformats.org/officeDocument/2006/relationships/officeDocument" Target="/ppt/presentation.xml" Id="R15c5818535d14bf3" /></Relationships>
</file>

<file path=ppt/presentation.xml><?xml version="1.0" encoding="utf-8"?>
<p:presentation xmlns:p="http://schemas.openxmlformats.org/presentationml/2006/main">
  <p:sldMasterIdLst>
    <p:sldMasterId xmlns:r="http://schemas.openxmlformats.org/officeDocument/2006/relationships" id="2147483648" r:id="R15ced374b0bf4718"/>
  </p:sldMasterIdLst>
  <p:notesMasterIdLst>
    <p:notesMasterId xmlns:r="http://schemas.openxmlformats.org/officeDocument/2006/relationships" r:id="R8410a6c3301f4255"/>
  </p:notesMasterIdLst>
  <p:sldIdLst>
    <p:sldId xmlns:r="http://schemas.openxmlformats.org/officeDocument/2006/relationships" id="256" r:id="Rf06c630c38f2480b"/>
    <p:sldId xmlns:r="http://schemas.openxmlformats.org/officeDocument/2006/relationships" id="257" r:id="Rfbcd2c0239ab4e1b"/>
    <p:sldId xmlns:r="http://schemas.openxmlformats.org/officeDocument/2006/relationships" id="258" r:id="Ra5fa097e059a4eed"/>
    <p:sldId xmlns:r="http://schemas.openxmlformats.org/officeDocument/2006/relationships" id="259" r:id="Ref5f8e59b80a41ff"/>
    <p:sldId xmlns:r="http://schemas.openxmlformats.org/officeDocument/2006/relationships" id="260" r:id="R4402f32dbec3461d"/>
    <p:sldId xmlns:r="http://schemas.openxmlformats.org/officeDocument/2006/relationships" id="261" r:id="R1440d37648a84c1c"/>
    <p:sldId xmlns:r="http://schemas.openxmlformats.org/officeDocument/2006/relationships" id="262" r:id="R6721a21b2f044166"/>
    <p:sldId xmlns:r="http://schemas.openxmlformats.org/officeDocument/2006/relationships" id="263" r:id="Rfdc64df6cad54af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7151b14d5041d1" /><Relationship Type="http://schemas.openxmlformats.org/officeDocument/2006/relationships/slideMaster" Target="/ppt/slideMasters/slideMaster1.xml" Id="R15ced374b0bf4718" /><Relationship Type="http://schemas.openxmlformats.org/officeDocument/2006/relationships/notesMaster" Target="/ppt/notesMasters/notesMaster1.xml" Id="R8410a6c3301f4255" /><Relationship Type="http://schemas.openxmlformats.org/officeDocument/2006/relationships/presProps" Target="/ppt/presProps.xml" Id="Rd4aab172a48447e1" /><Relationship Type="http://schemas.openxmlformats.org/officeDocument/2006/relationships/tableStyles" Target="/ppt/tableStyles.xml" Id="Rdb6e0f8d156d4c08" /><Relationship Type="http://schemas.openxmlformats.org/officeDocument/2006/relationships/slide" Target="/ppt/slides/slide1.xml" Id="Rf06c630c38f2480b" /><Relationship Type="http://schemas.openxmlformats.org/officeDocument/2006/relationships/slide" Target="/ppt/slides/slide2.xml" Id="Rfbcd2c0239ab4e1b" /><Relationship Type="http://schemas.openxmlformats.org/officeDocument/2006/relationships/slide" Target="/ppt/slides/slide3.xml" Id="Ra5fa097e059a4eed" /><Relationship Type="http://schemas.openxmlformats.org/officeDocument/2006/relationships/slide" Target="/ppt/slides/slide4.xml" Id="Ref5f8e59b80a41ff" /><Relationship Type="http://schemas.openxmlformats.org/officeDocument/2006/relationships/slide" Target="/ppt/slides/slide5.xml" Id="R4402f32dbec3461d" /><Relationship Type="http://schemas.openxmlformats.org/officeDocument/2006/relationships/slide" Target="/ppt/slides/slide6.xml" Id="R1440d37648a84c1c" /><Relationship Type="http://schemas.openxmlformats.org/officeDocument/2006/relationships/slide" Target="/ppt/slides/slide7.xml" Id="R6721a21b2f044166" /><Relationship Type="http://schemas.openxmlformats.org/officeDocument/2006/relationships/slide" Target="/ppt/slides/slide8.xml" Id="Rfdc64df6cad54a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d325979d1e4a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9d3058ad4e4b16" /><Relationship Type="http://schemas.openxmlformats.org/officeDocument/2006/relationships/notesMaster" Target="/ppt/notesMasters/notesMaster1.xml" Id="R4317c31d66f741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85bda842324076" /><Relationship Type="http://schemas.openxmlformats.org/officeDocument/2006/relationships/notesMaster" Target="/ppt/notesMasters/notesMaster1.xml" Id="R77720969fe1f4e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6d69fb83e247ff" /><Relationship Type="http://schemas.openxmlformats.org/officeDocument/2006/relationships/notesMaster" Target="/ppt/notesMasters/notesMaster1.xml" Id="Rc0bbcadbd0784c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fc20b0177a4e99" /><Relationship Type="http://schemas.openxmlformats.org/officeDocument/2006/relationships/notesMaster" Target="/ppt/notesMasters/notesMaster1.xml" Id="R0998f3600b9c44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68d466189d48ef" /><Relationship Type="http://schemas.openxmlformats.org/officeDocument/2006/relationships/notesMaster" Target="/ppt/notesMasters/notesMaster1.xml" Id="R6c30f3bbb5ad4b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818cf77f874330" /><Relationship Type="http://schemas.openxmlformats.org/officeDocument/2006/relationships/notesMaster" Target="/ppt/notesMasters/notesMaster1.xml" Id="Rea2688e1025846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5ff6f1e26a4bef" /><Relationship Type="http://schemas.openxmlformats.org/officeDocument/2006/relationships/notesMaster" Target="/ppt/notesMasters/notesMaster1.xml" Id="R16c02faea2604f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7c1637f96341b1" /><Relationship Type="http://schemas.openxmlformats.org/officeDocument/2006/relationships/notesMaster" Target="/ppt/notesMasters/notesMaster1.xml" Id="Rd757f3cf41764b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MERLIN in control; let AI fail without stopping a truck. Our position is to add intelligence beside MERLIN, never inside it. An external asynchronous sidecar produces statistical forecasts and deterministic, bounded replenishment recommendations. MERLIN still generates every supplier order and remains the only system that sends EDI. If AI is absent, late, uncertain, invalid, or deliberately disabled, no current-run override appears and the incumbent min/max process continues. That is the removal test: take away the entire AI platform and trucks still receive orders. We are defending replay and shadow today. Production influence remains conditional on measured MERLIN, adapter, peak, cost, and operating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 only the edges: three supported MERLIN extensions. We can add the external sidecar, narrow adapters, a control plane, monitoring, and immutable audit. We cannot modify MERLIN's replenishment engine or authority, touch POS, change supplier EDI, or move 04:00. Every MERLIN crossing maps to one declared extension: the nightly batch supplies a dated snapshot, the override table is read before generation, and the review queue operates after generation. The scheduler, undocumented tables, and manual rows are unsafe to touch. So is treating inventory as shelf truth: accuracy is 78 percent, which makes uncertainty a core design input rather than a data-cleaning footnote.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sidecar is advisory; every authoritative action stays inside MERLIN. The sidecar ingests approved immutable snapshots, validates schema, freshness, completeness, residency, and checksums, then builds features including inventory intervals. Statistical ML returns demand quantiles and confidence. A deterministic optimizer applies whole cases, shelf life, lead time, DC capacity, inventory feasibility, and category caps. The sidecar cannot contact suppliers. Only a certified adapter can write bounded current-run rows to the supported override table. MERLIN then runs its unmodified engine, creates the authoritative order, and owns native review and EDI. A current MERLIN quantity is not available before publication; it may return only after generation through a certified queue join. No certified join means no current-run comparison and no automated influence.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closes at 02:00 to protect the immovable 04:00 cut-off. The sidecar gets a four-hour window. It validates the snapshot by 22:20, completes forecasting by 00:20, and deterministic optimization by 01:20. No new internal retry begins after 01:30. At 01:45, every required partition, model, ruleset, constraint, checksum, and audit record must form one complete signed manifest. Publication uses a short permit and a transaction-level epoch check, and every write closes at 02:00. MERLIN then owns two hours for generation, native review, and fixed-schema EDI. A missing partition, stale input, low confidence, bad checksum, expired permit, or failed transaction means publish nothing. If AI recovers at 03:30, it remains closed; MERLIN continues the current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fits the envelope on paper - production waits for measured proof. We preserve both source populations: 27 million forecast outputs and 7.04 million stocked optimization candidates. Because the six-times denominator is ambiguous, the capacity test is intentionally conservative: 162 million forecast and 42.24 million optimization equivalents. At the target rates, the end-to-end sidecar path is 198.7 minutes inside 240, leaving 41.3 minutes. Annual operating cost targets 3.8 million dollars under the 4 million ceiling, or 0.0003856 dollars per nominal forecast when all AI costs are blended. These are targets, not benchmark results. Production requires three consecutive six-times runs, measured MERLIN P99 of at most 90 minutes for this close, a certified adapter, observed bills, and Finance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Sidecar won because isolation matters more than convenience. Supported boundaries and replenishment continuity carry half the integration-pattern weight, so the external fail-open sidecar scores 4.80. Shadow scores 4.00, but shadow is a rollout state, not an architecture: it says nothing about deployment or interfaces. Event-driven integration would invent a legacy event contract; an API gateway would put availability on a synchronous path; an in-process plugin violates the unmodifiable, untested core. The ADR accepts real negatives: duplicated snapshots, possible divergence, certified adapter work, two-system traceability, and additional on-call cost. We accept those costs because they buy independent failure and rollback. The scores select direction; they do not waive release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top risk has a threshold and a safe fallback. Deadline and inventory each score 20, peak and model behavior scores 16, and adapter integrity plus safety score 15. A deadline reserve below 30 minutes, a published row without a calibrated interval, peak throughput below its floor, a stale-epoch commit, a changed manual row, or any generated safety statement is a critical stop. The response is never to keep retrying toward 04:00. We bypass the AI run, suppress the row, disable the affected slice, activate the kill path, or refuse and escalate the safety question. MERLIN and POS remain independent. The remaining review minors concern score sensitivity and why omitted contenders ranked below the top five, not the operating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Earn influence in stages; disable it in minutes. Discovery first certifies timing, queue fields, transaction behavior, locking, ownership, cleanup, and named operators. Historical replay proves forecast quality, inventory intervals, six-times throughput, cost, and failure behavior. Production shadow then runs for at least four weeks with zero MERLIN writes and representative promotions. Only after every gate passes do we consider a pilot: 20 stores, two low-risk non-fresh categories, no more than the measured transaction cap, and at most 100 review exceptions per night. A new disable epoch must be acknowledged within 30 seconds, reject new writes within 60, and reach verified safe within five minutes using independent SAP access revocation and exact-row cleanup. Our final defense is simple: remove the sidecar and MERLIN still 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17958baf24a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a8751809b54484" /><Relationship Type="http://schemas.openxmlformats.org/officeDocument/2006/relationships/slideLayout" Target="/ppt/slideLayouts/slideLayout1.xml" Id="Re493875f1b664b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93875f1b664b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cb08412c5142b9" /><Relationship Type="http://schemas.openxmlformats.org/officeDocument/2006/relationships/notesSlide" Target="/ppt/notesSlides/notesSlide1.xml" Id="R8f09283292354f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e96ec874064762" /><Relationship Type="http://schemas.openxmlformats.org/officeDocument/2006/relationships/notesSlide" Target="/ppt/notesSlides/notesSlide2.xml" Id="Rb5ab1117a16d4c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fc11e915c34bf2" /><Relationship Type="http://schemas.openxmlformats.org/officeDocument/2006/relationships/notesSlide" Target="/ppt/notesSlides/notesSlide3.xml" Id="Rf28bdf05fac949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b1e8cebca84e94" /><Relationship Type="http://schemas.openxmlformats.org/officeDocument/2006/relationships/notesSlide" Target="/ppt/notesSlides/notesSlide4.xml" Id="R33ed38eb489646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376dfd8afc45d8" /><Relationship Type="http://schemas.openxmlformats.org/officeDocument/2006/relationships/notesSlide" Target="/ppt/notesSlides/notesSlide5.xml" Id="Rd959a19cfa1048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9b29ce78a94de3" /><Relationship Type="http://schemas.openxmlformats.org/officeDocument/2006/relationships/notesSlide" Target="/ppt/notesSlides/notesSlide6.xml" Id="R9603ab7d85474e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90e23bed364233" /><Relationship Type="http://schemas.openxmlformats.org/officeDocument/2006/relationships/notesSlide" Target="/ppt/notesSlides/notesSlide7.xml" Id="R5aad3c8ed5b84d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22446ebf746c9" /><Relationship Type="http://schemas.openxmlformats.org/officeDocument/2006/relationships/notesSlide" Target="/ppt/notesSlides/notesSlide8.xml" Id="R91b8bddba24842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1-kicker">
            <a:extLst xmlns:a="http://schemas.openxmlformats.org/drawingml/2006/main">
              <a:ext uri="{FF2B5EF4-FFF2-40B4-BE49-F238E27FC236}">
                <a16:creationId xmlns:a16="http://schemas.microsoft.com/office/drawing/2014/main" id="{1308D3AE-43F1-40BF-BF42-BBE942E762B5}"/>
              </a:ext>
            </a:extLst>
          </p:cNvPr>
          <p:cNvSpPr>
            <a:spLocks xmlns:a="http://schemas.openxmlformats.org/drawingml/2006/main" noGrp="1"/>
          </p:cNvSpPr>
          <p:nvPr/>
        </p:nvSpPr>
        <p:spPr>
          <a:xfrm xmlns:a="http://schemas.openxmlformats.org/drawingml/2006/main">
            <a:off x="400050" y="381000"/>
            <a:ext cx="66675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GROUP 4  •  VARIANT B — AI RETROFIT</a:t>
            </a:r>
          </a:p>
        </p:txBody>
      </p:sp>
      <p:sp>
        <p:nvSpPr>
          <p:cNvPr id="2" name="slide-1-hero">
            <a:extLst xmlns:a="http://schemas.openxmlformats.org/drawingml/2006/main">
              <a:ext uri="{FF2B5EF4-FFF2-40B4-BE49-F238E27FC236}">
                <a16:creationId xmlns:a16="http://schemas.microsoft.com/office/drawing/2014/main" id="{EBF9D962-53B5-48C0-A060-A3A04900B4E5}"/>
              </a:ext>
            </a:extLst>
          </p:cNvPr>
          <p:cNvSpPr>
            <a:spLocks xmlns:a="http://schemas.openxmlformats.org/drawingml/2006/main" noGrp="1"/>
          </p:cNvSpPr>
          <p:nvPr/>
        </p:nvSpPr>
        <p:spPr>
          <a:xfrm xmlns:a="http://schemas.openxmlformats.org/drawingml/2006/main">
            <a:off x="400050" y="1504950"/>
            <a:ext cx="10572750" cy="21526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5400" b="1">
                <a:solidFill>
                  <a:srgbClr val="000000"/>
                </a:solidFill>
                <a:latin typeface="Helvetica Neue"/>
                <a:ea typeface="Helvetica Neue"/>
                <a:cs typeface="Helvetica Neue"/>
              </a:defRPr>
            </a:pPr>
            <a:r>
              <a:t>Keep MERLIN in control;
let AI fail without stopping a truck</a:t>
            </a:r>
          </a:p>
        </p:txBody>
      </p:sp>
      <p:sp>
        <p:nvSpPr>
          <p:cNvPr id="3" name="slide-1-authority-rule">
            <a:extLst xmlns:a="http://schemas.openxmlformats.org/drawingml/2006/main">
              <a:ext uri="{FF2B5EF4-FFF2-40B4-BE49-F238E27FC236}">
                <a16:creationId xmlns:a16="http://schemas.microsoft.com/office/drawing/2014/main" id="{952D49B4-7B9E-45FD-BEAB-A55FD7A5F853}"/>
              </a:ext>
            </a:extLst>
          </p:cNvPr>
          <p:cNvSpPr>
            <a:spLocks xmlns:a="http://schemas.openxmlformats.org/drawingml/2006/main" noGrp="1"/>
          </p:cNvSpPr>
          <p:nvPr/>
        </p:nvSpPr>
        <p:spPr>
          <a:xfrm xmlns:a="http://schemas.openxmlformats.org/drawingml/2006/main">
            <a:off x="400050" y="4000500"/>
            <a:ext cx="10763250"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1-merlin-marker">
            <a:extLst xmlns:a="http://schemas.openxmlformats.org/drawingml/2006/main">
              <a:ext uri="{FF2B5EF4-FFF2-40B4-BE49-F238E27FC236}">
                <a16:creationId xmlns:a16="http://schemas.microsoft.com/office/drawing/2014/main" id="{2E4A8854-7ED6-406D-A8B4-BAAE4A01CCEF}"/>
              </a:ext>
            </a:extLst>
          </p:cNvPr>
          <p:cNvSpPr>
            <a:spLocks xmlns:a="http://schemas.openxmlformats.org/drawingml/2006/main" noGrp="1"/>
          </p:cNvSpPr>
          <p:nvPr/>
        </p:nvSpPr>
        <p:spPr>
          <a:xfrm xmlns:a="http://schemas.openxmlformats.org/drawingml/2006/main">
            <a:off x="10744200" y="3905250"/>
            <a:ext cx="209550" cy="2095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5" name="slide-1-sidecar-marker">
            <a:extLst xmlns:a="http://schemas.openxmlformats.org/drawingml/2006/main">
              <a:ext uri="{FF2B5EF4-FFF2-40B4-BE49-F238E27FC236}">
                <a16:creationId xmlns:a16="http://schemas.microsoft.com/office/drawing/2014/main" id="{2F53CDF5-2524-43A9-87BA-E5DC79A25128}"/>
              </a:ext>
            </a:extLst>
          </p:cNvPr>
          <p:cNvSpPr>
            <a:spLocks xmlns:a="http://schemas.openxmlformats.org/drawingml/2006/main" noGrp="1"/>
          </p:cNvSpPr>
          <p:nvPr/>
        </p:nvSpPr>
        <p:spPr>
          <a:xfrm xmlns:a="http://schemas.openxmlformats.org/drawingml/2006/main">
            <a:off x="11163300" y="3905250"/>
            <a:ext cx="209550" cy="2095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solidFill>
              <a:srgbClr val="3D8DFF"/>
            </a:solidFill>
            <a:prstDash val="solid"/>
          </a:ln>
        </p:spPr>
      </p:sp>
      <p:sp>
        <p:nvSpPr>
          <p:cNvPr id="6" name="slide-1-proof-points">
            <a:extLst xmlns:a="http://schemas.openxmlformats.org/drawingml/2006/main">
              <a:ext uri="{FF2B5EF4-FFF2-40B4-BE49-F238E27FC236}">
                <a16:creationId xmlns:a16="http://schemas.microsoft.com/office/drawing/2014/main" id="{7DD5D7EF-8352-4B64-8B5B-31019D7B2B38}"/>
              </a:ext>
            </a:extLst>
          </p:cNvPr>
          <p:cNvSpPr>
            <a:spLocks xmlns:a="http://schemas.openxmlformats.org/drawingml/2006/main" noGrp="1"/>
          </p:cNvSpPr>
          <p:nvPr/>
        </p:nvSpPr>
        <p:spPr>
          <a:xfrm xmlns:a="http://schemas.openxmlformats.org/drawingml/2006/main">
            <a:off x="400050" y="4343400"/>
            <a:ext cx="9906000" cy="1676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 External, asynchronous, fail-open AI sidecar
• Statistical forecast ML + deterministic replenishment rules
• MERLIN generates every order and alone sends supplier EDI
• No valid AI output = unchanged min/max replenishment
• Replay and shadow only until measured release gates pass</a:t>
            </a:r>
          </a:p>
        </p:txBody>
      </p:sp>
      <p:sp>
        <p:nvSpPr>
          <p:cNvPr id="7" name="owner-footer-1">
            <a:extLst xmlns:a="http://schemas.openxmlformats.org/drawingml/2006/main">
              <a:ext uri="{FF2B5EF4-FFF2-40B4-BE49-F238E27FC236}">
                <a16:creationId xmlns:a16="http://schemas.microsoft.com/office/drawing/2014/main" id="{900EDBDB-4028-444B-8FD4-03BC4957B93F}"/>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ĐINH XUÂN DŨNG (123015)</a:t>
            </a:r>
          </a:p>
        </p:txBody>
      </p:sp>
      <p:sp>
        <p:nvSpPr>
          <p:cNvPr id="8" name="artifact-footer-1">
            <a:extLst xmlns:a="http://schemas.openxmlformats.org/drawingml/2006/main">
              <a:ext uri="{FF2B5EF4-FFF2-40B4-BE49-F238E27FC236}">
                <a16:creationId xmlns:a16="http://schemas.microsoft.com/office/drawing/2014/main" id="{2A85DA14-0691-4BC5-B723-5C76E2114A02}"/>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Workshop 1 — End-to-End AI System Design Lab</a:t>
            </a:r>
          </a:p>
        </p:txBody>
      </p:sp>
      <p:sp>
        <p:nvSpPr>
          <p:cNvPr id="9" name="page-number-1">
            <a:extLst xmlns:a="http://schemas.openxmlformats.org/drawingml/2006/main">
              <a:ext uri="{FF2B5EF4-FFF2-40B4-BE49-F238E27FC236}">
                <a16:creationId xmlns:a16="http://schemas.microsoft.com/office/drawing/2014/main" id="{1C8EAE8D-9566-4321-ABC7-040EDADCED26}"/>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1</a:t>
            </a:r>
          </a:p>
        </p:txBody>
      </p:sp>
    </p:spTree>
    <p:extLst>
      <p:ext uri="{BB962C8B-B14F-4D97-AF65-F5344CB8AC3E}">
        <p14:creationId xmlns:p14="http://schemas.microsoft.com/office/powerpoint/2010/main" val="21188618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title">
            <a:extLst xmlns:a="http://schemas.openxmlformats.org/drawingml/2006/main">
              <a:ext uri="{FF2B5EF4-FFF2-40B4-BE49-F238E27FC236}">
                <a16:creationId xmlns:a16="http://schemas.microsoft.com/office/drawing/2014/main" id="{5F90CEFE-CE80-4531-8EF5-3C325374BA2D}"/>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Change only the edges: three supported MERLIN extensions</a:t>
            </a:r>
          </a:p>
        </p:txBody>
      </p:sp>
      <p:sp>
        <p:nvSpPr>
          <p:cNvPr id="2" name="slide-2-column-rule-1">
            <a:extLst xmlns:a="http://schemas.openxmlformats.org/drawingml/2006/main">
              <a:ext uri="{FF2B5EF4-FFF2-40B4-BE49-F238E27FC236}">
                <a16:creationId xmlns:a16="http://schemas.microsoft.com/office/drawing/2014/main" id="{125AA2A0-7900-4342-A089-0F5FAD4F4BB7}"/>
              </a:ext>
            </a:extLst>
          </p:cNvPr>
          <p:cNvSpPr>
            <a:spLocks xmlns:a="http://schemas.openxmlformats.org/drawingml/2006/main" noGrp="1"/>
          </p:cNvSpPr>
          <p:nvPr/>
        </p:nvSpPr>
        <p:spPr>
          <a:xfrm xmlns:a="http://schemas.openxmlformats.org/drawingml/2006/main">
            <a:off x="400050" y="1809750"/>
            <a:ext cx="590550"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slide-2-column-heading-1">
            <a:extLst xmlns:a="http://schemas.openxmlformats.org/drawingml/2006/main">
              <a:ext uri="{FF2B5EF4-FFF2-40B4-BE49-F238E27FC236}">
                <a16:creationId xmlns:a16="http://schemas.microsoft.com/office/drawing/2014/main" id="{7DD83E21-8169-4D90-8D30-13BC81AE0F71}"/>
              </a:ext>
            </a:extLst>
          </p:cNvPr>
          <p:cNvSpPr>
            <a:spLocks xmlns:a="http://schemas.openxmlformats.org/drawingml/2006/main" noGrp="1"/>
          </p:cNvSpPr>
          <p:nvPr/>
        </p:nvSpPr>
        <p:spPr>
          <a:xfrm xmlns:a="http://schemas.openxmlformats.org/drawingml/2006/main">
            <a:off x="400050" y="2190750"/>
            <a:ext cx="33528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Can change</a:t>
            </a:r>
          </a:p>
        </p:txBody>
      </p:sp>
      <p:sp>
        <p:nvSpPr>
          <p:cNvPr id="4" name="slide-2-column-body-1">
            <a:extLst xmlns:a="http://schemas.openxmlformats.org/drawingml/2006/main">
              <a:ext uri="{FF2B5EF4-FFF2-40B4-BE49-F238E27FC236}">
                <a16:creationId xmlns:a16="http://schemas.microsoft.com/office/drawing/2014/main" id="{4BB314BA-058A-484C-B13B-584663E61727}"/>
              </a:ext>
            </a:extLst>
          </p:cNvPr>
          <p:cNvSpPr>
            <a:spLocks xmlns:a="http://schemas.openxmlformats.org/drawingml/2006/main" noGrp="1"/>
          </p:cNvSpPr>
          <p:nvPr/>
        </p:nvSpPr>
        <p:spPr>
          <a:xfrm xmlns:a="http://schemas.openxmlformats.org/drawingml/2006/main">
            <a:off x="400050" y="3009900"/>
            <a:ext cx="3352800" cy="1752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External sidecar
Narrow adapters
Control + immutable audit</a:t>
            </a:r>
          </a:p>
        </p:txBody>
      </p:sp>
      <p:sp>
        <p:nvSpPr>
          <p:cNvPr id="5" name="slide-2-column-rule-2">
            <a:extLst xmlns:a="http://schemas.openxmlformats.org/drawingml/2006/main">
              <a:ext uri="{FF2B5EF4-FFF2-40B4-BE49-F238E27FC236}">
                <a16:creationId xmlns:a16="http://schemas.microsoft.com/office/drawing/2014/main" id="{4E690BBA-9889-453C-A238-AD4D7FA34F40}"/>
              </a:ext>
            </a:extLst>
          </p:cNvPr>
          <p:cNvSpPr>
            <a:spLocks xmlns:a="http://schemas.openxmlformats.org/drawingml/2006/main" noGrp="1"/>
          </p:cNvSpPr>
          <p:nvPr/>
        </p:nvSpPr>
        <p:spPr>
          <a:xfrm xmlns:a="http://schemas.openxmlformats.org/drawingml/2006/main">
            <a:off x="4324350" y="1809750"/>
            <a:ext cx="59055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slide-2-column-heading-2">
            <a:extLst xmlns:a="http://schemas.openxmlformats.org/drawingml/2006/main">
              <a:ext uri="{FF2B5EF4-FFF2-40B4-BE49-F238E27FC236}">
                <a16:creationId xmlns:a16="http://schemas.microsoft.com/office/drawing/2014/main" id="{BE566189-F2FA-43F5-8402-EC3E41E763FF}"/>
              </a:ext>
            </a:extLst>
          </p:cNvPr>
          <p:cNvSpPr>
            <a:spLocks xmlns:a="http://schemas.openxmlformats.org/drawingml/2006/main" noGrp="1"/>
          </p:cNvSpPr>
          <p:nvPr/>
        </p:nvSpPr>
        <p:spPr>
          <a:xfrm xmlns:a="http://schemas.openxmlformats.org/drawingml/2006/main">
            <a:off x="4324350" y="2190750"/>
            <a:ext cx="33528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Cannot change</a:t>
            </a:r>
          </a:p>
        </p:txBody>
      </p:sp>
      <p:sp>
        <p:nvSpPr>
          <p:cNvPr id="7" name="slide-2-column-body-2">
            <a:extLst xmlns:a="http://schemas.openxmlformats.org/drawingml/2006/main">
              <a:ext uri="{FF2B5EF4-FFF2-40B4-BE49-F238E27FC236}">
                <a16:creationId xmlns:a16="http://schemas.microsoft.com/office/drawing/2014/main" id="{032CCC11-92ED-4292-B474-0ED17669CF25}"/>
              </a:ext>
            </a:extLst>
          </p:cNvPr>
          <p:cNvSpPr>
            <a:spLocks xmlns:a="http://schemas.openxmlformats.org/drawingml/2006/main" noGrp="1"/>
          </p:cNvSpPr>
          <p:nvPr/>
        </p:nvSpPr>
        <p:spPr>
          <a:xfrm xmlns:a="http://schemas.openxmlformats.org/drawingml/2006/main">
            <a:off x="4324350" y="3009900"/>
            <a:ext cx="3352800" cy="1752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MERLIN engine + authority
POS and fixed EDI schema
04:00 supplier cut-off</a:t>
            </a:r>
          </a:p>
        </p:txBody>
      </p:sp>
      <p:sp>
        <p:nvSpPr>
          <p:cNvPr id="8" name="slide-2-column-rule-3">
            <a:extLst xmlns:a="http://schemas.openxmlformats.org/drawingml/2006/main">
              <a:ext uri="{FF2B5EF4-FFF2-40B4-BE49-F238E27FC236}">
                <a16:creationId xmlns:a16="http://schemas.microsoft.com/office/drawing/2014/main" id="{16A5C0B3-B794-40B1-A97A-F9065092E818}"/>
              </a:ext>
            </a:extLst>
          </p:cNvPr>
          <p:cNvSpPr>
            <a:spLocks xmlns:a="http://schemas.openxmlformats.org/drawingml/2006/main" noGrp="1"/>
          </p:cNvSpPr>
          <p:nvPr/>
        </p:nvSpPr>
        <p:spPr>
          <a:xfrm xmlns:a="http://schemas.openxmlformats.org/drawingml/2006/main">
            <a:off x="8248650" y="1809750"/>
            <a:ext cx="590550" cy="76200"/>
          </a:xfrm>
          <a:prstGeom xmlns:a="http://schemas.openxmlformats.org/drawingml/2006/main" prst="rect">
            <a:avLst/>
          </a:prstGeom>
          <a:solidFill xmlns:a="http://schemas.openxmlformats.org/drawingml/2006/main">
            <a:srgbClr val="586174"/>
          </a:solidFill>
          <a:ln xmlns:a="http://schemas.openxmlformats.org/drawingml/2006/main" w="0">
            <a:solidFill>
              <a:srgbClr val="586174"/>
            </a:solidFill>
            <a:prstDash val="solid"/>
          </a:ln>
        </p:spPr>
      </p:sp>
      <p:sp>
        <p:nvSpPr>
          <p:cNvPr id="9" name="slide-2-column-heading-3">
            <a:extLst xmlns:a="http://schemas.openxmlformats.org/drawingml/2006/main">
              <a:ext uri="{FF2B5EF4-FFF2-40B4-BE49-F238E27FC236}">
                <a16:creationId xmlns:a16="http://schemas.microsoft.com/office/drawing/2014/main" id="{D05A4599-12D5-4524-BB11-825F8BB954F3}"/>
              </a:ext>
            </a:extLst>
          </p:cNvPr>
          <p:cNvSpPr>
            <a:spLocks xmlns:a="http://schemas.openxmlformats.org/drawingml/2006/main" noGrp="1"/>
          </p:cNvSpPr>
          <p:nvPr/>
        </p:nvSpPr>
        <p:spPr>
          <a:xfrm xmlns:a="http://schemas.openxmlformats.org/drawingml/2006/main">
            <a:off x="8248650" y="2190750"/>
            <a:ext cx="33528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Unsafe to touch</a:t>
            </a:r>
          </a:p>
        </p:txBody>
      </p:sp>
      <p:sp>
        <p:nvSpPr>
          <p:cNvPr id="10" name="slide-2-column-body-3">
            <a:extLst xmlns:a="http://schemas.openxmlformats.org/drawingml/2006/main">
              <a:ext uri="{FF2B5EF4-FFF2-40B4-BE49-F238E27FC236}">
                <a16:creationId xmlns:a16="http://schemas.microsoft.com/office/drawing/2014/main" id="{B4392E72-7444-4EC0-B699-C38F52B95BA1}"/>
              </a:ext>
            </a:extLst>
          </p:cNvPr>
          <p:cNvSpPr>
            <a:spLocks xmlns:a="http://schemas.openxmlformats.org/drawingml/2006/main" noGrp="1"/>
          </p:cNvSpPr>
          <p:nvPr/>
        </p:nvSpPr>
        <p:spPr>
          <a:xfrm xmlns:a="http://schemas.openxmlformats.org/drawingml/2006/main">
            <a:off x="8248650" y="3009900"/>
            <a:ext cx="3352800" cy="1752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Scheduler + undocumented tables
Manual rows
Point inventory as truth</a:t>
            </a:r>
          </a:p>
        </p:txBody>
      </p:sp>
      <p:sp>
        <p:nvSpPr>
          <p:cNvPr id="11" name="slide-2-supported-rule">
            <a:extLst xmlns:a="http://schemas.openxmlformats.org/drawingml/2006/main">
              <a:ext uri="{FF2B5EF4-FFF2-40B4-BE49-F238E27FC236}">
                <a16:creationId xmlns:a16="http://schemas.microsoft.com/office/drawing/2014/main" id="{0FE51358-7AA3-48D5-9DEF-18D48A77029B}"/>
              </a:ext>
            </a:extLst>
          </p:cNvPr>
          <p:cNvSpPr>
            <a:spLocks xmlns:a="http://schemas.openxmlformats.org/drawingml/2006/main" noGrp="1"/>
          </p:cNvSpPr>
          <p:nvPr/>
        </p:nvSpPr>
        <p:spPr>
          <a:xfrm xmlns:a="http://schemas.openxmlformats.org/drawingml/2006/main">
            <a:off x="400050" y="5219700"/>
            <a:ext cx="113919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2" name="slide-2-supported-crossings">
            <a:extLst xmlns:a="http://schemas.openxmlformats.org/drawingml/2006/main">
              <a:ext uri="{FF2B5EF4-FFF2-40B4-BE49-F238E27FC236}">
                <a16:creationId xmlns:a16="http://schemas.microsoft.com/office/drawing/2014/main" id="{903D4A7C-1E09-4DD3-9C4E-A401B6180049}"/>
              </a:ext>
            </a:extLst>
          </p:cNvPr>
          <p:cNvSpPr>
            <a:spLocks xmlns:a="http://schemas.openxmlformats.org/drawingml/2006/main" noGrp="1"/>
          </p:cNvSpPr>
          <p:nvPr/>
        </p:nvSpPr>
        <p:spPr>
          <a:xfrm xmlns:a="http://schemas.openxmlformats.org/drawingml/2006/main">
            <a:off x="400050" y="5410200"/>
            <a:ext cx="11391900" cy="571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Only supported crossings  →  nightly batch  •  pre-generation override table  •  post-generation review queue</a:t>
            </a:r>
          </a:p>
        </p:txBody>
      </p:sp>
      <p:sp>
        <p:nvSpPr>
          <p:cNvPr id="13" name="owner-footer-2">
            <a:extLst xmlns:a="http://schemas.openxmlformats.org/drawingml/2006/main">
              <a:ext uri="{FF2B5EF4-FFF2-40B4-BE49-F238E27FC236}">
                <a16:creationId xmlns:a16="http://schemas.microsoft.com/office/drawing/2014/main" id="{0A9278B2-3D43-4BC4-849B-0356C4A78BBB}"/>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TRẦN TRỌNG PHÚ (197320)</a:t>
            </a:r>
          </a:p>
        </p:txBody>
      </p:sp>
      <p:sp>
        <p:nvSpPr>
          <p:cNvPr id="14" name="artifact-footer-2">
            <a:extLst xmlns:a="http://schemas.openxmlformats.org/drawingml/2006/main">
              <a:ext uri="{FF2B5EF4-FFF2-40B4-BE49-F238E27FC236}">
                <a16:creationId xmlns:a16="http://schemas.microsoft.com/office/drawing/2014/main" id="{171E0B32-2595-4E30-8DA6-2B99E7FB21E6}"/>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Legacy assessment</a:t>
            </a:r>
          </a:p>
        </p:txBody>
      </p:sp>
      <p:sp>
        <p:nvSpPr>
          <p:cNvPr id="15" name="page-number-2">
            <a:extLst xmlns:a="http://schemas.openxmlformats.org/drawingml/2006/main">
              <a:ext uri="{FF2B5EF4-FFF2-40B4-BE49-F238E27FC236}">
                <a16:creationId xmlns:a16="http://schemas.microsoft.com/office/drawing/2014/main" id="{F7745957-5FD8-4C58-ACF0-9A2FAD25EAE0}"/>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2</a:t>
            </a:r>
          </a:p>
        </p:txBody>
      </p:sp>
    </p:spTree>
    <p:extLst>
      <p:ext uri="{BB962C8B-B14F-4D97-AF65-F5344CB8AC3E}">
        <p14:creationId xmlns:p14="http://schemas.microsoft.com/office/powerpoint/2010/main" val="1311124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slide-3-title">
            <a:extLst xmlns:a="http://schemas.openxmlformats.org/drawingml/2006/main">
              <a:ext uri="{FF2B5EF4-FFF2-40B4-BE49-F238E27FC236}">
                <a16:creationId xmlns:a16="http://schemas.microsoft.com/office/drawing/2014/main" id="{78134939-7E98-414C-98C6-A14BA00E7397}"/>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The sidecar is advisory; authority stays inside MERLIN</a:t>
            </a:r>
          </a:p>
        </p:txBody>
      </p:sp>
      <p:sp>
        <p:nvSpPr>
          <p:cNvPr id="2" name="slide-3-boundary-invariants">
            <a:extLst xmlns:a="http://schemas.openxmlformats.org/drawingml/2006/main">
              <a:ext uri="{FF2B5EF4-FFF2-40B4-BE49-F238E27FC236}">
                <a16:creationId xmlns:a16="http://schemas.microsoft.com/office/drawing/2014/main" id="{A9672ACD-354C-4427-B3E1-35645454F8D9}"/>
              </a:ext>
            </a:extLst>
          </p:cNvPr>
          <p:cNvSpPr>
            <a:spLocks xmlns:a="http://schemas.openxmlformats.org/drawingml/2006/main" noGrp="1"/>
          </p:cNvSpPr>
          <p:nvPr/>
        </p:nvSpPr>
        <p:spPr>
          <a:xfrm xmlns:a="http://schemas.openxmlformats.org/drawingml/2006/main">
            <a:off x="400050" y="1524000"/>
            <a:ext cx="5581650" cy="447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a:solidFill>
                  <a:srgbClr val="000000"/>
                </a:solidFill>
                <a:latin typeface="Helvetica Neue"/>
                <a:ea typeface="Helvetica Neue"/>
                <a:cs typeface="Helvetica Neue"/>
              </a:defRPr>
            </a:pPr>
            <a:r>
              <a:t>• Nightly snapshot → validation → features → statistical forecast ML → deterministic optimizer
• Only certified adapters can write bounded current-run rows
• MERLIN generates orders; current quantity returns only after a certified post-generation join
• Loyalty PII stays country-local; copilot remains separate from POS and ordering</a:t>
            </a:r>
          </a:p>
        </p:txBody>
      </p:sp>
      <p:sp>
        <p:nvSpPr>
          <p:cNvPr id="3" name="slide-3-ai-zone">
            <a:extLst xmlns:a="http://schemas.openxmlformats.org/drawingml/2006/main">
              <a:ext uri="{FF2B5EF4-FFF2-40B4-BE49-F238E27FC236}">
                <a16:creationId xmlns:a16="http://schemas.microsoft.com/office/drawing/2014/main" id="{36753153-4414-43AC-9F21-84308D43C24C}"/>
              </a:ext>
            </a:extLst>
          </p:cNvPr>
          <p:cNvSpPr>
            <a:spLocks xmlns:a="http://schemas.openxmlformats.org/drawingml/2006/main" noGrp="1"/>
          </p:cNvSpPr>
          <p:nvPr/>
        </p:nvSpPr>
        <p:spPr>
          <a:xfrm xmlns:a="http://schemas.openxmlformats.org/drawingml/2006/main">
            <a:off x="6419850" y="1581150"/>
            <a:ext cx="2457450" cy="4419600"/>
          </a:xfrm>
          <a:prstGeom xmlns:a="http://schemas.openxmlformats.org/drawingml/2006/main" prst="roundRect">
            <a:avLst>
              <a:gd name="adj" fmla="val 3876"/>
            </a:avLst>
          </a:prstGeom>
          <a:solidFill xmlns:a="http://schemas.openxmlformats.org/drawingml/2006/main">
            <a:srgbClr val="EAF5FB"/>
          </a:solidFill>
          <a:ln xmlns:a="http://schemas.openxmlformats.org/drawingml/2006/main" w="14288">
            <a:solidFill>
              <a:srgbClr val="3D8DFF"/>
            </a:solidFill>
            <a:prstDash val="solid"/>
          </a:ln>
        </p:spPr>
      </p:sp>
      <p:sp>
        <p:nvSpPr>
          <p:cNvPr id="4" name="slide-3-merlin-zone">
            <a:extLst xmlns:a="http://schemas.openxmlformats.org/drawingml/2006/main">
              <a:ext uri="{FF2B5EF4-FFF2-40B4-BE49-F238E27FC236}">
                <a16:creationId xmlns:a16="http://schemas.microsoft.com/office/drawing/2014/main" id="{D8E01AEE-4292-4E28-84E0-A6A174CFCC87}"/>
              </a:ext>
            </a:extLst>
          </p:cNvPr>
          <p:cNvSpPr>
            <a:spLocks xmlns:a="http://schemas.openxmlformats.org/drawingml/2006/main" noGrp="1"/>
          </p:cNvSpPr>
          <p:nvPr/>
        </p:nvSpPr>
        <p:spPr>
          <a:xfrm xmlns:a="http://schemas.openxmlformats.org/drawingml/2006/main">
            <a:off x="9105900" y="1581150"/>
            <a:ext cx="2457450" cy="4419600"/>
          </a:xfrm>
          <a:prstGeom xmlns:a="http://schemas.openxmlformats.org/drawingml/2006/main" prst="roundRect">
            <a:avLst>
              <a:gd name="adj" fmla="val 3876"/>
            </a:avLst>
          </a:prstGeom>
          <a:solidFill xmlns:a="http://schemas.openxmlformats.org/drawingml/2006/main">
            <a:srgbClr val="F5F5F5"/>
          </a:solidFill>
          <a:ln xmlns:a="http://schemas.openxmlformats.org/drawingml/2006/main" w="14288">
            <a:solidFill>
              <a:srgbClr val="000000"/>
            </a:solidFill>
            <a:prstDash val="solid"/>
          </a:ln>
        </p:spPr>
      </p:sp>
      <p:sp>
        <p:nvSpPr>
          <p:cNvPr id="5" name="slide-3-ai-zone-title">
            <a:extLst xmlns:a="http://schemas.openxmlformats.org/drawingml/2006/main">
              <a:ext uri="{FF2B5EF4-FFF2-40B4-BE49-F238E27FC236}">
                <a16:creationId xmlns:a16="http://schemas.microsoft.com/office/drawing/2014/main" id="{179B0A20-6E64-4D46-9248-7ECA9AD26C70}"/>
              </a:ext>
            </a:extLst>
          </p:cNvPr>
          <p:cNvSpPr>
            <a:spLocks xmlns:a="http://schemas.openxmlformats.org/drawingml/2006/main" noGrp="1"/>
          </p:cNvSpPr>
          <p:nvPr/>
        </p:nvSpPr>
        <p:spPr>
          <a:xfrm xmlns:a="http://schemas.openxmlformats.org/drawingml/2006/main">
            <a:off x="6553200" y="1752600"/>
            <a:ext cx="21907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t>AI SIDECAR — ADVISORY</a:t>
            </a:r>
          </a:p>
        </p:txBody>
      </p:sp>
      <p:sp>
        <p:nvSpPr>
          <p:cNvPr id="6" name="slide-3-merlin-zone-title">
            <a:extLst xmlns:a="http://schemas.openxmlformats.org/drawingml/2006/main">
              <a:ext uri="{FF2B5EF4-FFF2-40B4-BE49-F238E27FC236}">
                <a16:creationId xmlns:a16="http://schemas.microsoft.com/office/drawing/2014/main" id="{AE3AF973-6EAC-4DA3-A183-9D944A7AE70F}"/>
              </a:ext>
            </a:extLst>
          </p:cNvPr>
          <p:cNvSpPr>
            <a:spLocks xmlns:a="http://schemas.openxmlformats.org/drawingml/2006/main" noGrp="1"/>
          </p:cNvSpPr>
          <p:nvPr/>
        </p:nvSpPr>
        <p:spPr>
          <a:xfrm xmlns:a="http://schemas.openxmlformats.org/drawingml/2006/main">
            <a:off x="9239250" y="1752600"/>
            <a:ext cx="21907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MERLIN — AUTHORITY</a:t>
            </a:r>
          </a:p>
        </p:txBody>
      </p:sp>
      <p:sp>
        <p:nvSpPr>
          <p:cNvPr id="7" name="owner-footer-3">
            <a:extLst xmlns:a="http://schemas.openxmlformats.org/drawingml/2006/main">
              <a:ext uri="{FF2B5EF4-FFF2-40B4-BE49-F238E27FC236}">
                <a16:creationId xmlns:a16="http://schemas.microsoft.com/office/drawing/2014/main" id="{3B6EBF34-A40D-4B29-ADA9-83B27D0FDDB4}"/>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LÊ NGUYỄN SỸ BÌNH (122980)</a:t>
            </a:r>
          </a:p>
        </p:txBody>
      </p:sp>
      <p:sp>
        <p:nvSpPr>
          <p:cNvPr id="8" name="artifact-footer-3">
            <a:extLst xmlns:a="http://schemas.openxmlformats.org/drawingml/2006/main">
              <a:ext uri="{FF2B5EF4-FFF2-40B4-BE49-F238E27FC236}">
                <a16:creationId xmlns:a16="http://schemas.microsoft.com/office/drawing/2014/main" id="{D2ED22F3-6AD6-43EE-B6F8-4F2805079460}"/>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C4 context + container</a:t>
            </a:r>
          </a:p>
        </p:txBody>
      </p:sp>
      <p:sp>
        <p:nvSpPr>
          <p:cNvPr id="9" name="page-number-3">
            <a:extLst xmlns:a="http://schemas.openxmlformats.org/drawingml/2006/main">
              <a:ext uri="{FF2B5EF4-FFF2-40B4-BE49-F238E27FC236}">
                <a16:creationId xmlns:a16="http://schemas.microsoft.com/office/drawing/2014/main" id="{3E669202-30DA-4877-9EDE-F3B0E9401D51}"/>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3</a:t>
            </a:r>
          </a:p>
        </p:txBody>
      </p:sp>
      <p:sp>
        <p:nvSpPr>
          <p:cNvPr id="10" name="slide-3-anchor-snapshot">
            <a:extLst xmlns:a="http://schemas.openxmlformats.org/drawingml/2006/main">
              <a:ext uri="{FF2B5EF4-FFF2-40B4-BE49-F238E27FC236}">
                <a16:creationId xmlns:a16="http://schemas.microsoft.com/office/drawing/2014/main" id="{639FE6D9-84D5-410E-A6B1-E0C83CED1682}"/>
              </a:ext>
            </a:extLst>
          </p:cNvPr>
          <p:cNvSpPr>
            <a:spLocks xmlns:a="http://schemas.openxmlformats.org/drawingml/2006/main" noGrp="1"/>
          </p:cNvSpPr>
          <p:nvPr/>
        </p:nvSpPr>
        <p:spPr>
          <a:xfrm xmlns:a="http://schemas.openxmlformats.org/drawingml/2006/main">
            <a:off x="6629400" y="21526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1" name="slide-3-anchor-validate">
            <a:extLst xmlns:a="http://schemas.openxmlformats.org/drawingml/2006/main">
              <a:ext uri="{FF2B5EF4-FFF2-40B4-BE49-F238E27FC236}">
                <a16:creationId xmlns:a16="http://schemas.microsoft.com/office/drawing/2014/main" id="{28C1CCBC-7660-4861-827B-9B9CE533B5B7}"/>
              </a:ext>
            </a:extLst>
          </p:cNvPr>
          <p:cNvSpPr>
            <a:spLocks xmlns:a="http://schemas.openxmlformats.org/drawingml/2006/main" noGrp="1"/>
          </p:cNvSpPr>
          <p:nvPr/>
        </p:nvSpPr>
        <p:spPr>
          <a:xfrm xmlns:a="http://schemas.openxmlformats.org/drawingml/2006/main">
            <a:off x="6629400" y="28003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2" name="slide-3-anchor-forecast">
            <a:extLst xmlns:a="http://schemas.openxmlformats.org/drawingml/2006/main">
              <a:ext uri="{FF2B5EF4-FFF2-40B4-BE49-F238E27FC236}">
                <a16:creationId xmlns:a16="http://schemas.microsoft.com/office/drawing/2014/main" id="{6B014073-CADA-4423-B916-F194A9041F2F}"/>
              </a:ext>
            </a:extLst>
          </p:cNvPr>
          <p:cNvSpPr>
            <a:spLocks xmlns:a="http://schemas.openxmlformats.org/drawingml/2006/main" noGrp="1"/>
          </p:cNvSpPr>
          <p:nvPr/>
        </p:nvSpPr>
        <p:spPr>
          <a:xfrm xmlns:a="http://schemas.openxmlformats.org/drawingml/2006/main">
            <a:off x="6629400" y="34480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3" name="slide-3-anchor-optimize">
            <a:extLst xmlns:a="http://schemas.openxmlformats.org/drawingml/2006/main">
              <a:ext uri="{FF2B5EF4-FFF2-40B4-BE49-F238E27FC236}">
                <a16:creationId xmlns:a16="http://schemas.microsoft.com/office/drawing/2014/main" id="{CDF28F4E-41E4-4342-9795-7A297CA49432}"/>
              </a:ext>
            </a:extLst>
          </p:cNvPr>
          <p:cNvSpPr>
            <a:spLocks xmlns:a="http://schemas.openxmlformats.org/drawingml/2006/main" noGrp="1"/>
          </p:cNvSpPr>
          <p:nvPr/>
        </p:nvSpPr>
        <p:spPr>
          <a:xfrm xmlns:a="http://schemas.openxmlformats.org/drawingml/2006/main">
            <a:off x="6629400" y="40957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4" name="slide-3-anchor-adapters">
            <a:extLst xmlns:a="http://schemas.openxmlformats.org/drawingml/2006/main">
              <a:ext uri="{FF2B5EF4-FFF2-40B4-BE49-F238E27FC236}">
                <a16:creationId xmlns:a16="http://schemas.microsoft.com/office/drawing/2014/main" id="{8CC764A5-0C26-4815-A35C-C62174757EEC}"/>
              </a:ext>
            </a:extLst>
          </p:cNvPr>
          <p:cNvSpPr>
            <a:spLocks xmlns:a="http://schemas.openxmlformats.org/drawingml/2006/main" noGrp="1"/>
          </p:cNvSpPr>
          <p:nvPr/>
        </p:nvSpPr>
        <p:spPr>
          <a:xfrm xmlns:a="http://schemas.openxmlformats.org/drawingml/2006/main">
            <a:off x="6629400" y="4857750"/>
            <a:ext cx="2038350" cy="552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5" name="slide-3-anchor-pos">
            <a:extLst xmlns:a="http://schemas.openxmlformats.org/drawingml/2006/main">
              <a:ext uri="{FF2B5EF4-FFF2-40B4-BE49-F238E27FC236}">
                <a16:creationId xmlns:a16="http://schemas.microsoft.com/office/drawing/2014/main" id="{85CC87C4-A0F3-4745-9A8D-C5FC7F0AE54D}"/>
              </a:ext>
            </a:extLst>
          </p:cNvPr>
          <p:cNvSpPr>
            <a:spLocks xmlns:a="http://schemas.openxmlformats.org/drawingml/2006/main" noGrp="1"/>
          </p:cNvSpPr>
          <p:nvPr/>
        </p:nvSpPr>
        <p:spPr>
          <a:xfrm xmlns:a="http://schemas.openxmlformats.org/drawingml/2006/main">
            <a:off x="9315450" y="21526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6" name="slide-3-anchor-override">
            <a:extLst xmlns:a="http://schemas.openxmlformats.org/drawingml/2006/main">
              <a:ext uri="{FF2B5EF4-FFF2-40B4-BE49-F238E27FC236}">
                <a16:creationId xmlns:a16="http://schemas.microsoft.com/office/drawing/2014/main" id="{F9F20E52-0CAC-4C81-8DD2-529B3243082D}"/>
              </a:ext>
            </a:extLst>
          </p:cNvPr>
          <p:cNvSpPr>
            <a:spLocks xmlns:a="http://schemas.openxmlformats.org/drawingml/2006/main" noGrp="1"/>
          </p:cNvSpPr>
          <p:nvPr/>
        </p:nvSpPr>
        <p:spPr>
          <a:xfrm xmlns:a="http://schemas.openxmlformats.org/drawingml/2006/main">
            <a:off x="9315450" y="28003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7" name="slide-3-anchor-engine">
            <a:extLst xmlns:a="http://schemas.openxmlformats.org/drawingml/2006/main">
              <a:ext uri="{FF2B5EF4-FFF2-40B4-BE49-F238E27FC236}">
                <a16:creationId xmlns:a16="http://schemas.microsoft.com/office/drawing/2014/main" id="{202F21F5-6A3D-4866-A550-43EA849EEF73}"/>
              </a:ext>
            </a:extLst>
          </p:cNvPr>
          <p:cNvSpPr>
            <a:spLocks xmlns:a="http://schemas.openxmlformats.org/drawingml/2006/main" noGrp="1"/>
          </p:cNvSpPr>
          <p:nvPr/>
        </p:nvSpPr>
        <p:spPr>
          <a:xfrm xmlns:a="http://schemas.openxmlformats.org/drawingml/2006/main">
            <a:off x="9315450" y="3448050"/>
            <a:ext cx="20383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8" name="slide-3-anchor-edi">
            <a:extLst xmlns:a="http://schemas.openxmlformats.org/drawingml/2006/main">
              <a:ext uri="{FF2B5EF4-FFF2-40B4-BE49-F238E27FC236}">
                <a16:creationId xmlns:a16="http://schemas.microsoft.com/office/drawing/2014/main" id="{74B1B77E-C78C-43B0-9C61-32113FA97D0C}"/>
              </a:ext>
            </a:extLst>
          </p:cNvPr>
          <p:cNvSpPr>
            <a:spLocks xmlns:a="http://schemas.openxmlformats.org/drawingml/2006/main" noGrp="1"/>
          </p:cNvSpPr>
          <p:nvPr/>
        </p:nvSpPr>
        <p:spPr>
          <a:xfrm xmlns:a="http://schemas.openxmlformats.org/drawingml/2006/main">
            <a:off x="9315450" y="4095750"/>
            <a:ext cx="1809750" cy="5524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sp>
        <p:nvSpPr>
          <p:cNvPr id="19" name="slide-3-anchor-review">
            <a:extLst xmlns:a="http://schemas.openxmlformats.org/drawingml/2006/main">
              <a:ext uri="{FF2B5EF4-FFF2-40B4-BE49-F238E27FC236}">
                <a16:creationId xmlns:a16="http://schemas.microsoft.com/office/drawing/2014/main" id="{4C306A88-EB5B-46ED-989F-3F493B543670}"/>
              </a:ext>
            </a:extLst>
          </p:cNvPr>
          <p:cNvSpPr>
            <a:spLocks xmlns:a="http://schemas.openxmlformats.org/drawingml/2006/main" noGrp="1"/>
          </p:cNvSpPr>
          <p:nvPr/>
        </p:nvSpPr>
        <p:spPr>
          <a:xfrm xmlns:a="http://schemas.openxmlformats.org/drawingml/2006/main">
            <a:off x="9315450" y="4857750"/>
            <a:ext cx="18097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prstDash val="solid"/>
          </a:ln>
        </p:spPr>
      </p:sp>
      <p:cxnSp>
        <p:nvCxnSpPr>
          <p:cNvPr id="58" name=""/>
          <p:cNvCxnSpPr>
            <a:stCxn xmlns:a="http://schemas.openxmlformats.org/drawingml/2006/main" id="10" idx="2"/>
            <a:endCxn xmlns:a="http://schemas.openxmlformats.org/drawingml/2006/main" id="11" idx="0"/>
          </p:cNvCxnSpPr>
          <p:nvPr/>
        </p:nvCxnSpPr>
        <p:spPr>
          <a:xfrm xmlns:a="http://schemas.openxmlformats.org/drawingml/2006/main">
            <a:off x="7648575" y="2609850"/>
            <a:ext cx="0" cy="1905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59" name=""/>
          <p:cNvCxnSpPr>
            <a:stCxn xmlns:a="http://schemas.openxmlformats.org/drawingml/2006/main" id="11" idx="2"/>
            <a:endCxn xmlns:a="http://schemas.openxmlformats.org/drawingml/2006/main" id="12" idx="0"/>
          </p:cNvCxnSpPr>
          <p:nvPr/>
        </p:nvCxnSpPr>
        <p:spPr>
          <a:xfrm xmlns:a="http://schemas.openxmlformats.org/drawingml/2006/main">
            <a:off x="7648575" y="3257550"/>
            <a:ext cx="0" cy="1905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60" name=""/>
          <p:cNvCxnSpPr>
            <a:stCxn xmlns:a="http://schemas.openxmlformats.org/drawingml/2006/main" id="12" idx="2"/>
            <a:endCxn xmlns:a="http://schemas.openxmlformats.org/drawingml/2006/main" id="13" idx="0"/>
          </p:cNvCxnSpPr>
          <p:nvPr/>
        </p:nvCxnSpPr>
        <p:spPr>
          <a:xfrm xmlns:a="http://schemas.openxmlformats.org/drawingml/2006/main">
            <a:off x="7648575" y="3905250"/>
            <a:ext cx="0" cy="1905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61" name=""/>
          <p:cNvCxnSpPr>
            <a:stCxn xmlns:a="http://schemas.openxmlformats.org/drawingml/2006/main" id="13" idx="2"/>
            <a:endCxn xmlns:a="http://schemas.openxmlformats.org/drawingml/2006/main" id="14" idx="0"/>
          </p:cNvCxnSpPr>
          <p:nvPr/>
        </p:nvCxnSpPr>
        <p:spPr>
          <a:xfrm xmlns:a="http://schemas.openxmlformats.org/drawingml/2006/main">
            <a:off x="7648575" y="4552950"/>
            <a:ext cx="0" cy="304800"/>
          </a:xfrm>
          <a:prstGeom xmlns:a="http://schemas.openxmlformats.org/drawingml/2006/main" prst="straightConnector1">
            <a:avLst/>
          </a:prstGeom>
          <a:ln xmlns:a="http://schemas.openxmlformats.org/drawingml/2006/main" w="19050">
            <a:solidFill>
              <a:srgbClr val="3D8DFF"/>
            </a:solidFill>
            <a:prstDash val="solid"/>
            <a:tailEnd type="arrow" w="med" len="med"/>
          </a:ln>
        </p:spPr>
      </p:cxnSp>
      <p:cxnSp>
        <p:nvCxnSpPr>
          <p:cNvPr id="62" name=""/>
          <p:cNvCxnSpPr>
            <a:stCxn xmlns:a="http://schemas.openxmlformats.org/drawingml/2006/main" id="14" idx="3"/>
            <a:endCxn xmlns:a="http://schemas.openxmlformats.org/drawingml/2006/main" id="16" idx="1"/>
          </p:cNvCxnSpPr>
          <p:nvPr/>
        </p:nvCxnSpPr>
        <p:spPr>
          <a:xfrm xmlns:a="http://schemas.openxmlformats.org/drawingml/2006/main" flipV="1">
            <a:off x="8667750" y="3028950"/>
            <a:ext cx="647700" cy="2105025"/>
          </a:xfrm>
          <a:prstGeom xmlns:a="http://schemas.openxmlformats.org/drawingml/2006/main" prst="bentConnector3">
            <a:avLst>
              <a:gd name="adj1" fmla="val 50000"/>
            </a:avLst>
          </a:prstGeom>
          <a:ln xmlns:a="http://schemas.openxmlformats.org/drawingml/2006/main" w="19050">
            <a:solidFill>
              <a:srgbClr val="3D8DFF"/>
            </a:solidFill>
            <a:prstDash val="solid"/>
            <a:tailEnd type="arrow" w="med" len="med"/>
          </a:ln>
        </p:spPr>
      </p:cxnSp>
      <p:cxnSp>
        <p:nvCxnSpPr>
          <p:cNvPr id="63" name=""/>
          <p:cNvCxnSpPr>
            <a:stCxn xmlns:a="http://schemas.openxmlformats.org/drawingml/2006/main" id="16" idx="2"/>
            <a:endCxn xmlns:a="http://schemas.openxmlformats.org/drawingml/2006/main" id="17" idx="0"/>
          </p:cNvCxnSpPr>
          <p:nvPr/>
        </p:nvCxnSpPr>
        <p:spPr>
          <a:xfrm xmlns:a="http://schemas.openxmlformats.org/drawingml/2006/main">
            <a:off x="10334625" y="3257550"/>
            <a:ext cx="0" cy="19050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64" name=""/>
          <p:cNvCxnSpPr>
            <a:stCxn xmlns:a="http://schemas.openxmlformats.org/drawingml/2006/main" id="17" idx="2"/>
            <a:endCxn xmlns:a="http://schemas.openxmlformats.org/drawingml/2006/main" id="18" idx="0"/>
          </p:cNvCxnSpPr>
          <p:nvPr/>
        </p:nvCxnSpPr>
        <p:spPr>
          <a:xfrm xmlns:a="http://schemas.openxmlformats.org/drawingml/2006/main" flipH="1">
            <a:off x="10220325" y="3905250"/>
            <a:ext cx="114300" cy="190500"/>
          </a:xfrm>
          <a:prstGeom xmlns:a="http://schemas.openxmlformats.org/drawingml/2006/main" prst="straightConnector1">
            <a:avLst/>
          </a:prstGeom>
          <a:ln xmlns:a="http://schemas.openxmlformats.org/drawingml/2006/main" w="19050">
            <a:solidFill>
              <a:srgbClr val="000000"/>
            </a:solidFill>
            <a:prstDash val="solid"/>
            <a:tailEnd type="arrow" w="med" len="med"/>
          </a:ln>
        </p:spPr>
      </p:cxnSp>
      <p:cxnSp>
        <p:nvCxnSpPr>
          <p:cNvPr id="65" name=""/>
          <p:cNvCxnSpPr>
            <a:stCxn xmlns:a="http://schemas.openxmlformats.org/drawingml/2006/main" id="17" idx="3"/>
            <a:endCxn xmlns:a="http://schemas.openxmlformats.org/drawingml/2006/main" id="19" idx="3"/>
          </p:cNvCxnSpPr>
          <p:nvPr/>
        </p:nvCxnSpPr>
        <p:spPr>
          <a:xfrm xmlns:a="http://schemas.openxmlformats.org/drawingml/2006/main" flipH="1">
            <a:off x="11125200" y="3676650"/>
            <a:ext cx="228600" cy="1409700"/>
          </a:xfrm>
          <a:prstGeom xmlns:a="http://schemas.openxmlformats.org/drawingml/2006/main" prst="bentConnector3">
            <a:avLst>
              <a:gd name="adj1" fmla="val 50000"/>
            </a:avLst>
          </a:prstGeom>
          <a:ln xmlns:a="http://schemas.openxmlformats.org/drawingml/2006/main" w="19050">
            <a:solidFill>
              <a:srgbClr val="000000"/>
            </a:solidFill>
            <a:prstDash val="solid"/>
            <a:tailEnd type="arrow" w="med" len="med"/>
          </a:ln>
        </p:spPr>
      </p:cxnSp>
      <p:cxnSp>
        <p:nvCxnSpPr>
          <p:cNvPr id="66" name=""/>
          <p:cNvCxnSpPr>
            <a:stCxn xmlns:a="http://schemas.openxmlformats.org/drawingml/2006/main" id="19" idx="1"/>
            <a:endCxn xmlns:a="http://schemas.openxmlformats.org/drawingml/2006/main" id="14" idx="3"/>
          </p:cNvCxnSpPr>
          <p:nvPr/>
        </p:nvCxnSpPr>
        <p:spPr>
          <a:xfrm xmlns:a="http://schemas.openxmlformats.org/drawingml/2006/main" flipH="1">
            <a:off x="8667750" y="5086350"/>
            <a:ext cx="647700" cy="47625"/>
          </a:xfrm>
          <a:prstGeom xmlns:a="http://schemas.openxmlformats.org/drawingml/2006/main" prst="bentConnector3">
            <a:avLst>
              <a:gd name="adj1" fmla="val 50000"/>
            </a:avLst>
          </a:prstGeom>
          <a:ln xmlns:a="http://schemas.openxmlformats.org/drawingml/2006/main" w="19050">
            <a:solidFill>
              <a:srgbClr val="586174"/>
            </a:solidFill>
            <a:prstDash val="dash"/>
            <a:tailEnd type="arrow" w="med" len="med"/>
          </a:ln>
        </p:spPr>
      </p:cxnSp>
      <p:sp>
        <p:nvSpPr>
          <p:cNvPr id="29" name="slide-3-node-snapshot">
            <a:extLst xmlns:a="http://schemas.openxmlformats.org/drawingml/2006/main">
              <a:ext uri="{FF2B5EF4-FFF2-40B4-BE49-F238E27FC236}">
                <a16:creationId xmlns:a16="http://schemas.microsoft.com/office/drawing/2014/main" id="{4CB87F1C-8E27-4CD0-881C-F6F9F6CDCDA4}"/>
              </a:ext>
            </a:extLst>
          </p:cNvPr>
          <p:cNvSpPr>
            <a:spLocks xmlns:a="http://schemas.openxmlformats.org/drawingml/2006/main" noGrp="1"/>
          </p:cNvSpPr>
          <p:nvPr/>
        </p:nvSpPr>
        <p:spPr>
          <a:xfrm xmlns:a="http://schemas.openxmlformats.org/drawingml/2006/main">
            <a:off x="6629400" y="2152650"/>
            <a:ext cx="20383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rPr sz="1613" b="1">
                <a:solidFill>
                  <a:srgbClr val="3D8DFF"/>
                </a:solidFill>
                <a:latin typeface="Helvetica Neue"/>
                <a:ea typeface="Helvetica Neue"/>
                <a:cs typeface="Helvetica Neue"/>
              </a:rPr>
              <a:t>Nightly snapshot</a:t>
            </a:r>
          </a:p>
        </p:txBody>
      </p:sp>
      <p:sp>
        <p:nvSpPr>
          <p:cNvPr id="30" name="slide-3-node-validate">
            <a:extLst xmlns:a="http://schemas.openxmlformats.org/drawingml/2006/main">
              <a:ext uri="{FF2B5EF4-FFF2-40B4-BE49-F238E27FC236}">
                <a16:creationId xmlns:a16="http://schemas.microsoft.com/office/drawing/2014/main" id="{ADF8B903-F578-4B00-B19A-8A8690901434}"/>
              </a:ext>
            </a:extLst>
          </p:cNvPr>
          <p:cNvSpPr>
            <a:spLocks xmlns:a="http://schemas.openxmlformats.org/drawingml/2006/main" noGrp="1"/>
          </p:cNvSpPr>
          <p:nvPr/>
        </p:nvSpPr>
        <p:spPr>
          <a:xfrm xmlns:a="http://schemas.openxmlformats.org/drawingml/2006/main">
            <a:off x="6629400" y="2800350"/>
            <a:ext cx="20383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rPr sz="1613" b="1">
                <a:solidFill>
                  <a:srgbClr val="3D8DFF"/>
                </a:solidFill>
                <a:latin typeface="Helvetica Neue"/>
                <a:ea typeface="Helvetica Neue"/>
                <a:cs typeface="Helvetica Neue"/>
              </a:rPr>
              <a:t>Validate + features</a:t>
            </a:r>
          </a:p>
        </p:txBody>
      </p:sp>
      <p:sp>
        <p:nvSpPr>
          <p:cNvPr id="31" name="slide-3-node-forecast">
            <a:extLst xmlns:a="http://schemas.openxmlformats.org/drawingml/2006/main">
              <a:ext uri="{FF2B5EF4-FFF2-40B4-BE49-F238E27FC236}">
                <a16:creationId xmlns:a16="http://schemas.microsoft.com/office/drawing/2014/main" id="{3AC8001A-9210-43E3-A20A-89ADE046DC63}"/>
              </a:ext>
            </a:extLst>
          </p:cNvPr>
          <p:cNvSpPr>
            <a:spLocks xmlns:a="http://schemas.openxmlformats.org/drawingml/2006/main" noGrp="1"/>
          </p:cNvSpPr>
          <p:nvPr/>
        </p:nvSpPr>
        <p:spPr>
          <a:xfrm xmlns:a="http://schemas.openxmlformats.org/drawingml/2006/main">
            <a:off x="6629400" y="3448050"/>
            <a:ext cx="20383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rPr sz="1613" b="1">
                <a:solidFill>
                  <a:srgbClr val="3D8DFF"/>
                </a:solidFill>
                <a:latin typeface="Helvetica Neue"/>
                <a:ea typeface="Helvetica Neue"/>
                <a:cs typeface="Helvetica Neue"/>
              </a:rPr>
              <a:t>Statistical forecast ML</a:t>
            </a:r>
          </a:p>
        </p:txBody>
      </p:sp>
      <p:sp>
        <p:nvSpPr>
          <p:cNvPr id="32" name="slide-3-node-optimize">
            <a:extLst xmlns:a="http://schemas.openxmlformats.org/drawingml/2006/main">
              <a:ext uri="{FF2B5EF4-FFF2-40B4-BE49-F238E27FC236}">
                <a16:creationId xmlns:a16="http://schemas.microsoft.com/office/drawing/2014/main" id="{76E09F24-249C-4B90-A8DE-6849EBFA6023}"/>
              </a:ext>
            </a:extLst>
          </p:cNvPr>
          <p:cNvSpPr>
            <a:spLocks xmlns:a="http://schemas.openxmlformats.org/drawingml/2006/main" noGrp="1"/>
          </p:cNvSpPr>
          <p:nvPr/>
        </p:nvSpPr>
        <p:spPr>
          <a:xfrm xmlns:a="http://schemas.openxmlformats.org/drawingml/2006/main">
            <a:off x="6629400" y="4095750"/>
            <a:ext cx="20383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rPr sz="1613" b="1">
                <a:solidFill>
                  <a:srgbClr val="3D8DFF"/>
                </a:solidFill>
                <a:latin typeface="Helvetica Neue"/>
                <a:ea typeface="Helvetica Neue"/>
                <a:cs typeface="Helvetica Neue"/>
              </a:rPr>
              <a:t>Deterministic optimizer</a:t>
            </a:r>
          </a:p>
        </p:txBody>
      </p:sp>
      <p:sp>
        <p:nvSpPr>
          <p:cNvPr id="33" name="slide-3-node-adapters">
            <a:extLst xmlns:a="http://schemas.openxmlformats.org/drawingml/2006/main">
              <a:ext uri="{FF2B5EF4-FFF2-40B4-BE49-F238E27FC236}">
                <a16:creationId xmlns:a16="http://schemas.microsoft.com/office/drawing/2014/main" id="{FC7CACEC-1B70-4AE6-8EBB-2ECC0E2060E0}"/>
              </a:ext>
            </a:extLst>
          </p:cNvPr>
          <p:cNvSpPr>
            <a:spLocks xmlns:a="http://schemas.openxmlformats.org/drawingml/2006/main" noGrp="1"/>
          </p:cNvSpPr>
          <p:nvPr/>
        </p:nvSpPr>
        <p:spPr>
          <a:xfrm xmlns:a="http://schemas.openxmlformats.org/drawingml/2006/main">
            <a:off x="6629400" y="4857750"/>
            <a:ext cx="2038350" cy="552450"/>
          </a:xfrm>
          <a:prstGeom xmlns:a="http://schemas.openxmlformats.org/drawingml/2006/main" prst="roundRect">
            <a:avLst>
              <a:gd name="adj" fmla="val 12069"/>
            </a:avLst>
          </a:prstGeom>
          <a:solidFill xmlns:a="http://schemas.openxmlformats.org/drawingml/2006/main">
            <a:srgbClr val="3D8DFF"/>
          </a:solidFill>
          <a:ln xmlns:a="http://schemas.openxmlformats.org/drawingml/2006/main" w="1143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FFFFFF"/>
                </a:solidFill>
                <a:latin typeface="Helvetica Neue"/>
                <a:ea typeface="Helvetica Neue"/>
                <a:cs typeface="Helvetica Neue"/>
              </a:defRPr>
            </a:pPr>
            <a:r>
              <a:rPr sz="1613" b="1">
                <a:solidFill>
                  <a:srgbClr val="FFFFFF"/>
                </a:solidFill>
                <a:latin typeface="Helvetica Neue"/>
                <a:ea typeface="Helvetica Neue"/>
                <a:cs typeface="Helvetica Neue"/>
              </a:rPr>
              <a:t>Certified adapters</a:t>
            </a:r>
          </a:p>
          <a:p xmlns:a="http://schemas.openxmlformats.org/drawingml/2006/main">
            <a:pPr algn="ctr">
              <a:defRPr sz="1613" b="1">
                <a:solidFill>
                  <a:srgbClr val="FFFFFF"/>
                </a:solidFill>
                <a:latin typeface="Helvetica Neue"/>
                <a:ea typeface="Helvetica Neue"/>
                <a:cs typeface="Helvetica Neue"/>
              </a:defRPr>
            </a:pPr>
            <a:r>
              <a:rPr sz="1613" b="1">
                <a:solidFill>
                  <a:srgbClr val="FFFFFF"/>
                </a:solidFill>
                <a:latin typeface="Helvetica Neue"/>
                <a:ea typeface="Helvetica Neue"/>
                <a:cs typeface="Helvetica Neue"/>
              </a:rPr>
              <a:t>write + post-gen join</a:t>
            </a:r>
          </a:p>
        </p:txBody>
      </p:sp>
      <p:sp>
        <p:nvSpPr>
          <p:cNvPr id="34" name="slide-3-node-pos">
            <a:extLst xmlns:a="http://schemas.openxmlformats.org/drawingml/2006/main">
              <a:ext uri="{FF2B5EF4-FFF2-40B4-BE49-F238E27FC236}">
                <a16:creationId xmlns:a16="http://schemas.microsoft.com/office/drawing/2014/main" id="{CF12E4FC-FBCC-43FB-AB38-D4F3CF9B2978}"/>
              </a:ext>
            </a:extLst>
          </p:cNvPr>
          <p:cNvSpPr>
            <a:spLocks xmlns:a="http://schemas.openxmlformats.org/drawingml/2006/main" noGrp="1"/>
          </p:cNvSpPr>
          <p:nvPr/>
        </p:nvSpPr>
        <p:spPr>
          <a:xfrm xmlns:a="http://schemas.openxmlformats.org/drawingml/2006/main">
            <a:off x="9315450" y="2152650"/>
            <a:ext cx="2038350" cy="457200"/>
          </a:xfrm>
          <a:prstGeom xmlns:a="http://schemas.openxmlformats.org/drawingml/2006/main" prst="roundRect">
            <a:avLst>
              <a:gd name="adj" fmla="val 14583"/>
            </a:avLst>
          </a:prstGeom>
          <a:solidFill xmlns:a="http://schemas.openxmlformats.org/drawingml/2006/main">
            <a:srgbClr val="EDEDED"/>
          </a:solidFill>
          <a:ln xmlns:a="http://schemas.openxmlformats.org/drawingml/2006/main" w="11430">
            <a:solidFill>
              <a:srgbClr val="B8BCC4"/>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586174"/>
                </a:solidFill>
                <a:latin typeface="Helvetica Neue"/>
                <a:ea typeface="Helvetica Neue"/>
                <a:cs typeface="Helvetica Neue"/>
              </a:defRPr>
            </a:pPr>
            <a:r>
              <a:rPr sz="1613" b="1">
                <a:solidFill>
                  <a:srgbClr val="586174"/>
                </a:solidFill>
                <a:latin typeface="Helvetica Neue"/>
                <a:ea typeface="Helvetica Neue"/>
                <a:cs typeface="Helvetica Neue"/>
              </a:rPr>
              <a:t>POS isolated</a:t>
            </a:r>
          </a:p>
        </p:txBody>
      </p:sp>
      <p:sp>
        <p:nvSpPr>
          <p:cNvPr id="35" name="slide-3-node-override">
            <a:extLst xmlns:a="http://schemas.openxmlformats.org/drawingml/2006/main">
              <a:ext uri="{FF2B5EF4-FFF2-40B4-BE49-F238E27FC236}">
                <a16:creationId xmlns:a16="http://schemas.microsoft.com/office/drawing/2014/main" id="{20785732-9D0F-43DE-BF12-AAB1E7866868}"/>
              </a:ext>
            </a:extLst>
          </p:cNvPr>
          <p:cNvSpPr>
            <a:spLocks xmlns:a="http://schemas.openxmlformats.org/drawingml/2006/main" noGrp="1"/>
          </p:cNvSpPr>
          <p:nvPr/>
        </p:nvSpPr>
        <p:spPr>
          <a:xfrm xmlns:a="http://schemas.openxmlformats.org/drawingml/2006/main">
            <a:off x="9315450" y="2800350"/>
            <a:ext cx="20383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000000"/>
                </a:solidFill>
                <a:latin typeface="Helvetica Neue"/>
                <a:ea typeface="Helvetica Neue"/>
                <a:cs typeface="Helvetica Neue"/>
              </a:defRPr>
            </a:pPr>
            <a:r>
              <a:rPr sz="1613" b="1">
                <a:solidFill>
                  <a:srgbClr val="000000"/>
                </a:solidFill>
                <a:latin typeface="Helvetica Neue"/>
                <a:ea typeface="Helvetica Neue"/>
                <a:cs typeface="Helvetica Neue"/>
              </a:rPr>
              <a:t>Override table</a:t>
            </a:r>
          </a:p>
        </p:txBody>
      </p:sp>
      <p:sp>
        <p:nvSpPr>
          <p:cNvPr id="36" name="slide-3-node-engine">
            <a:extLst xmlns:a="http://schemas.openxmlformats.org/drawingml/2006/main">
              <a:ext uri="{FF2B5EF4-FFF2-40B4-BE49-F238E27FC236}">
                <a16:creationId xmlns:a16="http://schemas.microsoft.com/office/drawing/2014/main" id="{A7545EF5-4612-4616-9AE1-A89839D1CEE1}"/>
              </a:ext>
            </a:extLst>
          </p:cNvPr>
          <p:cNvSpPr>
            <a:spLocks xmlns:a="http://schemas.openxmlformats.org/drawingml/2006/main" noGrp="1"/>
          </p:cNvSpPr>
          <p:nvPr/>
        </p:nvSpPr>
        <p:spPr>
          <a:xfrm xmlns:a="http://schemas.openxmlformats.org/drawingml/2006/main">
            <a:off x="9315450" y="3448050"/>
            <a:ext cx="2038350" cy="457200"/>
          </a:xfrm>
          <a:prstGeom xmlns:a="http://schemas.openxmlformats.org/drawingml/2006/main" prst="roundRect">
            <a:avLst>
              <a:gd name="adj" fmla="val 14583"/>
            </a:avLst>
          </a:prstGeom>
          <a:solidFill xmlns:a="http://schemas.openxmlformats.org/drawingml/2006/main">
            <a:srgbClr val="000000"/>
          </a:solidFill>
          <a:ln xmlns:a="http://schemas.openxmlformats.org/drawingml/2006/main" w="1143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FFFFFF"/>
                </a:solidFill>
                <a:latin typeface="Helvetica Neue"/>
                <a:ea typeface="Helvetica Neue"/>
                <a:cs typeface="Helvetica Neue"/>
              </a:defRPr>
            </a:pPr>
            <a:r>
              <a:rPr sz="1613" b="1">
                <a:solidFill>
                  <a:srgbClr val="FFFFFF"/>
                </a:solidFill>
                <a:latin typeface="Helvetica Neue"/>
                <a:ea typeface="Helvetica Neue"/>
                <a:cs typeface="Helvetica Neue"/>
              </a:rPr>
              <a:t>MERLIN engine</a:t>
            </a:r>
          </a:p>
        </p:txBody>
      </p:sp>
      <p:sp>
        <p:nvSpPr>
          <p:cNvPr id="37" name="slide-3-node-review">
            <a:extLst xmlns:a="http://schemas.openxmlformats.org/drawingml/2006/main">
              <a:ext uri="{FF2B5EF4-FFF2-40B4-BE49-F238E27FC236}">
                <a16:creationId xmlns:a16="http://schemas.microsoft.com/office/drawing/2014/main" id="{A2030621-0EE0-4096-B9B6-EC3E86EDD294}"/>
              </a:ext>
            </a:extLst>
          </p:cNvPr>
          <p:cNvSpPr>
            <a:spLocks xmlns:a="http://schemas.openxmlformats.org/drawingml/2006/main" noGrp="1"/>
          </p:cNvSpPr>
          <p:nvPr/>
        </p:nvSpPr>
        <p:spPr>
          <a:xfrm xmlns:a="http://schemas.openxmlformats.org/drawingml/2006/main">
            <a:off x="9315450" y="4857750"/>
            <a:ext cx="1809750" cy="4572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143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000000"/>
                </a:solidFill>
                <a:latin typeface="Helvetica Neue"/>
                <a:ea typeface="Helvetica Neue"/>
                <a:cs typeface="Helvetica Neue"/>
              </a:defRPr>
            </a:pPr>
            <a:r>
              <a:rPr sz="1613" b="1">
                <a:solidFill>
                  <a:srgbClr val="000000"/>
                </a:solidFill>
                <a:latin typeface="Helvetica Neue"/>
                <a:ea typeface="Helvetica Neue"/>
                <a:cs typeface="Helvetica Neue"/>
              </a:rPr>
              <a:t>Review queue</a:t>
            </a:r>
          </a:p>
        </p:txBody>
      </p:sp>
      <p:sp>
        <p:nvSpPr>
          <p:cNvPr id="38" name="slide-3-node-edi">
            <a:extLst xmlns:a="http://schemas.openxmlformats.org/drawingml/2006/main">
              <a:ext uri="{FF2B5EF4-FFF2-40B4-BE49-F238E27FC236}">
                <a16:creationId xmlns:a16="http://schemas.microsoft.com/office/drawing/2014/main" id="{F81A9773-C7A9-4A8D-89D8-9EAEFAD15664}"/>
              </a:ext>
            </a:extLst>
          </p:cNvPr>
          <p:cNvSpPr>
            <a:spLocks xmlns:a="http://schemas.openxmlformats.org/drawingml/2006/main" noGrp="1"/>
          </p:cNvSpPr>
          <p:nvPr/>
        </p:nvSpPr>
        <p:spPr>
          <a:xfrm xmlns:a="http://schemas.openxmlformats.org/drawingml/2006/main">
            <a:off x="9315450" y="4095750"/>
            <a:ext cx="1809750" cy="55245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1430">
            <a:solidFill>
              <a:srgbClr val="000000"/>
            </a:solidFill>
            <a:prstDash val="solid"/>
          </a:ln>
        </p:spPr>
        <p:txBody>
          <a:bodyPr xmlns:a="http://schemas.openxmlformats.org/drawingml/2006/main" anchor="ctr"/>
          <a:lstStyle xmlns:a="http://schemas.openxmlformats.org/drawingml/2006/main"/>
          <a:p xmlns:a="http://schemas.openxmlformats.org/drawingml/2006/main">
            <a:pPr algn="ctr">
              <a:defRPr sz="1613" b="1">
                <a:solidFill>
                  <a:srgbClr val="000000"/>
                </a:solidFill>
                <a:latin typeface="Helvetica Neue"/>
                <a:ea typeface="Helvetica Neue"/>
                <a:cs typeface="Helvetica Neue"/>
              </a:defRPr>
            </a:pPr>
            <a:r>
              <a:rPr sz="1613" b="1">
                <a:solidFill>
                  <a:srgbClr val="000000"/>
                </a:solidFill>
                <a:latin typeface="Helvetica Neue"/>
                <a:ea typeface="Helvetica Neue"/>
                <a:cs typeface="Helvetica Neue"/>
              </a:rPr>
              <a:t>EDI → suppliers</a:t>
            </a:r>
          </a:p>
          <a:p xmlns:a="http://schemas.openxmlformats.org/drawingml/2006/main">
            <a:pPr algn="ctr">
              <a:defRPr sz="1613" b="1">
                <a:solidFill>
                  <a:srgbClr val="000000"/>
                </a:solidFill>
                <a:latin typeface="Helvetica Neue"/>
                <a:ea typeface="Helvetica Neue"/>
                <a:cs typeface="Helvetica Neue"/>
              </a:defRPr>
            </a:pPr>
            <a:r>
              <a:rPr sz="1613" b="1">
                <a:solidFill>
                  <a:srgbClr val="000000"/>
                </a:solidFill>
                <a:latin typeface="Helvetica Neue"/>
                <a:ea typeface="Helvetica Neue"/>
                <a:cs typeface="Helvetica Neue"/>
              </a:rPr>
              <a:t>MERLIN only</a:t>
            </a:r>
          </a:p>
        </p:txBody>
      </p:sp>
    </p:spTree>
    <p:extLst>
      <p:ext uri="{BB962C8B-B14F-4D97-AF65-F5344CB8AC3E}">
        <p14:creationId xmlns:p14="http://schemas.microsoft.com/office/powerpoint/2010/main" val="13867217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4-title">
            <a:extLst xmlns:a="http://schemas.openxmlformats.org/drawingml/2006/main">
              <a:ext uri="{FF2B5EF4-FFF2-40B4-BE49-F238E27FC236}">
                <a16:creationId xmlns:a16="http://schemas.microsoft.com/office/drawing/2014/main" id="{8BFA18FD-7080-4ED7-B967-36914B1A4EAC}"/>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AI closes at 02:00 to protect the immovable 04:00 cut-off</a:t>
            </a:r>
          </a:p>
        </p:txBody>
      </p:sp>
      <p:sp>
        <p:nvSpPr>
          <p:cNvPr id="2" name="slide-4-grid-v-0">
            <a:extLst xmlns:a="http://schemas.openxmlformats.org/drawingml/2006/main">
              <a:ext uri="{FF2B5EF4-FFF2-40B4-BE49-F238E27FC236}">
                <a16:creationId xmlns:a16="http://schemas.microsoft.com/office/drawing/2014/main" id="{EA73165B-1439-4EE9-ACF9-D32BA256A00D}"/>
              </a:ext>
            </a:extLst>
          </p:cNvPr>
          <p:cNvSpPr>
            <a:spLocks xmlns:a="http://schemas.openxmlformats.org/drawingml/2006/main" noGrp="1"/>
          </p:cNvSpPr>
          <p:nvPr/>
        </p:nvSpPr>
        <p:spPr>
          <a:xfrm xmlns:a="http://schemas.openxmlformats.org/drawingml/2006/main">
            <a:off x="400050" y="1409700"/>
            <a:ext cx="11430" cy="40005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slide-4-grid-v-1">
            <a:extLst xmlns:a="http://schemas.openxmlformats.org/drawingml/2006/main">
              <a:ext uri="{FF2B5EF4-FFF2-40B4-BE49-F238E27FC236}">
                <a16:creationId xmlns:a16="http://schemas.microsoft.com/office/drawing/2014/main" id="{CAED5505-5972-441F-A6E3-AF817AE1F73E}"/>
              </a:ext>
            </a:extLst>
          </p:cNvPr>
          <p:cNvSpPr>
            <a:spLocks xmlns:a="http://schemas.openxmlformats.org/drawingml/2006/main" noGrp="1"/>
          </p:cNvSpPr>
          <p:nvPr/>
        </p:nvSpPr>
        <p:spPr>
          <a:xfrm xmlns:a="http://schemas.openxmlformats.org/drawingml/2006/main">
            <a:off x="2678430" y="1409700"/>
            <a:ext cx="11430" cy="4000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4-grid-v-2">
            <a:extLst xmlns:a="http://schemas.openxmlformats.org/drawingml/2006/main">
              <a:ext uri="{FF2B5EF4-FFF2-40B4-BE49-F238E27FC236}">
                <a16:creationId xmlns:a16="http://schemas.microsoft.com/office/drawing/2014/main" id="{2E4900A2-FDD6-4017-8E86-0133EC82E211}"/>
              </a:ext>
            </a:extLst>
          </p:cNvPr>
          <p:cNvSpPr>
            <a:spLocks xmlns:a="http://schemas.openxmlformats.org/drawingml/2006/main" noGrp="1"/>
          </p:cNvSpPr>
          <p:nvPr/>
        </p:nvSpPr>
        <p:spPr>
          <a:xfrm xmlns:a="http://schemas.openxmlformats.org/drawingml/2006/main">
            <a:off x="4956810" y="1409700"/>
            <a:ext cx="11430" cy="4000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slide-4-grid-v-3">
            <a:extLst xmlns:a="http://schemas.openxmlformats.org/drawingml/2006/main">
              <a:ext uri="{FF2B5EF4-FFF2-40B4-BE49-F238E27FC236}">
                <a16:creationId xmlns:a16="http://schemas.microsoft.com/office/drawing/2014/main" id="{F008B03D-F594-4367-B310-E136D01E0988}"/>
              </a:ext>
            </a:extLst>
          </p:cNvPr>
          <p:cNvSpPr>
            <a:spLocks xmlns:a="http://schemas.openxmlformats.org/drawingml/2006/main" noGrp="1"/>
          </p:cNvSpPr>
          <p:nvPr/>
        </p:nvSpPr>
        <p:spPr>
          <a:xfrm xmlns:a="http://schemas.openxmlformats.org/drawingml/2006/main">
            <a:off x="7235190" y="1409700"/>
            <a:ext cx="11430" cy="4000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slide-4-grid-v-4">
            <a:extLst xmlns:a="http://schemas.openxmlformats.org/drawingml/2006/main">
              <a:ext uri="{FF2B5EF4-FFF2-40B4-BE49-F238E27FC236}">
                <a16:creationId xmlns:a16="http://schemas.microsoft.com/office/drawing/2014/main" id="{2A6F46C9-8928-4A65-BA0B-C6B1A9C317E5}"/>
              </a:ext>
            </a:extLst>
          </p:cNvPr>
          <p:cNvSpPr>
            <a:spLocks xmlns:a="http://schemas.openxmlformats.org/drawingml/2006/main" noGrp="1"/>
          </p:cNvSpPr>
          <p:nvPr/>
        </p:nvSpPr>
        <p:spPr>
          <a:xfrm xmlns:a="http://schemas.openxmlformats.org/drawingml/2006/main">
            <a:off x="9513570" y="1409700"/>
            <a:ext cx="11430" cy="4000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slide-4-grid-v-5">
            <a:extLst xmlns:a="http://schemas.openxmlformats.org/drawingml/2006/main">
              <a:ext uri="{FF2B5EF4-FFF2-40B4-BE49-F238E27FC236}">
                <a16:creationId xmlns:a16="http://schemas.microsoft.com/office/drawing/2014/main" id="{856B0D74-6A83-4B13-A7A0-DD0D997276CC}"/>
              </a:ext>
            </a:extLst>
          </p:cNvPr>
          <p:cNvSpPr>
            <a:spLocks xmlns:a="http://schemas.openxmlformats.org/drawingml/2006/main" noGrp="1"/>
          </p:cNvSpPr>
          <p:nvPr/>
        </p:nvSpPr>
        <p:spPr>
          <a:xfrm xmlns:a="http://schemas.openxmlformats.org/drawingml/2006/main">
            <a:off x="11791950" y="1409700"/>
            <a:ext cx="11430" cy="40005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slide-4-grid-top">
            <a:extLst xmlns:a="http://schemas.openxmlformats.org/drawingml/2006/main">
              <a:ext uri="{FF2B5EF4-FFF2-40B4-BE49-F238E27FC236}">
                <a16:creationId xmlns:a16="http://schemas.microsoft.com/office/drawing/2014/main" id="{FC90A7E2-DCF9-46F7-96F6-4C2E8F104D84}"/>
              </a:ext>
            </a:extLst>
          </p:cNvPr>
          <p:cNvSpPr>
            <a:spLocks xmlns:a="http://schemas.openxmlformats.org/drawingml/2006/main" noGrp="1"/>
          </p:cNvSpPr>
          <p:nvPr/>
        </p:nvSpPr>
        <p:spPr>
          <a:xfrm xmlns:a="http://schemas.openxmlformats.org/drawingml/2006/main">
            <a:off x="400050" y="1409700"/>
            <a:ext cx="11391900" cy="1143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slide-4-header-1">
            <a:extLst xmlns:a="http://schemas.openxmlformats.org/drawingml/2006/main">
              <a:ext uri="{FF2B5EF4-FFF2-40B4-BE49-F238E27FC236}">
                <a16:creationId xmlns:a16="http://schemas.microsoft.com/office/drawing/2014/main" id="{87E2C8CE-5D7C-44F6-A92B-B74B705A2DDD}"/>
              </a:ext>
            </a:extLst>
          </p:cNvPr>
          <p:cNvSpPr>
            <a:spLocks xmlns:a="http://schemas.openxmlformats.org/drawingml/2006/main" noGrp="1"/>
          </p:cNvSpPr>
          <p:nvPr/>
        </p:nvSpPr>
        <p:spPr>
          <a:xfrm xmlns:a="http://schemas.openxmlformats.org/drawingml/2006/main">
            <a:off x="495300" y="1543050"/>
            <a:ext cx="208788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22:00–22:20</a:t>
            </a:r>
          </a:p>
        </p:txBody>
      </p:sp>
      <p:sp>
        <p:nvSpPr>
          <p:cNvPr id="10" name="slide-4-header-2">
            <a:extLst xmlns:a="http://schemas.openxmlformats.org/drawingml/2006/main">
              <a:ext uri="{FF2B5EF4-FFF2-40B4-BE49-F238E27FC236}">
                <a16:creationId xmlns:a16="http://schemas.microsoft.com/office/drawing/2014/main" id="{0C828AA8-BC12-46CE-8BDC-9402ACBE26BB}"/>
              </a:ext>
            </a:extLst>
          </p:cNvPr>
          <p:cNvSpPr>
            <a:spLocks xmlns:a="http://schemas.openxmlformats.org/drawingml/2006/main" noGrp="1"/>
          </p:cNvSpPr>
          <p:nvPr/>
        </p:nvSpPr>
        <p:spPr>
          <a:xfrm xmlns:a="http://schemas.openxmlformats.org/drawingml/2006/main">
            <a:off x="2773680" y="1543050"/>
            <a:ext cx="208788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22:20–00:20</a:t>
            </a:r>
          </a:p>
        </p:txBody>
      </p:sp>
      <p:sp>
        <p:nvSpPr>
          <p:cNvPr id="11" name="slide-4-header-3">
            <a:extLst xmlns:a="http://schemas.openxmlformats.org/drawingml/2006/main">
              <a:ext uri="{FF2B5EF4-FFF2-40B4-BE49-F238E27FC236}">
                <a16:creationId xmlns:a16="http://schemas.microsoft.com/office/drawing/2014/main" id="{D77E000E-FD5A-4D44-AD5A-3FB9218BEA2F}"/>
              </a:ext>
            </a:extLst>
          </p:cNvPr>
          <p:cNvSpPr>
            <a:spLocks xmlns:a="http://schemas.openxmlformats.org/drawingml/2006/main" noGrp="1"/>
          </p:cNvSpPr>
          <p:nvPr/>
        </p:nvSpPr>
        <p:spPr>
          <a:xfrm xmlns:a="http://schemas.openxmlformats.org/drawingml/2006/main">
            <a:off x="5052060" y="1543050"/>
            <a:ext cx="208788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00:20–01:20</a:t>
            </a:r>
          </a:p>
        </p:txBody>
      </p:sp>
      <p:sp>
        <p:nvSpPr>
          <p:cNvPr id="12" name="slide-4-header-4">
            <a:extLst xmlns:a="http://schemas.openxmlformats.org/drawingml/2006/main">
              <a:ext uri="{FF2B5EF4-FFF2-40B4-BE49-F238E27FC236}">
                <a16:creationId xmlns:a16="http://schemas.microsoft.com/office/drawing/2014/main" id="{761CCE97-42F8-44BD-B39F-55110582413C}"/>
              </a:ext>
            </a:extLst>
          </p:cNvPr>
          <p:cNvSpPr>
            <a:spLocks xmlns:a="http://schemas.openxmlformats.org/drawingml/2006/main" noGrp="1"/>
          </p:cNvSpPr>
          <p:nvPr/>
        </p:nvSpPr>
        <p:spPr>
          <a:xfrm xmlns:a="http://schemas.openxmlformats.org/drawingml/2006/main">
            <a:off x="7330440" y="1543050"/>
            <a:ext cx="208788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01:20–02:00</a:t>
            </a:r>
          </a:p>
        </p:txBody>
      </p:sp>
      <p:sp>
        <p:nvSpPr>
          <p:cNvPr id="13" name="slide-4-header-5">
            <a:extLst xmlns:a="http://schemas.openxmlformats.org/drawingml/2006/main">
              <a:ext uri="{FF2B5EF4-FFF2-40B4-BE49-F238E27FC236}">
                <a16:creationId xmlns:a16="http://schemas.microsoft.com/office/drawing/2014/main" id="{AF0F06F4-6B93-49D7-947A-A8CA4ABC720A}"/>
              </a:ext>
            </a:extLst>
          </p:cNvPr>
          <p:cNvSpPr>
            <a:spLocks xmlns:a="http://schemas.openxmlformats.org/drawingml/2006/main" noGrp="1"/>
          </p:cNvSpPr>
          <p:nvPr/>
        </p:nvSpPr>
        <p:spPr>
          <a:xfrm xmlns:a="http://schemas.openxmlformats.org/drawingml/2006/main">
            <a:off x="9608820" y="1543050"/>
            <a:ext cx="208788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02:00–04:00</a:t>
            </a:r>
          </a:p>
        </p:txBody>
      </p:sp>
      <p:sp>
        <p:nvSpPr>
          <p:cNvPr id="14" name="slide-4-stage-1">
            <a:extLst xmlns:a="http://schemas.openxmlformats.org/drawingml/2006/main">
              <a:ext uri="{FF2B5EF4-FFF2-40B4-BE49-F238E27FC236}">
                <a16:creationId xmlns:a16="http://schemas.microsoft.com/office/drawing/2014/main" id="{89D03F3F-BDB0-43CC-A0B3-BDCB72F06A23}"/>
              </a:ext>
            </a:extLst>
          </p:cNvPr>
          <p:cNvSpPr>
            <a:spLocks xmlns:a="http://schemas.openxmlformats.org/drawingml/2006/main" noGrp="1"/>
          </p:cNvSpPr>
          <p:nvPr/>
        </p:nvSpPr>
        <p:spPr>
          <a:xfrm xmlns:a="http://schemas.openxmlformats.org/drawingml/2006/main">
            <a:off x="514350" y="2152650"/>
            <a:ext cx="2049780" cy="533400"/>
          </a:xfrm>
          <a:prstGeom xmlns:a="http://schemas.openxmlformats.org/drawingml/2006/main" prst="roundRect">
            <a:avLst>
              <a:gd name="adj" fmla="val 12500"/>
            </a:avLst>
          </a:prstGeom>
          <a:solidFill xmlns:a="http://schemas.openxmlformats.org/drawingml/2006/main">
            <a:srgbClr val="EAF5FB"/>
          </a:solidFill>
          <a:ln xmlns:a="http://schemas.openxmlformats.org/drawingml/2006/main" w="9525">
            <a:solidFill>
              <a:srgbClr val="B8BCC4"/>
            </a:solidFill>
            <a:prstDash val="solid"/>
          </a:ln>
        </p:spPr>
      </p:sp>
      <p:sp>
        <p:nvSpPr>
          <p:cNvPr id="15" name="slide-4-stage-label-1">
            <a:extLst xmlns:a="http://schemas.openxmlformats.org/drawingml/2006/main">
              <a:ext uri="{FF2B5EF4-FFF2-40B4-BE49-F238E27FC236}">
                <a16:creationId xmlns:a16="http://schemas.microsoft.com/office/drawing/2014/main" id="{EA8A99A2-7046-42C9-8DEB-A18E4ACA290D}"/>
              </a:ext>
            </a:extLst>
          </p:cNvPr>
          <p:cNvSpPr>
            <a:spLocks xmlns:a="http://schemas.openxmlformats.org/drawingml/2006/main" noGrp="1"/>
          </p:cNvSpPr>
          <p:nvPr/>
        </p:nvSpPr>
        <p:spPr>
          <a:xfrm xmlns:a="http://schemas.openxmlformats.org/drawingml/2006/main">
            <a:off x="609600" y="2228850"/>
            <a:ext cx="1859280" cy="40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t>Validate immutable
snapshot</a:t>
            </a:r>
          </a:p>
        </p:txBody>
      </p:sp>
      <p:sp>
        <p:nvSpPr>
          <p:cNvPr id="16" name="slide-4-stage-2">
            <a:extLst xmlns:a="http://schemas.openxmlformats.org/drawingml/2006/main">
              <a:ext uri="{FF2B5EF4-FFF2-40B4-BE49-F238E27FC236}">
                <a16:creationId xmlns:a16="http://schemas.microsoft.com/office/drawing/2014/main" id="{C8A1B5AC-62E8-4EB0-ABE9-D2931979F3CC}"/>
              </a:ext>
            </a:extLst>
          </p:cNvPr>
          <p:cNvSpPr>
            <a:spLocks xmlns:a="http://schemas.openxmlformats.org/drawingml/2006/main" noGrp="1"/>
          </p:cNvSpPr>
          <p:nvPr/>
        </p:nvSpPr>
        <p:spPr>
          <a:xfrm xmlns:a="http://schemas.openxmlformats.org/drawingml/2006/main">
            <a:off x="2792730" y="2800350"/>
            <a:ext cx="2049780" cy="533400"/>
          </a:xfrm>
          <a:prstGeom xmlns:a="http://schemas.openxmlformats.org/drawingml/2006/main" prst="roundRect">
            <a:avLst>
              <a:gd name="adj" fmla="val 12500"/>
            </a:avLst>
          </a:prstGeom>
          <a:solidFill xmlns:a="http://schemas.openxmlformats.org/drawingml/2006/main">
            <a:srgbClr val="EDEDED"/>
          </a:solidFill>
          <a:ln xmlns:a="http://schemas.openxmlformats.org/drawingml/2006/main" w="9525">
            <a:solidFill>
              <a:srgbClr val="B8BCC4"/>
            </a:solidFill>
            <a:prstDash val="solid"/>
          </a:ln>
        </p:spPr>
      </p:sp>
      <p:sp>
        <p:nvSpPr>
          <p:cNvPr id="17" name="slide-4-stage-label-2">
            <a:extLst xmlns:a="http://schemas.openxmlformats.org/drawingml/2006/main">
              <a:ext uri="{FF2B5EF4-FFF2-40B4-BE49-F238E27FC236}">
                <a16:creationId xmlns:a16="http://schemas.microsoft.com/office/drawing/2014/main" id="{AFA5DD3C-509C-4450-A8EF-C746B3EC1887}"/>
              </a:ext>
            </a:extLst>
          </p:cNvPr>
          <p:cNvSpPr>
            <a:spLocks xmlns:a="http://schemas.openxmlformats.org/drawingml/2006/main" noGrp="1"/>
          </p:cNvSpPr>
          <p:nvPr/>
        </p:nvSpPr>
        <p:spPr>
          <a:xfrm xmlns:a="http://schemas.openxmlformats.org/drawingml/2006/main">
            <a:off x="2887980" y="2876550"/>
            <a:ext cx="1859280" cy="40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13" b="1">
                <a:solidFill>
                  <a:srgbClr val="000000"/>
                </a:solidFill>
                <a:latin typeface="Helvetica Neue"/>
                <a:ea typeface="Helvetica Neue"/>
                <a:cs typeface="Helvetica Neue"/>
              </a:defRPr>
            </a:pPr>
            <a:r>
              <a:t>Statistical
forecasts</a:t>
            </a:r>
          </a:p>
        </p:txBody>
      </p:sp>
      <p:sp>
        <p:nvSpPr>
          <p:cNvPr id="18" name="slide-4-stage-3">
            <a:extLst xmlns:a="http://schemas.openxmlformats.org/drawingml/2006/main">
              <a:ext uri="{FF2B5EF4-FFF2-40B4-BE49-F238E27FC236}">
                <a16:creationId xmlns:a16="http://schemas.microsoft.com/office/drawing/2014/main" id="{415DAD57-0365-4FD8-95AC-0A41538D7900}"/>
              </a:ext>
            </a:extLst>
          </p:cNvPr>
          <p:cNvSpPr>
            <a:spLocks xmlns:a="http://schemas.openxmlformats.org/drawingml/2006/main" noGrp="1"/>
          </p:cNvSpPr>
          <p:nvPr/>
        </p:nvSpPr>
        <p:spPr>
          <a:xfrm xmlns:a="http://schemas.openxmlformats.org/drawingml/2006/main">
            <a:off x="5071110" y="3448050"/>
            <a:ext cx="2049780" cy="533400"/>
          </a:xfrm>
          <a:prstGeom xmlns:a="http://schemas.openxmlformats.org/drawingml/2006/main" prst="roundRect">
            <a:avLst>
              <a:gd name="adj" fmla="val 12500"/>
            </a:avLst>
          </a:prstGeom>
          <a:solidFill xmlns:a="http://schemas.openxmlformats.org/drawingml/2006/main">
            <a:srgbClr val="EDEDED"/>
          </a:solidFill>
          <a:ln xmlns:a="http://schemas.openxmlformats.org/drawingml/2006/main" w="9525">
            <a:solidFill>
              <a:srgbClr val="B8BCC4"/>
            </a:solidFill>
            <a:prstDash val="solid"/>
          </a:ln>
        </p:spPr>
      </p:sp>
      <p:sp>
        <p:nvSpPr>
          <p:cNvPr id="19" name="slide-4-stage-label-3">
            <a:extLst xmlns:a="http://schemas.openxmlformats.org/drawingml/2006/main">
              <a:ext uri="{FF2B5EF4-FFF2-40B4-BE49-F238E27FC236}">
                <a16:creationId xmlns:a16="http://schemas.microsoft.com/office/drawing/2014/main" id="{BCBF741D-8591-46F3-BA1C-678B260D3C65}"/>
              </a:ext>
            </a:extLst>
          </p:cNvPr>
          <p:cNvSpPr>
            <a:spLocks xmlns:a="http://schemas.openxmlformats.org/drawingml/2006/main" noGrp="1"/>
          </p:cNvSpPr>
          <p:nvPr/>
        </p:nvSpPr>
        <p:spPr>
          <a:xfrm xmlns:a="http://schemas.openxmlformats.org/drawingml/2006/main">
            <a:off x="5166360" y="3524250"/>
            <a:ext cx="1859280" cy="40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13" b="1">
                <a:solidFill>
                  <a:srgbClr val="000000"/>
                </a:solidFill>
                <a:latin typeface="Helvetica Neue"/>
                <a:ea typeface="Helvetica Neue"/>
                <a:cs typeface="Helvetica Neue"/>
              </a:defRPr>
            </a:pPr>
            <a:r>
              <a:t>Deterministic
optimization</a:t>
            </a:r>
          </a:p>
        </p:txBody>
      </p:sp>
      <p:sp>
        <p:nvSpPr>
          <p:cNvPr id="20" name="slide-4-stage-4">
            <a:extLst xmlns:a="http://schemas.openxmlformats.org/drawingml/2006/main">
              <a:ext uri="{FF2B5EF4-FFF2-40B4-BE49-F238E27FC236}">
                <a16:creationId xmlns:a16="http://schemas.microsoft.com/office/drawing/2014/main" id="{FB270D2F-AEF1-4307-A8D7-C9D28902EF46}"/>
              </a:ext>
            </a:extLst>
          </p:cNvPr>
          <p:cNvSpPr>
            <a:spLocks xmlns:a="http://schemas.openxmlformats.org/drawingml/2006/main" noGrp="1"/>
          </p:cNvSpPr>
          <p:nvPr/>
        </p:nvSpPr>
        <p:spPr>
          <a:xfrm xmlns:a="http://schemas.openxmlformats.org/drawingml/2006/main">
            <a:off x="7349490" y="4095750"/>
            <a:ext cx="2049780" cy="533400"/>
          </a:xfrm>
          <a:prstGeom xmlns:a="http://schemas.openxmlformats.org/drawingml/2006/main" prst="roundRect">
            <a:avLst>
              <a:gd name="adj" fmla="val 12500"/>
            </a:avLst>
          </a:prstGeom>
          <a:solidFill xmlns:a="http://schemas.openxmlformats.org/drawingml/2006/main">
            <a:srgbClr val="EAF5FB"/>
          </a:solidFill>
          <a:ln xmlns:a="http://schemas.openxmlformats.org/drawingml/2006/main" w="9525">
            <a:solidFill>
              <a:srgbClr val="B8BCC4"/>
            </a:solidFill>
            <a:prstDash val="solid"/>
          </a:ln>
        </p:spPr>
      </p:sp>
      <p:sp>
        <p:nvSpPr>
          <p:cNvPr id="21" name="slide-4-stage-label-4">
            <a:extLst xmlns:a="http://schemas.openxmlformats.org/drawingml/2006/main">
              <a:ext uri="{FF2B5EF4-FFF2-40B4-BE49-F238E27FC236}">
                <a16:creationId xmlns:a16="http://schemas.microsoft.com/office/drawing/2014/main" id="{3B9ACC2D-E7EB-485D-B04D-0B6E61B14D98}"/>
              </a:ext>
            </a:extLst>
          </p:cNvPr>
          <p:cNvSpPr>
            <a:spLocks xmlns:a="http://schemas.openxmlformats.org/drawingml/2006/main" noGrp="1"/>
          </p:cNvSpPr>
          <p:nvPr/>
        </p:nvSpPr>
        <p:spPr>
          <a:xfrm xmlns:a="http://schemas.openxmlformats.org/drawingml/2006/main">
            <a:off x="7444740" y="4171950"/>
            <a:ext cx="1859280" cy="40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13" b="1">
                <a:solidFill>
                  <a:srgbClr val="3D8DFF"/>
                </a:solidFill>
                <a:latin typeface="Helvetica Neue"/>
                <a:ea typeface="Helvetica Neue"/>
                <a:cs typeface="Helvetica Neue"/>
              </a:defRPr>
            </a:pPr>
            <a:r>
              <a:t>Reconcile, sign,
and publish</a:t>
            </a:r>
          </a:p>
        </p:txBody>
      </p:sp>
      <p:sp>
        <p:nvSpPr>
          <p:cNvPr id="22" name="slide-4-stage-5">
            <a:extLst xmlns:a="http://schemas.openxmlformats.org/drawingml/2006/main">
              <a:ext uri="{FF2B5EF4-FFF2-40B4-BE49-F238E27FC236}">
                <a16:creationId xmlns:a16="http://schemas.microsoft.com/office/drawing/2014/main" id="{26C3BDB4-4FE0-4957-8AE1-52BEE23D303F}"/>
              </a:ext>
            </a:extLst>
          </p:cNvPr>
          <p:cNvSpPr>
            <a:spLocks xmlns:a="http://schemas.openxmlformats.org/drawingml/2006/main" noGrp="1"/>
          </p:cNvSpPr>
          <p:nvPr/>
        </p:nvSpPr>
        <p:spPr>
          <a:xfrm xmlns:a="http://schemas.openxmlformats.org/drawingml/2006/main">
            <a:off x="9627870" y="4743450"/>
            <a:ext cx="2049780" cy="533400"/>
          </a:xfrm>
          <a:prstGeom xmlns:a="http://schemas.openxmlformats.org/drawingml/2006/main" prst="roundRect">
            <a:avLst>
              <a:gd name="adj" fmla="val 12500"/>
            </a:avLst>
          </a:prstGeom>
          <a:solidFill xmlns:a="http://schemas.openxmlformats.org/drawingml/2006/main">
            <a:srgbClr val="000000"/>
          </a:solidFill>
          <a:ln xmlns:a="http://schemas.openxmlformats.org/drawingml/2006/main" w="9525">
            <a:solidFill>
              <a:srgbClr val="000000"/>
            </a:solidFill>
            <a:prstDash val="solid"/>
          </a:ln>
        </p:spPr>
      </p:sp>
      <p:sp>
        <p:nvSpPr>
          <p:cNvPr id="23" name="slide-4-stage-label-5">
            <a:extLst xmlns:a="http://schemas.openxmlformats.org/drawingml/2006/main">
              <a:ext uri="{FF2B5EF4-FFF2-40B4-BE49-F238E27FC236}">
                <a16:creationId xmlns:a16="http://schemas.microsoft.com/office/drawing/2014/main" id="{C06D1A5B-3906-4A16-B19C-C75B4D8F0E73}"/>
              </a:ext>
            </a:extLst>
          </p:cNvPr>
          <p:cNvSpPr>
            <a:spLocks xmlns:a="http://schemas.openxmlformats.org/drawingml/2006/main" noGrp="1"/>
          </p:cNvSpPr>
          <p:nvPr/>
        </p:nvSpPr>
        <p:spPr>
          <a:xfrm xmlns:a="http://schemas.openxmlformats.org/drawingml/2006/main">
            <a:off x="9723120" y="4819650"/>
            <a:ext cx="1859280" cy="4000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13" b="1">
                <a:solidFill>
                  <a:srgbClr val="FFFFFF"/>
                </a:solidFill>
                <a:latin typeface="Helvetica Neue"/>
                <a:ea typeface="Helvetica Neue"/>
                <a:cs typeface="Helvetica Neue"/>
              </a:defRPr>
            </a:pPr>
            <a:r>
              <a:t>MERLIN generation,
review, and EDI</a:t>
            </a:r>
          </a:p>
        </p:txBody>
      </p:sp>
      <p:sp>
        <p:nvSpPr>
          <p:cNvPr id="24" name="slide-4-publication-gates">
            <a:extLst xmlns:a="http://schemas.openxmlformats.org/drawingml/2006/main">
              <a:ext uri="{FF2B5EF4-FFF2-40B4-BE49-F238E27FC236}">
                <a16:creationId xmlns:a16="http://schemas.microsoft.com/office/drawing/2014/main" id="{B5FB1320-22E0-48C0-AB09-3EE0E24BCEEE}"/>
              </a:ext>
            </a:extLst>
          </p:cNvPr>
          <p:cNvSpPr>
            <a:spLocks xmlns:a="http://schemas.openxmlformats.org/drawingml/2006/main" noGrp="1"/>
          </p:cNvSpPr>
          <p:nvPr/>
        </p:nvSpPr>
        <p:spPr>
          <a:xfrm xmlns:a="http://schemas.openxmlformats.org/drawingml/2006/main">
            <a:off x="7406640" y="1924050"/>
            <a:ext cx="193548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3D8DFF"/>
                </a:solidFill>
                <a:latin typeface="Helvetica Neue"/>
                <a:ea typeface="Helvetica Neue"/>
                <a:cs typeface="Helvetica Neue"/>
              </a:defRPr>
            </a:pPr>
            <a:r>
              <a:t>01:30 retry stop
01:45 complete-set gate
02:00 write close</a:t>
            </a:r>
          </a:p>
        </p:txBody>
      </p:sp>
      <p:sp>
        <p:nvSpPr>
          <p:cNvPr id="25" name="slide-4-fail-open-rail">
            <a:extLst xmlns:a="http://schemas.openxmlformats.org/drawingml/2006/main">
              <a:ext uri="{FF2B5EF4-FFF2-40B4-BE49-F238E27FC236}">
                <a16:creationId xmlns:a16="http://schemas.microsoft.com/office/drawing/2014/main" id="{43481988-3480-4A7F-9D32-52F40FAC87B5}"/>
              </a:ext>
            </a:extLst>
          </p:cNvPr>
          <p:cNvSpPr>
            <a:spLocks xmlns:a="http://schemas.openxmlformats.org/drawingml/2006/main" noGrp="1"/>
          </p:cNvSpPr>
          <p:nvPr/>
        </p:nvSpPr>
        <p:spPr>
          <a:xfrm xmlns:a="http://schemas.openxmlformats.org/drawingml/2006/main">
            <a:off x="514350" y="5562600"/>
            <a:ext cx="11163300" cy="495300"/>
          </a:xfrm>
          <a:prstGeom xmlns:a="http://schemas.openxmlformats.org/drawingml/2006/main" prst="roundRect">
            <a:avLst>
              <a:gd name="adj" fmla="val 13462"/>
            </a:avLst>
          </a:prstGeom>
          <a:solidFill xmlns:a="http://schemas.openxmlformats.org/drawingml/2006/main">
            <a:srgbClr val="F5F5F5"/>
          </a:solidFill>
          <a:ln xmlns:a="http://schemas.openxmlformats.org/drawingml/2006/main" w="9525">
            <a:solidFill>
              <a:srgbClr val="B8BCC4"/>
            </a:solidFill>
            <a:prstDash val="solid"/>
          </a:ln>
        </p:spPr>
      </p:sp>
      <p:sp>
        <p:nvSpPr>
          <p:cNvPr id="26" name="slide-4-fail-open-label">
            <a:extLst xmlns:a="http://schemas.openxmlformats.org/drawingml/2006/main">
              <a:ext uri="{FF2B5EF4-FFF2-40B4-BE49-F238E27FC236}">
                <a16:creationId xmlns:a16="http://schemas.microsoft.com/office/drawing/2014/main" id="{741E3F23-6FE3-48C3-898E-D355431CC38B}"/>
              </a:ext>
            </a:extLst>
          </p:cNvPr>
          <p:cNvSpPr>
            <a:spLocks xmlns:a="http://schemas.openxmlformats.org/drawingml/2006/main" noGrp="1"/>
          </p:cNvSpPr>
          <p:nvPr/>
        </p:nvSpPr>
        <p:spPr>
          <a:xfrm xmlns:a="http://schemas.openxmlformats.org/drawingml/2006/main">
            <a:off x="685800" y="5676900"/>
            <a:ext cx="108204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000000"/>
                </a:solidFill>
                <a:latin typeface="Helvetica Neue"/>
                <a:ea typeface="Helvetica Neue"/>
                <a:cs typeface="Helvetica Neue"/>
              </a:defRPr>
            </a:pPr>
            <a:r>
              <a:t>Any late, incomplete, stale, uncertain, expired-permit, or failed transaction → publish nothing; MERLIN continues</a:t>
            </a:r>
          </a:p>
        </p:txBody>
      </p:sp>
      <p:sp>
        <p:nvSpPr>
          <p:cNvPr id="27" name="owner-footer-4">
            <a:extLst xmlns:a="http://schemas.openxmlformats.org/drawingml/2006/main">
              <a:ext uri="{FF2B5EF4-FFF2-40B4-BE49-F238E27FC236}">
                <a16:creationId xmlns:a16="http://schemas.microsoft.com/office/drawing/2014/main" id="{7279C91D-54AC-4978-93F8-766285CA1131}"/>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LÊ NGUYỄN SỸ BÌNH (122980)</a:t>
            </a:r>
          </a:p>
        </p:txBody>
      </p:sp>
      <p:sp>
        <p:nvSpPr>
          <p:cNvPr id="28" name="artifact-footer-4">
            <a:extLst xmlns:a="http://schemas.openxmlformats.org/drawingml/2006/main">
              <a:ext uri="{FF2B5EF4-FFF2-40B4-BE49-F238E27FC236}">
                <a16:creationId xmlns:a16="http://schemas.microsoft.com/office/drawing/2014/main" id="{7532590D-D2A5-4572-9E83-503044BE6C8F}"/>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End-to-end nightly batch</a:t>
            </a:r>
          </a:p>
        </p:txBody>
      </p:sp>
      <p:sp>
        <p:nvSpPr>
          <p:cNvPr id="29" name="page-number-4">
            <a:extLst xmlns:a="http://schemas.openxmlformats.org/drawingml/2006/main">
              <a:ext uri="{FF2B5EF4-FFF2-40B4-BE49-F238E27FC236}">
                <a16:creationId xmlns:a16="http://schemas.microsoft.com/office/drawing/2014/main" id="{4D885C3B-3BDC-49F9-A825-B9389777289F}"/>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4</a:t>
            </a:r>
          </a:p>
        </p:txBody>
      </p:sp>
    </p:spTree>
    <p:extLst>
      <p:ext uri="{BB962C8B-B14F-4D97-AF65-F5344CB8AC3E}">
        <p14:creationId xmlns:p14="http://schemas.microsoft.com/office/powerpoint/2010/main" val="9204695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5-title">
            <a:extLst xmlns:a="http://schemas.openxmlformats.org/drawingml/2006/main">
              <a:ext uri="{FF2B5EF4-FFF2-40B4-BE49-F238E27FC236}">
                <a16:creationId xmlns:a16="http://schemas.microsoft.com/office/drawing/2014/main" id="{409AA7E3-065B-4A7C-B7C5-D4E9F3071B5E}"/>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The envelope fits on paper; production waits for proof</a:t>
            </a:r>
          </a:p>
        </p:txBody>
      </p:sp>
      <p:sp>
        <p:nvSpPr>
          <p:cNvPr id="2" name="slide-5-publication-proof">
            <a:extLst xmlns:a="http://schemas.openxmlformats.org/drawingml/2006/main">
              <a:ext uri="{FF2B5EF4-FFF2-40B4-BE49-F238E27FC236}">
                <a16:creationId xmlns:a16="http://schemas.microsoft.com/office/drawing/2014/main" id="{208BD496-91A0-436A-B6A9-312C8A9660AB}"/>
              </a:ext>
            </a:extLst>
          </p:cNvPr>
          <p:cNvSpPr>
            <a:spLocks xmlns:a="http://schemas.openxmlformats.org/drawingml/2006/main" noGrp="1"/>
          </p:cNvSpPr>
          <p:nvPr/>
        </p:nvSpPr>
        <p:spPr>
          <a:xfrm xmlns:a="http://schemas.openxmlformats.org/drawingml/2006/main">
            <a:off x="400050" y="1276350"/>
            <a:ext cx="11391900"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3D8DFF"/>
                </a:solidFill>
                <a:latin typeface="Helvetica Neue"/>
                <a:ea typeface="Helvetica Neue"/>
                <a:cs typeface="Helvetica Neue"/>
              </a:defRPr>
            </a:pPr>
            <a:r>
              <a:t>Publication proof: 70,400 rows / 60 s requires ≥1,173.4 rows/s raw; 1,760 rows/s with 10 s overhead and 20% headroom</a:t>
            </a:r>
          </a:p>
        </p:txBody>
      </p:sp>
      <p:sp>
        <p:nvSpPr>
          <p:cNvPr id="3" name="slide-5-release-gates">
            <a:extLst xmlns:a="http://schemas.openxmlformats.org/drawingml/2006/main">
              <a:ext uri="{FF2B5EF4-FFF2-40B4-BE49-F238E27FC236}">
                <a16:creationId xmlns:a16="http://schemas.microsoft.com/office/drawing/2014/main" id="{BA507C21-7543-4F71-9B85-E83F820A7E85}"/>
              </a:ext>
            </a:extLst>
          </p:cNvPr>
          <p:cNvSpPr>
            <a:spLocks xmlns:a="http://schemas.openxmlformats.org/drawingml/2006/main" noGrp="1"/>
          </p:cNvSpPr>
          <p:nvPr/>
        </p:nvSpPr>
        <p:spPr>
          <a:xfrm xmlns:a="http://schemas.openxmlformats.org/drawingml/2006/main">
            <a:off x="400050" y="2038350"/>
            <a:ext cx="11391900" cy="438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a:solidFill>
                  <a:srgbClr val="000000"/>
                </a:solidFill>
                <a:latin typeface="Helvetica Neue"/>
                <a:ea typeface="Helvetica Neue"/>
                <a:cs typeface="Helvetica Neue"/>
              </a:defRPr>
            </a:pPr>
            <a:r>
              <a:t>Release gates: three consecutive 6x passes  •  MERLIN P99 ≤90 min  •  certified adapter  •  observed bills + Finance approval</a:t>
            </a:r>
          </a:p>
        </p:txBody>
      </p:sp>
      <p:sp>
        <p:nvSpPr>
          <p:cNvPr id="4" name="slide-5-card-1">
            <a:extLst xmlns:a="http://schemas.openxmlformats.org/drawingml/2006/main">
              <a:ext uri="{FF2B5EF4-FFF2-40B4-BE49-F238E27FC236}">
                <a16:creationId xmlns:a16="http://schemas.microsoft.com/office/drawing/2014/main" id="{E9FF3E87-5D82-4934-A0BC-4BBAD570753E}"/>
              </a:ext>
            </a:extLst>
          </p:cNvPr>
          <p:cNvSpPr>
            <a:spLocks xmlns:a="http://schemas.openxmlformats.org/drawingml/2006/main" noGrp="1"/>
          </p:cNvSpPr>
          <p:nvPr/>
        </p:nvSpPr>
        <p:spPr>
          <a:xfrm xmlns:a="http://schemas.openxmlformats.org/drawingml/2006/main">
            <a:off x="400050" y="2876550"/>
            <a:ext cx="3562350" cy="2895600"/>
          </a:xfrm>
          <a:prstGeom xmlns:a="http://schemas.openxmlformats.org/drawingml/2006/main" prst="roundRect">
            <a:avLst>
              <a:gd name="adj" fmla="val 2632"/>
            </a:avLst>
          </a:prstGeom>
          <a:solidFill xmlns:a="http://schemas.openxmlformats.org/drawingml/2006/main">
            <a:srgbClr val="EDEDED"/>
          </a:solidFill>
          <a:ln xmlns:a="http://schemas.openxmlformats.org/drawingml/2006/main" w="0">
            <a:solidFill>
              <a:srgbClr val="EDEDED"/>
            </a:solidFill>
            <a:prstDash val="solid"/>
          </a:ln>
        </p:spPr>
      </p:sp>
      <p:sp>
        <p:nvSpPr>
          <p:cNvPr id="5" name="slide-5-stat-1">
            <a:extLst xmlns:a="http://schemas.openxmlformats.org/drawingml/2006/main">
              <a:ext uri="{FF2B5EF4-FFF2-40B4-BE49-F238E27FC236}">
                <a16:creationId xmlns:a16="http://schemas.microsoft.com/office/drawing/2014/main" id="{AAEE0F02-4DDE-43AB-9AB9-2CBD6A104B08}"/>
              </a:ext>
            </a:extLst>
          </p:cNvPr>
          <p:cNvSpPr>
            <a:spLocks xmlns:a="http://schemas.openxmlformats.org/drawingml/2006/main" noGrp="1"/>
          </p:cNvSpPr>
          <p:nvPr/>
        </p:nvSpPr>
        <p:spPr>
          <a:xfrm xmlns:a="http://schemas.openxmlformats.org/drawingml/2006/main">
            <a:off x="704850" y="3371850"/>
            <a:ext cx="2952750" cy="9144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27M / 7.04M</a:t>
            </a:r>
          </a:p>
        </p:txBody>
      </p:sp>
      <p:sp>
        <p:nvSpPr>
          <p:cNvPr id="6" name="slide-5-card-body-1">
            <a:extLst xmlns:a="http://schemas.openxmlformats.org/drawingml/2006/main">
              <a:ext uri="{FF2B5EF4-FFF2-40B4-BE49-F238E27FC236}">
                <a16:creationId xmlns:a16="http://schemas.microsoft.com/office/drawing/2014/main" id="{0A5BBCDD-E112-464B-81DD-2CE2D8D8D410}"/>
              </a:ext>
            </a:extLst>
          </p:cNvPr>
          <p:cNvSpPr>
            <a:spLocks xmlns:a="http://schemas.openxmlformats.org/drawingml/2006/main" noGrp="1"/>
          </p:cNvSpPr>
          <p:nvPr/>
        </p:nvSpPr>
        <p:spPr>
          <a:xfrm xmlns:a="http://schemas.openxmlformats.org/drawingml/2006/main">
            <a:off x="704850" y="4591050"/>
            <a:ext cx="295275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Forecasts / stocked candidates
6x test: 162M / 42.24M</a:t>
            </a:r>
          </a:p>
        </p:txBody>
      </p:sp>
      <p:sp>
        <p:nvSpPr>
          <p:cNvPr id="7" name="slide-5-card-2">
            <a:extLst xmlns:a="http://schemas.openxmlformats.org/drawingml/2006/main">
              <a:ext uri="{FF2B5EF4-FFF2-40B4-BE49-F238E27FC236}">
                <a16:creationId xmlns:a16="http://schemas.microsoft.com/office/drawing/2014/main" id="{55854692-AA36-4BE5-A5BB-D1CFF1CB475D}"/>
              </a:ext>
            </a:extLst>
          </p:cNvPr>
          <p:cNvSpPr>
            <a:spLocks xmlns:a="http://schemas.openxmlformats.org/drawingml/2006/main" noGrp="1"/>
          </p:cNvSpPr>
          <p:nvPr/>
        </p:nvSpPr>
        <p:spPr>
          <a:xfrm xmlns:a="http://schemas.openxmlformats.org/drawingml/2006/main">
            <a:off x="4314825" y="2876550"/>
            <a:ext cx="3562350" cy="2895600"/>
          </a:xfrm>
          <a:prstGeom xmlns:a="http://schemas.openxmlformats.org/drawingml/2006/main" prst="roundRect">
            <a:avLst>
              <a:gd name="adj" fmla="val 2632"/>
            </a:avLst>
          </a:prstGeom>
          <a:solidFill xmlns:a="http://schemas.openxmlformats.org/drawingml/2006/main">
            <a:srgbClr val="EDEDED"/>
          </a:solidFill>
          <a:ln xmlns:a="http://schemas.openxmlformats.org/drawingml/2006/main" w="0">
            <a:solidFill>
              <a:srgbClr val="EDEDED"/>
            </a:solidFill>
            <a:prstDash val="solid"/>
          </a:ln>
        </p:spPr>
      </p:sp>
      <p:sp>
        <p:nvSpPr>
          <p:cNvPr id="8" name="slide-5-stat-2">
            <a:extLst xmlns:a="http://schemas.openxmlformats.org/drawingml/2006/main">
              <a:ext uri="{FF2B5EF4-FFF2-40B4-BE49-F238E27FC236}">
                <a16:creationId xmlns:a16="http://schemas.microsoft.com/office/drawing/2014/main" id="{391EB434-F1D9-4787-AFE3-8AC0FF111F45}"/>
              </a:ext>
            </a:extLst>
          </p:cNvPr>
          <p:cNvSpPr>
            <a:spLocks xmlns:a="http://schemas.openxmlformats.org/drawingml/2006/main" noGrp="1"/>
          </p:cNvSpPr>
          <p:nvPr/>
        </p:nvSpPr>
        <p:spPr>
          <a:xfrm xmlns:a="http://schemas.openxmlformats.org/drawingml/2006/main">
            <a:off x="4619625" y="3371850"/>
            <a:ext cx="2952750" cy="9144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198.7 / 240</a:t>
            </a:r>
          </a:p>
        </p:txBody>
      </p:sp>
      <p:sp>
        <p:nvSpPr>
          <p:cNvPr id="9" name="slide-5-card-body-2">
            <a:extLst xmlns:a="http://schemas.openxmlformats.org/drawingml/2006/main">
              <a:ext uri="{FF2B5EF4-FFF2-40B4-BE49-F238E27FC236}">
                <a16:creationId xmlns:a16="http://schemas.microsoft.com/office/drawing/2014/main" id="{0ED45CBC-C6EF-4056-9BD6-B55E665B74A2}"/>
              </a:ext>
            </a:extLst>
          </p:cNvPr>
          <p:cNvSpPr>
            <a:spLocks xmlns:a="http://schemas.openxmlformats.org/drawingml/2006/main" noGrp="1"/>
          </p:cNvSpPr>
          <p:nvPr/>
        </p:nvSpPr>
        <p:spPr>
          <a:xfrm xmlns:a="http://schemas.openxmlformats.org/drawingml/2006/main">
            <a:off x="4619625" y="4591050"/>
            <a:ext cx="295275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Minutes on target path
41.3 min sidecar headroom</a:t>
            </a:r>
          </a:p>
        </p:txBody>
      </p:sp>
      <p:sp>
        <p:nvSpPr>
          <p:cNvPr id="10" name="slide-5-card-3">
            <a:extLst xmlns:a="http://schemas.openxmlformats.org/drawingml/2006/main">
              <a:ext uri="{FF2B5EF4-FFF2-40B4-BE49-F238E27FC236}">
                <a16:creationId xmlns:a16="http://schemas.microsoft.com/office/drawing/2014/main" id="{EF9F7E25-0725-4A3E-9162-29572361413D}"/>
              </a:ext>
            </a:extLst>
          </p:cNvPr>
          <p:cNvSpPr>
            <a:spLocks xmlns:a="http://schemas.openxmlformats.org/drawingml/2006/main" noGrp="1"/>
          </p:cNvSpPr>
          <p:nvPr/>
        </p:nvSpPr>
        <p:spPr>
          <a:xfrm xmlns:a="http://schemas.openxmlformats.org/drawingml/2006/main">
            <a:off x="8229600" y="2876550"/>
            <a:ext cx="3562350" cy="2895600"/>
          </a:xfrm>
          <a:prstGeom xmlns:a="http://schemas.openxmlformats.org/drawingml/2006/main" prst="roundRect">
            <a:avLst>
              <a:gd name="adj" fmla="val 2632"/>
            </a:avLst>
          </a:prstGeom>
          <a:solidFill xmlns:a="http://schemas.openxmlformats.org/drawingml/2006/main">
            <a:srgbClr val="EDEDED"/>
          </a:solidFill>
          <a:ln xmlns:a="http://schemas.openxmlformats.org/drawingml/2006/main" w="0">
            <a:solidFill>
              <a:srgbClr val="EDEDED"/>
            </a:solidFill>
            <a:prstDash val="solid"/>
          </a:ln>
        </p:spPr>
      </p:sp>
      <p:sp>
        <p:nvSpPr>
          <p:cNvPr id="11" name="slide-5-stat-3">
            <a:extLst xmlns:a="http://schemas.openxmlformats.org/drawingml/2006/main">
              <a:ext uri="{FF2B5EF4-FFF2-40B4-BE49-F238E27FC236}">
                <a16:creationId xmlns:a16="http://schemas.microsoft.com/office/drawing/2014/main" id="{E92F1544-D485-46E5-977F-1D962DD9FD49}"/>
              </a:ext>
            </a:extLst>
          </p:cNvPr>
          <p:cNvSpPr>
            <a:spLocks xmlns:a="http://schemas.openxmlformats.org/drawingml/2006/main" noGrp="1"/>
          </p:cNvSpPr>
          <p:nvPr/>
        </p:nvSpPr>
        <p:spPr>
          <a:xfrm xmlns:a="http://schemas.openxmlformats.org/drawingml/2006/main">
            <a:off x="8534400" y="3371850"/>
            <a:ext cx="2952750" cy="9144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$3.8M / $4M</a:t>
            </a:r>
          </a:p>
        </p:txBody>
      </p:sp>
      <p:sp>
        <p:nvSpPr>
          <p:cNvPr id="12" name="slide-5-card-body-3">
            <a:extLst xmlns:a="http://schemas.openxmlformats.org/drawingml/2006/main">
              <a:ext uri="{FF2B5EF4-FFF2-40B4-BE49-F238E27FC236}">
                <a16:creationId xmlns:a16="http://schemas.microsoft.com/office/drawing/2014/main" id="{6CFC51D8-80EC-44C1-89DC-B8E4BD933387}"/>
              </a:ext>
            </a:extLst>
          </p:cNvPr>
          <p:cNvSpPr>
            <a:spLocks xmlns:a="http://schemas.openxmlformats.org/drawingml/2006/main" noGrp="1"/>
          </p:cNvSpPr>
          <p:nvPr/>
        </p:nvSpPr>
        <p:spPr>
          <a:xfrm xmlns:a="http://schemas.openxmlformats.org/drawingml/2006/main">
            <a:off x="8534400" y="4591050"/>
            <a:ext cx="295275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Annual target / ceiling
$0.0003856 per nominal forecast</a:t>
            </a:r>
          </a:p>
        </p:txBody>
      </p:sp>
      <p:sp>
        <p:nvSpPr>
          <p:cNvPr id="13" name="slide-5-targets-flag">
            <a:extLst xmlns:a="http://schemas.openxmlformats.org/drawingml/2006/main">
              <a:ext uri="{FF2B5EF4-FFF2-40B4-BE49-F238E27FC236}">
                <a16:creationId xmlns:a16="http://schemas.microsoft.com/office/drawing/2014/main" id="{2E702DF4-24E9-4F60-BAD9-A5F6A5F5C378}"/>
              </a:ext>
            </a:extLst>
          </p:cNvPr>
          <p:cNvSpPr>
            <a:spLocks xmlns:a="http://schemas.openxmlformats.org/drawingml/2006/main" noGrp="1"/>
          </p:cNvSpPr>
          <p:nvPr/>
        </p:nvSpPr>
        <p:spPr>
          <a:xfrm xmlns:a="http://schemas.openxmlformats.org/drawingml/2006/main">
            <a:off x="400050" y="5905500"/>
            <a:ext cx="11391900" cy="2857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4" name="slide-5-targets-label">
            <a:extLst xmlns:a="http://schemas.openxmlformats.org/drawingml/2006/main">
              <a:ext uri="{FF2B5EF4-FFF2-40B4-BE49-F238E27FC236}">
                <a16:creationId xmlns:a16="http://schemas.microsoft.com/office/drawing/2014/main" id="{58AD68B4-3CE5-4F8B-A94D-D92948529640}"/>
              </a:ext>
            </a:extLst>
          </p:cNvPr>
          <p:cNvSpPr>
            <a:spLocks xmlns:a="http://schemas.openxmlformats.org/drawingml/2006/main" noGrp="1"/>
          </p:cNvSpPr>
          <p:nvPr/>
        </p:nvSpPr>
        <p:spPr>
          <a:xfrm xmlns:a="http://schemas.openxmlformats.org/drawingml/2006/main">
            <a:off x="400050" y="5953125"/>
            <a:ext cx="113919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t>TARGETS, NOT BENCHMARK RESULTS</a:t>
            </a:r>
          </a:p>
        </p:txBody>
      </p:sp>
      <p:sp>
        <p:nvSpPr>
          <p:cNvPr id="15" name="owner-footer-5">
            <a:extLst xmlns:a="http://schemas.openxmlformats.org/drawingml/2006/main">
              <a:ext uri="{FF2B5EF4-FFF2-40B4-BE49-F238E27FC236}">
                <a16:creationId xmlns:a16="http://schemas.microsoft.com/office/drawing/2014/main" id="{E91A962C-6CF2-4D76-BA62-76AFA0EBE9A6}"/>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TRẦN THANH PHỤNG (218924)</a:t>
            </a:r>
          </a:p>
        </p:txBody>
      </p:sp>
      <p:sp>
        <p:nvSpPr>
          <p:cNvPr id="16" name="artifact-footer-5">
            <a:extLst xmlns:a="http://schemas.openxmlformats.org/drawingml/2006/main">
              <a:ext uri="{FF2B5EF4-FFF2-40B4-BE49-F238E27FC236}">
                <a16:creationId xmlns:a16="http://schemas.microsoft.com/office/drawing/2014/main" id="{DB2CE09E-7AC1-4E98-87B3-FBF0C82CEA89}"/>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NFR + cost check</a:t>
            </a:r>
          </a:p>
        </p:txBody>
      </p:sp>
      <p:sp>
        <p:nvSpPr>
          <p:cNvPr id="17" name="page-number-5">
            <a:extLst xmlns:a="http://schemas.openxmlformats.org/drawingml/2006/main">
              <a:ext uri="{FF2B5EF4-FFF2-40B4-BE49-F238E27FC236}">
                <a16:creationId xmlns:a16="http://schemas.microsoft.com/office/drawing/2014/main" id="{C9660B1A-BA50-4704-AA71-A169B557BA8E}"/>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5</a:t>
            </a:r>
          </a:p>
        </p:txBody>
      </p:sp>
    </p:spTree>
    <p:extLst>
      <p:ext uri="{BB962C8B-B14F-4D97-AF65-F5344CB8AC3E}">
        <p14:creationId xmlns:p14="http://schemas.microsoft.com/office/powerpoint/2010/main" val="16475315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slide-6-title">
            <a:extLst xmlns:a="http://schemas.openxmlformats.org/drawingml/2006/main">
              <a:ext uri="{FF2B5EF4-FFF2-40B4-BE49-F238E27FC236}">
                <a16:creationId xmlns:a16="http://schemas.microsoft.com/office/drawing/2014/main" id="{3B7F2E28-0746-4975-A21C-EE0832C2ACF6}"/>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Sidecar wins because isolation outweighs convenience</a:t>
            </a:r>
          </a:p>
        </p:txBody>
      </p:sp>
      <p:sp>
        <p:nvSpPr>
          <p:cNvPr id="2" name="slide-6-grid-0">
            <a:extLst xmlns:a="http://schemas.openxmlformats.org/drawingml/2006/main">
              <a:ext uri="{FF2B5EF4-FFF2-40B4-BE49-F238E27FC236}">
                <a16:creationId xmlns:a16="http://schemas.microsoft.com/office/drawing/2014/main" id="{C327F234-AC12-495A-BED3-1ADE75AA97E8}"/>
              </a:ext>
            </a:extLst>
          </p:cNvPr>
          <p:cNvSpPr>
            <a:spLocks xmlns:a="http://schemas.openxmlformats.org/drawingml/2006/main" noGrp="1"/>
          </p:cNvSpPr>
          <p:nvPr/>
        </p:nvSpPr>
        <p:spPr>
          <a:xfrm xmlns:a="http://schemas.openxmlformats.org/drawingml/2006/main">
            <a:off x="2114550" y="1619250"/>
            <a:ext cx="9525" cy="37909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slide-6-tick-0">
            <a:extLst xmlns:a="http://schemas.openxmlformats.org/drawingml/2006/main">
              <a:ext uri="{FF2B5EF4-FFF2-40B4-BE49-F238E27FC236}">
                <a16:creationId xmlns:a16="http://schemas.microsoft.com/office/drawing/2014/main" id="{641F836F-C3B2-454A-9D91-6D629D83B97D}"/>
              </a:ext>
            </a:extLst>
          </p:cNvPr>
          <p:cNvSpPr>
            <a:spLocks xmlns:a="http://schemas.openxmlformats.org/drawingml/2006/main" noGrp="1"/>
          </p:cNvSpPr>
          <p:nvPr/>
        </p:nvSpPr>
        <p:spPr>
          <a:xfrm xmlns:a="http://schemas.openxmlformats.org/drawingml/2006/main">
            <a:off x="20002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0</a:t>
            </a:r>
          </a:p>
        </p:txBody>
      </p:sp>
      <p:sp>
        <p:nvSpPr>
          <p:cNvPr id="4" name="slide-6-grid-1">
            <a:extLst xmlns:a="http://schemas.openxmlformats.org/drawingml/2006/main">
              <a:ext uri="{FF2B5EF4-FFF2-40B4-BE49-F238E27FC236}">
                <a16:creationId xmlns:a16="http://schemas.microsoft.com/office/drawing/2014/main" id="{82A7A8F1-44EF-4EBA-AF18-8BC112DE3064}"/>
              </a:ext>
            </a:extLst>
          </p:cNvPr>
          <p:cNvSpPr>
            <a:spLocks xmlns:a="http://schemas.openxmlformats.org/drawingml/2006/main" noGrp="1"/>
          </p:cNvSpPr>
          <p:nvPr/>
        </p:nvSpPr>
        <p:spPr>
          <a:xfrm xmlns:a="http://schemas.openxmlformats.org/drawingml/2006/main">
            <a:off x="2762250" y="1619250"/>
            <a:ext cx="9525" cy="37909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5" name="slide-6-tick-1">
            <a:extLst xmlns:a="http://schemas.openxmlformats.org/drawingml/2006/main">
              <a:ext uri="{FF2B5EF4-FFF2-40B4-BE49-F238E27FC236}">
                <a16:creationId xmlns:a16="http://schemas.microsoft.com/office/drawing/2014/main" id="{385B651E-C812-47F9-82EC-680EC4C649C2}"/>
              </a:ext>
            </a:extLst>
          </p:cNvPr>
          <p:cNvSpPr>
            <a:spLocks xmlns:a="http://schemas.openxmlformats.org/drawingml/2006/main" noGrp="1"/>
          </p:cNvSpPr>
          <p:nvPr/>
        </p:nvSpPr>
        <p:spPr>
          <a:xfrm xmlns:a="http://schemas.openxmlformats.org/drawingml/2006/main">
            <a:off x="26479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1</a:t>
            </a:r>
          </a:p>
        </p:txBody>
      </p:sp>
      <p:sp>
        <p:nvSpPr>
          <p:cNvPr id="6" name="slide-6-grid-2">
            <a:extLst xmlns:a="http://schemas.openxmlformats.org/drawingml/2006/main">
              <a:ext uri="{FF2B5EF4-FFF2-40B4-BE49-F238E27FC236}">
                <a16:creationId xmlns:a16="http://schemas.microsoft.com/office/drawing/2014/main" id="{FBEB9778-21EA-4DE8-B06C-55E56764444F}"/>
              </a:ext>
            </a:extLst>
          </p:cNvPr>
          <p:cNvSpPr>
            <a:spLocks xmlns:a="http://schemas.openxmlformats.org/drawingml/2006/main" noGrp="1"/>
          </p:cNvSpPr>
          <p:nvPr/>
        </p:nvSpPr>
        <p:spPr>
          <a:xfrm xmlns:a="http://schemas.openxmlformats.org/drawingml/2006/main">
            <a:off x="3409950" y="1619250"/>
            <a:ext cx="9525" cy="37909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7" name="slide-6-tick-2">
            <a:extLst xmlns:a="http://schemas.openxmlformats.org/drawingml/2006/main">
              <a:ext uri="{FF2B5EF4-FFF2-40B4-BE49-F238E27FC236}">
                <a16:creationId xmlns:a16="http://schemas.microsoft.com/office/drawing/2014/main" id="{81FB8982-97F9-4FC2-8F1C-0B13717994C1}"/>
              </a:ext>
            </a:extLst>
          </p:cNvPr>
          <p:cNvSpPr>
            <a:spLocks xmlns:a="http://schemas.openxmlformats.org/drawingml/2006/main" noGrp="1"/>
          </p:cNvSpPr>
          <p:nvPr/>
        </p:nvSpPr>
        <p:spPr>
          <a:xfrm xmlns:a="http://schemas.openxmlformats.org/drawingml/2006/main">
            <a:off x="32956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2</a:t>
            </a:r>
          </a:p>
        </p:txBody>
      </p:sp>
      <p:sp>
        <p:nvSpPr>
          <p:cNvPr id="8" name="slide-6-grid-3">
            <a:extLst xmlns:a="http://schemas.openxmlformats.org/drawingml/2006/main">
              <a:ext uri="{FF2B5EF4-FFF2-40B4-BE49-F238E27FC236}">
                <a16:creationId xmlns:a16="http://schemas.microsoft.com/office/drawing/2014/main" id="{3C7F3F84-33CF-4041-BB77-7699D16BF67C}"/>
              </a:ext>
            </a:extLst>
          </p:cNvPr>
          <p:cNvSpPr>
            <a:spLocks xmlns:a="http://schemas.openxmlformats.org/drawingml/2006/main" noGrp="1"/>
          </p:cNvSpPr>
          <p:nvPr/>
        </p:nvSpPr>
        <p:spPr>
          <a:xfrm xmlns:a="http://schemas.openxmlformats.org/drawingml/2006/main">
            <a:off x="4057650" y="1619250"/>
            <a:ext cx="9525" cy="37909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9" name="slide-6-tick-3">
            <a:extLst xmlns:a="http://schemas.openxmlformats.org/drawingml/2006/main">
              <a:ext uri="{FF2B5EF4-FFF2-40B4-BE49-F238E27FC236}">
                <a16:creationId xmlns:a16="http://schemas.microsoft.com/office/drawing/2014/main" id="{679BD08F-0372-4B3F-8F5B-63B3DB57250C}"/>
              </a:ext>
            </a:extLst>
          </p:cNvPr>
          <p:cNvSpPr>
            <a:spLocks xmlns:a="http://schemas.openxmlformats.org/drawingml/2006/main" noGrp="1"/>
          </p:cNvSpPr>
          <p:nvPr/>
        </p:nvSpPr>
        <p:spPr>
          <a:xfrm xmlns:a="http://schemas.openxmlformats.org/drawingml/2006/main">
            <a:off x="39433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3</a:t>
            </a:r>
          </a:p>
        </p:txBody>
      </p:sp>
      <p:sp>
        <p:nvSpPr>
          <p:cNvPr id="10" name="slide-6-grid-4">
            <a:extLst xmlns:a="http://schemas.openxmlformats.org/drawingml/2006/main">
              <a:ext uri="{FF2B5EF4-FFF2-40B4-BE49-F238E27FC236}">
                <a16:creationId xmlns:a16="http://schemas.microsoft.com/office/drawing/2014/main" id="{E4E63612-EC1A-4E39-96FD-05B3E3403DAA}"/>
              </a:ext>
            </a:extLst>
          </p:cNvPr>
          <p:cNvSpPr>
            <a:spLocks xmlns:a="http://schemas.openxmlformats.org/drawingml/2006/main" noGrp="1"/>
          </p:cNvSpPr>
          <p:nvPr/>
        </p:nvSpPr>
        <p:spPr>
          <a:xfrm xmlns:a="http://schemas.openxmlformats.org/drawingml/2006/main">
            <a:off x="4705350" y="1619250"/>
            <a:ext cx="9525" cy="37909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1" name="slide-6-tick-4">
            <a:extLst xmlns:a="http://schemas.openxmlformats.org/drawingml/2006/main">
              <a:ext uri="{FF2B5EF4-FFF2-40B4-BE49-F238E27FC236}">
                <a16:creationId xmlns:a16="http://schemas.microsoft.com/office/drawing/2014/main" id="{4761CFA8-D963-4A56-900B-2C2E6049B93A}"/>
              </a:ext>
            </a:extLst>
          </p:cNvPr>
          <p:cNvSpPr>
            <a:spLocks xmlns:a="http://schemas.openxmlformats.org/drawingml/2006/main" noGrp="1"/>
          </p:cNvSpPr>
          <p:nvPr/>
        </p:nvSpPr>
        <p:spPr>
          <a:xfrm xmlns:a="http://schemas.openxmlformats.org/drawingml/2006/main">
            <a:off x="45910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4</a:t>
            </a:r>
          </a:p>
        </p:txBody>
      </p:sp>
      <p:sp>
        <p:nvSpPr>
          <p:cNvPr id="12" name="slide-6-grid-5">
            <a:extLst xmlns:a="http://schemas.openxmlformats.org/drawingml/2006/main">
              <a:ext uri="{FF2B5EF4-FFF2-40B4-BE49-F238E27FC236}">
                <a16:creationId xmlns:a16="http://schemas.microsoft.com/office/drawing/2014/main" id="{51A9A3D7-5D7D-42A7-8EC7-3523FC05B70C}"/>
              </a:ext>
            </a:extLst>
          </p:cNvPr>
          <p:cNvSpPr>
            <a:spLocks xmlns:a="http://schemas.openxmlformats.org/drawingml/2006/main" noGrp="1"/>
          </p:cNvSpPr>
          <p:nvPr/>
        </p:nvSpPr>
        <p:spPr>
          <a:xfrm xmlns:a="http://schemas.openxmlformats.org/drawingml/2006/main">
            <a:off x="5353050" y="1619250"/>
            <a:ext cx="9525" cy="379095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13" name="slide-6-tick-5">
            <a:extLst xmlns:a="http://schemas.openxmlformats.org/drawingml/2006/main">
              <a:ext uri="{FF2B5EF4-FFF2-40B4-BE49-F238E27FC236}">
                <a16:creationId xmlns:a16="http://schemas.microsoft.com/office/drawing/2014/main" id="{65CE7798-E884-4861-AEC9-F51A215FA497}"/>
              </a:ext>
            </a:extLst>
          </p:cNvPr>
          <p:cNvSpPr>
            <a:spLocks xmlns:a="http://schemas.openxmlformats.org/drawingml/2006/main" noGrp="1"/>
          </p:cNvSpPr>
          <p:nvPr/>
        </p:nvSpPr>
        <p:spPr>
          <a:xfrm xmlns:a="http://schemas.openxmlformats.org/drawingml/2006/main">
            <a:off x="5238750" y="5467350"/>
            <a:ext cx="2286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a:solidFill>
                  <a:srgbClr val="586174"/>
                </a:solidFill>
                <a:latin typeface="Helvetica Neue"/>
                <a:ea typeface="Helvetica Neue"/>
                <a:cs typeface="Helvetica Neue"/>
              </a:defRPr>
            </a:pPr>
            <a:r>
              <a:t>5</a:t>
            </a:r>
          </a:p>
        </p:txBody>
      </p:sp>
      <p:sp>
        <p:nvSpPr>
          <p:cNvPr id="14" name="slide-6-bar-label-1">
            <a:extLst xmlns:a="http://schemas.openxmlformats.org/drawingml/2006/main">
              <a:ext uri="{FF2B5EF4-FFF2-40B4-BE49-F238E27FC236}">
                <a16:creationId xmlns:a16="http://schemas.microsoft.com/office/drawing/2014/main" id="{7BBF2F2A-F9A7-48B9-B306-6C3EA41FC623}"/>
              </a:ext>
            </a:extLst>
          </p:cNvPr>
          <p:cNvSpPr>
            <a:spLocks xmlns:a="http://schemas.openxmlformats.org/drawingml/2006/main" noGrp="1"/>
          </p:cNvSpPr>
          <p:nvPr/>
        </p:nvSpPr>
        <p:spPr>
          <a:xfrm xmlns:a="http://schemas.openxmlformats.org/drawingml/2006/main">
            <a:off x="400050" y="1857375"/>
            <a:ext cx="16002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External sidecar</a:t>
            </a:r>
          </a:p>
        </p:txBody>
      </p:sp>
      <p:sp>
        <p:nvSpPr>
          <p:cNvPr id="15" name="slide-6-bar-1">
            <a:extLst xmlns:a="http://schemas.openxmlformats.org/drawingml/2006/main">
              <a:ext uri="{FF2B5EF4-FFF2-40B4-BE49-F238E27FC236}">
                <a16:creationId xmlns:a16="http://schemas.microsoft.com/office/drawing/2014/main" id="{915DBF37-65AC-4754-85A0-1BFDC502B5C3}"/>
              </a:ext>
            </a:extLst>
          </p:cNvPr>
          <p:cNvSpPr>
            <a:spLocks xmlns:a="http://schemas.openxmlformats.org/drawingml/2006/main" noGrp="1"/>
          </p:cNvSpPr>
          <p:nvPr/>
        </p:nvSpPr>
        <p:spPr>
          <a:xfrm xmlns:a="http://schemas.openxmlformats.org/drawingml/2006/main">
            <a:off x="2114550" y="1809750"/>
            <a:ext cx="3108960" cy="400050"/>
          </a:xfrm>
          <a:prstGeom xmlns:a="http://schemas.openxmlformats.org/drawingml/2006/main" prst="roundRect">
            <a:avLst>
              <a:gd name="adj" fmla="val 9524"/>
            </a:avLst>
          </a:prstGeom>
          <a:solidFill xmlns:a="http://schemas.openxmlformats.org/drawingml/2006/main">
            <a:srgbClr val="3D8DFF"/>
          </a:solidFill>
          <a:ln xmlns:a="http://schemas.openxmlformats.org/drawingml/2006/main" w="0">
            <a:solidFill>
              <a:srgbClr val="3D8DFF"/>
            </a:solidFill>
            <a:prstDash val="solid"/>
          </a:ln>
        </p:spPr>
      </p:sp>
      <p:sp>
        <p:nvSpPr>
          <p:cNvPr id="16" name="slide-6-bar-value-1">
            <a:extLst xmlns:a="http://schemas.openxmlformats.org/drawingml/2006/main">
              <a:ext uri="{FF2B5EF4-FFF2-40B4-BE49-F238E27FC236}">
                <a16:creationId xmlns:a16="http://schemas.microsoft.com/office/drawing/2014/main" id="{8A469790-5B42-42B8-8567-78EC8D0747FC}"/>
              </a:ext>
            </a:extLst>
          </p:cNvPr>
          <p:cNvSpPr>
            <a:spLocks xmlns:a="http://schemas.openxmlformats.org/drawingml/2006/main" noGrp="1"/>
          </p:cNvSpPr>
          <p:nvPr/>
        </p:nvSpPr>
        <p:spPr>
          <a:xfrm xmlns:a="http://schemas.openxmlformats.org/drawingml/2006/main">
            <a:off x="5318760" y="1876425"/>
            <a:ext cx="6096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t>4.80</a:t>
            </a:r>
          </a:p>
        </p:txBody>
      </p:sp>
      <p:sp>
        <p:nvSpPr>
          <p:cNvPr id="17" name="slide-6-bar-label-2">
            <a:extLst xmlns:a="http://schemas.openxmlformats.org/drawingml/2006/main">
              <a:ext uri="{FF2B5EF4-FFF2-40B4-BE49-F238E27FC236}">
                <a16:creationId xmlns:a16="http://schemas.microsoft.com/office/drawing/2014/main" id="{CC811B21-B9B7-4CA8-BC15-C46FDE995147}"/>
              </a:ext>
            </a:extLst>
          </p:cNvPr>
          <p:cNvSpPr>
            <a:spLocks xmlns:a="http://schemas.openxmlformats.org/drawingml/2006/main" noGrp="1"/>
          </p:cNvSpPr>
          <p:nvPr/>
        </p:nvSpPr>
        <p:spPr>
          <a:xfrm xmlns:a="http://schemas.openxmlformats.org/drawingml/2006/main">
            <a:off x="400050" y="2581275"/>
            <a:ext cx="16002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Shadow state</a:t>
            </a:r>
          </a:p>
        </p:txBody>
      </p:sp>
      <p:sp>
        <p:nvSpPr>
          <p:cNvPr id="18" name="slide-6-bar-2">
            <a:extLst xmlns:a="http://schemas.openxmlformats.org/drawingml/2006/main">
              <a:ext uri="{FF2B5EF4-FFF2-40B4-BE49-F238E27FC236}">
                <a16:creationId xmlns:a16="http://schemas.microsoft.com/office/drawing/2014/main" id="{9CFD0AC8-33C9-411B-B2D4-B3D9DBC854F6}"/>
              </a:ext>
            </a:extLst>
          </p:cNvPr>
          <p:cNvSpPr>
            <a:spLocks xmlns:a="http://schemas.openxmlformats.org/drawingml/2006/main" noGrp="1"/>
          </p:cNvSpPr>
          <p:nvPr/>
        </p:nvSpPr>
        <p:spPr>
          <a:xfrm xmlns:a="http://schemas.openxmlformats.org/drawingml/2006/main">
            <a:off x="2114550" y="2533650"/>
            <a:ext cx="2590800" cy="400050"/>
          </a:xfrm>
          <a:prstGeom xmlns:a="http://schemas.openxmlformats.org/drawingml/2006/main" prst="roundRect">
            <a:avLst>
              <a:gd name="adj" fmla="val 9524"/>
            </a:avLst>
          </a:prstGeom>
          <a:solidFill xmlns:a="http://schemas.openxmlformats.org/drawingml/2006/main">
            <a:srgbClr val="B8BCC4"/>
          </a:solidFill>
          <a:ln xmlns:a="http://schemas.openxmlformats.org/drawingml/2006/main" w="0">
            <a:solidFill>
              <a:srgbClr val="B8BCC4"/>
            </a:solidFill>
            <a:prstDash val="solid"/>
          </a:ln>
        </p:spPr>
      </p:sp>
      <p:sp>
        <p:nvSpPr>
          <p:cNvPr id="19" name="slide-6-bar-value-2">
            <a:extLst xmlns:a="http://schemas.openxmlformats.org/drawingml/2006/main">
              <a:ext uri="{FF2B5EF4-FFF2-40B4-BE49-F238E27FC236}">
                <a16:creationId xmlns:a16="http://schemas.microsoft.com/office/drawing/2014/main" id="{5641CC0B-05E9-431A-9D58-CEB71AD2AC91}"/>
              </a:ext>
            </a:extLst>
          </p:cNvPr>
          <p:cNvSpPr>
            <a:spLocks xmlns:a="http://schemas.openxmlformats.org/drawingml/2006/main" noGrp="1"/>
          </p:cNvSpPr>
          <p:nvPr/>
        </p:nvSpPr>
        <p:spPr>
          <a:xfrm xmlns:a="http://schemas.openxmlformats.org/drawingml/2006/main">
            <a:off x="4800600" y="2600325"/>
            <a:ext cx="6096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174"/>
                </a:solidFill>
                <a:latin typeface="Helvetica Neue"/>
                <a:ea typeface="Helvetica Neue"/>
                <a:cs typeface="Helvetica Neue"/>
              </a:defRPr>
            </a:pPr>
            <a:r>
              <a:t>4.00</a:t>
            </a:r>
          </a:p>
        </p:txBody>
      </p:sp>
      <p:sp>
        <p:nvSpPr>
          <p:cNvPr id="20" name="slide-6-bar-label-3">
            <a:extLst xmlns:a="http://schemas.openxmlformats.org/drawingml/2006/main">
              <a:ext uri="{FF2B5EF4-FFF2-40B4-BE49-F238E27FC236}">
                <a16:creationId xmlns:a16="http://schemas.microsoft.com/office/drawing/2014/main" id="{0738B16F-A3EA-49FC-8854-104BEAA02940}"/>
              </a:ext>
            </a:extLst>
          </p:cNvPr>
          <p:cNvSpPr>
            <a:spLocks xmlns:a="http://schemas.openxmlformats.org/drawingml/2006/main" noGrp="1"/>
          </p:cNvSpPr>
          <p:nvPr/>
        </p:nvSpPr>
        <p:spPr>
          <a:xfrm xmlns:a="http://schemas.openxmlformats.org/drawingml/2006/main">
            <a:off x="400050" y="3305175"/>
            <a:ext cx="16002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Event-driven</a:t>
            </a:r>
          </a:p>
        </p:txBody>
      </p:sp>
      <p:sp>
        <p:nvSpPr>
          <p:cNvPr id="21" name="slide-6-bar-3">
            <a:extLst xmlns:a="http://schemas.openxmlformats.org/drawingml/2006/main">
              <a:ext uri="{FF2B5EF4-FFF2-40B4-BE49-F238E27FC236}">
                <a16:creationId xmlns:a16="http://schemas.microsoft.com/office/drawing/2014/main" id="{5F39E4DE-B27E-4711-9E46-979ECE0A4A6E}"/>
              </a:ext>
            </a:extLst>
          </p:cNvPr>
          <p:cNvSpPr>
            <a:spLocks xmlns:a="http://schemas.openxmlformats.org/drawingml/2006/main" noGrp="1"/>
          </p:cNvSpPr>
          <p:nvPr/>
        </p:nvSpPr>
        <p:spPr>
          <a:xfrm xmlns:a="http://schemas.openxmlformats.org/drawingml/2006/main">
            <a:off x="2114550" y="3257550"/>
            <a:ext cx="1716405" cy="400050"/>
          </a:xfrm>
          <a:prstGeom xmlns:a="http://schemas.openxmlformats.org/drawingml/2006/main" prst="roundRect">
            <a:avLst>
              <a:gd name="adj" fmla="val 9524"/>
            </a:avLst>
          </a:prstGeom>
          <a:solidFill xmlns:a="http://schemas.openxmlformats.org/drawingml/2006/main">
            <a:srgbClr val="B8BCC4"/>
          </a:solidFill>
          <a:ln xmlns:a="http://schemas.openxmlformats.org/drawingml/2006/main" w="0">
            <a:solidFill>
              <a:srgbClr val="B8BCC4"/>
            </a:solidFill>
            <a:prstDash val="solid"/>
          </a:ln>
        </p:spPr>
      </p:sp>
      <p:sp>
        <p:nvSpPr>
          <p:cNvPr id="22" name="slide-6-bar-value-3">
            <a:extLst xmlns:a="http://schemas.openxmlformats.org/drawingml/2006/main">
              <a:ext uri="{FF2B5EF4-FFF2-40B4-BE49-F238E27FC236}">
                <a16:creationId xmlns:a16="http://schemas.microsoft.com/office/drawing/2014/main" id="{552B228C-E3B8-4279-99AE-46EC74D3477E}"/>
              </a:ext>
            </a:extLst>
          </p:cNvPr>
          <p:cNvSpPr>
            <a:spLocks xmlns:a="http://schemas.openxmlformats.org/drawingml/2006/main" noGrp="1"/>
          </p:cNvSpPr>
          <p:nvPr/>
        </p:nvSpPr>
        <p:spPr>
          <a:xfrm xmlns:a="http://schemas.openxmlformats.org/drawingml/2006/main">
            <a:off x="3926205" y="3324225"/>
            <a:ext cx="6096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174"/>
                </a:solidFill>
                <a:latin typeface="Helvetica Neue"/>
                <a:ea typeface="Helvetica Neue"/>
                <a:cs typeface="Helvetica Neue"/>
              </a:defRPr>
            </a:pPr>
            <a:r>
              <a:t>2.65</a:t>
            </a:r>
          </a:p>
        </p:txBody>
      </p:sp>
      <p:sp>
        <p:nvSpPr>
          <p:cNvPr id="23" name="slide-6-bar-label-4">
            <a:extLst xmlns:a="http://schemas.openxmlformats.org/drawingml/2006/main">
              <a:ext uri="{FF2B5EF4-FFF2-40B4-BE49-F238E27FC236}">
                <a16:creationId xmlns:a16="http://schemas.microsoft.com/office/drawing/2014/main" id="{648580EA-FA4E-4894-9A3A-D46C142BCCB1}"/>
              </a:ext>
            </a:extLst>
          </p:cNvPr>
          <p:cNvSpPr>
            <a:spLocks xmlns:a="http://schemas.openxmlformats.org/drawingml/2006/main" noGrp="1"/>
          </p:cNvSpPr>
          <p:nvPr/>
        </p:nvSpPr>
        <p:spPr>
          <a:xfrm xmlns:a="http://schemas.openxmlformats.org/drawingml/2006/main">
            <a:off x="400050" y="4029075"/>
            <a:ext cx="16002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API gateway</a:t>
            </a:r>
          </a:p>
        </p:txBody>
      </p:sp>
      <p:sp>
        <p:nvSpPr>
          <p:cNvPr id="24" name="slide-6-bar-4">
            <a:extLst xmlns:a="http://schemas.openxmlformats.org/drawingml/2006/main">
              <a:ext uri="{FF2B5EF4-FFF2-40B4-BE49-F238E27FC236}">
                <a16:creationId xmlns:a16="http://schemas.microsoft.com/office/drawing/2014/main" id="{4FBFE63C-E738-4529-A599-768774578A32}"/>
              </a:ext>
            </a:extLst>
          </p:cNvPr>
          <p:cNvSpPr>
            <a:spLocks xmlns:a="http://schemas.openxmlformats.org/drawingml/2006/main" noGrp="1"/>
          </p:cNvSpPr>
          <p:nvPr/>
        </p:nvSpPr>
        <p:spPr>
          <a:xfrm xmlns:a="http://schemas.openxmlformats.org/drawingml/2006/main">
            <a:off x="2114550" y="3981450"/>
            <a:ext cx="1392555" cy="400050"/>
          </a:xfrm>
          <a:prstGeom xmlns:a="http://schemas.openxmlformats.org/drawingml/2006/main" prst="roundRect">
            <a:avLst>
              <a:gd name="adj" fmla="val 9524"/>
            </a:avLst>
          </a:prstGeom>
          <a:solidFill xmlns:a="http://schemas.openxmlformats.org/drawingml/2006/main">
            <a:srgbClr val="B8BCC4"/>
          </a:solidFill>
          <a:ln xmlns:a="http://schemas.openxmlformats.org/drawingml/2006/main" w="0">
            <a:solidFill>
              <a:srgbClr val="B8BCC4"/>
            </a:solidFill>
            <a:prstDash val="solid"/>
          </a:ln>
        </p:spPr>
      </p:sp>
      <p:sp>
        <p:nvSpPr>
          <p:cNvPr id="25" name="slide-6-bar-value-4">
            <a:extLst xmlns:a="http://schemas.openxmlformats.org/drawingml/2006/main">
              <a:ext uri="{FF2B5EF4-FFF2-40B4-BE49-F238E27FC236}">
                <a16:creationId xmlns:a16="http://schemas.microsoft.com/office/drawing/2014/main" id="{933742A7-B58F-4047-9AA9-F215890D95F8}"/>
              </a:ext>
            </a:extLst>
          </p:cNvPr>
          <p:cNvSpPr>
            <a:spLocks xmlns:a="http://schemas.openxmlformats.org/drawingml/2006/main" noGrp="1"/>
          </p:cNvSpPr>
          <p:nvPr/>
        </p:nvSpPr>
        <p:spPr>
          <a:xfrm xmlns:a="http://schemas.openxmlformats.org/drawingml/2006/main">
            <a:off x="3602355" y="4048125"/>
            <a:ext cx="6096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174"/>
                </a:solidFill>
                <a:latin typeface="Helvetica Neue"/>
                <a:ea typeface="Helvetica Neue"/>
                <a:cs typeface="Helvetica Neue"/>
              </a:defRPr>
            </a:pPr>
            <a:r>
              <a:t>2.15</a:t>
            </a:r>
          </a:p>
        </p:txBody>
      </p:sp>
      <p:sp>
        <p:nvSpPr>
          <p:cNvPr id="26" name="slide-6-bar-label-5">
            <a:extLst xmlns:a="http://schemas.openxmlformats.org/drawingml/2006/main">
              <a:ext uri="{FF2B5EF4-FFF2-40B4-BE49-F238E27FC236}">
                <a16:creationId xmlns:a16="http://schemas.microsoft.com/office/drawing/2014/main" id="{8D5198D1-D36D-43DB-B9B1-A407DA7F37AE}"/>
              </a:ext>
            </a:extLst>
          </p:cNvPr>
          <p:cNvSpPr>
            <a:spLocks xmlns:a="http://schemas.openxmlformats.org/drawingml/2006/main" noGrp="1"/>
          </p:cNvSpPr>
          <p:nvPr/>
        </p:nvSpPr>
        <p:spPr>
          <a:xfrm xmlns:a="http://schemas.openxmlformats.org/drawingml/2006/main">
            <a:off x="400050" y="4752975"/>
            <a:ext cx="16002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In-process plugin</a:t>
            </a:r>
          </a:p>
        </p:txBody>
      </p:sp>
      <p:sp>
        <p:nvSpPr>
          <p:cNvPr id="27" name="slide-6-bar-5">
            <a:extLst xmlns:a="http://schemas.openxmlformats.org/drawingml/2006/main">
              <a:ext uri="{FF2B5EF4-FFF2-40B4-BE49-F238E27FC236}">
                <a16:creationId xmlns:a16="http://schemas.microsoft.com/office/drawing/2014/main" id="{510F2A61-5509-46C4-BAE4-092C9C8802A1}"/>
              </a:ext>
            </a:extLst>
          </p:cNvPr>
          <p:cNvSpPr>
            <a:spLocks xmlns:a="http://schemas.openxmlformats.org/drawingml/2006/main" noGrp="1"/>
          </p:cNvSpPr>
          <p:nvPr/>
        </p:nvSpPr>
        <p:spPr>
          <a:xfrm xmlns:a="http://schemas.openxmlformats.org/drawingml/2006/main">
            <a:off x="2114550" y="4705350"/>
            <a:ext cx="1068705" cy="400050"/>
          </a:xfrm>
          <a:prstGeom xmlns:a="http://schemas.openxmlformats.org/drawingml/2006/main" prst="roundRect">
            <a:avLst>
              <a:gd name="adj" fmla="val 9524"/>
            </a:avLst>
          </a:prstGeom>
          <a:solidFill xmlns:a="http://schemas.openxmlformats.org/drawingml/2006/main">
            <a:srgbClr val="B8BCC4"/>
          </a:solidFill>
          <a:ln xmlns:a="http://schemas.openxmlformats.org/drawingml/2006/main" w="0">
            <a:solidFill>
              <a:srgbClr val="B8BCC4"/>
            </a:solidFill>
            <a:prstDash val="solid"/>
          </a:ln>
        </p:spPr>
      </p:sp>
      <p:sp>
        <p:nvSpPr>
          <p:cNvPr id="28" name="slide-6-bar-value-5">
            <a:extLst xmlns:a="http://schemas.openxmlformats.org/drawingml/2006/main">
              <a:ext uri="{FF2B5EF4-FFF2-40B4-BE49-F238E27FC236}">
                <a16:creationId xmlns:a16="http://schemas.microsoft.com/office/drawing/2014/main" id="{471A7F6F-7CFC-4B7D-AC1E-8B4849582739}"/>
              </a:ext>
            </a:extLst>
          </p:cNvPr>
          <p:cNvSpPr>
            <a:spLocks xmlns:a="http://schemas.openxmlformats.org/drawingml/2006/main" noGrp="1"/>
          </p:cNvSpPr>
          <p:nvPr/>
        </p:nvSpPr>
        <p:spPr>
          <a:xfrm xmlns:a="http://schemas.openxmlformats.org/drawingml/2006/main">
            <a:off x="3278505" y="4772025"/>
            <a:ext cx="6096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86174"/>
                </a:solidFill>
                <a:latin typeface="Helvetica Neue"/>
                <a:ea typeface="Helvetica Neue"/>
                <a:cs typeface="Helvetica Neue"/>
              </a:defRPr>
            </a:pPr>
            <a:r>
              <a:t>1.65</a:t>
            </a:r>
          </a:p>
        </p:txBody>
      </p:sp>
      <p:sp>
        <p:nvSpPr>
          <p:cNvPr id="29" name="slide-6-rail-1">
            <a:extLst xmlns:a="http://schemas.openxmlformats.org/drawingml/2006/main">
              <a:ext uri="{FF2B5EF4-FFF2-40B4-BE49-F238E27FC236}">
                <a16:creationId xmlns:a16="http://schemas.microsoft.com/office/drawing/2014/main" id="{BC0796FD-8DBF-4B9A-B58B-262E630A251B}"/>
              </a:ext>
            </a:extLst>
          </p:cNvPr>
          <p:cNvSpPr>
            <a:spLocks xmlns:a="http://schemas.openxmlformats.org/drawingml/2006/main" noGrp="1"/>
          </p:cNvSpPr>
          <p:nvPr/>
        </p:nvSpPr>
        <p:spPr>
          <a:xfrm xmlns:a="http://schemas.openxmlformats.org/drawingml/2006/main">
            <a:off x="6267450" y="1219200"/>
            <a:ext cx="5524500" cy="1409700"/>
          </a:xfrm>
          <a:prstGeom xmlns:a="http://schemas.openxmlformats.org/drawingml/2006/main" prst="roundRect">
            <a:avLst>
              <a:gd name="adj" fmla="val 5405"/>
            </a:avLst>
          </a:prstGeom>
          <a:solidFill xmlns:a="http://schemas.openxmlformats.org/drawingml/2006/main">
            <a:srgbClr val="EDEDED"/>
          </a:solidFill>
          <a:ln xmlns:a="http://schemas.openxmlformats.org/drawingml/2006/main" w="0">
            <a:solidFill>
              <a:srgbClr val="EDEDED"/>
            </a:solidFill>
            <a:prstDash val="solid"/>
          </a:ln>
        </p:spPr>
      </p:sp>
      <p:sp>
        <p:nvSpPr>
          <p:cNvPr id="30" name="slide-6-rail-title-1">
            <a:extLst xmlns:a="http://schemas.openxmlformats.org/drawingml/2006/main">
              <a:ext uri="{FF2B5EF4-FFF2-40B4-BE49-F238E27FC236}">
                <a16:creationId xmlns:a16="http://schemas.microsoft.com/office/drawing/2014/main" id="{17C8EE10-B632-49C3-883C-A0CFA3A34203}"/>
              </a:ext>
            </a:extLst>
          </p:cNvPr>
          <p:cNvSpPr>
            <a:spLocks xmlns:a="http://schemas.openxmlformats.org/drawingml/2006/main" noGrp="1"/>
          </p:cNvSpPr>
          <p:nvPr/>
        </p:nvSpPr>
        <p:spPr>
          <a:xfrm xmlns:a="http://schemas.openxmlformats.org/drawingml/2006/main">
            <a:off x="6572250" y="1447800"/>
            <a:ext cx="4914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Decision</a:t>
            </a:r>
          </a:p>
        </p:txBody>
      </p:sp>
      <p:sp>
        <p:nvSpPr>
          <p:cNvPr id="31" name="slide-6-rail-body-1">
            <a:extLst xmlns:a="http://schemas.openxmlformats.org/drawingml/2006/main">
              <a:ext uri="{FF2B5EF4-FFF2-40B4-BE49-F238E27FC236}">
                <a16:creationId xmlns:a16="http://schemas.microsoft.com/office/drawing/2014/main" id="{81E950E0-C784-4014-A6D7-029F36490D6D}"/>
              </a:ext>
            </a:extLst>
          </p:cNvPr>
          <p:cNvSpPr>
            <a:spLocks xmlns:a="http://schemas.openxmlformats.org/drawingml/2006/main" noGrp="1"/>
          </p:cNvSpPr>
          <p:nvPr/>
        </p:nvSpPr>
        <p:spPr>
          <a:xfrm xmlns:a="http://schemas.openxmlformats.org/drawingml/2006/main">
            <a:off x="6572250" y="1962150"/>
            <a:ext cx="49149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Use only nightly batch, override table, and post-generation review queue.</a:t>
            </a:r>
          </a:p>
        </p:txBody>
      </p:sp>
      <p:sp>
        <p:nvSpPr>
          <p:cNvPr id="32" name="slide-6-rail-2">
            <a:extLst xmlns:a="http://schemas.openxmlformats.org/drawingml/2006/main">
              <a:ext uri="{FF2B5EF4-FFF2-40B4-BE49-F238E27FC236}">
                <a16:creationId xmlns:a16="http://schemas.microsoft.com/office/drawing/2014/main" id="{3F1AE27C-F5E4-4DE1-8FB1-15A793EF28C5}"/>
              </a:ext>
            </a:extLst>
          </p:cNvPr>
          <p:cNvSpPr>
            <a:spLocks xmlns:a="http://schemas.openxmlformats.org/drawingml/2006/main" noGrp="1"/>
          </p:cNvSpPr>
          <p:nvPr/>
        </p:nvSpPr>
        <p:spPr>
          <a:xfrm xmlns:a="http://schemas.openxmlformats.org/drawingml/2006/main">
            <a:off x="6267450" y="2952750"/>
            <a:ext cx="5524500" cy="1409700"/>
          </a:xfrm>
          <a:prstGeom xmlns:a="http://schemas.openxmlformats.org/drawingml/2006/main" prst="roundRect">
            <a:avLst>
              <a:gd name="adj" fmla="val 5405"/>
            </a:avLst>
          </a:prstGeom>
          <a:solidFill xmlns:a="http://schemas.openxmlformats.org/drawingml/2006/main">
            <a:srgbClr val="EDEDED"/>
          </a:solidFill>
          <a:ln xmlns:a="http://schemas.openxmlformats.org/drawingml/2006/main" w="0">
            <a:solidFill>
              <a:srgbClr val="EDEDED"/>
            </a:solidFill>
            <a:prstDash val="solid"/>
          </a:ln>
        </p:spPr>
      </p:sp>
      <p:sp>
        <p:nvSpPr>
          <p:cNvPr id="33" name="slide-6-rail-title-2">
            <a:extLst xmlns:a="http://schemas.openxmlformats.org/drawingml/2006/main">
              <a:ext uri="{FF2B5EF4-FFF2-40B4-BE49-F238E27FC236}">
                <a16:creationId xmlns:a16="http://schemas.microsoft.com/office/drawing/2014/main" id="{E19C710D-04F3-41C9-BD80-B4F8C2ACE2B5}"/>
              </a:ext>
            </a:extLst>
          </p:cNvPr>
          <p:cNvSpPr>
            <a:spLocks xmlns:a="http://schemas.openxmlformats.org/drawingml/2006/main" noGrp="1"/>
          </p:cNvSpPr>
          <p:nvPr/>
        </p:nvSpPr>
        <p:spPr>
          <a:xfrm xmlns:a="http://schemas.openxmlformats.org/drawingml/2006/main">
            <a:off x="6572250" y="3181350"/>
            <a:ext cx="4914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Accepted trade-off</a:t>
            </a:r>
          </a:p>
        </p:txBody>
      </p:sp>
      <p:sp>
        <p:nvSpPr>
          <p:cNvPr id="34" name="slide-6-rail-body-2">
            <a:extLst xmlns:a="http://schemas.openxmlformats.org/drawingml/2006/main">
              <a:ext uri="{FF2B5EF4-FFF2-40B4-BE49-F238E27FC236}">
                <a16:creationId xmlns:a16="http://schemas.microsoft.com/office/drawing/2014/main" id="{E3B06C33-CA29-47A0-92D1-F2D1A5633EFE}"/>
              </a:ext>
            </a:extLst>
          </p:cNvPr>
          <p:cNvSpPr>
            <a:spLocks xmlns:a="http://schemas.openxmlformats.org/drawingml/2006/main" noGrp="1"/>
          </p:cNvSpPr>
          <p:nvPr/>
        </p:nvSpPr>
        <p:spPr>
          <a:xfrm xmlns:a="http://schemas.openxmlformats.org/drawingml/2006/main">
            <a:off x="6572250" y="3695700"/>
            <a:ext cx="49149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Duplicate snapshots, reconcile divergence, and operate two systems.</a:t>
            </a:r>
          </a:p>
        </p:txBody>
      </p:sp>
      <p:sp>
        <p:nvSpPr>
          <p:cNvPr id="35" name="slide-6-rail-3">
            <a:extLst xmlns:a="http://schemas.openxmlformats.org/drawingml/2006/main">
              <a:ext uri="{FF2B5EF4-FFF2-40B4-BE49-F238E27FC236}">
                <a16:creationId xmlns:a16="http://schemas.microsoft.com/office/drawing/2014/main" id="{5E65C489-5D7C-4E57-AE6F-3B81EDEAF97B}"/>
              </a:ext>
            </a:extLst>
          </p:cNvPr>
          <p:cNvSpPr>
            <a:spLocks xmlns:a="http://schemas.openxmlformats.org/drawingml/2006/main" noGrp="1"/>
          </p:cNvSpPr>
          <p:nvPr/>
        </p:nvSpPr>
        <p:spPr>
          <a:xfrm xmlns:a="http://schemas.openxmlformats.org/drawingml/2006/main">
            <a:off x="6267450" y="4686300"/>
            <a:ext cx="5524500" cy="1409700"/>
          </a:xfrm>
          <a:prstGeom xmlns:a="http://schemas.openxmlformats.org/drawingml/2006/main" prst="roundRect">
            <a:avLst>
              <a:gd name="adj" fmla="val 5405"/>
            </a:avLst>
          </a:prstGeom>
          <a:solidFill xmlns:a="http://schemas.openxmlformats.org/drawingml/2006/main">
            <a:srgbClr val="EDEDED"/>
          </a:solidFill>
          <a:ln xmlns:a="http://schemas.openxmlformats.org/drawingml/2006/main" w="0">
            <a:solidFill>
              <a:srgbClr val="EDEDED"/>
            </a:solidFill>
            <a:prstDash val="solid"/>
          </a:ln>
        </p:spPr>
      </p:sp>
      <p:sp>
        <p:nvSpPr>
          <p:cNvPr id="36" name="slide-6-rail-title-3">
            <a:extLst xmlns:a="http://schemas.openxmlformats.org/drawingml/2006/main">
              <a:ext uri="{FF2B5EF4-FFF2-40B4-BE49-F238E27FC236}">
                <a16:creationId xmlns:a16="http://schemas.microsoft.com/office/drawing/2014/main" id="{67C687B0-4ABF-499B-BA9A-EC8578A779DF}"/>
              </a:ext>
            </a:extLst>
          </p:cNvPr>
          <p:cNvSpPr>
            <a:spLocks xmlns:a="http://schemas.openxmlformats.org/drawingml/2006/main" noGrp="1"/>
          </p:cNvSpPr>
          <p:nvPr/>
        </p:nvSpPr>
        <p:spPr>
          <a:xfrm xmlns:a="http://schemas.openxmlformats.org/drawingml/2006/main">
            <a:off x="6572250" y="4914900"/>
            <a:ext cx="4914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Evidence boundary</a:t>
            </a:r>
          </a:p>
        </p:txBody>
      </p:sp>
      <p:sp>
        <p:nvSpPr>
          <p:cNvPr id="37" name="slide-6-rail-body-3">
            <a:extLst xmlns:a="http://schemas.openxmlformats.org/drawingml/2006/main">
              <a:ext uri="{FF2B5EF4-FFF2-40B4-BE49-F238E27FC236}">
                <a16:creationId xmlns:a16="http://schemas.microsoft.com/office/drawing/2014/main" id="{A6139F6F-5940-43BA-AE04-623872935E5C}"/>
              </a:ext>
            </a:extLst>
          </p:cNvPr>
          <p:cNvSpPr>
            <a:spLocks xmlns:a="http://schemas.openxmlformats.org/drawingml/2006/main" noGrp="1"/>
          </p:cNvSpPr>
          <p:nvPr/>
        </p:nvSpPr>
        <p:spPr>
          <a:xfrm xmlns:a="http://schemas.openxmlformats.org/drawingml/2006/main">
            <a:off x="6572250" y="5429250"/>
            <a:ext cx="49149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Scores choose direction; measured release gates decide influence.</a:t>
            </a:r>
          </a:p>
        </p:txBody>
      </p:sp>
      <p:sp>
        <p:nvSpPr>
          <p:cNvPr id="38" name="owner-footer-6">
            <a:extLst xmlns:a="http://schemas.openxmlformats.org/drawingml/2006/main">
              <a:ext uri="{FF2B5EF4-FFF2-40B4-BE49-F238E27FC236}">
                <a16:creationId xmlns:a16="http://schemas.microsoft.com/office/drawing/2014/main" id="{76FFF01E-C720-4C20-B668-A7ABFEDB612B}"/>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975">
                <a:solidFill>
                  <a:srgbClr val="586174"/>
                </a:solidFill>
                <a:latin typeface="Helvetica Neue"/>
                <a:ea typeface="Helvetica Neue"/>
                <a:cs typeface="Helvetica Neue"/>
              </a:defRPr>
            </a:pPr>
            <a:r>
              <a:t>Owners: NGUYỄN HÒA (122989); PHẠM THỊ THANH HUYỀN (164955)</a:t>
            </a:r>
          </a:p>
        </p:txBody>
      </p:sp>
      <p:sp>
        <p:nvSpPr>
          <p:cNvPr id="39" name="artifact-footer-6">
            <a:extLst xmlns:a="http://schemas.openxmlformats.org/drawingml/2006/main">
              <a:ext uri="{FF2B5EF4-FFF2-40B4-BE49-F238E27FC236}">
                <a16:creationId xmlns:a16="http://schemas.microsoft.com/office/drawing/2014/main" id="{5E108F0D-3BA1-41C3-9F32-9932D1A37D91}"/>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Technology selection + ADR</a:t>
            </a:r>
          </a:p>
        </p:txBody>
      </p:sp>
      <p:sp>
        <p:nvSpPr>
          <p:cNvPr id="40" name="page-number-6">
            <a:extLst xmlns:a="http://schemas.openxmlformats.org/drawingml/2006/main">
              <a:ext uri="{FF2B5EF4-FFF2-40B4-BE49-F238E27FC236}">
                <a16:creationId xmlns:a16="http://schemas.microsoft.com/office/drawing/2014/main" id="{BBB20812-961B-43CB-AD32-6E3DA4A42CFF}"/>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6</a:t>
            </a:r>
          </a:p>
        </p:txBody>
      </p:sp>
    </p:spTree>
    <p:extLst>
      <p:ext uri="{BB962C8B-B14F-4D97-AF65-F5344CB8AC3E}">
        <p14:creationId xmlns:p14="http://schemas.microsoft.com/office/powerpoint/2010/main" val="12845532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7-title">
            <a:extLst xmlns:a="http://schemas.openxmlformats.org/drawingml/2006/main">
              <a:ext uri="{FF2B5EF4-FFF2-40B4-BE49-F238E27FC236}">
                <a16:creationId xmlns:a16="http://schemas.microsoft.com/office/drawing/2014/main" id="{A48AB400-8750-4527-96E9-FBDDB9CBEB29}"/>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Every top risk has a threshold and a safe fallback</a:t>
            </a:r>
          </a:p>
        </p:txBody>
      </p:sp>
      <p:sp>
        <p:nvSpPr>
          <p:cNvPr id="2" name="slide-7-intro">
            <a:extLst xmlns:a="http://schemas.openxmlformats.org/drawingml/2006/main">
              <a:ext uri="{FF2B5EF4-FFF2-40B4-BE49-F238E27FC236}">
                <a16:creationId xmlns:a16="http://schemas.microsoft.com/office/drawing/2014/main" id="{9F0786D5-C5D4-403F-B231-4E8671310F38}"/>
              </a:ext>
            </a:extLst>
          </p:cNvPr>
          <p:cNvSpPr>
            <a:spLocks xmlns:a="http://schemas.openxmlformats.org/drawingml/2006/main" noGrp="1"/>
          </p:cNvSpPr>
          <p:nvPr/>
        </p:nvSpPr>
        <p:spPr>
          <a:xfrm xmlns:a="http://schemas.openxmlformats.org/drawingml/2006/main">
            <a:off x="400050" y="1143000"/>
            <a:ext cx="11391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586174"/>
                </a:solidFill>
                <a:latin typeface="Helvetica Neue"/>
                <a:ea typeface="Helvetica Neue"/>
                <a:cs typeface="Helvetica Neue"/>
              </a:defRPr>
            </a:pPr>
            <a:r>
              <a:t>All five exceed tolerance for unbounded influence; every stop condition leaves MERLIN and POS independent.</a:t>
            </a:r>
          </a:p>
        </p:txBody>
      </p:sp>
      <p:graphicFrame>
        <p:nvGraphicFramePr>
          <p:cNvPr id="9" name="slide-7-risk-table"/>
          <p:cNvGraphicFramePr/>
          <p:nvPr/>
        </p:nvGraphicFramePr>
        <p:xfrm>
          <a:off xmlns:a="http://schemas.openxmlformats.org/drawingml/2006/main" x="400050" y="1695450"/>
          <a:ext xmlns:a="http://schemas.openxmlformats.org/drawingml/2006/main" cx="11391900" cy="4476750"/>
        </p:xfrm>
        <a:graphic xmlns:a="http://schemas.openxmlformats.org/drawingml/2006/main">
          <a:graphicData uri="http://schemas.openxmlformats.org/drawingml/2006/table">
            <a:tbl>
              <a:tblPr/>
              <a:tblGrid>
                <a:gridCol w="1809750"/>
                <a:gridCol w="3048000"/>
                <a:gridCol w="3714750"/>
                <a:gridCol w="2819400"/>
              </a:tblGrid>
              <a:tr h="746125">
                <a:tc>
                  <a:txBody>
                    <a:bodyPr/>
                    <a:lstStyle/>
                    <a:p>
                      <a:r>
                        <a:t>Risk / score</a:t>
                      </a:r>
                    </a:p>
                  </a:txBody>
                  <a:tcPr marL="91440" marR="91440" marT="45720" marB="45720"/>
                </a:tc>
                <a:tc>
                  <a:txBody>
                    <a:bodyPr/>
                    <a:lstStyle/>
                    <a:p>
                      <a:r>
                        <a:t>Control</a:t>
                      </a:r>
                    </a:p>
                  </a:txBody>
                  <a:tcPr marL="91440" marR="91440" marT="45720" marB="45720"/>
                </a:tc>
                <a:tc>
                  <a:txBody>
                    <a:bodyPr/>
                    <a:lstStyle/>
                    <a:p>
                      <a:r>
                        <a:t>Critical trigger</a:t>
                      </a:r>
                    </a:p>
                  </a:txBody>
                  <a:tcPr marL="91440" marR="91440" marT="45720" marB="45720"/>
                </a:tc>
                <a:tc>
                  <a:txBody>
                    <a:bodyPr/>
                    <a:lstStyle/>
                    <a:p>
                      <a:r>
                        <a:t>Safe response</a:t>
                      </a:r>
                    </a:p>
                  </a:txBody>
                  <a:tcPr marL="91440" marR="91440" marT="45720" marB="45720"/>
                </a:tc>
              </a:tr>
              <a:tr h="746125">
                <a:tc>
                  <a:txBody>
                    <a:bodyPr/>
                    <a:lstStyle/>
                    <a:p>
                      <a:r>
                        <a:t>Deadline  20</a:t>
                      </a:r>
                    </a:p>
                  </a:txBody>
                  <a:tcPr marL="91440" marR="91440" marT="45720" marB="45720"/>
                </a:tc>
                <a:tc>
                  <a:txBody>
                    <a:bodyPr/>
                    <a:lstStyle/>
                    <a:p>
                      <a:r>
                        <a:t>01:30 stop; 01:45 gate; 02:00 close</a:t>
                      </a:r>
                    </a:p>
                  </a:txBody>
                  <a:tcPr marL="91440" marR="91440" marT="45720" marB="45720"/>
                </a:tc>
                <a:tc>
                  <a:txBody>
                    <a:bodyPr/>
                    <a:lstStyle/>
                    <a:p>
                      <a:r>
                        <a:t>Reserve &lt;30 min or EDI ≥04:00</a:t>
                      </a:r>
                    </a:p>
                  </a:txBody>
                  <a:tcPr marL="91440" marR="91440" marT="45720" marB="45720"/>
                </a:tc>
                <a:tc>
                  <a:txBody>
                    <a:bodyPr/>
                    <a:lstStyle/>
                    <a:p>
                      <a:r>
                        <a:t>Bypass AI</a:t>
                      </a:r>
                    </a:p>
                  </a:txBody>
                  <a:tcPr marL="91440" marR="91440" marT="45720" marB="45720"/>
                </a:tc>
              </a:tr>
              <a:tr h="746125">
                <a:tc>
                  <a:txBody>
                    <a:bodyPr/>
                    <a:lstStyle/>
                    <a:p>
                      <a:r>
                        <a:t>Inventory  20</a:t>
                      </a:r>
                    </a:p>
                  </a:txBody>
                  <a:tcPr marL="91440" marR="91440" marT="45720" marB="45720"/>
                </a:tc>
                <a:tc>
                  <a:txBody>
                    <a:bodyPr/>
                    <a:lstStyle/>
                    <a:p>
                      <a:r>
                        <a:t>Calibrated interval + absolute caps</a:t>
                      </a:r>
                    </a:p>
                  </a:txBody>
                  <a:tcPr marL="91440" marR="91440" marT="45720" marB="45720"/>
                </a:tc>
                <a:tc>
                  <a:txBody>
                    <a:bodyPr/>
                    <a:lstStyle/>
                    <a:p>
                      <a:r>
                        <a:t>Coverage &lt;85% or missing interval</a:t>
                      </a:r>
                    </a:p>
                  </a:txBody>
                  <a:tcPr marL="91440" marR="91440" marT="45720" marB="45720"/>
                </a:tc>
                <a:tc>
                  <a:txBody>
                    <a:bodyPr/>
                    <a:lstStyle/>
                    <a:p>
                      <a:r>
                        <a:t>Suppress row/scope</a:t>
                      </a:r>
                    </a:p>
                  </a:txBody>
                  <a:tcPr marL="91440" marR="91440" marT="45720" marB="45720"/>
                </a:tc>
              </a:tr>
              <a:tr h="746125">
                <a:tc>
                  <a:txBody>
                    <a:bodyPr/>
                    <a:lstStyle/>
                    <a:p>
                      <a:r>
                        <a:t>Peak / model  16</a:t>
                      </a:r>
                    </a:p>
                  </a:txBody>
                  <a:tcPr marL="91440" marR="91440" marT="45720" marB="45720"/>
                </a:tc>
                <a:tc>
                  <a:txBody>
                    <a:bodyPr/>
                    <a:lstStyle/>
                    <a:p>
                      <a:r>
                        <a:t>3× 6x tests + slice gates</a:t>
                      </a:r>
                    </a:p>
                  </a:txBody>
                  <a:tcPr marL="91440" marR="91440" marT="45720" marB="45720"/>
                </a:tc>
                <a:tc>
                  <a:txBody>
                    <a:bodyPr/>
                    <a:lstStyle/>
                    <a:p>
                      <a:r>
                        <a:t>WAPE &gt;30% or forecast &lt;22,500/s</a:t>
                      </a:r>
                    </a:p>
                  </a:txBody>
                  <a:tcPr marL="91440" marR="91440" marT="45720" marB="45720"/>
                </a:tc>
                <a:tc>
                  <a:txBody>
                    <a:bodyPr/>
                    <a:lstStyle/>
                    <a:p>
                      <a:r>
                        <a:t>Disable slice</a:t>
                      </a:r>
                    </a:p>
                  </a:txBody>
                  <a:tcPr marL="91440" marR="91440" marT="45720" marB="45720"/>
                </a:tc>
              </a:tr>
              <a:tr h="746125">
                <a:tc>
                  <a:txBody>
                    <a:bodyPr/>
                    <a:lstStyle/>
                    <a:p>
                      <a:r>
                        <a:t>Legacy adapter  15</a:t>
                      </a:r>
                    </a:p>
                  </a:txBody>
                  <a:tcPr marL="91440" marR="91440" marT="45720" marB="45720"/>
                </a:tc>
                <a:tc>
                  <a:txBody>
                    <a:bodyPr/>
                    <a:lstStyle/>
                    <a:p>
                      <a:r>
                        <a:t>Epoch + permit + exact ledger</a:t>
                      </a:r>
                    </a:p>
                  </a:txBody>
                  <a:tcPr marL="91440" marR="91440" marT="45720" marB="45720"/>
                </a:tc>
                <a:tc>
                  <a:txBody>
                    <a:bodyPr/>
                    <a:lstStyle/>
                    <a:p>
                      <a:r>
                        <a:t>Stale commit, manual-row change, MERLIN wait &gt;0</a:t>
                      </a:r>
                    </a:p>
                  </a:txBody>
                  <a:tcPr marL="91440" marR="91440" marT="45720" marB="45720"/>
                </a:tc>
                <a:tc>
                  <a:txBody>
                    <a:bodyPr/>
                    <a:lstStyle/>
                    <a:p>
                      <a:r>
                        <a:t>Kill / shadow</a:t>
                      </a:r>
                    </a:p>
                  </a:txBody>
                  <a:tcPr marL="91440" marR="91440" marT="45720" marB="45720"/>
                </a:tc>
              </a:tr>
              <a:tr h="746125">
                <a:tc>
                  <a:txBody>
                    <a:bodyPr/>
                    <a:lstStyle/>
                    <a:p>
                      <a:r>
                        <a:t>Safety / legal  15</a:t>
                      </a:r>
                    </a:p>
                  </a:txBody>
                  <a:tcPr marL="91440" marR="91440" marT="45720" marB="45720"/>
                </a:tc>
                <a:tc>
                  <a:txBody>
                    <a:bodyPr/>
                    <a:lstStyle/>
                    <a:p>
                      <a:r>
                        <a:t>Exact approved field + fixed template</a:t>
                      </a:r>
                    </a:p>
                  </a:txBody>
                  <a:tcPr marL="91440" marR="91440" marT="45720" marB="45720"/>
                </a:tc>
                <a:tc>
                  <a:txBody>
                    <a:bodyPr/>
                    <a:lstStyle/>
                    <a:p>
                      <a:r>
                        <a:t>Unsupported output or universal refusal</a:t>
                      </a:r>
                    </a:p>
                  </a:txBody>
                  <a:tcPr marL="91440" marR="91440" marT="45720" marB="45720"/>
                </a:tc>
                <a:tc>
                  <a:txBody>
                    <a:bodyPr/>
                    <a:lstStyle/>
                    <a:p>
                      <a:r>
                        <a:t>Refuse / disable / escalate</a:t>
                      </a:r>
                    </a:p>
                  </a:txBody>
                  <a:tcPr marL="91440" marR="91440" marT="45720" marB="45720"/>
                </a:tc>
              </a:tr>
            </a:tbl>
          </a:graphicData>
        </a:graphic>
      </p:graphicFrame>
      <p:sp>
        <p:nvSpPr>
          <p:cNvPr id="4" name="owner-footer-7">
            <a:extLst xmlns:a="http://schemas.openxmlformats.org/drawingml/2006/main">
              <a:ext uri="{FF2B5EF4-FFF2-40B4-BE49-F238E27FC236}">
                <a16:creationId xmlns:a16="http://schemas.microsoft.com/office/drawing/2014/main" id="{0712DB08-7756-451F-8B60-CFC3DC757AF5}"/>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TRẦM QUỐC THUẬN (112287)</a:t>
            </a:r>
          </a:p>
        </p:txBody>
      </p:sp>
      <p:sp>
        <p:nvSpPr>
          <p:cNvPr id="5" name="artifact-footer-7">
            <a:extLst xmlns:a="http://schemas.openxmlformats.org/drawingml/2006/main">
              <a:ext uri="{FF2B5EF4-FFF2-40B4-BE49-F238E27FC236}">
                <a16:creationId xmlns:a16="http://schemas.microsoft.com/office/drawing/2014/main" id="{E297B4AD-FCA9-46A7-95A0-4EB5D8D326E3}"/>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Top five architecture risks</a:t>
            </a:r>
          </a:p>
        </p:txBody>
      </p:sp>
      <p:sp>
        <p:nvSpPr>
          <p:cNvPr id="6" name="page-number-7">
            <a:extLst xmlns:a="http://schemas.openxmlformats.org/drawingml/2006/main">
              <a:ext uri="{FF2B5EF4-FFF2-40B4-BE49-F238E27FC236}">
                <a16:creationId xmlns:a16="http://schemas.microsoft.com/office/drawing/2014/main" id="{2869E845-D86B-4090-80DB-56A8861799CF}"/>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7</a:t>
            </a:r>
          </a:p>
        </p:txBody>
      </p:sp>
    </p:spTree>
    <p:extLst>
      <p:ext uri="{BB962C8B-B14F-4D97-AF65-F5344CB8AC3E}">
        <p14:creationId xmlns:p14="http://schemas.microsoft.com/office/powerpoint/2010/main" val="8236073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8-title">
            <a:extLst xmlns:a="http://schemas.openxmlformats.org/drawingml/2006/main">
              <a:ext uri="{FF2B5EF4-FFF2-40B4-BE49-F238E27FC236}">
                <a16:creationId xmlns:a16="http://schemas.microsoft.com/office/drawing/2014/main" id="{522EC446-C98D-4F8B-A3B1-9A568D92FAA9}"/>
              </a:ext>
            </a:extLst>
          </p:cNvPr>
          <p:cNvSpPr>
            <a:spLocks xmlns:a="http://schemas.openxmlformats.org/drawingml/2006/main" noGrp="1"/>
          </p:cNvSpPr>
          <p:nvPr/>
        </p:nvSpPr>
        <p:spPr>
          <a:xfrm xmlns:a="http://schemas.openxmlformats.org/drawingml/2006/main">
            <a:off x="400050" y="323850"/>
            <a:ext cx="113919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 Earn influence; disable it in minutes</a:t>
            </a:r>
          </a:p>
        </p:txBody>
      </p:sp>
      <p:sp>
        <p:nvSpPr>
          <p:cNvPr id="2" name="slide-8-card-1">
            <a:extLst xmlns:a="http://schemas.openxmlformats.org/drawingml/2006/main">
              <a:ext uri="{FF2B5EF4-FFF2-40B4-BE49-F238E27FC236}">
                <a16:creationId xmlns:a16="http://schemas.microsoft.com/office/drawing/2014/main" id="{8715C2FE-C347-4496-B742-85961180F3DB}"/>
              </a:ext>
            </a:extLst>
          </p:cNvPr>
          <p:cNvSpPr>
            <a:spLocks xmlns:a="http://schemas.openxmlformats.org/drawingml/2006/main" noGrp="1"/>
          </p:cNvSpPr>
          <p:nvPr/>
        </p:nvSpPr>
        <p:spPr>
          <a:xfrm xmlns:a="http://schemas.openxmlformats.org/drawingml/2006/main">
            <a:off x="400050" y="1352550"/>
            <a:ext cx="3562350" cy="2914650"/>
          </a:xfrm>
          <a:prstGeom xmlns:a="http://schemas.openxmlformats.org/drawingml/2006/main" prst="roundRect">
            <a:avLst>
              <a:gd name="adj" fmla="val 2614"/>
            </a:avLst>
          </a:prstGeom>
          <a:solidFill xmlns:a="http://schemas.openxmlformats.org/drawingml/2006/main">
            <a:srgbClr val="EDEDED"/>
          </a:solidFill>
          <a:ln xmlns:a="http://schemas.openxmlformats.org/drawingml/2006/main" w="0">
            <a:solidFill>
              <a:srgbClr val="EDEDED"/>
            </a:solidFill>
            <a:prstDash val="solid"/>
          </a:ln>
        </p:spPr>
      </p:sp>
      <p:sp>
        <p:nvSpPr>
          <p:cNvPr id="3" name="slide-8-card-title-1">
            <a:extLst xmlns:a="http://schemas.openxmlformats.org/drawingml/2006/main">
              <a:ext uri="{FF2B5EF4-FFF2-40B4-BE49-F238E27FC236}">
                <a16:creationId xmlns:a16="http://schemas.microsoft.com/office/drawing/2014/main" id="{9E675BC5-8B23-4BAD-AB76-005E79AD6200}"/>
              </a:ext>
            </a:extLst>
          </p:cNvPr>
          <p:cNvSpPr>
            <a:spLocks xmlns:a="http://schemas.openxmlformats.org/drawingml/2006/main" noGrp="1"/>
          </p:cNvSpPr>
          <p:nvPr/>
        </p:nvSpPr>
        <p:spPr>
          <a:xfrm xmlns:a="http://schemas.openxmlformats.org/drawingml/2006/main">
            <a:off x="704850" y="1752600"/>
            <a:ext cx="29527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Discovery + replay</a:t>
            </a:r>
          </a:p>
        </p:txBody>
      </p:sp>
      <p:sp>
        <p:nvSpPr>
          <p:cNvPr id="4" name="slide-8-card-body-1">
            <a:extLst xmlns:a="http://schemas.openxmlformats.org/drawingml/2006/main">
              <a:ext uri="{FF2B5EF4-FFF2-40B4-BE49-F238E27FC236}">
                <a16:creationId xmlns:a16="http://schemas.microsoft.com/office/drawing/2014/main" id="{697E6FBA-1100-4D71-99BF-5F2AB6519D5E}"/>
              </a:ext>
            </a:extLst>
          </p:cNvPr>
          <p:cNvSpPr>
            <a:spLocks xmlns:a="http://schemas.openxmlformats.org/drawingml/2006/main" noGrp="1"/>
          </p:cNvSpPr>
          <p:nvPr/>
        </p:nvSpPr>
        <p:spPr>
          <a:xfrm xmlns:a="http://schemas.openxmlformats.org/drawingml/2006/main">
            <a:off x="704850" y="2457450"/>
            <a:ext cx="295275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Certify contracts and timing
Prove quality, 6x capacity, cost, and failure drills</a:t>
            </a:r>
          </a:p>
        </p:txBody>
      </p:sp>
      <p:sp>
        <p:nvSpPr>
          <p:cNvPr id="5" name="slide-8-card-2">
            <a:extLst xmlns:a="http://schemas.openxmlformats.org/drawingml/2006/main">
              <a:ext uri="{FF2B5EF4-FFF2-40B4-BE49-F238E27FC236}">
                <a16:creationId xmlns:a16="http://schemas.microsoft.com/office/drawing/2014/main" id="{0FC0CD2A-E45E-4EC4-9238-D9F9E3FF3B03}"/>
              </a:ext>
            </a:extLst>
          </p:cNvPr>
          <p:cNvSpPr>
            <a:spLocks xmlns:a="http://schemas.openxmlformats.org/drawingml/2006/main" noGrp="1"/>
          </p:cNvSpPr>
          <p:nvPr/>
        </p:nvSpPr>
        <p:spPr>
          <a:xfrm xmlns:a="http://schemas.openxmlformats.org/drawingml/2006/main">
            <a:off x="4314825" y="1352550"/>
            <a:ext cx="3562350" cy="2914650"/>
          </a:xfrm>
          <a:prstGeom xmlns:a="http://schemas.openxmlformats.org/drawingml/2006/main" prst="roundRect">
            <a:avLst>
              <a:gd name="adj" fmla="val 2614"/>
            </a:avLst>
          </a:prstGeom>
          <a:solidFill xmlns:a="http://schemas.openxmlformats.org/drawingml/2006/main">
            <a:srgbClr val="EDEDED"/>
          </a:solidFill>
          <a:ln xmlns:a="http://schemas.openxmlformats.org/drawingml/2006/main" w="0">
            <a:solidFill>
              <a:srgbClr val="EDEDED"/>
            </a:solidFill>
            <a:prstDash val="solid"/>
          </a:ln>
        </p:spPr>
      </p:sp>
      <p:sp>
        <p:nvSpPr>
          <p:cNvPr id="6" name="slide-8-card-title-2">
            <a:extLst xmlns:a="http://schemas.openxmlformats.org/drawingml/2006/main">
              <a:ext uri="{FF2B5EF4-FFF2-40B4-BE49-F238E27FC236}">
                <a16:creationId xmlns:a16="http://schemas.microsoft.com/office/drawing/2014/main" id="{4762C138-F891-4B14-B08E-BBEB4BA51E4E}"/>
              </a:ext>
            </a:extLst>
          </p:cNvPr>
          <p:cNvSpPr>
            <a:spLocks xmlns:a="http://schemas.openxmlformats.org/drawingml/2006/main" noGrp="1"/>
          </p:cNvSpPr>
          <p:nvPr/>
        </p:nvSpPr>
        <p:spPr>
          <a:xfrm xmlns:a="http://schemas.openxmlformats.org/drawingml/2006/main">
            <a:off x="4619625" y="1752600"/>
            <a:ext cx="29527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Shadow ≥4 weeks</a:t>
            </a:r>
          </a:p>
        </p:txBody>
      </p:sp>
      <p:sp>
        <p:nvSpPr>
          <p:cNvPr id="7" name="slide-8-card-body-2">
            <a:extLst xmlns:a="http://schemas.openxmlformats.org/drawingml/2006/main">
              <a:ext uri="{FF2B5EF4-FFF2-40B4-BE49-F238E27FC236}">
                <a16:creationId xmlns:a16="http://schemas.microsoft.com/office/drawing/2014/main" id="{C55A508F-D2B7-4279-BE0D-0AE44987A249}"/>
              </a:ext>
            </a:extLst>
          </p:cNvPr>
          <p:cNvSpPr>
            <a:spLocks xmlns:a="http://schemas.openxmlformats.org/drawingml/2006/main" noGrp="1"/>
          </p:cNvSpPr>
          <p:nvPr/>
        </p:nvSpPr>
        <p:spPr>
          <a:xfrm xmlns:a="http://schemas.openxmlformats.org/drawingml/2006/main">
            <a:off x="4619625" y="2457450"/>
            <a:ext cx="295275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Zero MERLIN writes
Representative promotions
Promotion evidence required</a:t>
            </a:r>
          </a:p>
        </p:txBody>
      </p:sp>
      <p:sp>
        <p:nvSpPr>
          <p:cNvPr id="8" name="slide-8-card-3">
            <a:extLst xmlns:a="http://schemas.openxmlformats.org/drawingml/2006/main">
              <a:ext uri="{FF2B5EF4-FFF2-40B4-BE49-F238E27FC236}">
                <a16:creationId xmlns:a16="http://schemas.microsoft.com/office/drawing/2014/main" id="{16D21EED-3A19-4F89-8336-0EBCC9DC8270}"/>
              </a:ext>
            </a:extLst>
          </p:cNvPr>
          <p:cNvSpPr>
            <a:spLocks xmlns:a="http://schemas.openxmlformats.org/drawingml/2006/main" noGrp="1"/>
          </p:cNvSpPr>
          <p:nvPr/>
        </p:nvSpPr>
        <p:spPr>
          <a:xfrm xmlns:a="http://schemas.openxmlformats.org/drawingml/2006/main">
            <a:off x="8229600" y="1352550"/>
            <a:ext cx="3562350" cy="2914650"/>
          </a:xfrm>
          <a:prstGeom xmlns:a="http://schemas.openxmlformats.org/drawingml/2006/main" prst="roundRect">
            <a:avLst>
              <a:gd name="adj" fmla="val 2614"/>
            </a:avLst>
          </a:prstGeom>
          <a:solidFill xmlns:a="http://schemas.openxmlformats.org/drawingml/2006/main">
            <a:srgbClr val="EDEDED"/>
          </a:solidFill>
          <a:ln xmlns:a="http://schemas.openxmlformats.org/drawingml/2006/main" w="0">
            <a:solidFill>
              <a:srgbClr val="EDEDED"/>
            </a:solidFill>
            <a:prstDash val="solid"/>
          </a:ln>
        </p:spPr>
      </p:sp>
      <p:sp>
        <p:nvSpPr>
          <p:cNvPr id="9" name="slide-8-card-title-3">
            <a:extLst xmlns:a="http://schemas.openxmlformats.org/drawingml/2006/main">
              <a:ext uri="{FF2B5EF4-FFF2-40B4-BE49-F238E27FC236}">
                <a16:creationId xmlns:a16="http://schemas.microsoft.com/office/drawing/2014/main" id="{B318A408-9BF0-4CD1-866B-F85907E3DC35}"/>
              </a:ext>
            </a:extLst>
          </p:cNvPr>
          <p:cNvSpPr>
            <a:spLocks xmlns:a="http://schemas.openxmlformats.org/drawingml/2006/main" noGrp="1"/>
          </p:cNvSpPr>
          <p:nvPr/>
        </p:nvSpPr>
        <p:spPr>
          <a:xfrm xmlns:a="http://schemas.openxmlformats.org/drawingml/2006/main">
            <a:off x="8534400" y="1752600"/>
            <a:ext cx="29527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Pilot → scale</a:t>
            </a:r>
          </a:p>
        </p:txBody>
      </p:sp>
      <p:sp>
        <p:nvSpPr>
          <p:cNvPr id="10" name="slide-8-card-body-3">
            <a:extLst xmlns:a="http://schemas.openxmlformats.org/drawingml/2006/main">
              <a:ext uri="{FF2B5EF4-FFF2-40B4-BE49-F238E27FC236}">
                <a16:creationId xmlns:a16="http://schemas.microsoft.com/office/drawing/2014/main" id="{3F969E26-E683-4D34-8BD1-45BC1F609C9C}"/>
              </a:ext>
            </a:extLst>
          </p:cNvPr>
          <p:cNvSpPr>
            <a:spLocks xmlns:a="http://schemas.openxmlformats.org/drawingml/2006/main" noGrp="1"/>
          </p:cNvSpPr>
          <p:nvPr/>
        </p:nvSpPr>
        <p:spPr>
          <a:xfrm xmlns:a="http://schemas.openxmlformats.org/drawingml/2006/main">
            <a:off x="8534400" y="2457450"/>
            <a:ext cx="295275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000000"/>
                </a:solidFill>
                <a:latin typeface="Helvetica Neue"/>
                <a:ea typeface="Helvetica Neue"/>
                <a:cs typeface="Helvetica Neue"/>
              </a:defRPr>
            </a:pPr>
            <a:r>
              <a:t>20 stores; 2 low-risk categories
≤min(5,000, measured cap) rows
≤100 reviews / night</a:t>
            </a:r>
          </a:p>
        </p:txBody>
      </p:sp>
      <p:sp>
        <p:nvSpPr>
          <p:cNvPr id="11" name="slide-8-control-strip">
            <a:extLst xmlns:a="http://schemas.openxmlformats.org/drawingml/2006/main">
              <a:ext uri="{FF2B5EF4-FFF2-40B4-BE49-F238E27FC236}">
                <a16:creationId xmlns:a16="http://schemas.microsoft.com/office/drawing/2014/main" id="{DB9DA5BB-547F-41F6-857E-F64B0AC1FFD6}"/>
              </a:ext>
            </a:extLst>
          </p:cNvPr>
          <p:cNvSpPr>
            <a:spLocks xmlns:a="http://schemas.openxmlformats.org/drawingml/2006/main" noGrp="1"/>
          </p:cNvSpPr>
          <p:nvPr/>
        </p:nvSpPr>
        <p:spPr>
          <a:xfrm xmlns:a="http://schemas.openxmlformats.org/drawingml/2006/main">
            <a:off x="400050" y="4476750"/>
            <a:ext cx="11391900" cy="590550"/>
          </a:xfrm>
          <a:prstGeom xmlns:a="http://schemas.openxmlformats.org/drawingml/2006/main" prst="roundRect">
            <a:avLst>
              <a:gd name="adj" fmla="val 11290"/>
            </a:avLst>
          </a:prstGeom>
          <a:solidFill xmlns:a="http://schemas.openxmlformats.org/drawingml/2006/main">
            <a:srgbClr val="EAF5FB"/>
          </a:solidFill>
          <a:ln xmlns:a="http://schemas.openxmlformats.org/drawingml/2006/main" w="11430">
            <a:solidFill>
              <a:srgbClr val="3D8DFF"/>
            </a:solidFill>
            <a:prstDash val="solid"/>
          </a:ln>
        </p:spPr>
      </p:sp>
      <p:sp>
        <p:nvSpPr>
          <p:cNvPr id="12" name="slide-8-control-strip-label">
            <a:extLst xmlns:a="http://schemas.openxmlformats.org/drawingml/2006/main">
              <a:ext uri="{FF2B5EF4-FFF2-40B4-BE49-F238E27FC236}">
                <a16:creationId xmlns:a16="http://schemas.microsoft.com/office/drawing/2014/main" id="{72841AB8-379A-4CA2-A86D-FD31B0458D3E}"/>
              </a:ext>
            </a:extLst>
          </p:cNvPr>
          <p:cNvSpPr>
            <a:spLocks xmlns:a="http://schemas.openxmlformats.org/drawingml/2006/main" noGrp="1"/>
          </p:cNvSpPr>
          <p:nvPr/>
        </p:nvSpPr>
        <p:spPr>
          <a:xfrm xmlns:a="http://schemas.openxmlformats.org/drawingml/2006/main">
            <a:off x="590550" y="4629150"/>
            <a:ext cx="110109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3D8DFF"/>
                </a:solidFill>
                <a:latin typeface="Helvetica Neue"/>
                <a:ea typeface="Helvetica Neue"/>
                <a:cs typeface="Helvetica Neue"/>
              </a:defRPr>
            </a:pPr>
            <a:r>
              <a:t>deny-default epoch  →  short permit  →  independent SAP revoke  →  exact-row cleanup</a:t>
            </a:r>
          </a:p>
        </p:txBody>
      </p:sp>
      <p:sp>
        <p:nvSpPr>
          <p:cNvPr id="13" name="slide-8-timeline">
            <a:extLst xmlns:a="http://schemas.openxmlformats.org/drawingml/2006/main">
              <a:ext uri="{FF2B5EF4-FFF2-40B4-BE49-F238E27FC236}">
                <a16:creationId xmlns:a16="http://schemas.microsoft.com/office/drawing/2014/main" id="{6CBC893E-1139-4A72-A96D-03C42B732BAC}"/>
              </a:ext>
            </a:extLst>
          </p:cNvPr>
          <p:cNvSpPr>
            <a:spLocks xmlns:a="http://schemas.openxmlformats.org/drawingml/2006/main" noGrp="1"/>
          </p:cNvSpPr>
          <p:nvPr/>
        </p:nvSpPr>
        <p:spPr>
          <a:xfrm xmlns:a="http://schemas.openxmlformats.org/drawingml/2006/main">
            <a:off x="400050" y="5219700"/>
            <a:ext cx="1139190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4" name="slide-8-dot-1">
            <a:extLst xmlns:a="http://schemas.openxmlformats.org/drawingml/2006/main">
              <a:ext uri="{FF2B5EF4-FFF2-40B4-BE49-F238E27FC236}">
                <a16:creationId xmlns:a16="http://schemas.microsoft.com/office/drawing/2014/main" id="{82F4FC0A-F678-40F3-B0B0-2D03A6F11416}"/>
              </a:ext>
            </a:extLst>
          </p:cNvPr>
          <p:cNvSpPr>
            <a:spLocks xmlns:a="http://schemas.openxmlformats.org/drawingml/2006/main" noGrp="1"/>
          </p:cNvSpPr>
          <p:nvPr/>
        </p:nvSpPr>
        <p:spPr>
          <a:xfrm xmlns:a="http://schemas.openxmlformats.org/drawingml/2006/main">
            <a:off x="400050" y="5143500"/>
            <a:ext cx="171450" cy="1714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5" name="slide-8-timeline-label-1">
            <a:extLst xmlns:a="http://schemas.openxmlformats.org/drawingml/2006/main">
              <a:ext uri="{FF2B5EF4-FFF2-40B4-BE49-F238E27FC236}">
                <a16:creationId xmlns:a16="http://schemas.microsoft.com/office/drawing/2014/main" id="{7C7CE522-C777-46D6-BF35-C696490D3D0B}"/>
              </a:ext>
            </a:extLst>
          </p:cNvPr>
          <p:cNvSpPr>
            <a:spLocks xmlns:a="http://schemas.openxmlformats.org/drawingml/2006/main" noGrp="1"/>
          </p:cNvSpPr>
          <p:nvPr/>
        </p:nvSpPr>
        <p:spPr>
          <a:xfrm xmlns:a="http://schemas.openxmlformats.org/drawingml/2006/main">
            <a:off x="400050" y="5410200"/>
            <a:ext cx="23812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Certify</a:t>
            </a:r>
          </a:p>
        </p:txBody>
      </p:sp>
      <p:sp>
        <p:nvSpPr>
          <p:cNvPr id="16" name="slide-8-dot-2">
            <a:extLst xmlns:a="http://schemas.openxmlformats.org/drawingml/2006/main">
              <a:ext uri="{FF2B5EF4-FFF2-40B4-BE49-F238E27FC236}">
                <a16:creationId xmlns:a16="http://schemas.microsoft.com/office/drawing/2014/main" id="{26F156FD-0388-4CE9-BBF2-FD84CA686A9E}"/>
              </a:ext>
            </a:extLst>
          </p:cNvPr>
          <p:cNvSpPr>
            <a:spLocks xmlns:a="http://schemas.openxmlformats.org/drawingml/2006/main" noGrp="1"/>
          </p:cNvSpPr>
          <p:nvPr/>
        </p:nvSpPr>
        <p:spPr>
          <a:xfrm xmlns:a="http://schemas.openxmlformats.org/drawingml/2006/main">
            <a:off x="4314825" y="5143500"/>
            <a:ext cx="171450" cy="1714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7" name="slide-8-timeline-label-2">
            <a:extLst xmlns:a="http://schemas.openxmlformats.org/drawingml/2006/main">
              <a:ext uri="{FF2B5EF4-FFF2-40B4-BE49-F238E27FC236}">
                <a16:creationId xmlns:a16="http://schemas.microsoft.com/office/drawing/2014/main" id="{8250A85B-A3C0-4771-B914-71DD14F25722}"/>
              </a:ext>
            </a:extLst>
          </p:cNvPr>
          <p:cNvSpPr>
            <a:spLocks xmlns:a="http://schemas.openxmlformats.org/drawingml/2006/main" noGrp="1"/>
          </p:cNvSpPr>
          <p:nvPr/>
        </p:nvSpPr>
        <p:spPr>
          <a:xfrm xmlns:a="http://schemas.openxmlformats.org/drawingml/2006/main">
            <a:off x="4314825" y="5410200"/>
            <a:ext cx="23812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Prove</a:t>
            </a:r>
          </a:p>
        </p:txBody>
      </p:sp>
      <p:sp>
        <p:nvSpPr>
          <p:cNvPr id="18" name="slide-8-dot-3">
            <a:extLst xmlns:a="http://schemas.openxmlformats.org/drawingml/2006/main">
              <a:ext uri="{FF2B5EF4-FFF2-40B4-BE49-F238E27FC236}">
                <a16:creationId xmlns:a16="http://schemas.microsoft.com/office/drawing/2014/main" id="{D6E01007-902A-4F69-A222-81E2E70575BF}"/>
              </a:ext>
            </a:extLst>
          </p:cNvPr>
          <p:cNvSpPr>
            <a:spLocks xmlns:a="http://schemas.openxmlformats.org/drawingml/2006/main" noGrp="1"/>
          </p:cNvSpPr>
          <p:nvPr/>
        </p:nvSpPr>
        <p:spPr>
          <a:xfrm xmlns:a="http://schemas.openxmlformats.org/drawingml/2006/main">
            <a:off x="8229600" y="5143500"/>
            <a:ext cx="171450" cy="17145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solidFill>
              <a:srgbClr val="000000"/>
            </a:solidFill>
            <a:prstDash val="solid"/>
          </a:ln>
        </p:spPr>
      </p:sp>
      <p:sp>
        <p:nvSpPr>
          <p:cNvPr id="19" name="slide-8-timeline-label-3">
            <a:extLst xmlns:a="http://schemas.openxmlformats.org/drawingml/2006/main">
              <a:ext uri="{FF2B5EF4-FFF2-40B4-BE49-F238E27FC236}">
                <a16:creationId xmlns:a16="http://schemas.microsoft.com/office/drawing/2014/main" id="{E2A2E029-0E2E-4B0E-93A5-00B80DDF4FD1}"/>
              </a:ext>
            </a:extLst>
          </p:cNvPr>
          <p:cNvSpPr>
            <a:spLocks xmlns:a="http://schemas.openxmlformats.org/drawingml/2006/main" noGrp="1"/>
          </p:cNvSpPr>
          <p:nvPr/>
        </p:nvSpPr>
        <p:spPr>
          <a:xfrm xmlns:a="http://schemas.openxmlformats.org/drawingml/2006/main">
            <a:off x="8229600" y="5410200"/>
            <a:ext cx="23812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t>Bound + scale</a:t>
            </a:r>
          </a:p>
        </p:txBody>
      </p:sp>
      <p:sp>
        <p:nvSpPr>
          <p:cNvPr id="20" name="slide-8-final-defense">
            <a:extLst xmlns:a="http://schemas.openxmlformats.org/drawingml/2006/main">
              <a:ext uri="{FF2B5EF4-FFF2-40B4-BE49-F238E27FC236}">
                <a16:creationId xmlns:a16="http://schemas.microsoft.com/office/drawing/2014/main" id="{BCFF0246-32EC-4051-8956-CF08DC60803D}"/>
              </a:ext>
            </a:extLst>
          </p:cNvPr>
          <p:cNvSpPr>
            <a:spLocks xmlns:a="http://schemas.openxmlformats.org/drawingml/2006/main" noGrp="1"/>
          </p:cNvSpPr>
          <p:nvPr/>
        </p:nvSpPr>
        <p:spPr>
          <a:xfrm xmlns:a="http://schemas.openxmlformats.org/drawingml/2006/main">
            <a:off x="400050" y="5791200"/>
            <a:ext cx="113919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t>Kill proof: acknowledge ≤30 s  •  reject new writes ≤60 s  •  verified safe ≤5 min  —  Remove the sidecar and MERLIN still orders.</a:t>
            </a:r>
          </a:p>
        </p:txBody>
      </p:sp>
      <p:sp>
        <p:nvSpPr>
          <p:cNvPr id="21" name="owner-footer-8">
            <a:extLst xmlns:a="http://schemas.openxmlformats.org/drawingml/2006/main">
              <a:ext uri="{FF2B5EF4-FFF2-40B4-BE49-F238E27FC236}">
                <a16:creationId xmlns:a16="http://schemas.microsoft.com/office/drawing/2014/main" id="{68573208-3B09-4C41-930F-902A14E994D4}"/>
              </a:ext>
            </a:extLst>
          </p:cNvPr>
          <p:cNvSpPr>
            <a:spLocks xmlns:a="http://schemas.openxmlformats.org/drawingml/2006/main" noGrp="1"/>
          </p:cNvSpPr>
          <p:nvPr/>
        </p:nvSpPr>
        <p:spPr>
          <a:xfrm xmlns:a="http://schemas.openxmlformats.org/drawingml/2006/main">
            <a:off x="400050" y="6191250"/>
            <a:ext cx="8096250" cy="2095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200">
                <a:solidFill>
                  <a:srgbClr val="586174"/>
                </a:solidFill>
                <a:latin typeface="Helvetica Neue"/>
                <a:ea typeface="Helvetica Neue"/>
                <a:cs typeface="Helvetica Neue"/>
              </a:defRPr>
            </a:pPr>
            <a:r>
              <a:t>Owner: TRẦN TRỌNG PHÚ (197320)</a:t>
            </a:r>
          </a:p>
        </p:txBody>
      </p:sp>
      <p:sp>
        <p:nvSpPr>
          <p:cNvPr id="22" name="artifact-footer-8">
            <a:extLst xmlns:a="http://schemas.openxmlformats.org/drawingml/2006/main">
              <a:ext uri="{FF2B5EF4-FFF2-40B4-BE49-F238E27FC236}">
                <a16:creationId xmlns:a16="http://schemas.microsoft.com/office/drawing/2014/main" id="{206D3625-0384-4A95-AC36-FAFF633AD289}"/>
              </a:ext>
            </a:extLst>
          </p:cNvPr>
          <p:cNvSpPr>
            <a:spLocks xmlns:a="http://schemas.openxmlformats.org/drawingml/2006/main" noGrp="1"/>
          </p:cNvSpPr>
          <p:nvPr/>
        </p:nvSpPr>
        <p:spPr>
          <a:xfrm xmlns:a="http://schemas.openxmlformats.org/drawingml/2006/main">
            <a:off x="3676650" y="6419850"/>
            <a:ext cx="49530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1350">
                <a:solidFill>
                  <a:srgbClr val="586174"/>
                </a:solidFill>
                <a:latin typeface="Helvetica Neue"/>
                <a:ea typeface="Helvetica Neue"/>
                <a:cs typeface="Helvetica Neue"/>
              </a:defRPr>
            </a:pPr>
            <a:r>
              <a:t>Variant B rollout + kill switch</a:t>
            </a:r>
          </a:p>
        </p:txBody>
      </p:sp>
      <p:sp>
        <p:nvSpPr>
          <p:cNvPr id="23" name="page-number-8">
            <a:extLst xmlns:a="http://schemas.openxmlformats.org/drawingml/2006/main">
              <a:ext uri="{FF2B5EF4-FFF2-40B4-BE49-F238E27FC236}">
                <a16:creationId xmlns:a16="http://schemas.microsoft.com/office/drawing/2014/main" id="{A32F54F9-5B01-4348-AFCA-1605EFF11543}"/>
              </a:ext>
            </a:extLst>
          </p:cNvPr>
          <p:cNvSpPr>
            <a:spLocks xmlns:a="http://schemas.openxmlformats.org/drawingml/2006/main" noGrp="1"/>
          </p:cNvSpPr>
          <p:nvPr/>
        </p:nvSpPr>
        <p:spPr>
          <a:xfrm xmlns:a="http://schemas.openxmlformats.org/drawingml/2006/main">
            <a:off x="11296650" y="6419850"/>
            <a:ext cx="495300" cy="2286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350">
                <a:solidFill>
                  <a:srgbClr val="000000"/>
                </a:solidFill>
                <a:latin typeface="Helvetica Neue"/>
                <a:ea typeface="Helvetica Neue"/>
                <a:cs typeface="Helvetica Neue"/>
              </a:defRPr>
            </a:pPr>
            <a:r>
              <a:t>8</a:t>
            </a:r>
          </a:p>
        </p:txBody>
      </p:sp>
    </p:spTree>
    <p:extLst>
      <p:ext uri="{BB962C8B-B14F-4D97-AF65-F5344CB8AC3E}">
        <p14:creationId xmlns:p14="http://schemas.microsoft.com/office/powerpoint/2010/main" val="995893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2026-07-17T10:37:56.4110000Z</dcterms:created>
  <dcterms:modified xsi:type="dcterms:W3CDTF">2026-07-17T10:37:56.4110000Z</dcterms:modified>
</coreProperties>
</file>