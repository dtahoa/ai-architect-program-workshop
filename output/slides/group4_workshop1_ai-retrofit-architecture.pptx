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Roboto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0F078A6-7B6B-4984-AA40-1B76915BAB7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F73FDC-026C-4EEF-9463-02FADA9625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D581B6-26C5-4963-9CE3-BBE9C053F3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7A88E1-04A8-42C0-A9BE-4A0DD4B769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7CE712-5AD3-4F7D-AA7E-57B2E2AFC4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B82E7-DE0D-49AF-B296-E22D87B991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1BDA1-0CCA-49A8-8B30-5F7A86AD57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7F844-C7A4-4699-86BA-7383B6EF44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AF841-675B-4696-913C-A1824CC3ED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1C4A4-AAC4-45C0-8B51-3BC6E44825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CEF527-54E2-4AA2-A383-5CDA47D35F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ERLI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3D65CB-ADB3-41FC-921C-D13E7C85760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9DC65BC-457D-43D2-AB50-FCB88F89242B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Roboto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Roboto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Roboto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Roboto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Roboto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731520" y="53028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6160" y="86904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WORKSHOP 1 — END-TO-END AI SYSTEM DESIGN LAB</a:t>
            </a:r>
            <a:endParaRPr b="1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AI RETROFIT </a:t>
            </a:r>
            <a:r>
              <a:rPr b="1" lang="en-US" sz="36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SIDECAR</a:t>
            </a:r>
            <a:r>
              <a:rPr b="1" lang="en-US" sz="36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 ARCHITECTURE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85800" y="182880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fffff"/>
                </a:solidFill>
                <a:latin typeface="Roboto"/>
                <a:ea typeface="Roboto"/>
              </a:rPr>
              <a:t>Protect MERLIN. Add intelligence. Never block orders.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85800" y="2514240"/>
            <a:ext cx="10744200" cy="360"/>
          </a:xfrm>
          <a:prstGeom prst="line">
            <a:avLst/>
          </a:prstGeom>
          <a:ln w="12700">
            <a:solidFill>
              <a:srgbClr val="333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31520" y="3154680"/>
            <a:ext cx="2742840" cy="1645920"/>
          </a:xfrm>
          <a:prstGeom prst="roundRect">
            <a:avLst>
              <a:gd name="adj" fmla="val 10000"/>
            </a:avLst>
          </a:prstGeom>
          <a:solidFill>
            <a:srgbClr val="111522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024200" y="34290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376bff"/>
                </a:solidFill>
                <a:latin typeface="Roboto"/>
                <a:ea typeface="Roboto"/>
              </a:rPr>
              <a:t>PRINCIPLE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024200" y="36392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AI RECOMMENDS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024200" y="4133160"/>
            <a:ext cx="2048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Roboto"/>
                <a:ea typeface="Roboto"/>
              </a:rPr>
              <a:t>MERLIN remains the only system that creates supplier orders and sends EDI.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840480" y="3154680"/>
            <a:ext cx="2742840" cy="1645920"/>
          </a:xfrm>
          <a:prstGeom prst="roundRect">
            <a:avLst>
              <a:gd name="adj" fmla="val 10000"/>
            </a:avLst>
          </a:prstGeom>
          <a:solidFill>
            <a:srgbClr val="111522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133160" y="34290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376bff"/>
                </a:solidFill>
                <a:latin typeface="Roboto"/>
                <a:ea typeface="Roboto"/>
              </a:rPr>
              <a:t>SAFETY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133160" y="36392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FAIL OPEN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133160" y="4133160"/>
            <a:ext cx="2048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Roboto"/>
                <a:ea typeface="Roboto"/>
              </a:rPr>
              <a:t>Any late, incomplete, or unsafe AI run publishes nothing and falls back to MERLIN.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949440" y="3154680"/>
            <a:ext cx="2742840" cy="1645920"/>
          </a:xfrm>
          <a:prstGeom prst="roundRect">
            <a:avLst>
              <a:gd name="adj" fmla="val 10000"/>
            </a:avLst>
          </a:prstGeom>
          <a:solidFill>
            <a:srgbClr val="111522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242120" y="34290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376bff"/>
                </a:solidFill>
                <a:latin typeface="Roboto"/>
                <a:ea typeface="Roboto"/>
              </a:rPr>
              <a:t>PATTERN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242120" y="36392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ASYNC SIDECAR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7242120" y="4133160"/>
            <a:ext cx="2048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Roboto"/>
                <a:ea typeface="Roboto"/>
              </a:rPr>
              <a:t>Isolated AI runtime integrates through supported extension points only.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9052560" y="66744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GROUP 4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5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39DBF1-DAD5-4869-976C-1A2D3A814215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1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Text 127"/>
          <p:cNvSpPr/>
          <p:nvPr/>
        </p:nvSpPr>
        <p:spPr>
          <a:xfrm>
            <a:off x="10180800" y="811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731520" y="45720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31520" y="6217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DETAILED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AGENDA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731520" y="1261800"/>
            <a:ext cx="10744200" cy="360"/>
          </a:xfrm>
          <a:prstGeom prst="line">
            <a:avLst/>
          </a:prstGeom>
          <a:ln w="12700">
            <a:solidFill>
              <a:srgbClr val="3235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2880360" y="228600"/>
            <a:ext cx="35658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8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0" spc="-1" strike="noStrike">
                <a:solidFill>
                  <a:srgbClr val="ffffff">
                    <a:alpha val="8000"/>
                  </a:srgbClr>
                </a:solidFill>
                <a:latin typeface="Noto Sans Display ExtraCondensed"/>
                <a:ea typeface="Noto Sans Display ExtraCondensed"/>
              </a:rPr>
              <a:t>MISSION</a:t>
            </a:r>
            <a:endParaRPr b="0" lang="en-US" sz="1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3063240" y="39776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0" spc="-1" strike="noStrike">
                <a:solidFill>
                  <a:srgbClr val="ffffff">
                    <a:alpha val="6000"/>
                  </a:srgbClr>
                </a:solidFill>
                <a:latin typeface="Noto Sans Display ExtraCondensed"/>
                <a:ea typeface="Noto Sans Display ExtraCondensed"/>
              </a:rPr>
              <a:t>DUTY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731520" y="1572840"/>
            <a:ext cx="5211720" cy="731160"/>
          </a:xfrm>
          <a:prstGeom prst="rect">
            <a:avLst/>
          </a:prstGeom>
          <a:solidFill>
            <a:srgbClr val="13121b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731520" y="157284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951120" y="181980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1527120" y="176472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ONE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1527120" y="192024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Core operating message and design principles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731520" y="2468880"/>
            <a:ext cx="5211720" cy="731160"/>
          </a:xfrm>
          <a:prstGeom prst="rect">
            <a:avLst/>
          </a:prstGeom>
          <a:solidFill>
            <a:srgbClr val="13121b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5"/>
          <p:cNvSpPr/>
          <p:nvPr/>
        </p:nvSpPr>
        <p:spPr>
          <a:xfrm>
            <a:off x="731520" y="246888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951120" y="271584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1527120" y="266076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TWO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1527120" y="28162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Legacy system assessment and supported extension points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731520" y="3364920"/>
            <a:ext cx="5211720" cy="731160"/>
          </a:xfrm>
          <a:prstGeom prst="rect">
            <a:avLst/>
          </a:prstGeom>
          <a:solidFill>
            <a:srgbClr val="13121b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0"/>
          <p:cNvSpPr/>
          <p:nvPr/>
        </p:nvSpPr>
        <p:spPr>
          <a:xfrm>
            <a:off x="731520" y="336492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951120" y="361188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1527120" y="355716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THREE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1527120" y="37123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System architecture: C4 context and sidecar container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4"/>
          <p:cNvSpPr/>
          <p:nvPr/>
        </p:nvSpPr>
        <p:spPr>
          <a:xfrm>
            <a:off x="731520" y="4260960"/>
            <a:ext cx="5211720" cy="731160"/>
          </a:xfrm>
          <a:prstGeom prst="rect">
            <a:avLst/>
          </a:prstGeom>
          <a:solidFill>
            <a:srgbClr val="13121b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5"/>
          <p:cNvSpPr/>
          <p:nvPr/>
        </p:nvSpPr>
        <p:spPr>
          <a:xfrm>
            <a:off x="731520" y="426096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951120" y="450792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1527120" y="445320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FOUR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1527120" y="46087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Batch processing flow and nightly fail-open mechanism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6309360" y="1572840"/>
            <a:ext cx="5211720" cy="731160"/>
          </a:xfrm>
          <a:prstGeom prst="rect">
            <a:avLst/>
          </a:prstGeom>
          <a:solidFill>
            <a:srgbClr val="151926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0"/>
          <p:cNvSpPr/>
          <p:nvPr/>
        </p:nvSpPr>
        <p:spPr>
          <a:xfrm>
            <a:off x="6309360" y="157284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6528960" y="181980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7104960" y="176472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FIVE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7104960" y="192024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NFR indicators and business goals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6309360" y="2468880"/>
            <a:ext cx="5211720" cy="731160"/>
          </a:xfrm>
          <a:prstGeom prst="rect">
            <a:avLst/>
          </a:prstGeom>
          <a:solidFill>
            <a:srgbClr val="151926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35"/>
          <p:cNvSpPr/>
          <p:nvPr/>
        </p:nvSpPr>
        <p:spPr>
          <a:xfrm>
            <a:off x="6309360" y="246888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6528960" y="271584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06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37"/>
          <p:cNvSpPr/>
          <p:nvPr/>
        </p:nvSpPr>
        <p:spPr>
          <a:xfrm>
            <a:off x="7104960" y="266076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SIX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7104960" y="28162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Technology-selection matrix and ADR design decisions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39"/>
          <p:cNvSpPr/>
          <p:nvPr/>
        </p:nvSpPr>
        <p:spPr>
          <a:xfrm>
            <a:off x="6309360" y="3364920"/>
            <a:ext cx="5211720" cy="731160"/>
          </a:xfrm>
          <a:prstGeom prst="rect">
            <a:avLst/>
          </a:prstGeom>
          <a:solidFill>
            <a:srgbClr val="151926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40"/>
          <p:cNvSpPr/>
          <p:nvPr/>
        </p:nvSpPr>
        <p:spPr>
          <a:xfrm>
            <a:off x="6309360" y="3364920"/>
            <a:ext cx="36360" cy="731160"/>
          </a:xfrm>
          <a:prstGeom prst="rect">
            <a:avLst/>
          </a:prstGeom>
          <a:solidFill>
            <a:srgbClr val="55308d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41"/>
          <p:cNvSpPr/>
          <p:nvPr/>
        </p:nvSpPr>
        <p:spPr>
          <a:xfrm>
            <a:off x="6528960" y="361188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07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7104960" y="355716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CHAPTER SEVEN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3"/>
          <p:cNvSpPr/>
          <p:nvPr/>
        </p:nvSpPr>
        <p:spPr>
          <a:xfrm>
            <a:off x="7104960" y="37123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Architecture risk management: </a:t>
            </a:r>
            <a:r>
              <a:rPr b="1" lang="en-US" sz="1180" spc="-1" strike="noStrike">
                <a:solidFill>
                  <a:srgbClr val="ff424d"/>
                </a:solidFill>
                <a:latin typeface="Roboto"/>
                <a:ea typeface="Roboto"/>
              </a:rPr>
              <a:t>top five risks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44"/>
          <p:cNvSpPr/>
          <p:nvPr/>
        </p:nvSpPr>
        <p:spPr>
          <a:xfrm>
            <a:off x="6309360" y="4260960"/>
            <a:ext cx="5211720" cy="731160"/>
          </a:xfrm>
          <a:prstGeom prst="rect">
            <a:avLst/>
          </a:prstGeom>
          <a:solidFill>
            <a:srgbClr val="151926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45"/>
          <p:cNvSpPr/>
          <p:nvPr/>
        </p:nvSpPr>
        <p:spPr>
          <a:xfrm>
            <a:off x="6309360" y="4260960"/>
            <a:ext cx="36360" cy="731160"/>
          </a:xfrm>
          <a:prstGeom prst="rect">
            <a:avLst/>
          </a:prstGeom>
          <a:solidFill>
            <a:srgbClr val="6e3e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46"/>
          <p:cNvSpPr/>
          <p:nvPr/>
        </p:nvSpPr>
        <p:spPr>
          <a:xfrm>
            <a:off x="6528960" y="4507920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08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7"/>
          <p:cNvSpPr/>
          <p:nvPr/>
        </p:nvSpPr>
        <p:spPr>
          <a:xfrm>
            <a:off x="7104960" y="445320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b3b8c8"/>
                </a:solidFill>
                <a:latin typeface="Roboto"/>
                <a:ea typeface="Roboto"/>
              </a:rPr>
              <a:t>FINAL CHAPTER</a:t>
            </a:r>
            <a:endParaRPr b="0" lang="en-US" sz="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48"/>
          <p:cNvSpPr/>
          <p:nvPr/>
        </p:nvSpPr>
        <p:spPr>
          <a:xfrm>
            <a:off x="7104960" y="460872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ffffff"/>
                </a:solidFill>
                <a:latin typeface="Roboto"/>
                <a:ea typeface="Roboto"/>
              </a:rPr>
              <a:t>Five-stage rollout roadmap and conclusion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49"/>
          <p:cNvSpPr/>
          <p:nvPr/>
        </p:nvSpPr>
        <p:spPr>
          <a:xfrm>
            <a:off x="731520" y="6291000"/>
            <a:ext cx="10744200" cy="360"/>
          </a:xfrm>
          <a:prstGeom prst="line">
            <a:avLst/>
          </a:prstGeom>
          <a:ln w="12700">
            <a:solidFill>
              <a:srgbClr val="2024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Num" idx="6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D9FC58-636F-4534-8BC6-359362FEF66C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2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2331720" y="457200"/>
            <a:ext cx="768060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491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OPERATING MESSAGE &amp; </a:t>
            </a:r>
            <a:r>
              <a:rPr b="1" lang="en-US" sz="32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CORE DESIGN PRINCIPLES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2194560" y="1253880"/>
            <a:ext cx="7863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STRATEGY: SIDECAR ARCHITECTURE FOR MERLIN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2212560" y="1407960"/>
            <a:ext cx="768240" cy="360"/>
          </a:xfrm>
          <a:prstGeom prst="line">
            <a:avLst/>
          </a:prstGeom>
          <a:ln w="12700">
            <a:solidFill>
              <a:srgbClr val="37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9235440" y="1407960"/>
            <a:ext cx="767880" cy="360"/>
          </a:xfrm>
          <a:prstGeom prst="line">
            <a:avLst/>
          </a:prstGeom>
          <a:ln w="12700">
            <a:solidFill>
              <a:srgbClr val="37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7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1A4C6C-4938-4F06-8F29-373FFC1D5533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3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200400" y="1581480"/>
            <a:ext cx="662940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8fafc"/>
                </a:solidFill>
                <a:latin typeface="Aptos Display"/>
                <a:ea typeface="Aptos Display"/>
              </a:rPr>
              <a:t>Keep MERLIN in control. Let AI fail safely.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1600200" y="2743200"/>
            <a:ext cx="51015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Aptos"/>
              </a:rPr>
              <a:t>Variant B uses an external asynchronous AI sidecar to improve forecasting and replenishment recommendations without changing the ordering authority.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4"/>
          <p:cNvSpPr/>
          <p:nvPr/>
        </p:nvSpPr>
        <p:spPr>
          <a:xfrm>
            <a:off x="1570680" y="3646800"/>
            <a:ext cx="1962000" cy="236880"/>
          </a:xfrm>
          <a:prstGeom prst="rect">
            <a:avLst/>
          </a:prstGeom>
          <a:solidFill>
            <a:srgbClr val="34d399"/>
          </a:solidFill>
          <a:ln w="0">
            <a:solidFill>
              <a:srgbClr val="34d399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1220"/>
                </a:solidFill>
                <a:latin typeface="Aptos"/>
                <a:ea typeface="Aptos"/>
              </a:rPr>
              <a:t>NOT A MERLIN REPLACEMENT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3658320" y="3646800"/>
            <a:ext cx="2055960" cy="23688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1220"/>
                </a:solidFill>
                <a:latin typeface="Aptos"/>
                <a:ea typeface="Aptos"/>
              </a:rPr>
              <a:t>NOT IN THE CRITICAL PATH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9"/>
          <p:cNvSpPr/>
          <p:nvPr/>
        </p:nvSpPr>
        <p:spPr>
          <a:xfrm>
            <a:off x="5832720" y="3646800"/>
            <a:ext cx="1710720" cy="236880"/>
          </a:xfrm>
          <a:prstGeom prst="rect">
            <a:avLst/>
          </a:prstGeom>
          <a:solidFill>
            <a:srgbClr val="fbbf24"/>
          </a:solidFill>
          <a:ln w="0">
            <a:solidFill>
              <a:srgbClr val="fbbf2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1220"/>
                </a:solidFill>
                <a:latin typeface="Aptos"/>
                <a:ea typeface="Aptos"/>
              </a:rPr>
              <a:t>FAIL-OPEN BY DEFAULT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7780320" y="2671200"/>
            <a:ext cx="1820880" cy="835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AI SIDECAR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Forecasts + bounded recommendations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7975080" y="3967200"/>
            <a:ext cx="1789200" cy="939600"/>
          </a:xfrm>
          <a:prstGeom prst="rect">
            <a:avLst/>
          </a:prstGeom>
          <a:solidFill>
            <a:srgbClr val="0f2a3a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Aptos"/>
                <a:ea typeface="Aptos"/>
              </a:rPr>
              <a:t>MERLIN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Aptos"/>
                <a:ea typeface="Aptos"/>
              </a:rPr>
              <a:t>Order authority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5"/>
          <p:cNvSpPr/>
          <p:nvPr/>
        </p:nvSpPr>
        <p:spPr>
          <a:xfrm>
            <a:off x="9364680" y="5268600"/>
            <a:ext cx="1294920" cy="36180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EDI → Suppliers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9"/>
          <p:cNvSpPr/>
          <p:nvPr/>
        </p:nvSpPr>
        <p:spPr>
          <a:xfrm>
            <a:off x="6774480" y="5248080"/>
            <a:ext cx="1962360" cy="542520"/>
          </a:xfrm>
          <a:prstGeom prst="rect">
            <a:avLst/>
          </a:prstGeom>
          <a:solidFill>
            <a:srgbClr val="2b1d12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Existing min/max path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continues on AI failure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8686800" y="3493440"/>
            <a:ext cx="158760" cy="473760"/>
          </a:xfrm>
          <a:prstGeom prst="line">
            <a:avLst/>
          </a:prstGeom>
          <a:ln w="1905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32"/>
          <p:cNvSpPr/>
          <p:nvPr/>
        </p:nvSpPr>
        <p:spPr>
          <a:xfrm>
            <a:off x="9042840" y="4955760"/>
            <a:ext cx="612000" cy="264240"/>
          </a:xfrm>
          <a:prstGeom prst="line">
            <a:avLst/>
          </a:prstGeom>
          <a:ln w="19050">
            <a:solidFill>
              <a:srgbClr val="34d3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3"/>
          <p:cNvSpPr/>
          <p:nvPr/>
        </p:nvSpPr>
        <p:spPr>
          <a:xfrm flipV="1">
            <a:off x="7716600" y="4955760"/>
            <a:ext cx="525600" cy="222480"/>
          </a:xfrm>
          <a:prstGeom prst="line">
            <a:avLst/>
          </a:prstGeom>
          <a:ln w="1651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50"/>
          <p:cNvSpPr/>
          <p:nvPr/>
        </p:nvSpPr>
        <p:spPr>
          <a:xfrm>
            <a:off x="1570680" y="6008040"/>
            <a:ext cx="20404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Aptos"/>
                <a:ea typeface="Aptos"/>
              </a:rPr>
              <a:t>Executive message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51"/>
          <p:cNvSpPr/>
          <p:nvPr/>
        </p:nvSpPr>
        <p:spPr>
          <a:xfrm>
            <a:off x="1570680" y="6202440"/>
            <a:ext cx="533736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Aptos"/>
                <a:ea typeface="Aptos"/>
              </a:rPr>
              <a:t>AI may be late, invalid, disabled, or unavailable — delivery operations still continue through MERLIN.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834640" y="228600"/>
            <a:ext cx="6949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763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LEGACY SYSTEM ASSESSMENT &amp; </a:t>
            </a:r>
            <a:endParaRPr b="0" lang="en-US" sz="2800" spc="-1" strike="noStrike">
              <a:solidFill>
                <a:srgbClr val="ffffff"/>
              </a:solidFill>
              <a:latin typeface="Noto Sans Display ExtraCondensed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EXTENSION POINTS</a:t>
            </a:r>
            <a:endParaRPr b="0" lang="en-US" sz="2800" spc="-1" strike="noStrike">
              <a:solidFill>
                <a:srgbClr val="ffffff"/>
              </a:solidFill>
              <a:latin typeface="Noto Sans Display ExtraCondensed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8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216003-F7FF-4C06-8DEE-D1B13C5A18DF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4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Text 52"/>
          <p:cNvSpPr/>
          <p:nvPr/>
        </p:nvSpPr>
        <p:spPr>
          <a:xfrm>
            <a:off x="688320" y="1622520"/>
            <a:ext cx="2971440" cy="1627200"/>
          </a:xfrm>
          <a:prstGeom prst="rect">
            <a:avLst/>
          </a:prstGeom>
          <a:solidFill>
            <a:srgbClr val="0d2a33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a933"/>
                </a:solidFill>
                <a:latin typeface="Aptos"/>
                <a:ea typeface="Aptos"/>
              </a:rPr>
              <a:t>CAN CHANGE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External AI sidecar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Certified narrow adapters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Monitoring + audit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Disable controls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3"/>
          <p:cNvSpPr/>
          <p:nvPr/>
        </p:nvSpPr>
        <p:spPr>
          <a:xfrm>
            <a:off x="4601880" y="1622520"/>
            <a:ext cx="2971440" cy="1627200"/>
          </a:xfrm>
          <a:prstGeom prst="rect">
            <a:avLst/>
          </a:prstGeom>
          <a:solidFill>
            <a:srgbClr val="14251d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4000"/>
                </a:solidFill>
                <a:latin typeface="Aptos"/>
                <a:ea typeface="Aptos"/>
              </a:rPr>
              <a:t>CANNOT CHANGE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MERLIN engine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MERLIN order creation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POS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Fixed EDI format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04:00 deadline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4"/>
          <p:cNvSpPr/>
          <p:nvPr/>
        </p:nvSpPr>
        <p:spPr>
          <a:xfrm>
            <a:off x="8515440" y="1622520"/>
            <a:ext cx="2971440" cy="162720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UNSAFE TO TOUCH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Undocumented MERLIN tables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Internal scheduler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Manual row ownership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Inventory as shelf truth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5"/>
          <p:cNvSpPr/>
          <p:nvPr/>
        </p:nvSpPr>
        <p:spPr>
          <a:xfrm>
            <a:off x="868320" y="381708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fafc"/>
                </a:solidFill>
                <a:latin typeface="Aptos"/>
                <a:ea typeface="Aptos"/>
              </a:rPr>
              <a:t>Only three legacy-supported extension points are allowed: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2133000" y="4887000"/>
            <a:ext cx="3364920" cy="360"/>
          </a:xfrm>
          <a:prstGeom prst="line">
            <a:avLst/>
          </a:prstGeom>
          <a:ln w="2032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6"/>
          <p:cNvSpPr/>
          <p:nvPr/>
        </p:nvSpPr>
        <p:spPr>
          <a:xfrm>
            <a:off x="5836320" y="4887000"/>
            <a:ext cx="3364920" cy="360"/>
          </a:xfrm>
          <a:prstGeom prst="line">
            <a:avLst/>
          </a:prstGeom>
          <a:ln w="2032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6"/>
          <p:cNvSpPr/>
          <p:nvPr/>
        </p:nvSpPr>
        <p:spPr>
          <a:xfrm>
            <a:off x="898560" y="4292640"/>
            <a:ext cx="2331360" cy="1142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Nightly snapshot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read-only input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7"/>
          <p:cNvSpPr/>
          <p:nvPr/>
        </p:nvSpPr>
        <p:spPr>
          <a:xfrm>
            <a:off x="4739040" y="4292640"/>
            <a:ext cx="2331360" cy="1142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Override table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bounded rows before order gen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58"/>
          <p:cNvSpPr/>
          <p:nvPr/>
        </p:nvSpPr>
        <p:spPr>
          <a:xfrm>
            <a:off x="8579520" y="4292640"/>
            <a:ext cx="2331360" cy="1142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Post-generation review queue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audit + correlation only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59"/>
          <p:cNvSpPr/>
          <p:nvPr/>
        </p:nvSpPr>
        <p:spPr>
          <a:xfrm>
            <a:off x="4236120" y="6103080"/>
            <a:ext cx="3748680" cy="438480"/>
          </a:xfrm>
          <a:prstGeom prst="rect">
            <a:avLst/>
          </a:prstGeom>
          <a:solidFill>
            <a:srgbClr val="1f2937">
              <a:alpha val="90000"/>
            </a:srgbClr>
          </a:solidFill>
          <a:ln w="15240">
            <a:solidFill>
              <a:srgbClr val="fbbf24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No fourth interface is invented.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24"/>
          <p:cNvSpPr/>
          <p:nvPr/>
        </p:nvSpPr>
        <p:spPr>
          <a:xfrm>
            <a:off x="10116000" y="2566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SIDECAR SYSTEM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46"/>
          <p:cNvSpPr/>
          <p:nvPr/>
        </p:nvSpPr>
        <p:spPr>
          <a:xfrm>
            <a:off x="72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`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47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48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70"/>
          <p:cNvSpPr/>
          <p:nvPr/>
        </p:nvSpPr>
        <p:spPr>
          <a:xfrm>
            <a:off x="2834640" y="156600"/>
            <a:ext cx="6949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C4 SYSTEM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ARCHITECTURE</a:t>
            </a:r>
            <a:endParaRPr b="0" lang="en-US" sz="2800" spc="-1" strike="noStrike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sldNum" idx="9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F5B41D-6873-43DB-9667-A6F0E61DFA97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5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Text 71"/>
          <p:cNvSpPr/>
          <p:nvPr/>
        </p:nvSpPr>
        <p:spPr>
          <a:xfrm>
            <a:off x="2514600" y="977040"/>
            <a:ext cx="77490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444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“</a:t>
            </a:r>
            <a:r>
              <a:rPr b="1" i="1" lang="en-US" sz="1300" spc="-1" strike="noStrike">
                <a:solidFill>
                  <a:srgbClr val="ffffff"/>
                </a:solidFill>
                <a:latin typeface="Roboto"/>
                <a:ea typeface="Roboto"/>
              </a:rPr>
              <a:t>Separating the AI runtime protects the core business flow, preserves autonomy, and keeps MERLIN extensible in every operating scenario.”</a:t>
            </a:r>
            <a:endParaRPr b="0" lang="en-US" sz="1300" spc="-1" strike="noStrike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25" name="Shape 50"/>
          <p:cNvSpPr/>
          <p:nvPr/>
        </p:nvSpPr>
        <p:spPr>
          <a:xfrm>
            <a:off x="1967040" y="5332680"/>
            <a:ext cx="22356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51"/>
          <p:cNvSpPr/>
          <p:nvPr/>
        </p:nvSpPr>
        <p:spPr>
          <a:xfrm>
            <a:off x="3102840" y="5332680"/>
            <a:ext cx="22392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52"/>
          <p:cNvSpPr/>
          <p:nvPr/>
        </p:nvSpPr>
        <p:spPr>
          <a:xfrm>
            <a:off x="4238640" y="5332680"/>
            <a:ext cx="35676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53"/>
          <p:cNvSpPr/>
          <p:nvPr/>
        </p:nvSpPr>
        <p:spPr>
          <a:xfrm>
            <a:off x="5507280" y="5332680"/>
            <a:ext cx="43992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54"/>
          <p:cNvSpPr/>
          <p:nvPr/>
        </p:nvSpPr>
        <p:spPr>
          <a:xfrm>
            <a:off x="6859440" y="5332680"/>
            <a:ext cx="37296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55"/>
          <p:cNvSpPr/>
          <p:nvPr/>
        </p:nvSpPr>
        <p:spPr>
          <a:xfrm>
            <a:off x="8144640" y="5332680"/>
            <a:ext cx="37332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56"/>
          <p:cNvSpPr/>
          <p:nvPr/>
        </p:nvSpPr>
        <p:spPr>
          <a:xfrm>
            <a:off x="9429840" y="5332680"/>
            <a:ext cx="306720" cy="360"/>
          </a:xfrm>
          <a:prstGeom prst="line">
            <a:avLst/>
          </a:prstGeom>
          <a:ln w="1524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72"/>
          <p:cNvSpPr/>
          <p:nvPr/>
        </p:nvSpPr>
        <p:spPr>
          <a:xfrm>
            <a:off x="1121040" y="5068800"/>
            <a:ext cx="911880" cy="527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Nightly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snapshot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3"/>
          <p:cNvSpPr/>
          <p:nvPr/>
        </p:nvSpPr>
        <p:spPr>
          <a:xfrm>
            <a:off x="2257200" y="5010120"/>
            <a:ext cx="1036080" cy="64512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f8fafc"/>
                </a:solidFill>
                <a:latin typeface="Aptos"/>
                <a:ea typeface="Aptos"/>
              </a:rPr>
              <a:t>Schema +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f8fafc"/>
                </a:solidFill>
                <a:latin typeface="Aptos"/>
                <a:ea typeface="Aptos"/>
              </a:rPr>
              <a:t>residency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f8fafc"/>
                </a:solidFill>
                <a:latin typeface="Aptos"/>
                <a:ea typeface="Aptos"/>
              </a:rPr>
              <a:t>validation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74"/>
          <p:cNvSpPr/>
          <p:nvPr/>
        </p:nvSpPr>
        <p:spPr>
          <a:xfrm>
            <a:off x="3393360" y="5010120"/>
            <a:ext cx="1036080" cy="645120"/>
          </a:xfrm>
          <a:prstGeom prst="rect">
            <a:avLst/>
          </a:prstGeom>
          <a:solidFill>
            <a:srgbClr val="0f2a3a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Statistical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forecast 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75"/>
          <p:cNvSpPr/>
          <p:nvPr/>
        </p:nvSpPr>
        <p:spPr>
          <a:xfrm>
            <a:off x="4662000" y="5010120"/>
            <a:ext cx="1118880" cy="645120"/>
          </a:xfrm>
          <a:prstGeom prst="rect">
            <a:avLst/>
          </a:prstGeom>
          <a:solidFill>
            <a:srgbClr val="1f2937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Deterministic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optimizer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76"/>
          <p:cNvSpPr/>
          <p:nvPr/>
        </p:nvSpPr>
        <p:spPr>
          <a:xfrm>
            <a:off x="6013440" y="5010120"/>
            <a:ext cx="978120" cy="64512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Certified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adapter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77"/>
          <p:cNvSpPr/>
          <p:nvPr/>
        </p:nvSpPr>
        <p:spPr>
          <a:xfrm>
            <a:off x="7298640" y="5068800"/>
            <a:ext cx="911880" cy="527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Override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8fafc"/>
                </a:solidFill>
                <a:latin typeface="Aptos"/>
                <a:ea typeface="Aptos"/>
              </a:rPr>
              <a:t>table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78"/>
          <p:cNvSpPr/>
          <p:nvPr/>
        </p:nvSpPr>
        <p:spPr>
          <a:xfrm>
            <a:off x="8584200" y="5010120"/>
            <a:ext cx="953280" cy="645120"/>
          </a:xfrm>
          <a:prstGeom prst="rect">
            <a:avLst/>
          </a:prstGeom>
          <a:solidFill>
            <a:srgbClr val="14251d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Aptos"/>
                <a:ea typeface="Aptos"/>
              </a:rPr>
              <a:t>MERLIN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8fafc"/>
                </a:solidFill>
                <a:latin typeface="Aptos"/>
                <a:ea typeface="Aptos"/>
              </a:rPr>
              <a:t>engine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79"/>
          <p:cNvSpPr/>
          <p:nvPr/>
        </p:nvSpPr>
        <p:spPr>
          <a:xfrm>
            <a:off x="9803160" y="5010120"/>
            <a:ext cx="1293120" cy="64512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f8fafc"/>
                </a:solidFill>
                <a:latin typeface="Aptos"/>
                <a:ea typeface="Aptos"/>
              </a:rPr>
              <a:t>Review queue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f8fafc"/>
                </a:solidFill>
                <a:latin typeface="Aptos"/>
                <a:ea typeface="Aptos"/>
              </a:rPr>
              <a:t>EDI → Supplier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80"/>
          <p:cNvSpPr/>
          <p:nvPr/>
        </p:nvSpPr>
        <p:spPr>
          <a:xfrm>
            <a:off x="1303560" y="4087800"/>
            <a:ext cx="3067920" cy="674280"/>
          </a:xfrm>
          <a:prstGeom prst="rect">
            <a:avLst/>
          </a:prstGeom>
          <a:solidFill>
            <a:srgbClr val="1f2937">
              <a:alpha val="90000"/>
            </a:srgbClr>
          </a:solidFill>
          <a:ln w="15240">
            <a:solidFill>
              <a:srgbClr val="34d399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Forecast ML outputs expected demand, quantiles, confidence interval, promotion demand — never an order.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81"/>
          <p:cNvSpPr/>
          <p:nvPr/>
        </p:nvSpPr>
        <p:spPr>
          <a:xfrm>
            <a:off x="4637160" y="4087800"/>
            <a:ext cx="3084480" cy="674280"/>
          </a:xfrm>
          <a:prstGeom prst="rect">
            <a:avLst/>
          </a:prstGeom>
          <a:solidFill>
            <a:srgbClr val="1f2937">
              <a:alpha val="90000"/>
            </a:srgbClr>
          </a:solidFill>
          <a:ln w="15240">
            <a:solidFill>
              <a:srgbClr val="fbbf24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Deterministic optimizer enforces case pack, shelf life, DC capacity, inventory interval, and category caps.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82"/>
          <p:cNvSpPr/>
          <p:nvPr/>
        </p:nvSpPr>
        <p:spPr>
          <a:xfrm>
            <a:off x="7978680" y="4087800"/>
            <a:ext cx="2835720" cy="674280"/>
          </a:xfrm>
          <a:prstGeom prst="rect">
            <a:avLst/>
          </a:prstGeom>
          <a:solidFill>
            <a:srgbClr val="1f2937">
              <a:alpha val="90000"/>
            </a:srgbClr>
          </a:solidFill>
          <a:ln w="15240">
            <a:solidFill>
              <a:srgbClr val="34d399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MERLIN reads bounded rows, runs the unchanged engine, and creates the official order.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83"/>
          <p:cNvSpPr/>
          <p:nvPr/>
        </p:nvSpPr>
        <p:spPr>
          <a:xfrm>
            <a:off x="1716120" y="6014160"/>
            <a:ext cx="1036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Hard boundaries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84"/>
          <p:cNvSpPr/>
          <p:nvPr/>
        </p:nvSpPr>
        <p:spPr>
          <a:xfrm>
            <a:off x="3067920" y="5992200"/>
            <a:ext cx="1367640" cy="35172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AI ↛ POS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85"/>
          <p:cNvSpPr/>
          <p:nvPr/>
        </p:nvSpPr>
        <p:spPr>
          <a:xfrm>
            <a:off x="4668120" y="5992200"/>
            <a:ext cx="1368000" cy="35172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AI ↛ EDI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86"/>
          <p:cNvSpPr/>
          <p:nvPr/>
        </p:nvSpPr>
        <p:spPr>
          <a:xfrm>
            <a:off x="6268320" y="5992200"/>
            <a:ext cx="1541880" cy="35172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AI ↛ Supplier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87"/>
          <p:cNvSpPr/>
          <p:nvPr/>
        </p:nvSpPr>
        <p:spPr>
          <a:xfrm>
            <a:off x="8092800" y="5992200"/>
            <a:ext cx="1782360" cy="35172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  <a:ea typeface="Aptos"/>
              </a:rPr>
              <a:t>Copilot ↛ Ordering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88"/>
          <p:cNvSpPr/>
          <p:nvPr/>
        </p:nvSpPr>
        <p:spPr>
          <a:xfrm>
            <a:off x="2514600" y="6629400"/>
            <a:ext cx="688248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cbd5e1"/>
                </a:solidFill>
                <a:latin typeface="Aptos"/>
                <a:ea typeface="Aptos"/>
              </a:rPr>
              <a:t>Associate Copilot is read-only and uses exact approved evidence for food-safety content.</a:t>
            </a:r>
            <a:endParaRPr b="0" lang="en-US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57"/>
          <p:cNvSpPr/>
          <p:nvPr/>
        </p:nvSpPr>
        <p:spPr>
          <a:xfrm>
            <a:off x="1371600" y="1733400"/>
            <a:ext cx="2977200" cy="1680840"/>
          </a:xfrm>
          <a:prstGeom prst="roundRect">
            <a:avLst>
              <a:gd name="adj" fmla="val 5036"/>
            </a:avLst>
          </a:prstGeom>
          <a:solidFill>
            <a:srgbClr val="11131a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58"/>
          <p:cNvSpPr/>
          <p:nvPr/>
        </p:nvSpPr>
        <p:spPr>
          <a:xfrm>
            <a:off x="1641600" y="2028600"/>
            <a:ext cx="714240" cy="1508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90"/>
          <p:cNvSpPr/>
          <p:nvPr/>
        </p:nvSpPr>
        <p:spPr>
          <a:xfrm>
            <a:off x="1641600" y="2062080"/>
            <a:ext cx="714240" cy="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C4 VIEW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91"/>
          <p:cNvSpPr/>
          <p:nvPr/>
        </p:nvSpPr>
        <p:spPr>
          <a:xfrm>
            <a:off x="1641600" y="2319120"/>
            <a:ext cx="24613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SIDECAR POSITION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92"/>
          <p:cNvSpPr/>
          <p:nvPr/>
        </p:nvSpPr>
        <p:spPr>
          <a:xfrm>
            <a:off x="1641600" y="2608920"/>
            <a:ext cx="246132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b3b8c8"/>
                </a:solidFill>
                <a:latin typeface="Roboto"/>
                <a:ea typeface="Roboto"/>
              </a:rPr>
              <a:t>Define the AI Sidecar boundary outside the ordering-management ecosystem; fully separate it from MERLIN’s critical data path.</a:t>
            </a:r>
            <a:endParaRPr b="0" lang="en-US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59"/>
          <p:cNvSpPr/>
          <p:nvPr/>
        </p:nvSpPr>
        <p:spPr>
          <a:xfrm>
            <a:off x="3952080" y="2004120"/>
            <a:ext cx="341280" cy="259920"/>
          </a:xfrm>
          <a:prstGeom prst="roundRect">
            <a:avLst>
              <a:gd name="adj" fmla="val 18605"/>
            </a:avLst>
          </a:prstGeom>
          <a:solidFill>
            <a:srgbClr val="1d2d69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60"/>
          <p:cNvSpPr/>
          <p:nvPr/>
        </p:nvSpPr>
        <p:spPr>
          <a:xfrm>
            <a:off x="4067640" y="2092320"/>
            <a:ext cx="110880" cy="84240"/>
          </a:xfrm>
          <a:prstGeom prst="rect">
            <a:avLst/>
          </a:prstGeom>
          <a:noFill/>
          <a:ln w="20320">
            <a:solidFill>
              <a:srgbClr val="879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0" bIns="39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61"/>
          <p:cNvSpPr/>
          <p:nvPr/>
        </p:nvSpPr>
        <p:spPr>
          <a:xfrm>
            <a:off x="4547520" y="1733400"/>
            <a:ext cx="2977560" cy="1680840"/>
          </a:xfrm>
          <a:prstGeom prst="roundRect">
            <a:avLst>
              <a:gd name="adj" fmla="val 5036"/>
            </a:avLst>
          </a:prstGeom>
          <a:solidFill>
            <a:srgbClr val="11131a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62"/>
          <p:cNvSpPr/>
          <p:nvPr/>
        </p:nvSpPr>
        <p:spPr>
          <a:xfrm>
            <a:off x="4817880" y="2028600"/>
            <a:ext cx="793440" cy="1508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93"/>
          <p:cNvSpPr/>
          <p:nvPr/>
        </p:nvSpPr>
        <p:spPr>
          <a:xfrm>
            <a:off x="4817880" y="2062080"/>
            <a:ext cx="793440" cy="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CONTAINER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94"/>
          <p:cNvSpPr/>
          <p:nvPr/>
        </p:nvSpPr>
        <p:spPr>
          <a:xfrm>
            <a:off x="4817880" y="2319120"/>
            <a:ext cx="2460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ENVIRONMENT ISOLATION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95"/>
          <p:cNvSpPr/>
          <p:nvPr/>
        </p:nvSpPr>
        <p:spPr>
          <a:xfrm>
            <a:off x="4817880" y="2608920"/>
            <a:ext cx="246096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b3b8c8"/>
                </a:solidFill>
                <a:latin typeface="Roboto"/>
                <a:ea typeface="Roboto"/>
              </a:rPr>
              <a:t>The container boundary isolates runtime risk. AI computation cannot affect source-system performance.</a:t>
            </a:r>
            <a:endParaRPr b="0" lang="en-US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63"/>
          <p:cNvSpPr/>
          <p:nvPr/>
        </p:nvSpPr>
        <p:spPr>
          <a:xfrm>
            <a:off x="7128360" y="2004120"/>
            <a:ext cx="340560" cy="259920"/>
          </a:xfrm>
          <a:prstGeom prst="roundRect">
            <a:avLst>
              <a:gd name="adj" fmla="val 18605"/>
            </a:avLst>
          </a:prstGeom>
          <a:solidFill>
            <a:srgbClr val="1d2d69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64"/>
          <p:cNvSpPr/>
          <p:nvPr/>
        </p:nvSpPr>
        <p:spPr>
          <a:xfrm>
            <a:off x="7243560" y="2092320"/>
            <a:ext cx="110880" cy="84240"/>
          </a:xfrm>
          <a:prstGeom prst="rect">
            <a:avLst/>
          </a:prstGeom>
          <a:noFill/>
          <a:ln w="20320">
            <a:solidFill>
              <a:srgbClr val="879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0" bIns="39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65"/>
          <p:cNvSpPr/>
          <p:nvPr/>
        </p:nvSpPr>
        <p:spPr>
          <a:xfrm>
            <a:off x="7739640" y="1733400"/>
            <a:ext cx="2977200" cy="1680840"/>
          </a:xfrm>
          <a:prstGeom prst="roundRect">
            <a:avLst>
              <a:gd name="adj" fmla="val 5036"/>
            </a:avLst>
          </a:prstGeom>
          <a:solidFill>
            <a:srgbClr val="152142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66"/>
          <p:cNvSpPr/>
          <p:nvPr/>
        </p:nvSpPr>
        <p:spPr>
          <a:xfrm>
            <a:off x="8009640" y="2028600"/>
            <a:ext cx="714600" cy="1508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96"/>
          <p:cNvSpPr/>
          <p:nvPr/>
        </p:nvSpPr>
        <p:spPr>
          <a:xfrm>
            <a:off x="8009640" y="2062080"/>
            <a:ext cx="714600" cy="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INTERFACE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97"/>
          <p:cNvSpPr/>
          <p:nvPr/>
        </p:nvSpPr>
        <p:spPr>
          <a:xfrm>
            <a:off x="8009640" y="2319120"/>
            <a:ext cx="2460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ASYMMETRIC CONNECTION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8"/>
          <p:cNvSpPr/>
          <p:nvPr/>
        </p:nvSpPr>
        <p:spPr>
          <a:xfrm>
            <a:off x="8009640" y="2608920"/>
            <a:ext cx="246096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b3b8c8"/>
                </a:solidFill>
                <a:latin typeface="Roboto"/>
                <a:ea typeface="Roboto"/>
              </a:rPr>
              <a:t>Asynchronous messages receive input without direct calls, letting MERLIN retain complete autonomy.</a:t>
            </a:r>
            <a:endParaRPr b="0" lang="en-US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99"/>
          <p:cNvSpPr/>
          <p:nvPr/>
        </p:nvSpPr>
        <p:spPr>
          <a:xfrm>
            <a:off x="8017560" y="3165480"/>
            <a:ext cx="1905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f424d"/>
                </a:solidFill>
                <a:latin typeface="Roboto"/>
                <a:ea typeface="Roboto"/>
              </a:rPr>
              <a:t>□  </a:t>
            </a:r>
            <a:r>
              <a:rPr b="1" lang="en-US" sz="980" spc="-1" strike="noStrike">
                <a:solidFill>
                  <a:srgbClr val="ff424d"/>
                </a:solidFill>
                <a:latin typeface="Roboto"/>
                <a:ea typeface="Roboto"/>
              </a:rPr>
              <a:t>Outside Critical Path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67"/>
          <p:cNvSpPr/>
          <p:nvPr/>
        </p:nvSpPr>
        <p:spPr>
          <a:xfrm>
            <a:off x="10320120" y="2004120"/>
            <a:ext cx="341280" cy="259920"/>
          </a:xfrm>
          <a:prstGeom prst="roundRect">
            <a:avLst>
              <a:gd name="adj" fmla="val 18605"/>
            </a:avLst>
          </a:prstGeom>
          <a:solidFill>
            <a:srgbClr val="1d2d69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68"/>
          <p:cNvSpPr/>
          <p:nvPr/>
        </p:nvSpPr>
        <p:spPr>
          <a:xfrm>
            <a:off x="10434960" y="2092320"/>
            <a:ext cx="111240" cy="84240"/>
          </a:xfrm>
          <a:prstGeom prst="rect">
            <a:avLst/>
          </a:prstGeom>
          <a:noFill/>
          <a:ln w="20320">
            <a:solidFill>
              <a:srgbClr val="879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9600" bIns="39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25"/>
          <p:cNvSpPr/>
          <p:nvPr/>
        </p:nvSpPr>
        <p:spPr>
          <a:xfrm>
            <a:off x="10116000" y="4006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SIDECAR SYSTEM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5715000" y="42048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3246120" y="623520"/>
            <a:ext cx="6217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763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NIGHTLY BATCH &amp;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FAIL-OPEN</a:t>
            </a: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 PROCESSING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1775520" y="4624920"/>
            <a:ext cx="2709360" cy="1673280"/>
          </a:xfrm>
          <a:prstGeom prst="roundRect">
            <a:avLst>
              <a:gd name="adj" fmla="val 3784"/>
            </a:avLst>
          </a:prstGeom>
          <a:solidFill>
            <a:srgbClr val="11131c">
              <a:alpha val="96000"/>
            </a:srgbClr>
          </a:solidFill>
          <a:ln w="12700">
            <a:solidFill>
              <a:srgbClr val="2a3150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2090520" y="4944600"/>
            <a:ext cx="314280" cy="188280"/>
          </a:xfrm>
          <a:prstGeom prst="roundRect">
            <a:avLst>
              <a:gd name="adj" fmla="val 18605"/>
            </a:avLst>
          </a:prstGeom>
          <a:solidFill>
            <a:srgbClr val="1d2d69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2196720" y="5008320"/>
            <a:ext cx="102600" cy="61200"/>
          </a:xfrm>
          <a:prstGeom prst="rect">
            <a:avLst/>
          </a:prstGeom>
          <a:noFill/>
          <a:ln w="20320">
            <a:solidFill>
              <a:srgbClr val="37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3884400" y="4694760"/>
            <a:ext cx="3657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ffffff">
                    <a:alpha val="7000"/>
                  </a:srgbClr>
                </a:solidFill>
                <a:latin typeface="Noto Sans Display ExtraCondensed"/>
                <a:ea typeface="Noto Sans Display ExtraCondensed"/>
              </a:rPr>
              <a:t>01</a:t>
            </a:r>
            <a:endParaRPr b="0" lang="en-US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2090520" y="5334480"/>
            <a:ext cx="21232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NIGHT OPERATIONS 22:00–04:00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2090520" y="5505480"/>
            <a:ext cx="2086920" cy="0"/>
          </a:xfrm>
          <a:prstGeom prst="line">
            <a:avLst/>
          </a:prstGeom>
          <a:ln w="12700">
            <a:solidFill>
              <a:srgbClr val="3a3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2090520" y="5601960"/>
            <a:ext cx="2072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b3b8c8"/>
                </a:solidFill>
                <a:latin typeface="Roboto"/>
                <a:ea typeface="Roboto"/>
              </a:rPr>
              <a:t>Ensure orders and EDI are on time with continuous monitoring. Detect and handle issues immediately inside the nightly window.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4748760" y="4624920"/>
            <a:ext cx="2709000" cy="1673280"/>
          </a:xfrm>
          <a:prstGeom prst="roundRect">
            <a:avLst>
              <a:gd name="adj" fmla="val 3784"/>
            </a:avLst>
          </a:prstGeom>
          <a:solidFill>
            <a:srgbClr val="0f1118">
              <a:alpha val="96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0" descr="/mnt/data/merlin_assets/control_room.png"/>
          <p:cNvPicPr/>
          <p:nvPr/>
        </p:nvPicPr>
        <p:blipFill>
          <a:blip r:embed="rId1"/>
          <a:stretch/>
        </p:blipFill>
        <p:spPr>
          <a:xfrm>
            <a:off x="4748760" y="4624920"/>
            <a:ext cx="2709000" cy="1673280"/>
          </a:xfrm>
          <a:prstGeom prst="rect">
            <a:avLst/>
          </a:prstGeom>
          <a:ln w="0">
            <a:noFill/>
          </a:ln>
        </p:spPr>
      </p:pic>
      <p:sp>
        <p:nvSpPr>
          <p:cNvPr id="186" name="Text 14"/>
          <p:cNvSpPr/>
          <p:nvPr/>
        </p:nvSpPr>
        <p:spPr>
          <a:xfrm>
            <a:off x="5114880" y="6096600"/>
            <a:ext cx="1976760" cy="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pc="-1" strike="noStrike">
                <a:solidFill>
                  <a:srgbClr val="ffffff">
                    <a:alpha val="65000"/>
                  </a:srgbClr>
                </a:solidFill>
                <a:latin typeface="Roboto"/>
                <a:ea typeface="Roboto"/>
              </a:rPr>
              <a:t>SYSTEM ARCHITECTURE SIMULATION</a:t>
            </a:r>
            <a:endParaRPr b="0" lang="en-US" sz="6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7707240" y="4624920"/>
            <a:ext cx="2709360" cy="1673280"/>
          </a:xfrm>
          <a:prstGeom prst="roundRect">
            <a:avLst>
              <a:gd name="adj" fmla="val 3784"/>
            </a:avLst>
          </a:prstGeom>
          <a:solidFill>
            <a:srgbClr val="142045">
              <a:alpha val="96000"/>
            </a:srgbClr>
          </a:solidFill>
          <a:ln w="12700">
            <a:solidFill>
              <a:srgbClr val="30407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6"/>
          <p:cNvSpPr/>
          <p:nvPr/>
        </p:nvSpPr>
        <p:spPr>
          <a:xfrm>
            <a:off x="8037000" y="4944600"/>
            <a:ext cx="314280" cy="188280"/>
          </a:xfrm>
          <a:prstGeom prst="roundRect">
            <a:avLst>
              <a:gd name="adj" fmla="val 18605"/>
            </a:avLst>
          </a:prstGeom>
          <a:solidFill>
            <a:srgbClr val="1d2d69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8142840" y="5008320"/>
            <a:ext cx="102600" cy="61200"/>
          </a:xfrm>
          <a:prstGeom prst="rect">
            <a:avLst/>
          </a:prstGeom>
          <a:noFill/>
          <a:ln w="20320">
            <a:solidFill>
              <a:srgbClr val="e8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9816120" y="4694760"/>
            <a:ext cx="366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ffffff">
                    <a:alpha val="7000"/>
                  </a:srgbClr>
                </a:solidFill>
                <a:latin typeface="Noto Sans Display ExtraCondensed"/>
                <a:ea typeface="Noto Sans Display ExtraCondensed"/>
              </a:rPr>
              <a:t>03</a:t>
            </a:r>
            <a:endParaRPr b="0" lang="en-US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9"/>
          <p:cNvSpPr/>
          <p:nvPr/>
        </p:nvSpPr>
        <p:spPr>
          <a:xfrm>
            <a:off x="8037000" y="5334480"/>
            <a:ext cx="20502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MERLIN FALLBACK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0"/>
          <p:cNvSpPr/>
          <p:nvPr/>
        </p:nvSpPr>
        <p:spPr>
          <a:xfrm>
            <a:off x="8037000" y="5505480"/>
            <a:ext cx="2086920" cy="0"/>
          </a:xfrm>
          <a:prstGeom prst="line">
            <a:avLst/>
          </a:prstGeom>
          <a:ln w="12700">
            <a:solidFill>
              <a:srgbClr val="3a47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1"/>
          <p:cNvSpPr/>
          <p:nvPr/>
        </p:nvSpPr>
        <p:spPr>
          <a:xfrm>
            <a:off x="8037000" y="5601960"/>
            <a:ext cx="20869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b3b8c8"/>
                </a:solidFill>
                <a:latin typeface="Roboto"/>
                <a:ea typeface="Roboto"/>
              </a:rPr>
              <a:t>If the AI Sidecar fails, the system automatically activates traditional logic (fail-open) to protect the supply chain and data flow.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sldNum" idx="10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4441B8-72CA-4D99-A312-30E649AFA6C1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6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1001520" y="2166840"/>
            <a:ext cx="10314720" cy="360"/>
          </a:xfrm>
          <a:prstGeom prst="line">
            <a:avLst/>
          </a:prstGeom>
          <a:ln w="27940">
            <a:solidFill>
              <a:srgbClr val="38bd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7"/>
          <p:cNvSpPr/>
          <p:nvPr/>
        </p:nvSpPr>
        <p:spPr>
          <a:xfrm>
            <a:off x="946800" y="211212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60"/>
          <p:cNvSpPr/>
          <p:nvPr/>
        </p:nvSpPr>
        <p:spPr>
          <a:xfrm>
            <a:off x="81900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22:00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61"/>
          <p:cNvSpPr/>
          <p:nvPr/>
        </p:nvSpPr>
        <p:spPr>
          <a:xfrm>
            <a:off x="59040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Start batch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38"/>
          <p:cNvSpPr/>
          <p:nvPr/>
        </p:nvSpPr>
        <p:spPr>
          <a:xfrm>
            <a:off x="2208960" y="211212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2"/>
          <p:cNvSpPr/>
          <p:nvPr/>
        </p:nvSpPr>
        <p:spPr>
          <a:xfrm>
            <a:off x="208080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22:20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63"/>
          <p:cNvSpPr/>
          <p:nvPr/>
        </p:nvSpPr>
        <p:spPr>
          <a:xfrm>
            <a:off x="185220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Validation done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41"/>
          <p:cNvSpPr/>
          <p:nvPr/>
        </p:nvSpPr>
        <p:spPr>
          <a:xfrm>
            <a:off x="3809160" y="211212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64"/>
          <p:cNvSpPr/>
          <p:nvPr/>
        </p:nvSpPr>
        <p:spPr>
          <a:xfrm>
            <a:off x="368100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00:20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5"/>
          <p:cNvSpPr/>
          <p:nvPr/>
        </p:nvSpPr>
        <p:spPr>
          <a:xfrm>
            <a:off x="345240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Forecast done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2"/>
          <p:cNvSpPr/>
          <p:nvPr/>
        </p:nvSpPr>
        <p:spPr>
          <a:xfrm>
            <a:off x="5409360" y="211212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66"/>
          <p:cNvSpPr/>
          <p:nvPr/>
        </p:nvSpPr>
        <p:spPr>
          <a:xfrm>
            <a:off x="528120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01:20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7"/>
          <p:cNvSpPr/>
          <p:nvPr/>
        </p:nvSpPr>
        <p:spPr>
          <a:xfrm>
            <a:off x="505260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Optimize done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43"/>
          <p:cNvSpPr/>
          <p:nvPr/>
        </p:nvSpPr>
        <p:spPr>
          <a:xfrm>
            <a:off x="6643800" y="211212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68"/>
          <p:cNvSpPr/>
          <p:nvPr/>
        </p:nvSpPr>
        <p:spPr>
          <a:xfrm>
            <a:off x="651564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01:30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69"/>
          <p:cNvSpPr/>
          <p:nvPr/>
        </p:nvSpPr>
        <p:spPr>
          <a:xfrm>
            <a:off x="628704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Retry stop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69"/>
          <p:cNvSpPr/>
          <p:nvPr/>
        </p:nvSpPr>
        <p:spPr>
          <a:xfrm>
            <a:off x="7859880" y="211212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00"/>
          <p:cNvSpPr/>
          <p:nvPr/>
        </p:nvSpPr>
        <p:spPr>
          <a:xfrm>
            <a:off x="773172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01:45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01"/>
          <p:cNvSpPr/>
          <p:nvPr/>
        </p:nvSpPr>
        <p:spPr>
          <a:xfrm>
            <a:off x="750312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Complete-set gate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70"/>
          <p:cNvSpPr/>
          <p:nvPr/>
        </p:nvSpPr>
        <p:spPr>
          <a:xfrm>
            <a:off x="9295560" y="211212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02"/>
          <p:cNvSpPr/>
          <p:nvPr/>
        </p:nvSpPr>
        <p:spPr>
          <a:xfrm>
            <a:off x="916740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02:00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03"/>
          <p:cNvSpPr/>
          <p:nvPr/>
        </p:nvSpPr>
        <p:spPr>
          <a:xfrm>
            <a:off x="893880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AI write close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71"/>
          <p:cNvSpPr/>
          <p:nvPr/>
        </p:nvSpPr>
        <p:spPr>
          <a:xfrm>
            <a:off x="10758600" y="2112120"/>
            <a:ext cx="109440" cy="109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04"/>
          <p:cNvSpPr/>
          <p:nvPr/>
        </p:nvSpPr>
        <p:spPr>
          <a:xfrm>
            <a:off x="10630440" y="173700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04:00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05"/>
          <p:cNvSpPr/>
          <p:nvPr/>
        </p:nvSpPr>
        <p:spPr>
          <a:xfrm>
            <a:off x="10401840" y="2340720"/>
            <a:ext cx="4384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EDI deadline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06"/>
          <p:cNvSpPr/>
          <p:nvPr/>
        </p:nvSpPr>
        <p:spPr>
          <a:xfrm>
            <a:off x="546120" y="2955960"/>
            <a:ext cx="2102760" cy="987120"/>
          </a:xfrm>
          <a:prstGeom prst="rect">
            <a:avLst/>
          </a:prstGeom>
          <a:solidFill>
            <a:srgbClr val="2b1d12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01:30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Retry stop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No new retry starts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07"/>
          <p:cNvSpPr/>
          <p:nvPr/>
        </p:nvSpPr>
        <p:spPr>
          <a:xfrm>
            <a:off x="3197880" y="2955960"/>
            <a:ext cx="2605680" cy="987120"/>
          </a:xfrm>
          <a:prstGeom prst="rect">
            <a:avLst/>
          </a:prstGeom>
          <a:solidFill>
            <a:srgbClr val="2b1d12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01:45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Complete-set gate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Missing partition = publish nothing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08"/>
          <p:cNvSpPr/>
          <p:nvPr/>
        </p:nvSpPr>
        <p:spPr>
          <a:xfrm>
            <a:off x="6352560" y="2955960"/>
            <a:ext cx="2605680" cy="987120"/>
          </a:xfrm>
          <a:prstGeom prst="rect">
            <a:avLst/>
          </a:prstGeom>
          <a:solidFill>
            <a:srgbClr val="331b1b"/>
          </a:solidFill>
          <a:ln w="12700">
            <a:solidFill>
              <a:srgbClr val="f87171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02:00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Absolute write close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No late publication, no rerun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09"/>
          <p:cNvSpPr/>
          <p:nvPr/>
        </p:nvSpPr>
        <p:spPr>
          <a:xfrm>
            <a:off x="9304920" y="2961000"/>
            <a:ext cx="2377080" cy="98640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Proposed 02:00 gate is valid only if measured MERLIN P99 ≤ 90 min. Otherwise the AI close gate must move earlier.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23"/>
          <p:cNvSpPr/>
          <p:nvPr/>
        </p:nvSpPr>
        <p:spPr>
          <a:xfrm>
            <a:off x="9875880" y="2286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SIDECAR SYSTEM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67000" y="105156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67000" y="41148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NFR TARGETS &amp;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BUSINESS GOALS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sldNum" idx="11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323AE9-73C7-4554-9035-F462B53A8B36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7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Text 89"/>
          <p:cNvSpPr/>
          <p:nvPr/>
        </p:nvSpPr>
        <p:spPr>
          <a:xfrm>
            <a:off x="578160" y="1235880"/>
            <a:ext cx="1078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8fafc"/>
                </a:solidFill>
                <a:latin typeface="Aptos Display"/>
                <a:ea typeface="Aptos Display"/>
              </a:rPr>
              <a:t>NFRs turn architecture into release gates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10"/>
          <p:cNvSpPr/>
          <p:nvPr/>
        </p:nvSpPr>
        <p:spPr>
          <a:xfrm>
            <a:off x="669600" y="1841760"/>
            <a:ext cx="2175840" cy="1096920"/>
          </a:xfrm>
          <a:prstGeom prst="rect">
            <a:avLst/>
          </a:prstGeom>
          <a:solidFill>
            <a:srgbClr val="0f2a3a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8fafc"/>
                </a:solidFill>
                <a:latin typeface="Aptos"/>
                <a:ea typeface="Aptos"/>
              </a:rPr>
              <a:t>27M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8fafc"/>
                </a:solidFill>
                <a:latin typeface="Aptos"/>
                <a:ea typeface="Aptos"/>
              </a:rPr>
              <a:t>forecasts / night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11"/>
          <p:cNvSpPr/>
          <p:nvPr/>
        </p:nvSpPr>
        <p:spPr>
          <a:xfrm>
            <a:off x="3047040" y="1841760"/>
            <a:ext cx="2358720" cy="1096920"/>
          </a:xfrm>
          <a:prstGeom prst="rect">
            <a:avLst/>
          </a:prstGeom>
          <a:solidFill>
            <a:srgbClr val="0f2a3a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8fafc"/>
                </a:solidFill>
                <a:latin typeface="Aptos"/>
                <a:ea typeface="Aptos"/>
              </a:rPr>
              <a:t>7.04M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8fafc"/>
                </a:solidFill>
                <a:latin typeface="Aptos"/>
                <a:ea typeface="Aptos"/>
              </a:rPr>
              <a:t>optimized candidates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12"/>
          <p:cNvSpPr/>
          <p:nvPr/>
        </p:nvSpPr>
        <p:spPr>
          <a:xfrm>
            <a:off x="5607360" y="1841760"/>
            <a:ext cx="2450160" cy="1096920"/>
          </a:xfrm>
          <a:prstGeom prst="rect">
            <a:avLst/>
          </a:prstGeom>
          <a:solidFill>
            <a:srgbClr val="2b1d12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Aptos"/>
                <a:ea typeface="Aptos"/>
              </a:rPr>
              <a:t>6× peak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Aptos"/>
                <a:ea typeface="Aptos"/>
              </a:rPr>
              <a:t>162M forecasts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8fafc"/>
                </a:solidFill>
                <a:latin typeface="Aptos"/>
                <a:ea typeface="Aptos"/>
              </a:rPr>
              <a:t>42.24M optimization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13"/>
          <p:cNvSpPr/>
          <p:nvPr/>
        </p:nvSpPr>
        <p:spPr>
          <a:xfrm>
            <a:off x="8259120" y="1841760"/>
            <a:ext cx="2331360" cy="1096920"/>
          </a:xfrm>
          <a:prstGeom prst="rect">
            <a:avLst/>
          </a:prstGeom>
          <a:solidFill>
            <a:srgbClr val="14251d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Aptos"/>
                <a:ea typeface="Aptos"/>
              </a:rPr>
              <a:t>198.7 min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Aptos"/>
                <a:ea typeface="Aptos"/>
              </a:rPr>
              <a:t>target runtime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8fafc"/>
                </a:solidFill>
                <a:latin typeface="Aptos"/>
                <a:ea typeface="Aptos"/>
              </a:rPr>
              <a:t>inside 240 min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14"/>
          <p:cNvSpPr/>
          <p:nvPr/>
        </p:nvSpPr>
        <p:spPr>
          <a:xfrm>
            <a:off x="733680" y="34876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8fafc"/>
                </a:solidFill>
                <a:latin typeface="Aptos"/>
              </a:rPr>
              <a:t>Deadline window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72"/>
          <p:cNvSpPr/>
          <p:nvPr/>
        </p:nvSpPr>
        <p:spPr>
          <a:xfrm>
            <a:off x="2864160" y="3551760"/>
            <a:ext cx="6857640" cy="310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73"/>
          <p:cNvSpPr/>
          <p:nvPr/>
        </p:nvSpPr>
        <p:spPr>
          <a:xfrm>
            <a:off x="2864160" y="3551760"/>
            <a:ext cx="5687280" cy="310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74"/>
          <p:cNvSpPr/>
          <p:nvPr/>
        </p:nvSpPr>
        <p:spPr>
          <a:xfrm>
            <a:off x="8551800" y="3551760"/>
            <a:ext cx="1170000" cy="310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15"/>
          <p:cNvSpPr/>
          <p:nvPr/>
        </p:nvSpPr>
        <p:spPr>
          <a:xfrm>
            <a:off x="2864160" y="39816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Aptos"/>
                <a:ea typeface="Aptos"/>
              </a:rPr>
              <a:t>198.7 min calculated target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16"/>
          <p:cNvSpPr/>
          <p:nvPr/>
        </p:nvSpPr>
        <p:spPr>
          <a:xfrm>
            <a:off x="8396280" y="39816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bf24"/>
                </a:solidFill>
                <a:latin typeface="Aptos"/>
                <a:ea typeface="Aptos"/>
              </a:rPr>
              <a:t>41.3 min headroom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17"/>
          <p:cNvSpPr/>
          <p:nvPr/>
        </p:nvSpPr>
        <p:spPr>
          <a:xfrm>
            <a:off x="9219240" y="33231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bd5e1"/>
                </a:solidFill>
                <a:latin typeface="Aptos"/>
                <a:ea typeface="Aptos"/>
              </a:rPr>
              <a:t>240 min window to 04:00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18"/>
          <p:cNvSpPr/>
          <p:nvPr/>
        </p:nvSpPr>
        <p:spPr>
          <a:xfrm>
            <a:off x="761040" y="4767840"/>
            <a:ext cx="3565800" cy="1234080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Business targets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Out-of-stock: 7.2% → 3%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Fresh waste: 4.8% → 3%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8fafc"/>
                </a:solidFill>
                <a:latin typeface="Aptos"/>
                <a:ea typeface="Aptos"/>
              </a:rPr>
              <a:t>WAPE: 41% → ≤25%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19"/>
          <p:cNvSpPr/>
          <p:nvPr/>
        </p:nvSpPr>
        <p:spPr>
          <a:xfrm>
            <a:off x="4601520" y="4767840"/>
            <a:ext cx="3565800" cy="1234080"/>
          </a:xfrm>
          <a:prstGeom prst="rect">
            <a:avLst/>
          </a:prstGeom>
          <a:solidFill>
            <a:srgbClr val="172033"/>
          </a:solidFill>
          <a:ln w="12700">
            <a:solidFill>
              <a:srgbClr val="fbbf24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Inventory uncertainty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78% accuracy ⇒ treat stock as interval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Suppress when uncertainty is too high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Feasible at lower and upper bound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20"/>
          <p:cNvSpPr/>
          <p:nvPr/>
        </p:nvSpPr>
        <p:spPr>
          <a:xfrm>
            <a:off x="8442000" y="4767840"/>
            <a:ext cx="2971440" cy="1234080"/>
          </a:xfrm>
          <a:prstGeom prst="rect">
            <a:avLst/>
          </a:prstGeom>
          <a:solidFill>
            <a:srgbClr val="172033"/>
          </a:solidFill>
          <a:ln w="12700">
            <a:solidFill>
              <a:srgbClr val="38bdf8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Cost gate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Target ≈ $3.8M / year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Hard ceiling: $4M / year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8fafc"/>
                </a:solidFill>
                <a:latin typeface="Aptos"/>
                <a:ea typeface="Aptos"/>
              </a:rPr>
              <a:t>Requires benchmark + production evidence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21"/>
          <p:cNvSpPr/>
          <p:nvPr/>
        </p:nvSpPr>
        <p:spPr>
          <a:xfrm>
            <a:off x="3001320" y="6289920"/>
            <a:ext cx="6171840" cy="383760"/>
          </a:xfrm>
          <a:prstGeom prst="rect">
            <a:avLst/>
          </a:prstGeom>
          <a:solidFill>
            <a:srgbClr val="1f2937">
              <a:alpha val="90000"/>
            </a:srgbClr>
          </a:solidFill>
          <a:ln w="15240">
            <a:solidFill>
              <a:srgbClr val="f8717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8fafc"/>
                </a:solidFill>
                <a:latin typeface="Aptos"/>
                <a:ea typeface="Aptos"/>
              </a:rPr>
              <a:t>These numbers are design targets and release gates — not claimed benchmark results.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22"/>
          <p:cNvSpPr/>
          <p:nvPr/>
        </p:nvSpPr>
        <p:spPr>
          <a:xfrm>
            <a:off x="9875880" y="4575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SIDECAR SYSTEM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713160" y="51192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713160" y="749880"/>
            <a:ext cx="8137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DESIGN DECISIONS &amp;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ADR MATRIX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713160" y="1444680"/>
            <a:ext cx="6583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STRATEGY: MERLIN SIDECAR ARCHITECTURE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713160" y="2121480"/>
            <a:ext cx="5230080" cy="2834280"/>
          </a:xfrm>
          <a:prstGeom prst="roundRect">
            <a:avLst>
              <a:gd name="adj" fmla="val 4516"/>
            </a:avLst>
          </a:prstGeom>
          <a:solidFill>
            <a:srgbClr val="11131c">
              <a:alpha val="96000"/>
            </a:srgbClr>
          </a:solidFill>
          <a:ln w="12700">
            <a:solidFill>
              <a:srgbClr val="376b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1024200" y="24505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TECHNOLOGY &amp; SIDECAR SELECTION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1024200" y="27889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EXTERNAL ASYNC SIDECAR ARCHITECTURE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1024200" y="3310200"/>
            <a:ext cx="42973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3b8c8"/>
                </a:solidFill>
                <a:latin typeface="Roboto"/>
                <a:ea typeface="Roboto"/>
              </a:rPr>
              <a:t>The sidecar separates AI logic from the main MERLIN flow. This maximizes high availability through asynchronous processing and prevents model latency from affecting core operations.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1024200" y="4366440"/>
            <a:ext cx="63720" cy="63720"/>
          </a:xfrm>
          <a:prstGeom prst="rect">
            <a:avLst/>
          </a:prstGeom>
          <a:noFill/>
          <a:ln w="12700">
            <a:solidFill>
              <a:srgbClr val="37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1188720" y="4297680"/>
            <a:ext cx="3200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Roboto"/>
                <a:ea typeface="Roboto"/>
              </a:rPr>
              <a:t>PRIORITIZE MODULAR SIDECAR DESIGN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1024200" y="4686480"/>
            <a:ext cx="63720" cy="63720"/>
          </a:xfrm>
          <a:prstGeom prst="rect">
            <a:avLst/>
          </a:prstGeom>
          <a:noFill/>
          <a:ln w="12700">
            <a:solidFill>
              <a:srgbClr val="37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1188720" y="4617720"/>
            <a:ext cx="3200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Roboto"/>
                <a:ea typeface="Roboto"/>
              </a:rPr>
              <a:t>MAINTAIN MERLIN AVAILABILITY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6272640" y="2121480"/>
            <a:ext cx="5230080" cy="2834280"/>
          </a:xfrm>
          <a:prstGeom prst="roundRect">
            <a:avLst>
              <a:gd name="adj" fmla="val 4516"/>
            </a:avLst>
          </a:prstGeom>
          <a:solidFill>
            <a:srgbClr val="142045">
              <a:alpha val="96000"/>
            </a:srgbClr>
          </a:solidFill>
          <a:ln w="12700">
            <a:solidFill>
              <a:srgbClr val="6e3e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6583680" y="24505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6e3eff"/>
                </a:solidFill>
                <a:latin typeface="Roboto"/>
                <a:ea typeface="Roboto"/>
              </a:rPr>
              <a:t>DATA PROCESSING &amp; ML MODEL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6583680" y="27889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MANAGED ELASTIC &amp; HYBRID ML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6583680" y="3310200"/>
            <a:ext cx="42973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3b8c8"/>
                </a:solidFill>
                <a:latin typeface="Roboto"/>
                <a:ea typeface="Roboto"/>
              </a:rPr>
              <a:t>Managed Elastic Batch provides flexible auto-scaling for large datasets. Combined with Hybrid Hierarchical Statistical ML, it balances classic forecasting with advanced machine learning.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6583680" y="4366440"/>
            <a:ext cx="63720" cy="63720"/>
          </a:xfrm>
          <a:prstGeom prst="rect">
            <a:avLst/>
          </a:prstGeom>
          <a:noFill/>
          <a:ln w="12700">
            <a:solidFill>
              <a:srgbClr val="6e3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6748200" y="4297680"/>
            <a:ext cx="3200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Roboto"/>
                <a:ea typeface="Roboto"/>
              </a:rPr>
              <a:t>AUTOMATIC ELASTIC BATCH SCALING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6583680" y="4686480"/>
            <a:ext cx="63720" cy="63720"/>
          </a:xfrm>
          <a:prstGeom prst="rect">
            <a:avLst/>
          </a:prstGeom>
          <a:noFill/>
          <a:ln w="12700">
            <a:solidFill>
              <a:srgbClr val="6e3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6748200" y="4617720"/>
            <a:ext cx="3200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Roboto"/>
                <a:ea typeface="Roboto"/>
              </a:rPr>
              <a:t>HYBRID STATISTICAL ML FORECASTING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sldNum" idx="12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B931CA-0986-4B35-93E7-865F17137F5B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8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731520" y="5302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6e3eff"/>
                </a:solidFill>
                <a:latin typeface="Roboto"/>
                <a:ea typeface="Roboto"/>
              </a:rPr>
              <a:t>RISK MANAGEMENT / 05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713160" y="749880"/>
            <a:ext cx="3840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ARCHITECTURE </a:t>
            </a:r>
            <a:r>
              <a:rPr b="1" lang="en-US" sz="2800" spc="-1" strike="noStrike">
                <a:solidFill>
                  <a:srgbClr val="8b87a2"/>
                </a:solidFill>
                <a:latin typeface="Noto Sans Display ExtraCondensed"/>
                <a:ea typeface="Noto Sans Display ExtraCondensed"/>
              </a:rPr>
              <a:t>RISK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9144000" y="8686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SIDECAR SYSTEM 2026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731520" y="1627560"/>
            <a:ext cx="10744200" cy="360"/>
          </a:xfrm>
          <a:prstGeom prst="line">
            <a:avLst/>
          </a:prstGeom>
          <a:ln w="12700">
            <a:solidFill>
              <a:srgbClr val="343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731520" y="1993320"/>
            <a:ext cx="136800" cy="2700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731520" y="21762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TIME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731520" y="263340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b3b8c8"/>
                </a:solidFill>
                <a:latin typeface="Roboto"/>
                <a:ea typeface="Roboto"/>
              </a:rPr>
              <a:t>Slow processing impacts global EDI deadlines.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2880360" y="1993320"/>
            <a:ext cx="228240" cy="27000"/>
          </a:xfrm>
          <a:prstGeom prst="rect">
            <a:avLst/>
          </a:prstGeom>
          <a:solidFill>
            <a:srgbClr val="ff424d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2880360" y="21762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DATA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2880360" y="263340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b3b8c8"/>
                </a:solidFill>
                <a:latin typeface="Roboto"/>
                <a:ea typeface="Roboto"/>
              </a:rPr>
              <a:t>Inaccurate inventory can lead to wrong AI recommendations.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13"/>
          <p:cNvSpPr/>
          <p:nvPr/>
        </p:nvSpPr>
        <p:spPr>
          <a:xfrm>
            <a:off x="5029200" y="1993320"/>
            <a:ext cx="136800" cy="2700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5029200" y="21762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CAPACITY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5029200" y="263340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b3b8c8"/>
                </a:solidFill>
                <a:latin typeface="Roboto"/>
                <a:ea typeface="Roboto"/>
              </a:rPr>
              <a:t>Peak processing capacity in the new system.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16"/>
          <p:cNvSpPr/>
          <p:nvPr/>
        </p:nvSpPr>
        <p:spPr>
          <a:xfrm>
            <a:off x="695520" y="4043520"/>
            <a:ext cx="6171840" cy="1261440"/>
          </a:xfrm>
          <a:prstGeom prst="roundRect">
            <a:avLst>
              <a:gd name="adj" fmla="val 10145"/>
            </a:avLst>
          </a:prstGeom>
          <a:solidFill>
            <a:srgbClr val="0c1018">
              <a:alpha val="96000"/>
            </a:srgbClr>
          </a:solidFill>
          <a:ln w="12700">
            <a:solidFill>
              <a:srgbClr val="ff4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1024560" y="4399920"/>
            <a:ext cx="525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40" spc="-1" strike="noStrike">
                <a:solidFill>
                  <a:srgbClr val="ffffff"/>
                </a:solidFill>
                <a:latin typeface="Roboto"/>
                <a:ea typeface="Roboto"/>
              </a:rPr>
              <a:t>“</a:t>
            </a:r>
            <a:r>
              <a:rPr b="1" i="1" lang="en-US" sz="1240" spc="-1" strike="noStrike">
                <a:solidFill>
                  <a:srgbClr val="ffffff"/>
                </a:solidFill>
                <a:latin typeface="Roboto"/>
                <a:ea typeface="Roboto"/>
              </a:rPr>
              <a:t>Protecting the integrity of MERLIN legacy source code is the top priority during modernization.”</a:t>
            </a:r>
            <a:endParaRPr b="0" lang="en-US" sz="12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1024560" y="491220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7f8497"/>
                </a:solidFill>
                <a:latin typeface="Roboto"/>
                <a:ea typeface="Roboto"/>
              </a:rPr>
              <a:t>— </a:t>
            </a:r>
            <a:r>
              <a:rPr b="0" lang="en-US" sz="860" spc="-1" strike="noStrike">
                <a:solidFill>
                  <a:srgbClr val="7f8497"/>
                </a:solidFill>
                <a:latin typeface="Roboto"/>
                <a:ea typeface="Roboto"/>
              </a:rPr>
              <a:t>SYSTEM ENGINEERING TEAM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0" name="Image 0" descr="/mnt/data/merlin_assets/food_safety.png"/>
          <p:cNvPicPr/>
          <p:nvPr/>
        </p:nvPicPr>
        <p:blipFill>
          <a:blip r:embed="rId1"/>
          <a:stretch/>
        </p:blipFill>
        <p:spPr>
          <a:xfrm>
            <a:off x="7196400" y="2030040"/>
            <a:ext cx="4315680" cy="1481040"/>
          </a:xfrm>
          <a:prstGeom prst="rect">
            <a:avLst/>
          </a:prstGeom>
          <a:ln w="0">
            <a:noFill/>
          </a:ln>
        </p:spPr>
      </p:pic>
      <p:sp>
        <p:nvSpPr>
          <p:cNvPr id="291" name="Shape 19"/>
          <p:cNvSpPr/>
          <p:nvPr/>
        </p:nvSpPr>
        <p:spPr>
          <a:xfrm>
            <a:off x="7196400" y="3730680"/>
            <a:ext cx="2066040" cy="840960"/>
          </a:xfrm>
          <a:prstGeom prst="roundRect">
            <a:avLst>
              <a:gd name="adj" fmla="val 15217"/>
            </a:avLst>
          </a:prstGeom>
          <a:solidFill>
            <a:srgbClr val="1a2344">
              <a:alpha val="96000"/>
            </a:srgbClr>
          </a:solidFill>
          <a:ln w="12700">
            <a:solidFill>
              <a:srgbClr val="354372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20"/>
          <p:cNvSpPr/>
          <p:nvPr/>
        </p:nvSpPr>
        <p:spPr>
          <a:xfrm>
            <a:off x="7479720" y="3968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424d"/>
                </a:solidFill>
                <a:latin typeface="Noto Sans Display ExtraCondensed"/>
                <a:ea typeface="Noto Sans Display ExtraCondensed"/>
              </a:rPr>
              <a:t>LEVEL 5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1"/>
          <p:cNvSpPr/>
          <p:nvPr/>
        </p:nvSpPr>
        <p:spPr>
          <a:xfrm>
            <a:off x="7479720" y="4370760"/>
            <a:ext cx="1462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pc="-1" strike="noStrike">
                <a:solidFill>
                  <a:srgbClr val="7f8497"/>
                </a:solidFill>
                <a:latin typeface="Roboto"/>
                <a:ea typeface="Roboto"/>
              </a:rPr>
              <a:t>RISK LEVEL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22"/>
          <p:cNvSpPr/>
          <p:nvPr/>
        </p:nvSpPr>
        <p:spPr>
          <a:xfrm>
            <a:off x="9464040" y="3730680"/>
            <a:ext cx="2066040" cy="840960"/>
          </a:xfrm>
          <a:prstGeom prst="roundRect">
            <a:avLst>
              <a:gd name="adj" fmla="val 15217"/>
            </a:avLst>
          </a:prstGeom>
          <a:solidFill>
            <a:srgbClr val="1a2344">
              <a:alpha val="96000"/>
            </a:srgbClr>
          </a:solidFill>
          <a:ln w="12700">
            <a:solidFill>
              <a:srgbClr val="354372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3"/>
          <p:cNvSpPr/>
          <p:nvPr/>
        </p:nvSpPr>
        <p:spPr>
          <a:xfrm>
            <a:off x="9738360" y="3968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FIS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24"/>
          <p:cNvSpPr/>
          <p:nvPr/>
        </p:nvSpPr>
        <p:spPr>
          <a:xfrm>
            <a:off x="9582840" y="4370760"/>
            <a:ext cx="18284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pc="-1" strike="noStrike">
                <a:solidFill>
                  <a:srgbClr val="7f8497"/>
                </a:solidFill>
                <a:latin typeface="Roboto"/>
                <a:ea typeface="Roboto"/>
              </a:rPr>
              <a:t>RISK TECH STANDARD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25"/>
          <p:cNvSpPr/>
          <p:nvPr/>
        </p:nvSpPr>
        <p:spPr>
          <a:xfrm>
            <a:off x="7196400" y="4782240"/>
            <a:ext cx="4315680" cy="895680"/>
          </a:xfrm>
          <a:prstGeom prst="roundRect">
            <a:avLst>
              <a:gd name="adj" fmla="val 14286"/>
            </a:avLst>
          </a:prstGeom>
          <a:solidFill>
            <a:srgbClr val="1a2344">
              <a:alpha val="96000"/>
            </a:srgbClr>
          </a:solidFill>
          <a:ln w="12700">
            <a:solidFill>
              <a:srgbClr val="354372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6"/>
          <p:cNvSpPr/>
          <p:nvPr/>
        </p:nvSpPr>
        <p:spPr>
          <a:xfrm>
            <a:off x="7406640" y="5010840"/>
            <a:ext cx="23770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b3b8c8"/>
                </a:solidFill>
                <a:latin typeface="Roboto"/>
                <a:ea typeface="Roboto"/>
              </a:rPr>
              <a:t>COMPLIANCE &amp; OPERATIONS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27"/>
          <p:cNvSpPr/>
          <p:nvPr/>
        </p:nvSpPr>
        <p:spPr>
          <a:xfrm>
            <a:off x="7406640" y="5321880"/>
            <a:ext cx="116100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7f84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28"/>
          <p:cNvSpPr/>
          <p:nvPr/>
        </p:nvSpPr>
        <p:spPr>
          <a:xfrm>
            <a:off x="7406640" y="5372280"/>
            <a:ext cx="1161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7f8497"/>
                </a:solidFill>
                <a:latin typeface="Roboto"/>
                <a:ea typeface="Roboto"/>
              </a:rPr>
              <a:t>FOOD SAFETY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29"/>
          <p:cNvSpPr/>
          <p:nvPr/>
        </p:nvSpPr>
        <p:spPr>
          <a:xfrm>
            <a:off x="8668440" y="5321880"/>
            <a:ext cx="116100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7f84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0"/>
          <p:cNvSpPr/>
          <p:nvPr/>
        </p:nvSpPr>
        <p:spPr>
          <a:xfrm>
            <a:off x="8668440" y="5372280"/>
            <a:ext cx="1161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7f8497"/>
                </a:solidFill>
                <a:latin typeface="Roboto"/>
                <a:ea typeface="Roboto"/>
              </a:rPr>
              <a:t>SOURCE-CODE INTEGRITY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31"/>
          <p:cNvSpPr/>
          <p:nvPr/>
        </p:nvSpPr>
        <p:spPr>
          <a:xfrm>
            <a:off x="9930240" y="5321880"/>
            <a:ext cx="116100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7f8497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2"/>
          <p:cNvSpPr/>
          <p:nvPr/>
        </p:nvSpPr>
        <p:spPr>
          <a:xfrm>
            <a:off x="9930240" y="5372280"/>
            <a:ext cx="11610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7f8497"/>
                </a:solidFill>
                <a:latin typeface="Roboto"/>
                <a:ea typeface="Roboto"/>
              </a:rPr>
              <a:t>AI KILL SWITCH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Num" idx="13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870D40-95B2-4752-9239-02DF1320D8AE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9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607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0" y="0"/>
            <a:ext cx="3382920" cy="6857640"/>
          </a:xfrm>
          <a:prstGeom prst="rect">
            <a:avLst/>
          </a:prstGeom>
          <a:solidFill>
            <a:srgbClr val="2c1e5f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7498080" y="2926080"/>
            <a:ext cx="4690440" cy="3931560"/>
          </a:xfrm>
          <a:prstGeom prst="rect">
            <a:avLst/>
          </a:prstGeom>
          <a:solidFill>
            <a:srgbClr val="203a8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3"/>
          <p:cNvSpPr/>
          <p:nvPr/>
        </p:nvSpPr>
        <p:spPr>
          <a:xfrm>
            <a:off x="731520" y="329040"/>
            <a:ext cx="585000" cy="3636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1353240" y="3110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3b8c8"/>
                </a:solidFill>
                <a:latin typeface="Roboto"/>
                <a:ea typeface="Roboto"/>
              </a:rPr>
              <a:t>AI RETROFIT STRATEGY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713160" y="60336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5-STAGE </a:t>
            </a:r>
            <a:r>
              <a:rPr b="1" lang="en-US" sz="2800" spc="-1" strike="noStrike">
                <a:solidFill>
                  <a:srgbClr val="376bff"/>
                </a:solidFill>
                <a:latin typeface="Noto Sans Display ExtraCondensed"/>
                <a:ea typeface="Noto Sans Display ExtraCondensed"/>
              </a:rPr>
              <a:t>ROLLOUT ROADMAP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2" name="Image 0" descr="/mnt/data/merlin_assets/roadmap_top.png"/>
          <p:cNvPicPr/>
          <p:nvPr/>
        </p:nvPicPr>
        <p:blipFill>
          <a:blip r:embed="rId1"/>
          <a:stretch/>
        </p:blipFill>
        <p:spPr>
          <a:xfrm>
            <a:off x="7644240" y="274320"/>
            <a:ext cx="3858480" cy="2057040"/>
          </a:xfrm>
          <a:prstGeom prst="rect">
            <a:avLst/>
          </a:prstGeom>
          <a:ln w="0">
            <a:noFill/>
          </a:ln>
        </p:spPr>
      </p:pic>
      <p:sp>
        <p:nvSpPr>
          <p:cNvPr id="313" name="Text 6"/>
          <p:cNvSpPr/>
          <p:nvPr/>
        </p:nvSpPr>
        <p:spPr>
          <a:xfrm>
            <a:off x="7772400" y="248724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20" spc="-1" strike="noStrike">
                <a:solidFill>
                  <a:srgbClr val="b3b8c8"/>
                </a:solidFill>
                <a:latin typeface="Roboto"/>
                <a:ea typeface="Roboto"/>
              </a:rPr>
              <a:t>“</a:t>
            </a:r>
            <a:r>
              <a:rPr b="0" i="1" lang="en-US" sz="820" spc="-1" strike="noStrike">
                <a:solidFill>
                  <a:srgbClr val="b3b8c8"/>
                </a:solidFill>
                <a:latin typeface="Roboto"/>
                <a:ea typeface="Roboto"/>
              </a:rPr>
              <a:t>AI acts as an operational accelerator, while MERLIN remains the irreplaceable core platform.”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11475720" y="2359080"/>
            <a:ext cx="36360" cy="438480"/>
          </a:xfrm>
          <a:prstGeom prst="rect">
            <a:avLst/>
          </a:prstGeom>
          <a:solidFill>
            <a:srgbClr val="376bf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731520" y="3127320"/>
            <a:ext cx="5303160" cy="1115280"/>
          </a:xfrm>
          <a:prstGeom prst="roundRect">
            <a:avLst>
              <a:gd name="adj" fmla="val 11475"/>
            </a:avLst>
          </a:prstGeom>
          <a:solidFill>
            <a:srgbClr val="11131c">
              <a:alpha val="96000"/>
            </a:srgbClr>
          </a:solidFill>
          <a:ln w="12700">
            <a:solidFill>
              <a:srgbClr val="2a3150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960120" y="338328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IMPLEMENTATION ROADMAP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4617720" y="3328560"/>
            <a:ext cx="114264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11"/>
          <p:cNvSpPr/>
          <p:nvPr/>
        </p:nvSpPr>
        <p:spPr>
          <a:xfrm>
            <a:off x="4617720" y="3378600"/>
            <a:ext cx="1142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PROCESS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960120" y="3721680"/>
            <a:ext cx="4160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376bff"/>
                </a:solidFill>
                <a:latin typeface="Roboto"/>
                <a:ea typeface="Roboto"/>
              </a:rPr>
              <a:t>DISCOVERY → REPLAY → SHADOW → PILOT → EXPANSION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960120" y="396864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The rollout keeps the legacy system safe through strict testing and control steps.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6236280" y="3127320"/>
            <a:ext cx="5239080" cy="1115280"/>
          </a:xfrm>
          <a:prstGeom prst="roundRect">
            <a:avLst>
              <a:gd name="adj" fmla="val 11475"/>
            </a:avLst>
          </a:prstGeom>
          <a:solidFill>
            <a:srgbClr val="11131c">
              <a:alpha val="96000"/>
            </a:srgbClr>
          </a:solidFill>
          <a:ln w="12700">
            <a:solidFill>
              <a:srgbClr val="ff424d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6464880" y="338328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KILL SWITCH MECHANISM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10058400" y="3328560"/>
            <a:ext cx="114264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ff424d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10058400" y="3378600"/>
            <a:ext cx="1142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ff424d"/>
                </a:solidFill>
                <a:latin typeface="Roboto"/>
                <a:ea typeface="Roboto"/>
              </a:rPr>
              <a:t>EMERGENCY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6464880" y="3721680"/>
            <a:ext cx="4160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ff424d"/>
                </a:solidFill>
                <a:latin typeface="Roboto"/>
                <a:ea typeface="Roboto"/>
              </a:rPr>
              <a:t>SYSTEM SAFETY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9"/>
          <p:cNvSpPr/>
          <p:nvPr/>
        </p:nvSpPr>
        <p:spPr>
          <a:xfrm>
            <a:off x="6464880" y="3968640"/>
            <a:ext cx="4690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The integrated kill switch detaches the sidecar immediately during severe incidents.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731520" y="4645080"/>
            <a:ext cx="5303160" cy="1115280"/>
          </a:xfrm>
          <a:prstGeom prst="roundRect">
            <a:avLst>
              <a:gd name="adj" fmla="val 11475"/>
            </a:avLst>
          </a:prstGeom>
          <a:solidFill>
            <a:srgbClr val="142045">
              <a:alpha val="96000"/>
            </a:srgbClr>
          </a:solidFill>
          <a:ln w="12700">
            <a:solidFill>
              <a:srgbClr val="2a3150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21"/>
          <p:cNvSpPr/>
          <p:nvPr/>
        </p:nvSpPr>
        <p:spPr>
          <a:xfrm>
            <a:off x="960120" y="49010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ACCEPTANCE CRITERIA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22"/>
          <p:cNvSpPr/>
          <p:nvPr/>
        </p:nvSpPr>
        <p:spPr>
          <a:xfrm>
            <a:off x="4617720" y="4846320"/>
            <a:ext cx="114264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376b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23"/>
          <p:cNvSpPr/>
          <p:nvPr/>
        </p:nvSpPr>
        <p:spPr>
          <a:xfrm>
            <a:off x="4617720" y="4896720"/>
            <a:ext cx="1142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376bff"/>
                </a:solidFill>
                <a:latin typeface="Roboto"/>
                <a:ea typeface="Roboto"/>
              </a:rPr>
              <a:t>ACCEPTANCE TEST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960120" y="5239440"/>
            <a:ext cx="4160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376bff"/>
                </a:solidFill>
                <a:latin typeface="Roboto"/>
                <a:ea typeface="Roboto"/>
              </a:rPr>
              <a:t>OPERATIONAL INDEPENDENCE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25"/>
          <p:cNvSpPr/>
          <p:nvPr/>
        </p:nvSpPr>
        <p:spPr>
          <a:xfrm>
            <a:off x="960120" y="548640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MERLIN must continue operating normally and stably even without AI support.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26"/>
          <p:cNvSpPr/>
          <p:nvPr/>
        </p:nvSpPr>
        <p:spPr>
          <a:xfrm>
            <a:off x="6236280" y="4645080"/>
            <a:ext cx="5239080" cy="1115280"/>
          </a:xfrm>
          <a:prstGeom prst="roundRect">
            <a:avLst>
              <a:gd name="adj" fmla="val 11475"/>
            </a:avLst>
          </a:prstGeom>
          <a:solidFill>
            <a:srgbClr val="11131c">
              <a:alpha val="96000"/>
            </a:srgbClr>
          </a:solidFill>
          <a:ln w="12700">
            <a:solidFill>
              <a:srgbClr val="2a3150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7"/>
          <p:cNvSpPr/>
          <p:nvPr/>
        </p:nvSpPr>
        <p:spPr>
          <a:xfrm>
            <a:off x="6464880" y="49010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Noto Sans Display ExtraCondensed"/>
                <a:ea typeface="Noto Sans Display ExtraCondensed"/>
              </a:rPr>
              <a:t>STRATEGIC CONCLUSION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28"/>
          <p:cNvSpPr/>
          <p:nvPr/>
        </p:nvSpPr>
        <p:spPr>
          <a:xfrm>
            <a:off x="10058400" y="4846320"/>
            <a:ext cx="1142640" cy="228240"/>
          </a:xfrm>
          <a:prstGeom prst="roundRect">
            <a:avLst>
              <a:gd name="adj" fmla="val 36000"/>
            </a:avLst>
          </a:prstGeom>
          <a:solidFill>
            <a:srgbClr val="1a2549">
              <a:alpha val="95000"/>
            </a:srgbClr>
          </a:solidFill>
          <a:ln w="12700">
            <a:solidFill>
              <a:srgbClr val="6e3eff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29"/>
          <p:cNvSpPr/>
          <p:nvPr/>
        </p:nvSpPr>
        <p:spPr>
          <a:xfrm>
            <a:off x="10058400" y="4896720"/>
            <a:ext cx="1142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6e3eff"/>
                </a:solidFill>
                <a:latin typeface="Roboto"/>
                <a:ea typeface="Roboto"/>
              </a:rPr>
              <a:t>SUMMARY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30"/>
          <p:cNvSpPr/>
          <p:nvPr/>
        </p:nvSpPr>
        <p:spPr>
          <a:xfrm>
            <a:off x="6464880" y="5239440"/>
            <a:ext cx="4160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6e3eff"/>
                </a:solidFill>
                <a:latin typeface="Roboto"/>
                <a:ea typeface="Roboto"/>
              </a:rPr>
              <a:t>AI &amp; MERLIN COLLABORATION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31"/>
          <p:cNvSpPr/>
          <p:nvPr/>
        </p:nvSpPr>
        <p:spPr>
          <a:xfrm>
            <a:off x="6464880" y="5486400"/>
            <a:ext cx="4690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3b8c8"/>
                </a:solidFill>
                <a:latin typeface="Roboto"/>
                <a:ea typeface="Roboto"/>
              </a:rPr>
              <a:t>AI accelerates performance, while MERLIN remains the irreplaceable foundation.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sldNum" idx="14"/>
          </p:nvPr>
        </p:nvSpPr>
        <p:spPr>
          <a:xfrm>
            <a:off x="1129284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2a3f7c"/>
                </a:solidFill>
                <a:latin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75C8DF-1166-4928-8DDE-AF0AD6945C26}" type="slidenum">
              <a:rPr b="0" lang="en-US" sz="1200" spc="-1" strike="noStrike">
                <a:solidFill>
                  <a:srgbClr val="2a3f7c"/>
                </a:solidFill>
                <a:latin typeface="Roboto"/>
              </a:rPr>
              <a:t>10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ExtraCondensed" pitchFamily="0" charset="1"/>
        <a:ea typeface=""/>
        <a:cs typeface=""/>
      </a:majorFont>
      <a:minorFont>
        <a:latin typeface="Robo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ExtraCondensed" pitchFamily="0" charset="1"/>
        <a:ea typeface=""/>
        <a:cs typeface=""/>
      </a:majorFont>
      <a:minorFont>
        <a:latin typeface="Robo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LibreOffice/24.2.1.2$MacOSX_AARCH64 LibreOffice_project/db4def46b0453cc22e2d0305797cf981b68ef5ac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2026-07-25T13:05:27Z</dcterms:created>
  <dc:creator>OpenAI</dc:creator>
  <dc:description/>
  <dc:language>en-US</dc:language>
  <cp:lastModifiedBy/>
  <dcterms:modified xsi:type="dcterms:W3CDTF">2026-07-25T21:40:13Z</dcterms:modified>
  <cp:revision>4</cp:revision>
  <dc:subject>MERLIN 2026 AI Retrofit Sidecar Architecture</dc:subject>
  <dc:title>MERLIN 2026 AI Retrofit Sidecar Architecture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