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7.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Aptos"/>
              </a:rPr>
              <a:t>Click to move the slide</a:t>
            </a:r>
            <a:endParaRPr b="0" lang="en-US" sz="1800" spc="-1" strike="noStrike">
              <a:solidFill>
                <a:schemeClr val="dk1"/>
              </a:solidFill>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6DF97D6-264C-4D42-8354-AAED2776643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morning everyone. Our core design message is simple: protect MERLIN, add intelligence, and never block orders. Variant B uses an external asynchronous AI sidecar. AI recommends; it does not order. MERLIN remains the authority for supplier orders and EDI. If the AI run is late, incomplete, disabled, or unsafe, it publishes nothing and the existing MERLIN process continues.</a:t>
            </a:r>
            <a:endParaRPr b="0" lang="en-US" sz="2000" spc="-1" strike="noStrike">
              <a:solidFill>
                <a:srgbClr val="000000"/>
              </a:solidFill>
              <a:latin typeface="Arial"/>
            </a:endParaRPr>
          </a:p>
        </p:txBody>
      </p:sp>
      <p:sp>
        <p:nvSpPr>
          <p:cNvPr id="22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1C55A2E-541A-4E74-BD1B-5190D40EE92D}"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talk has five moves. First, the operating principle. Second, the legacy constraints. Third, the architecture boundary. Fourth, the nightly fail-open process. Fifth, the release gates and risks. This keeps the presentation focused for eight minutes and prepares us for Q and A.</a:t>
            </a:r>
            <a:endParaRPr b="0" lang="en-US" sz="2000" spc="-1" strike="noStrike">
              <a:solidFill>
                <a:srgbClr val="000000"/>
              </a:solidFill>
              <a:latin typeface="Arial"/>
            </a:endParaRPr>
          </a:p>
        </p:txBody>
      </p:sp>
      <p:sp>
        <p:nvSpPr>
          <p:cNvPr id="22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ECD7B4-5047-41FB-929C-E96B673E77E1}"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executive message is that MERLIN stays in control. AI is not replacing the replenishment engine. It produces forecasts and bounded recommendations. The certified adapter writes only approved rows. MERLIN reads those rows, runs the unchanged engine, and creates the official order. The key safety test is the 03:30 failure scenario. If AI dies late, we do not chase a recovery that could endanger the 04:00 deadline.</a:t>
            </a:r>
            <a:endParaRPr b="0" lang="en-US" sz="2000" spc="-1" strike="noStrike">
              <a:solidFill>
                <a:srgbClr val="000000"/>
              </a:solidFill>
              <a:latin typeface="Arial"/>
            </a:endParaRPr>
          </a:p>
        </p:txBody>
      </p:sp>
      <p:sp>
        <p:nvSpPr>
          <p:cNvPr id="23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A85F059-8ED8-4B9F-8FDF-B4A67C117266}"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retrofit starts from what we cannot change. We cannot change POS, EDI, the MERLIN engine, the order authority, or the 04:00 deadline. We also avoid undocumented tables and internal scheduling. Therefore, the sidecar has exactly three integration points: a read-only nightly snapshot, a bounded override table before order generation, and a post-generation review queue for audit. There is no invented fourth interface.</a:t>
            </a:r>
            <a:endParaRPr b="0" lang="en-US" sz="2000" spc="-1" strike="noStrike">
              <a:solidFill>
                <a:srgbClr val="000000"/>
              </a:solidFill>
              <a:latin typeface="Arial"/>
            </a:endParaRPr>
          </a:p>
        </p:txBody>
      </p:sp>
      <p:sp>
        <p:nvSpPr>
          <p:cNvPr id="23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A45AF11-2DC0-41D6-9FC2-431503B15922}"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At context level, the AI sidecar is outside the ordering critical path. The sidecar consumes read-only snapshot data, produces recommendations, and writes only bounded rows. MERLIN still owns order generation and EDI. This slide also clarifies non-goals: AI does not call POS, AI does not send EDI, AI does not contact suppliers, and the associate copilot is read-only.</a:t>
            </a:r>
            <a:endParaRPr b="0" lang="en-US" sz="2000" spc="-1" strike="noStrike">
              <a:solidFill>
                <a:srgbClr val="000000"/>
              </a:solidFill>
              <a:latin typeface="Arial"/>
            </a:endParaRPr>
          </a:p>
        </p:txBody>
      </p:sp>
      <p:sp>
        <p:nvSpPr>
          <p:cNvPr id="23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9F6321-CCD6-43AA-AD83-EF040F91EF9D}"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container view shows why this is safer than embedding AI into MERLIN. Snapshot validation protects input quality and residency. Forecast ML produces expected demand and quantiles. A deterministic optimizer applies hard constraints such as case pack, shelf life, DC capacity, inventory intervals, and category caps. The certified adapter is the only write path, and it writes only current-run, bounded, validated rows.</a:t>
            </a:r>
            <a:endParaRPr b="0" lang="en-US" sz="2000" spc="-1" strike="noStrike">
              <a:solidFill>
                <a:srgbClr val="000000"/>
              </a:solidFill>
              <a:latin typeface="Arial"/>
            </a:endParaRPr>
          </a:p>
        </p:txBody>
      </p:sp>
      <p:sp>
        <p:nvSpPr>
          <p:cNvPr id="24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417612C-B831-4A03-8852-174B04AD2B06}"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nightly timeline protects delivery. The batch starts at 22:00. Validation, forecasting, and optimization must complete before the late-stage gates. At 01:30, new retries stop. At 01:45, incomplete partitions result in no publication. At 02:00, the AI write window closes. This only works if MERLIN P99 order generation is within 90 minutes. If not, the gate must move earlier.</a:t>
            </a:r>
            <a:endParaRPr b="0" lang="en-US" sz="2000" spc="-1" strike="noStrike">
              <a:solidFill>
                <a:srgbClr val="000000"/>
              </a:solidFill>
              <a:latin typeface="Arial"/>
            </a:endParaRPr>
          </a:p>
        </p:txBody>
      </p:sp>
      <p:sp>
        <p:nvSpPr>
          <p:cNvPr id="24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D041CD-E6A3-4A0F-99FD-A53FA7355821}"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numbers are deliberately framed as release gates, not claimed results. We must process 27 million forecasts per night and around 7.04 million optimized candidates. At six times peak, the system must absorb 162 million forecasts. The target runtime is 198.7 minutes inside a 240-minute window. Business targets include out-of-stock reduction, fresh waste reduction, and WAPE improvement. The risk is inventory accuracy: with 78 percent accuracy, stock is an interval, so high-uncertainty recommendations must be suppressed.</a:t>
            </a:r>
            <a:endParaRPr b="0" lang="en-US" sz="2000" spc="-1" strike="noStrike">
              <a:solidFill>
                <a:srgbClr val="000000"/>
              </a:solidFill>
              <a:latin typeface="Arial"/>
            </a:endParaRPr>
          </a:p>
        </p:txBody>
      </p:sp>
      <p:sp>
        <p:nvSpPr>
          <p:cNvPr id="24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096940F-E858-458B-A077-1A53FF5FD9B3}"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ADR story is straightforward. The external async sidecar protects availability. The deterministic optimizer makes recommendations explainable and bounded. The certified adapter makes every write controlled and auditable. The risk controls are concrete: gates for deadlines, interval-based suppression for inventory errors, six-times benchmarks for capacity, read-only evidence for food-safety content, and a realistic kill switch with independent revoke.</a:t>
            </a:r>
            <a:endParaRPr b="0" lang="en-US" sz="2000" spc="-1" strike="noStrike">
              <a:solidFill>
                <a:srgbClr val="000000"/>
              </a:solidFill>
              <a:latin typeface="Arial"/>
            </a:endParaRPr>
          </a:p>
        </p:txBody>
      </p:sp>
      <p:sp>
        <p:nvSpPr>
          <p:cNvPr id="25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E31F569-C0FF-4116-BA21-5AB6815FBE3A}" type="slidenum">
              <a:rPr b="0" lang="en-US" sz="1200" spc="-1" strike="noStrike">
                <a:solidFill>
                  <a:schemeClr val="dk1"/>
                </a:solidFill>
                <a:latin typeface="+mn-lt"/>
                <a:ea typeface="+mn-ea"/>
              </a:rPr>
              <a:t>10</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rollout is conservative: discovery, replay, shadow, pilot, then expansion. The acceptance criterion is not only model accuracy. MERLIN must continue to operate normally without AI. That is the strategic conclusion: this is not an AI-first architecture. It is a MERLIN-safe modernization architecture, with narrow interfaces, measurable gates, and no dependency on AI for order completion.</a:t>
            </a:r>
            <a:endParaRPr b="0" lang="en-US" sz="2000" spc="-1" strike="noStrike">
              <a:solidFill>
                <a:srgbClr val="000000"/>
              </a:solidFill>
              <a:latin typeface="Arial"/>
            </a:endParaRPr>
          </a:p>
        </p:txBody>
      </p:sp>
      <p:sp>
        <p:nvSpPr>
          <p:cNvPr id="25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12BAAD5-5A7E-46F8-A4D5-3D5C7FBD17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Click to edit the title text format</a:t>
            </a:r>
            <a:endParaRPr b="0" lang="en-US" sz="1800" spc="-1" strike="noStrike">
              <a:solidFill>
                <a:schemeClr val="dk1"/>
              </a:solidFill>
              <a:latin typeface="Aptos"/>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Aptos"/>
              </a:rPr>
              <a:t>Second Outline Level</a:t>
            </a:r>
            <a:endParaRPr b="0" lang="en-US" sz="2400" spc="-1" strike="noStrike">
              <a:solidFill>
                <a:schemeClr val="dk1"/>
              </a:solidFill>
              <a:latin typeface="Aptos"/>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Aptos"/>
              </a:rPr>
              <a:t>Third Outline Level</a:t>
            </a:r>
            <a:endParaRPr b="0" lang="en-US" sz="2000" spc="-1" strike="noStrike">
              <a:solidFill>
                <a:schemeClr val="dk1"/>
              </a:solidFill>
              <a:latin typeface="Aptos"/>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Aptos"/>
              </a:rPr>
              <a:t>Fourth Outline Level</a:t>
            </a:r>
            <a:endParaRPr b="0" lang="en-US" sz="2000" spc="-1" strike="noStrike">
              <a:solidFill>
                <a:schemeClr val="dk1"/>
              </a:solidFill>
              <a:latin typeface="Aptos"/>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8"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 name="Text 1"/>
          <p:cNvSpPr/>
          <p:nvPr/>
        </p:nvSpPr>
        <p:spPr>
          <a:xfrm>
            <a:off x="548640" y="502920"/>
            <a:ext cx="67662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1" strike="noStrike">
                <a:solidFill>
                  <a:srgbClr val="2dd4bf"/>
                </a:solidFill>
                <a:latin typeface="Aptos"/>
                <a:ea typeface="Aptos"/>
              </a:rPr>
              <a:t>WORKSHOP 1 — END-TO-END AI SYSTEM DESIGN LAB</a:t>
            </a:r>
            <a:endParaRPr b="0" lang="en-US" sz="950" spc="-1" strike="noStrike">
              <a:solidFill>
                <a:srgbClr val="ffffff"/>
              </a:solidFill>
              <a:latin typeface="Arial"/>
            </a:endParaRPr>
          </a:p>
        </p:txBody>
      </p:sp>
      <p:sp>
        <p:nvSpPr>
          <p:cNvPr id="10" name="Text 2"/>
          <p:cNvSpPr/>
          <p:nvPr/>
        </p:nvSpPr>
        <p:spPr>
          <a:xfrm>
            <a:off x="548640" y="1078920"/>
            <a:ext cx="7497720" cy="1416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800" spc="-1" strike="noStrike">
                <a:solidFill>
                  <a:srgbClr val="ffffff"/>
                </a:solidFill>
                <a:latin typeface="Aptos Display"/>
                <a:ea typeface="Aptos Display"/>
              </a:rPr>
              <a:t>AI Retrofit Sidecar</a:t>
            </a:r>
            <a:endParaRPr b="0" lang="en-US" sz="3800" spc="-1" strike="noStrike">
              <a:solidFill>
                <a:srgbClr val="ffffff"/>
              </a:solidFill>
              <a:latin typeface="Arial"/>
            </a:endParaRPr>
          </a:p>
          <a:p>
            <a:pPr defTabSz="914400">
              <a:lnSpc>
                <a:spcPct val="100000"/>
              </a:lnSpc>
              <a:tabLst>
                <a:tab algn="l" pos="0"/>
              </a:tabLst>
            </a:pPr>
            <a:r>
              <a:rPr b="1" lang="en-US" sz="3800" spc="-1" strike="noStrike">
                <a:solidFill>
                  <a:srgbClr val="ffffff"/>
                </a:solidFill>
                <a:latin typeface="Aptos Display"/>
                <a:ea typeface="Aptos Display"/>
              </a:rPr>
              <a:t>Architecture</a:t>
            </a:r>
            <a:endParaRPr b="0" lang="en-US" sz="3800" spc="-1" strike="noStrike">
              <a:solidFill>
                <a:srgbClr val="ffffff"/>
              </a:solidFill>
              <a:latin typeface="Arial"/>
            </a:endParaRPr>
          </a:p>
        </p:txBody>
      </p:sp>
      <p:sp>
        <p:nvSpPr>
          <p:cNvPr id="11" name="Text 3"/>
          <p:cNvSpPr/>
          <p:nvPr/>
        </p:nvSpPr>
        <p:spPr>
          <a:xfrm>
            <a:off x="567000" y="2615040"/>
            <a:ext cx="76806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e5e7eb"/>
                </a:solidFill>
                <a:latin typeface="Aptos"/>
                <a:ea typeface="Aptos"/>
              </a:rPr>
              <a:t>Protect MERLIN. Add intelligence. Never block orders.</a:t>
            </a:r>
            <a:endParaRPr b="0" lang="en-US" sz="1600" spc="-1" strike="noStrike">
              <a:solidFill>
                <a:srgbClr val="ffffff"/>
              </a:solidFill>
              <a:latin typeface="Arial"/>
            </a:endParaRPr>
          </a:p>
        </p:txBody>
      </p:sp>
      <p:sp>
        <p:nvSpPr>
          <p:cNvPr id="12" name="Text 4"/>
          <p:cNvSpPr/>
          <p:nvPr/>
        </p:nvSpPr>
        <p:spPr>
          <a:xfrm>
            <a:off x="567000" y="3337560"/>
            <a:ext cx="1535760" cy="310680"/>
          </a:xfrm>
          <a:prstGeom prst="rect">
            <a:avLst/>
          </a:prstGeom>
          <a:solidFill>
            <a:srgbClr val="101827"/>
          </a:solidFill>
          <a:ln w="12700">
            <a:solidFill>
              <a:srgbClr val="2dd4bf">
                <a:alpha val="65000"/>
              </a:srgbClr>
            </a:solidFill>
            <a:round/>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920" spc="-1" strike="noStrike">
                <a:solidFill>
                  <a:srgbClr val="2dd4bf"/>
                </a:solidFill>
                <a:latin typeface="Aptos"/>
                <a:ea typeface="Aptos"/>
              </a:rPr>
              <a:t>AI recommends</a:t>
            </a:r>
            <a:endParaRPr b="0" lang="en-US" sz="920" spc="-1" strike="noStrike">
              <a:solidFill>
                <a:srgbClr val="ffffff"/>
              </a:solidFill>
              <a:latin typeface="Arial"/>
            </a:endParaRPr>
          </a:p>
        </p:txBody>
      </p:sp>
      <p:sp>
        <p:nvSpPr>
          <p:cNvPr id="13" name="Text 5"/>
          <p:cNvSpPr/>
          <p:nvPr/>
        </p:nvSpPr>
        <p:spPr>
          <a:xfrm>
            <a:off x="2331720" y="3337560"/>
            <a:ext cx="1608840" cy="310680"/>
          </a:xfrm>
          <a:prstGeom prst="rect">
            <a:avLst/>
          </a:prstGeom>
          <a:solidFill>
            <a:srgbClr val="101827"/>
          </a:solidFill>
          <a:ln w="12700">
            <a:solidFill>
              <a:srgbClr val="38bdf8">
                <a:alpha val="65000"/>
              </a:srgbClr>
            </a:solidFill>
            <a:round/>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920" spc="-1" strike="noStrike">
                <a:solidFill>
                  <a:srgbClr val="38bdf8"/>
                </a:solidFill>
                <a:latin typeface="Aptos"/>
                <a:ea typeface="Aptos"/>
              </a:rPr>
              <a:t>MERLIN orders</a:t>
            </a:r>
            <a:endParaRPr b="0" lang="en-US" sz="920" spc="-1" strike="noStrike">
              <a:solidFill>
                <a:srgbClr val="ffffff"/>
              </a:solidFill>
              <a:latin typeface="Arial"/>
            </a:endParaRPr>
          </a:p>
        </p:txBody>
      </p:sp>
      <p:sp>
        <p:nvSpPr>
          <p:cNvPr id="14" name="Text 6"/>
          <p:cNvSpPr/>
          <p:nvPr/>
        </p:nvSpPr>
        <p:spPr>
          <a:xfrm>
            <a:off x="4187880" y="3337560"/>
            <a:ext cx="1298160" cy="310680"/>
          </a:xfrm>
          <a:prstGeom prst="rect">
            <a:avLst/>
          </a:prstGeom>
          <a:solidFill>
            <a:srgbClr val="101827"/>
          </a:solidFill>
          <a:ln w="12700">
            <a:solidFill>
              <a:srgbClr val="22c55e">
                <a:alpha val="65000"/>
              </a:srgbClr>
            </a:solidFill>
            <a:round/>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920" spc="-1" strike="noStrike">
                <a:solidFill>
                  <a:srgbClr val="22c55e"/>
                </a:solidFill>
                <a:latin typeface="Aptos"/>
                <a:ea typeface="Aptos"/>
              </a:rPr>
              <a:t>Fail-open</a:t>
            </a:r>
            <a:endParaRPr b="0" lang="en-US" sz="920" spc="-1" strike="noStrike">
              <a:solidFill>
                <a:srgbClr val="ffffff"/>
              </a:solidFill>
              <a:latin typeface="Arial"/>
            </a:endParaRPr>
          </a:p>
        </p:txBody>
      </p:sp>
      <p:sp>
        <p:nvSpPr>
          <p:cNvPr id="15" name="Text 7"/>
          <p:cNvSpPr/>
          <p:nvPr/>
        </p:nvSpPr>
        <p:spPr>
          <a:xfrm>
            <a:off x="5715000" y="3337560"/>
            <a:ext cx="1919880" cy="310680"/>
          </a:xfrm>
          <a:prstGeom prst="rect">
            <a:avLst/>
          </a:prstGeom>
          <a:solidFill>
            <a:srgbClr val="101827"/>
          </a:solidFill>
          <a:ln w="12700">
            <a:solidFill>
              <a:srgbClr val="f59e0b">
                <a:alpha val="65000"/>
              </a:srgbClr>
            </a:solidFill>
            <a:round/>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920" spc="-1" strike="noStrike">
                <a:solidFill>
                  <a:srgbClr val="f59e0b"/>
                </a:solidFill>
                <a:latin typeface="Aptos"/>
                <a:ea typeface="Aptos"/>
              </a:rPr>
              <a:t>Outside critical path</a:t>
            </a:r>
            <a:endParaRPr b="0" lang="en-US" sz="920" spc="-1" strike="noStrike">
              <a:solidFill>
                <a:srgbClr val="ffffff"/>
              </a:solidFill>
              <a:latin typeface="Arial"/>
            </a:endParaRPr>
          </a:p>
        </p:txBody>
      </p:sp>
      <p:sp>
        <p:nvSpPr>
          <p:cNvPr id="16" name="Text 8"/>
          <p:cNvSpPr/>
          <p:nvPr/>
        </p:nvSpPr>
        <p:spPr>
          <a:xfrm>
            <a:off x="567000" y="4572000"/>
            <a:ext cx="3245760" cy="95976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Principle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AI outputs forecasts and bounded recommendations only.</a:t>
            </a:r>
            <a:endParaRPr b="0" lang="en-US" sz="1150" spc="-1" strike="noStrike">
              <a:solidFill>
                <a:srgbClr val="ffffff"/>
              </a:solidFill>
              <a:latin typeface="Arial"/>
            </a:endParaRPr>
          </a:p>
        </p:txBody>
      </p:sp>
      <p:sp>
        <p:nvSpPr>
          <p:cNvPr id="17" name="Text 9"/>
          <p:cNvSpPr/>
          <p:nvPr/>
        </p:nvSpPr>
        <p:spPr>
          <a:xfrm>
            <a:off x="4462200" y="4572000"/>
            <a:ext cx="3245760" cy="95976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Safety</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Late, incomplete, disabled, or unsafe AI publishes nothing.</a:t>
            </a:r>
            <a:endParaRPr b="0" lang="en-US" sz="1150" spc="-1" strike="noStrike">
              <a:solidFill>
                <a:srgbClr val="ffffff"/>
              </a:solidFill>
              <a:latin typeface="Arial"/>
            </a:endParaRPr>
          </a:p>
        </p:txBody>
      </p:sp>
      <p:sp>
        <p:nvSpPr>
          <p:cNvPr id="18" name="Text 10"/>
          <p:cNvSpPr/>
          <p:nvPr/>
        </p:nvSpPr>
        <p:spPr>
          <a:xfrm>
            <a:off x="8348400" y="4572000"/>
            <a:ext cx="3245760" cy="959760"/>
          </a:xfrm>
          <a:prstGeom prst="rect">
            <a:avLst/>
          </a:prstGeom>
          <a:solidFill>
            <a:srgbClr val="101827">
              <a:alpha val="98000"/>
            </a:srgbClr>
          </a:solidFill>
          <a:ln w="15240">
            <a:solidFill>
              <a:srgbClr val="38bdf8">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Authority</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MERLIN remains the only system that creates supplier orders and sends EDI.</a:t>
            </a:r>
            <a:endParaRPr b="0" lang="en-US" sz="1150" spc="-1" strike="noStrike">
              <a:solidFill>
                <a:srgbClr val="ffffff"/>
              </a:solidFill>
              <a:latin typeface="Arial"/>
            </a:endParaRPr>
          </a:p>
        </p:txBody>
      </p:sp>
      <p:sp>
        <p:nvSpPr>
          <p:cNvPr id="19" name="Shape 11"/>
          <p:cNvSpPr/>
          <p:nvPr/>
        </p:nvSpPr>
        <p:spPr>
          <a:xfrm rot="1800000">
            <a:off x="8430480" y="804600"/>
            <a:ext cx="2742840" cy="2742840"/>
          </a:xfrm>
          <a:prstGeom prst="arc">
            <a:avLst>
              <a:gd name="adj1" fmla="val 16200000"/>
              <a:gd name="adj2" fmla="val 0"/>
            </a:avLst>
          </a:prstGeom>
          <a:noFill/>
          <a:ln w="25400">
            <a:solidFill>
              <a:srgbClr val="2dd4bf">
                <a:alpha val="90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Shape 12"/>
          <p:cNvSpPr/>
          <p:nvPr/>
        </p:nvSpPr>
        <p:spPr>
          <a:xfrm rot="12600000">
            <a:off x="8988480" y="1344600"/>
            <a:ext cx="1645560" cy="1645560"/>
          </a:xfrm>
          <a:prstGeom prst="arc">
            <a:avLst>
              <a:gd name="adj1" fmla="val 16200000"/>
              <a:gd name="adj2" fmla="val 0"/>
            </a:avLst>
          </a:prstGeom>
          <a:noFill/>
          <a:ln w="25400">
            <a:solidFill>
              <a:srgbClr val="38bdf8">
                <a:alpha val="90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3"/>
          <p:cNvSpPr/>
          <p:nvPr/>
        </p:nvSpPr>
        <p:spPr>
          <a:xfrm>
            <a:off x="9829800" y="6053400"/>
            <a:ext cx="173700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00" spc="-1" strike="noStrike">
                <a:solidFill>
                  <a:srgbClr val="94a3b8"/>
                </a:solidFill>
                <a:latin typeface="Aptos"/>
                <a:ea typeface="Aptos"/>
              </a:rPr>
              <a:t>GROUP 4</a:t>
            </a:r>
            <a:endParaRPr b="0" lang="en-US" sz="1000" spc="-1" strike="noStrike">
              <a:solidFill>
                <a:srgbClr val="ffffff"/>
              </a:solidFill>
              <a:latin typeface="Arial"/>
            </a:endParaRPr>
          </a:p>
        </p:txBody>
      </p:sp>
      <p:sp>
        <p:nvSpPr>
          <p:cNvPr id="22" name="Text 1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23" name="Text 1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01</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24"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PRESENTATION FLOW</a:t>
            </a:r>
            <a:endParaRPr b="0" lang="en-US" sz="820" spc="-1" strike="noStrike">
              <a:solidFill>
                <a:srgbClr val="ffffff"/>
              </a:solidFill>
              <a:latin typeface="Arial"/>
            </a:endParaRPr>
          </a:p>
        </p:txBody>
      </p:sp>
      <p:sp>
        <p:nvSpPr>
          <p:cNvPr id="26"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Agenda</a:t>
            </a:r>
            <a:endParaRPr b="0" lang="en-US" sz="2350" spc="-1" strike="noStrike">
              <a:solidFill>
                <a:srgbClr val="ffffff"/>
              </a:solidFill>
              <a:latin typeface="Arial"/>
            </a:endParaRPr>
          </a:p>
        </p:txBody>
      </p:sp>
      <p:sp>
        <p:nvSpPr>
          <p:cNvPr id="27" name="Text 3"/>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28" name="Text 4"/>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02</a:t>
            </a:r>
            <a:endParaRPr b="0" lang="en-US" sz="850" spc="-1" strike="noStrike">
              <a:solidFill>
                <a:srgbClr val="ffffff"/>
              </a:solidFill>
              <a:latin typeface="Arial"/>
            </a:endParaRPr>
          </a:p>
        </p:txBody>
      </p:sp>
      <p:sp>
        <p:nvSpPr>
          <p:cNvPr id="29" name="Text 5"/>
          <p:cNvSpPr/>
          <p:nvPr/>
        </p:nvSpPr>
        <p:spPr>
          <a:xfrm>
            <a:off x="640080" y="1554480"/>
            <a:ext cx="502560" cy="50256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1</a:t>
            </a:r>
            <a:endParaRPr b="0" lang="en-US" sz="1600" spc="-1" strike="noStrike">
              <a:solidFill>
                <a:srgbClr val="ffffff"/>
              </a:solidFill>
              <a:latin typeface="Arial"/>
            </a:endParaRPr>
          </a:p>
        </p:txBody>
      </p:sp>
      <p:sp>
        <p:nvSpPr>
          <p:cNvPr id="30" name="Text 6"/>
          <p:cNvSpPr/>
          <p:nvPr/>
        </p:nvSpPr>
        <p:spPr>
          <a:xfrm>
            <a:off x="1298520" y="1536120"/>
            <a:ext cx="1416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Aptos Display"/>
                <a:ea typeface="Aptos Display"/>
              </a:rPr>
              <a:t>Operating principle</a:t>
            </a:r>
            <a:endParaRPr b="0" lang="en-US" sz="1350" spc="-1" strike="noStrike">
              <a:solidFill>
                <a:srgbClr val="ffffff"/>
              </a:solidFill>
              <a:latin typeface="Arial"/>
            </a:endParaRPr>
          </a:p>
        </p:txBody>
      </p:sp>
      <p:sp>
        <p:nvSpPr>
          <p:cNvPr id="31" name="Text 7"/>
          <p:cNvSpPr/>
          <p:nvPr/>
        </p:nvSpPr>
        <p:spPr>
          <a:xfrm>
            <a:off x="1298520" y="1892880"/>
            <a:ext cx="1572480" cy="914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960" spc="-1" strike="noStrike">
                <a:solidFill>
                  <a:srgbClr val="94a3b8"/>
                </a:solidFill>
                <a:latin typeface="Aptos"/>
                <a:ea typeface="Aptos"/>
              </a:rPr>
              <a:t>Why the sidecar exists and what it must never do</a:t>
            </a:r>
            <a:endParaRPr b="0" lang="en-US" sz="960" spc="-1" strike="noStrike">
              <a:solidFill>
                <a:srgbClr val="ffffff"/>
              </a:solidFill>
              <a:latin typeface="Arial"/>
            </a:endParaRPr>
          </a:p>
        </p:txBody>
      </p:sp>
      <p:sp>
        <p:nvSpPr>
          <p:cNvPr id="32" name="Shape 8"/>
          <p:cNvSpPr/>
          <p:nvPr/>
        </p:nvSpPr>
        <p:spPr>
          <a:xfrm>
            <a:off x="1234440" y="1913760"/>
            <a:ext cx="1389600" cy="360"/>
          </a:xfrm>
          <a:prstGeom prst="line">
            <a:avLst/>
          </a:prstGeom>
          <a:ln w="1524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3" name="Text 9"/>
          <p:cNvSpPr/>
          <p:nvPr/>
        </p:nvSpPr>
        <p:spPr>
          <a:xfrm>
            <a:off x="2880360" y="1554480"/>
            <a:ext cx="502560" cy="502560"/>
          </a:xfrm>
          <a:prstGeom prst="rect">
            <a:avLst/>
          </a:prstGeom>
          <a:solidFill>
            <a:srgbClr val="101827"/>
          </a:solidFill>
          <a:ln w="15240">
            <a:solidFill>
              <a:srgbClr val="334155"/>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2</a:t>
            </a:r>
            <a:endParaRPr b="0" lang="en-US" sz="1600" spc="-1" strike="noStrike">
              <a:solidFill>
                <a:srgbClr val="ffffff"/>
              </a:solidFill>
              <a:latin typeface="Arial"/>
            </a:endParaRPr>
          </a:p>
        </p:txBody>
      </p:sp>
      <p:sp>
        <p:nvSpPr>
          <p:cNvPr id="34" name="Text 10"/>
          <p:cNvSpPr/>
          <p:nvPr/>
        </p:nvSpPr>
        <p:spPr>
          <a:xfrm>
            <a:off x="3538800" y="1536120"/>
            <a:ext cx="1416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Aptos Display"/>
                <a:ea typeface="Aptos Display"/>
              </a:rPr>
              <a:t>Legacy constraints</a:t>
            </a:r>
            <a:endParaRPr b="0" lang="en-US" sz="1350" spc="-1" strike="noStrike">
              <a:solidFill>
                <a:srgbClr val="ffffff"/>
              </a:solidFill>
              <a:latin typeface="Arial"/>
            </a:endParaRPr>
          </a:p>
        </p:txBody>
      </p:sp>
      <p:sp>
        <p:nvSpPr>
          <p:cNvPr id="35" name="Text 11"/>
          <p:cNvSpPr/>
          <p:nvPr/>
        </p:nvSpPr>
        <p:spPr>
          <a:xfrm>
            <a:off x="3538800" y="1892880"/>
            <a:ext cx="1572480" cy="914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960" spc="-1" strike="noStrike">
                <a:solidFill>
                  <a:srgbClr val="94a3b8"/>
                </a:solidFill>
                <a:latin typeface="Aptos"/>
                <a:ea typeface="Aptos"/>
              </a:rPr>
              <a:t>What can change, cannot change, and how we integrate safely</a:t>
            </a:r>
            <a:endParaRPr b="0" lang="en-US" sz="960" spc="-1" strike="noStrike">
              <a:solidFill>
                <a:srgbClr val="ffffff"/>
              </a:solidFill>
              <a:latin typeface="Arial"/>
            </a:endParaRPr>
          </a:p>
        </p:txBody>
      </p:sp>
      <p:sp>
        <p:nvSpPr>
          <p:cNvPr id="36" name="Shape 12"/>
          <p:cNvSpPr/>
          <p:nvPr/>
        </p:nvSpPr>
        <p:spPr>
          <a:xfrm>
            <a:off x="3474720" y="1913760"/>
            <a:ext cx="1389600" cy="360"/>
          </a:xfrm>
          <a:prstGeom prst="line">
            <a:avLst/>
          </a:prstGeom>
          <a:ln w="1524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 name="Text 13"/>
          <p:cNvSpPr/>
          <p:nvPr/>
        </p:nvSpPr>
        <p:spPr>
          <a:xfrm>
            <a:off x="5120640" y="1554480"/>
            <a:ext cx="502560" cy="502560"/>
          </a:xfrm>
          <a:prstGeom prst="rect">
            <a:avLst/>
          </a:prstGeom>
          <a:solidFill>
            <a:srgbClr val="101827"/>
          </a:solidFill>
          <a:ln w="15240">
            <a:solidFill>
              <a:srgbClr val="334155"/>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3</a:t>
            </a:r>
            <a:endParaRPr b="0" lang="en-US" sz="1600" spc="-1" strike="noStrike">
              <a:solidFill>
                <a:srgbClr val="ffffff"/>
              </a:solidFill>
              <a:latin typeface="Arial"/>
            </a:endParaRPr>
          </a:p>
        </p:txBody>
      </p:sp>
      <p:sp>
        <p:nvSpPr>
          <p:cNvPr id="38" name="Text 14"/>
          <p:cNvSpPr/>
          <p:nvPr/>
        </p:nvSpPr>
        <p:spPr>
          <a:xfrm>
            <a:off x="5779080" y="1536120"/>
            <a:ext cx="1416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Aptos Display"/>
                <a:ea typeface="Aptos Display"/>
              </a:rPr>
              <a:t>Architecture</a:t>
            </a:r>
            <a:endParaRPr b="0" lang="en-US" sz="1350" spc="-1" strike="noStrike">
              <a:solidFill>
                <a:srgbClr val="ffffff"/>
              </a:solidFill>
              <a:latin typeface="Arial"/>
            </a:endParaRPr>
          </a:p>
        </p:txBody>
      </p:sp>
      <p:sp>
        <p:nvSpPr>
          <p:cNvPr id="39" name="Text 15"/>
          <p:cNvSpPr/>
          <p:nvPr/>
        </p:nvSpPr>
        <p:spPr>
          <a:xfrm>
            <a:off x="5779080" y="1892880"/>
            <a:ext cx="1572480" cy="914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960" spc="-1" strike="noStrike">
                <a:solidFill>
                  <a:srgbClr val="94a3b8"/>
                </a:solidFill>
                <a:latin typeface="Aptos"/>
                <a:ea typeface="Aptos"/>
              </a:rPr>
              <a:t>Context, container, and hard runtime boundaries</a:t>
            </a:r>
            <a:endParaRPr b="0" lang="en-US" sz="960" spc="-1" strike="noStrike">
              <a:solidFill>
                <a:srgbClr val="ffffff"/>
              </a:solidFill>
              <a:latin typeface="Arial"/>
            </a:endParaRPr>
          </a:p>
        </p:txBody>
      </p:sp>
      <p:sp>
        <p:nvSpPr>
          <p:cNvPr id="40" name="Shape 16"/>
          <p:cNvSpPr/>
          <p:nvPr/>
        </p:nvSpPr>
        <p:spPr>
          <a:xfrm>
            <a:off x="5715000" y="1805760"/>
            <a:ext cx="1389600" cy="360"/>
          </a:xfrm>
          <a:prstGeom prst="line">
            <a:avLst/>
          </a:prstGeom>
          <a:ln w="1524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1" name="Text 17"/>
          <p:cNvSpPr/>
          <p:nvPr/>
        </p:nvSpPr>
        <p:spPr>
          <a:xfrm>
            <a:off x="7360920" y="1554480"/>
            <a:ext cx="502560" cy="502560"/>
          </a:xfrm>
          <a:prstGeom prst="rect">
            <a:avLst/>
          </a:prstGeom>
          <a:solidFill>
            <a:srgbClr val="101827"/>
          </a:solidFill>
          <a:ln w="15240">
            <a:solidFill>
              <a:srgbClr val="334155"/>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4</a:t>
            </a:r>
            <a:endParaRPr b="0" lang="en-US" sz="1600" spc="-1" strike="noStrike">
              <a:solidFill>
                <a:srgbClr val="ffffff"/>
              </a:solidFill>
              <a:latin typeface="Arial"/>
            </a:endParaRPr>
          </a:p>
        </p:txBody>
      </p:sp>
      <p:sp>
        <p:nvSpPr>
          <p:cNvPr id="42" name="Text 18"/>
          <p:cNvSpPr/>
          <p:nvPr/>
        </p:nvSpPr>
        <p:spPr>
          <a:xfrm>
            <a:off x="8019360" y="1536120"/>
            <a:ext cx="1416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Aptos Display"/>
                <a:ea typeface="Aptos Display"/>
              </a:rPr>
              <a:t>Nightly flow</a:t>
            </a:r>
            <a:endParaRPr b="0" lang="en-US" sz="1350" spc="-1" strike="noStrike">
              <a:solidFill>
                <a:srgbClr val="ffffff"/>
              </a:solidFill>
              <a:latin typeface="Arial"/>
            </a:endParaRPr>
          </a:p>
        </p:txBody>
      </p:sp>
      <p:sp>
        <p:nvSpPr>
          <p:cNvPr id="43" name="Text 19"/>
          <p:cNvSpPr/>
          <p:nvPr/>
        </p:nvSpPr>
        <p:spPr>
          <a:xfrm>
            <a:off x="8019360" y="1892880"/>
            <a:ext cx="1572480" cy="914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960" spc="-1" strike="noStrike">
                <a:solidFill>
                  <a:srgbClr val="94a3b8"/>
                </a:solidFill>
                <a:latin typeface="Aptos"/>
                <a:ea typeface="Aptos"/>
              </a:rPr>
              <a:t>Fail-open gates before the 04:00 EDI deadline</a:t>
            </a:r>
            <a:endParaRPr b="0" lang="en-US" sz="960" spc="-1" strike="noStrike">
              <a:solidFill>
                <a:srgbClr val="ffffff"/>
              </a:solidFill>
              <a:latin typeface="Arial"/>
            </a:endParaRPr>
          </a:p>
        </p:txBody>
      </p:sp>
      <p:sp>
        <p:nvSpPr>
          <p:cNvPr id="44" name="Shape 20"/>
          <p:cNvSpPr/>
          <p:nvPr/>
        </p:nvSpPr>
        <p:spPr>
          <a:xfrm>
            <a:off x="7955280" y="1805760"/>
            <a:ext cx="1389600" cy="360"/>
          </a:xfrm>
          <a:prstGeom prst="line">
            <a:avLst/>
          </a:prstGeom>
          <a:ln w="1524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5" name="Text 21"/>
          <p:cNvSpPr/>
          <p:nvPr/>
        </p:nvSpPr>
        <p:spPr>
          <a:xfrm>
            <a:off x="9601200" y="1554480"/>
            <a:ext cx="502560" cy="502560"/>
          </a:xfrm>
          <a:prstGeom prst="rect">
            <a:avLst/>
          </a:prstGeom>
          <a:solidFill>
            <a:srgbClr val="101827"/>
          </a:solidFill>
          <a:ln w="15240">
            <a:solidFill>
              <a:srgbClr val="334155"/>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5</a:t>
            </a:r>
            <a:endParaRPr b="0" lang="en-US" sz="1600" spc="-1" strike="noStrike">
              <a:solidFill>
                <a:srgbClr val="ffffff"/>
              </a:solidFill>
              <a:latin typeface="Arial"/>
            </a:endParaRPr>
          </a:p>
        </p:txBody>
      </p:sp>
      <p:sp>
        <p:nvSpPr>
          <p:cNvPr id="46" name="Text 22"/>
          <p:cNvSpPr/>
          <p:nvPr/>
        </p:nvSpPr>
        <p:spPr>
          <a:xfrm>
            <a:off x="10259640" y="1536120"/>
            <a:ext cx="1416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Aptos Display"/>
                <a:ea typeface="Aptos Display"/>
              </a:rPr>
              <a:t>Release gates</a:t>
            </a:r>
            <a:endParaRPr b="0" lang="en-US" sz="1350" spc="-1" strike="noStrike">
              <a:solidFill>
                <a:srgbClr val="ffffff"/>
              </a:solidFill>
              <a:latin typeface="Arial"/>
            </a:endParaRPr>
          </a:p>
        </p:txBody>
      </p:sp>
      <p:sp>
        <p:nvSpPr>
          <p:cNvPr id="47" name="Text 23"/>
          <p:cNvSpPr/>
          <p:nvPr/>
        </p:nvSpPr>
        <p:spPr>
          <a:xfrm>
            <a:off x="10259640" y="1892880"/>
            <a:ext cx="1572480" cy="914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960" spc="-1" strike="noStrike">
                <a:solidFill>
                  <a:srgbClr val="94a3b8"/>
                </a:solidFill>
                <a:latin typeface="Aptos"/>
                <a:ea typeface="Aptos"/>
              </a:rPr>
              <a:t>NFRs, cost, rollout, and top risks</a:t>
            </a:r>
            <a:endParaRPr b="0" lang="en-US" sz="960" spc="-1" strike="noStrike">
              <a:solidFill>
                <a:srgbClr val="ffffff"/>
              </a:solidFill>
              <a:latin typeface="Arial"/>
            </a:endParaRPr>
          </a:p>
        </p:txBody>
      </p:sp>
      <p:sp>
        <p:nvSpPr>
          <p:cNvPr id="48" name="Text 24"/>
          <p:cNvSpPr/>
          <p:nvPr/>
        </p:nvSpPr>
        <p:spPr>
          <a:xfrm>
            <a:off x="932760" y="4407480"/>
            <a:ext cx="10149480" cy="68544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In 8 minutes, the goal is not to describe every component. The goal is to defend one architectural decision: keep AI outside MERLIN’s critical path.</a:t>
            </a:r>
            <a:endParaRPr b="0" lang="en-US" sz="1100" spc="-1" strike="noStrike">
              <a:solidFill>
                <a:srgbClr val="ffffff"/>
              </a:solidFill>
              <a:latin typeface="Arial"/>
            </a:endParaRPr>
          </a:p>
        </p:txBody>
      </p:sp>
      <p:sp>
        <p:nvSpPr>
          <p:cNvPr id="49" name="Text 25"/>
          <p:cNvSpPr/>
          <p:nvPr/>
        </p:nvSpPr>
        <p:spPr>
          <a:xfrm>
            <a:off x="868680" y="5623560"/>
            <a:ext cx="2742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Aptos Display"/>
                <a:ea typeface="Aptos Display"/>
              </a:rPr>
              <a:t>Presentation discipline</a:t>
            </a:r>
            <a:endParaRPr b="0" lang="en-US" sz="1600" spc="-1" strike="noStrike">
              <a:solidFill>
                <a:srgbClr val="ffffff"/>
              </a:solidFill>
              <a:latin typeface="Arial"/>
            </a:endParaRPr>
          </a:p>
        </p:txBody>
      </p:sp>
      <p:sp>
        <p:nvSpPr>
          <p:cNvPr id="50" name="Text 26"/>
          <p:cNvSpPr/>
          <p:nvPr/>
        </p:nvSpPr>
        <p:spPr>
          <a:xfrm>
            <a:off x="3657600" y="5504760"/>
            <a:ext cx="6949080" cy="594000"/>
          </a:xfrm>
          <a:prstGeom prst="rect">
            <a:avLst/>
          </a:prstGeom>
          <a:noFill/>
          <a:ln w="0">
            <a:noFill/>
          </a:ln>
        </p:spPr>
        <p:style>
          <a:lnRef idx="0"/>
          <a:fillRef idx="0"/>
          <a:effectRef idx="0"/>
          <a:fontRef idx="minor"/>
        </p:style>
        <p:txBody>
          <a:bodyPr lIns="720" rIns="720" tIns="720" bIns="720" anchor="t">
            <a:normAutofit/>
          </a:bodyPr>
          <a:p>
            <a:r>
              <a:rPr b="0" lang="en-US" sz="1130" spc="-1" strike="noStrike">
                <a:solidFill>
                  <a:srgbClr val="e5e7eb"/>
                </a:solidFill>
                <a:latin typeface="Aptos"/>
                <a:ea typeface="Aptos"/>
              </a:rPr>
              <a:t>• </a:t>
            </a:r>
            <a:r>
              <a:rPr b="0" lang="en-US" sz="1130" spc="-1" strike="noStrike">
                <a:solidFill>
                  <a:srgbClr val="e5e7eb"/>
                </a:solidFill>
                <a:latin typeface="Aptos"/>
                <a:ea typeface="Aptos"/>
              </a:rPr>
              <a:t>Lead with constraints, not technology</a:t>
            </a:r>
            <a:endParaRPr b="0" lang="en-US" sz="1130" spc="-1" strike="noStrike">
              <a:solidFill>
                <a:srgbClr val="ffffff"/>
              </a:solidFill>
              <a:latin typeface="Arial"/>
            </a:endParaRPr>
          </a:p>
          <a:p>
            <a:r>
              <a:rPr b="0" lang="en-US" sz="1130" spc="-1" strike="noStrike">
                <a:solidFill>
                  <a:srgbClr val="e5e7eb"/>
                </a:solidFill>
                <a:latin typeface="Aptos"/>
                <a:ea typeface="Aptos"/>
              </a:rPr>
              <a:t>• </a:t>
            </a:r>
            <a:r>
              <a:rPr b="0" lang="en-US" sz="1130" spc="-1" strike="noStrike">
                <a:solidFill>
                  <a:srgbClr val="e5e7eb"/>
                </a:solidFill>
                <a:latin typeface="Aptos"/>
                <a:ea typeface="Aptos"/>
              </a:rPr>
              <a:t>Tie every component to a failure mode</a:t>
            </a:r>
            <a:endParaRPr b="0" lang="en-US" sz="1130" spc="-1" strike="noStrike">
              <a:solidFill>
                <a:srgbClr val="ffffff"/>
              </a:solidFill>
              <a:latin typeface="Arial"/>
            </a:endParaRPr>
          </a:p>
          <a:p>
            <a:pPr defTabSz="914400">
              <a:lnSpc>
                <a:spcPct val="100000"/>
              </a:lnSpc>
              <a:tabLst>
                <a:tab algn="l" pos="0"/>
              </a:tabLst>
            </a:pPr>
            <a:r>
              <a:rPr b="0" lang="en-US" sz="1130" spc="-1" strike="noStrike">
                <a:solidFill>
                  <a:srgbClr val="e5e7eb"/>
                </a:solidFill>
                <a:latin typeface="Aptos"/>
                <a:ea typeface="Aptos"/>
              </a:rPr>
              <a:t>• </a:t>
            </a:r>
            <a:r>
              <a:rPr b="0" lang="en-US" sz="1130" spc="-1" strike="noStrike">
                <a:solidFill>
                  <a:srgbClr val="e5e7eb"/>
                </a:solidFill>
                <a:latin typeface="Aptos"/>
                <a:ea typeface="Aptos"/>
              </a:rPr>
              <a:t>End with measurable release gates</a:t>
            </a:r>
            <a:endParaRPr b="0" lang="en-US" sz="113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51"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53"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Operating Message &amp; Core Design Principles</a:t>
            </a:r>
            <a:endParaRPr b="0" lang="en-US" sz="2350" spc="-1" strike="noStrike">
              <a:solidFill>
                <a:srgbClr val="ffffff"/>
              </a:solidFill>
              <a:latin typeface="Arial"/>
            </a:endParaRPr>
          </a:p>
        </p:txBody>
      </p:sp>
      <p:sp>
        <p:nvSpPr>
          <p:cNvPr id="54"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Keep MERLIN in control. Let AI fail safely.</a:t>
            </a:r>
            <a:endParaRPr b="0" lang="en-US" sz="1150" spc="-1" strike="noStrike">
              <a:solidFill>
                <a:srgbClr val="ffffff"/>
              </a:solidFill>
              <a:latin typeface="Arial"/>
            </a:endParaRPr>
          </a:p>
        </p:txBody>
      </p:sp>
      <p:sp>
        <p:nvSpPr>
          <p:cNvPr id="55"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56"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03</a:t>
            </a:r>
            <a:endParaRPr b="0" lang="en-US" sz="850" spc="-1" strike="noStrike">
              <a:solidFill>
                <a:srgbClr val="ffffff"/>
              </a:solidFill>
              <a:latin typeface="Arial"/>
            </a:endParaRPr>
          </a:p>
        </p:txBody>
      </p:sp>
      <p:sp>
        <p:nvSpPr>
          <p:cNvPr id="57" name="Text 6"/>
          <p:cNvSpPr/>
          <p:nvPr/>
        </p:nvSpPr>
        <p:spPr>
          <a:xfrm>
            <a:off x="621720" y="1325880"/>
            <a:ext cx="106981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e5e7eb"/>
                </a:solidFill>
                <a:latin typeface="Aptos"/>
                <a:ea typeface="Aptos"/>
              </a:rPr>
              <a:t>Variant B improves forecasting and replenishment recommendations without changing ordering authority.</a:t>
            </a:r>
            <a:endParaRPr b="0" lang="en-US" sz="1500" spc="-1" strike="noStrike">
              <a:solidFill>
                <a:srgbClr val="ffffff"/>
              </a:solidFill>
              <a:latin typeface="Arial"/>
            </a:endParaRPr>
          </a:p>
        </p:txBody>
      </p:sp>
      <p:sp>
        <p:nvSpPr>
          <p:cNvPr id="58" name="Text 7"/>
          <p:cNvSpPr/>
          <p:nvPr/>
        </p:nvSpPr>
        <p:spPr>
          <a:xfrm>
            <a:off x="822960" y="2395800"/>
            <a:ext cx="2377080" cy="82260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AI Sidecar</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Forecasts + recommendations</a:t>
            </a:r>
            <a:endParaRPr b="0" lang="en-US" sz="1250" spc="-1" strike="noStrike">
              <a:solidFill>
                <a:srgbClr val="ffffff"/>
              </a:solidFill>
              <a:latin typeface="Arial"/>
            </a:endParaRPr>
          </a:p>
        </p:txBody>
      </p:sp>
      <p:sp>
        <p:nvSpPr>
          <p:cNvPr id="59" name="Text 8"/>
          <p:cNvSpPr/>
          <p:nvPr/>
        </p:nvSpPr>
        <p:spPr>
          <a:xfrm>
            <a:off x="3657600" y="2395800"/>
            <a:ext cx="2148480" cy="82260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Certified Adapter</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Bounded rows only</a:t>
            </a:r>
            <a:endParaRPr b="0" lang="en-US" sz="1250" spc="-1" strike="noStrike">
              <a:solidFill>
                <a:srgbClr val="ffffff"/>
              </a:solidFill>
              <a:latin typeface="Arial"/>
            </a:endParaRPr>
          </a:p>
        </p:txBody>
      </p:sp>
      <p:sp>
        <p:nvSpPr>
          <p:cNvPr id="60" name="Text 9"/>
          <p:cNvSpPr/>
          <p:nvPr/>
        </p:nvSpPr>
        <p:spPr>
          <a:xfrm>
            <a:off x="6309360" y="2395800"/>
            <a:ext cx="1965600" cy="82260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300" spc="-1" strike="noStrike">
                <a:solidFill>
                  <a:srgbClr val="ffffff"/>
                </a:solidFill>
                <a:latin typeface="Aptos"/>
                <a:ea typeface="Aptos"/>
              </a:rPr>
              <a:t>MERLIN</a:t>
            </a:r>
            <a:endParaRPr b="0" lang="en-US" sz="1300" spc="-1" strike="noStrike">
              <a:solidFill>
                <a:srgbClr val="ffffff"/>
              </a:solidFill>
              <a:latin typeface="Arial"/>
            </a:endParaRPr>
          </a:p>
          <a:p>
            <a:pPr algn="ctr" defTabSz="914400">
              <a:lnSpc>
                <a:spcPct val="100000"/>
              </a:lnSpc>
              <a:tabLst>
                <a:tab algn="l" pos="0"/>
              </a:tabLst>
            </a:pPr>
            <a:r>
              <a:rPr b="1" lang="en-US" sz="1300" spc="-1" strike="noStrike">
                <a:solidFill>
                  <a:srgbClr val="ffffff"/>
                </a:solidFill>
                <a:latin typeface="Aptos"/>
                <a:ea typeface="Aptos"/>
              </a:rPr>
              <a:t>Order authority</a:t>
            </a:r>
            <a:endParaRPr b="0" lang="en-US" sz="1300" spc="-1" strike="noStrike">
              <a:solidFill>
                <a:srgbClr val="ffffff"/>
              </a:solidFill>
              <a:latin typeface="Arial"/>
            </a:endParaRPr>
          </a:p>
        </p:txBody>
      </p:sp>
      <p:sp>
        <p:nvSpPr>
          <p:cNvPr id="61" name="Text 10"/>
          <p:cNvSpPr/>
          <p:nvPr/>
        </p:nvSpPr>
        <p:spPr>
          <a:xfrm>
            <a:off x="8796600" y="2395800"/>
            <a:ext cx="2102760" cy="82260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EDI → Suppliers</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Existing contract</a:t>
            </a:r>
            <a:endParaRPr b="0" lang="en-US" sz="1250" spc="-1" strike="noStrike">
              <a:solidFill>
                <a:srgbClr val="ffffff"/>
              </a:solidFill>
              <a:latin typeface="Arial"/>
            </a:endParaRPr>
          </a:p>
        </p:txBody>
      </p:sp>
      <p:sp>
        <p:nvSpPr>
          <p:cNvPr id="62" name="Shape 11"/>
          <p:cNvSpPr/>
          <p:nvPr/>
        </p:nvSpPr>
        <p:spPr>
          <a:xfrm>
            <a:off x="3227760" y="2806920"/>
            <a:ext cx="37476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63" name="Shape 12"/>
          <p:cNvSpPr/>
          <p:nvPr/>
        </p:nvSpPr>
        <p:spPr>
          <a:xfrm>
            <a:off x="5852160" y="2806920"/>
            <a:ext cx="42048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64" name="Shape 13"/>
          <p:cNvSpPr/>
          <p:nvPr/>
        </p:nvSpPr>
        <p:spPr>
          <a:xfrm>
            <a:off x="8302680" y="2806920"/>
            <a:ext cx="45720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65" name="Text 14"/>
          <p:cNvSpPr/>
          <p:nvPr/>
        </p:nvSpPr>
        <p:spPr>
          <a:xfrm>
            <a:off x="841320" y="3968640"/>
            <a:ext cx="3154320" cy="80424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Not a MERLIN replacement</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AI never owns supplier-order creation.</a:t>
            </a:r>
            <a:endParaRPr b="0" lang="en-US" sz="1150" spc="-1" strike="noStrike">
              <a:solidFill>
                <a:srgbClr val="ffffff"/>
              </a:solidFill>
              <a:latin typeface="Arial"/>
            </a:endParaRPr>
          </a:p>
        </p:txBody>
      </p:sp>
      <p:sp>
        <p:nvSpPr>
          <p:cNvPr id="66" name="Text 15"/>
          <p:cNvSpPr/>
          <p:nvPr/>
        </p:nvSpPr>
        <p:spPr>
          <a:xfrm>
            <a:off x="4526280" y="3968640"/>
            <a:ext cx="3154320" cy="80424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Not in the critical path</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MERLIN can complete the night without AI.</a:t>
            </a:r>
            <a:endParaRPr b="0" lang="en-US" sz="1150" spc="-1" strike="noStrike">
              <a:solidFill>
                <a:srgbClr val="ffffff"/>
              </a:solidFill>
              <a:latin typeface="Arial"/>
            </a:endParaRPr>
          </a:p>
        </p:txBody>
      </p:sp>
      <p:sp>
        <p:nvSpPr>
          <p:cNvPr id="67" name="Text 16"/>
          <p:cNvSpPr/>
          <p:nvPr/>
        </p:nvSpPr>
        <p:spPr>
          <a:xfrm>
            <a:off x="8211240" y="3968640"/>
            <a:ext cx="3154320" cy="80424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Fail-open by default</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Unsafe AI output is treated as no output.</a:t>
            </a:r>
            <a:endParaRPr b="0" lang="en-US" sz="1150" spc="-1" strike="noStrike">
              <a:solidFill>
                <a:srgbClr val="ffffff"/>
              </a:solidFill>
              <a:latin typeface="Arial"/>
            </a:endParaRPr>
          </a:p>
        </p:txBody>
      </p:sp>
      <p:sp>
        <p:nvSpPr>
          <p:cNvPr id="68" name="Text 17"/>
          <p:cNvSpPr/>
          <p:nvPr/>
        </p:nvSpPr>
        <p:spPr>
          <a:xfrm>
            <a:off x="1051560" y="5532120"/>
            <a:ext cx="10012320" cy="511560"/>
          </a:xfrm>
          <a:prstGeom prst="rect">
            <a:avLst/>
          </a:prstGeom>
          <a:solidFill>
            <a:srgbClr val="1f2937"/>
          </a:solidFill>
          <a:ln w="13970">
            <a:solidFill>
              <a:srgbClr val="f87171"/>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Decision test: if AI dies at 03:30, there is no emergency rerun. MERLIN proceeds through the existing min/max path.</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69"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MERLIN SIDECAR SYSTEM 2026</a:t>
            </a:r>
            <a:endParaRPr b="0" lang="en-US" sz="820" spc="-1" strike="noStrike">
              <a:solidFill>
                <a:srgbClr val="ffffff"/>
              </a:solidFill>
              <a:latin typeface="Arial"/>
            </a:endParaRPr>
          </a:p>
        </p:txBody>
      </p:sp>
      <p:sp>
        <p:nvSpPr>
          <p:cNvPr id="71"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Legacy System Assessment &amp; Extension Points</a:t>
            </a:r>
            <a:endParaRPr b="0" lang="en-US" sz="2350" spc="-1" strike="noStrike">
              <a:solidFill>
                <a:srgbClr val="ffffff"/>
              </a:solidFill>
              <a:latin typeface="Arial"/>
            </a:endParaRPr>
          </a:p>
        </p:txBody>
      </p:sp>
      <p:sp>
        <p:nvSpPr>
          <p:cNvPr id="72"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Integrate only where MERLIN already allows it.</a:t>
            </a:r>
            <a:endParaRPr b="0" lang="en-US" sz="1150" spc="-1" strike="noStrike">
              <a:solidFill>
                <a:srgbClr val="ffffff"/>
              </a:solidFill>
              <a:latin typeface="Arial"/>
            </a:endParaRPr>
          </a:p>
        </p:txBody>
      </p:sp>
      <p:sp>
        <p:nvSpPr>
          <p:cNvPr id="73"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74"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04</a:t>
            </a:r>
            <a:endParaRPr b="0" lang="en-US" sz="850" spc="-1" strike="noStrike">
              <a:solidFill>
                <a:srgbClr val="ffffff"/>
              </a:solidFill>
              <a:latin typeface="Arial"/>
            </a:endParaRPr>
          </a:p>
        </p:txBody>
      </p:sp>
      <p:sp>
        <p:nvSpPr>
          <p:cNvPr id="75" name="Text 6"/>
          <p:cNvSpPr/>
          <p:nvPr/>
        </p:nvSpPr>
        <p:spPr>
          <a:xfrm>
            <a:off x="640080" y="1554480"/>
            <a:ext cx="3245760" cy="182844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Can change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External AI sidecar</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Certified adapters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Monitoring and audit</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Disable controls</a:t>
            </a:r>
            <a:endParaRPr b="0" lang="en-US" sz="1200" spc="-1" strike="noStrike">
              <a:solidFill>
                <a:srgbClr val="ffffff"/>
              </a:solidFill>
              <a:latin typeface="Arial"/>
            </a:endParaRPr>
          </a:p>
        </p:txBody>
      </p:sp>
      <p:sp>
        <p:nvSpPr>
          <p:cNvPr id="76" name="Text 7"/>
          <p:cNvSpPr/>
          <p:nvPr/>
        </p:nvSpPr>
        <p:spPr>
          <a:xfrm>
            <a:off x="4480560" y="1554480"/>
            <a:ext cx="3245760" cy="182844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Cannot change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MERLIN engine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Order creation authority</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POS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Fixed EDI format</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04:00 deadline</a:t>
            </a:r>
            <a:endParaRPr b="0" lang="en-US" sz="1200" spc="-1" strike="noStrike">
              <a:solidFill>
                <a:srgbClr val="ffffff"/>
              </a:solidFill>
              <a:latin typeface="Arial"/>
            </a:endParaRPr>
          </a:p>
        </p:txBody>
      </p:sp>
      <p:sp>
        <p:nvSpPr>
          <p:cNvPr id="77" name="Text 8"/>
          <p:cNvSpPr/>
          <p:nvPr/>
        </p:nvSpPr>
        <p:spPr>
          <a:xfrm>
            <a:off x="8321040" y="1554480"/>
            <a:ext cx="3245760" cy="182844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Unsafe to touch</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Undocumented MERLIN tables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Internal scheduler</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Manual row ownership</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Inventory as shelf truth</a:t>
            </a:r>
            <a:endParaRPr b="0" lang="en-US" sz="1200" spc="-1" strike="noStrike">
              <a:solidFill>
                <a:srgbClr val="ffffff"/>
              </a:solidFill>
              <a:latin typeface="Arial"/>
            </a:endParaRPr>
          </a:p>
        </p:txBody>
      </p:sp>
      <p:sp>
        <p:nvSpPr>
          <p:cNvPr id="78" name="Text 9"/>
          <p:cNvSpPr/>
          <p:nvPr/>
        </p:nvSpPr>
        <p:spPr>
          <a:xfrm>
            <a:off x="658440" y="4069080"/>
            <a:ext cx="4571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ffffff"/>
                </a:solidFill>
                <a:latin typeface="Aptos Display"/>
                <a:ea typeface="Aptos Display"/>
              </a:rPr>
              <a:t>Three supported extension points</a:t>
            </a:r>
            <a:endParaRPr b="0" lang="en-US" sz="1800" spc="-1" strike="noStrike">
              <a:solidFill>
                <a:srgbClr val="ffffff"/>
              </a:solidFill>
              <a:latin typeface="Arial"/>
            </a:endParaRPr>
          </a:p>
        </p:txBody>
      </p:sp>
      <p:sp>
        <p:nvSpPr>
          <p:cNvPr id="79" name="Text 10"/>
          <p:cNvSpPr/>
          <p:nvPr/>
        </p:nvSpPr>
        <p:spPr>
          <a:xfrm>
            <a:off x="822960" y="4617720"/>
            <a:ext cx="2742840" cy="86832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1</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Nightly snapshot</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read-only input</a:t>
            </a:r>
            <a:endParaRPr b="0" lang="en-US" sz="1200" spc="-1" strike="noStrike">
              <a:solidFill>
                <a:srgbClr val="ffffff"/>
              </a:solidFill>
              <a:latin typeface="Arial"/>
            </a:endParaRPr>
          </a:p>
        </p:txBody>
      </p:sp>
      <p:sp>
        <p:nvSpPr>
          <p:cNvPr id="80" name="Text 11"/>
          <p:cNvSpPr/>
          <p:nvPr/>
        </p:nvSpPr>
        <p:spPr>
          <a:xfrm>
            <a:off x="4681800" y="4617720"/>
            <a:ext cx="2742840" cy="86832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150" spc="-1" strike="noStrike">
                <a:solidFill>
                  <a:srgbClr val="ffffff"/>
                </a:solidFill>
                <a:latin typeface="Aptos"/>
                <a:ea typeface="Aptos"/>
              </a:rPr>
              <a:t>2</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Override table</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bounded rows before order generation</a:t>
            </a:r>
            <a:endParaRPr b="0" lang="en-US" sz="1150" spc="-1" strike="noStrike">
              <a:solidFill>
                <a:srgbClr val="ffffff"/>
              </a:solidFill>
              <a:latin typeface="Arial"/>
            </a:endParaRPr>
          </a:p>
        </p:txBody>
      </p:sp>
      <p:sp>
        <p:nvSpPr>
          <p:cNvPr id="81" name="Text 12"/>
          <p:cNvSpPr/>
          <p:nvPr/>
        </p:nvSpPr>
        <p:spPr>
          <a:xfrm>
            <a:off x="8531280" y="4617720"/>
            <a:ext cx="2742840" cy="86832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150" spc="-1" strike="noStrike">
                <a:solidFill>
                  <a:srgbClr val="ffffff"/>
                </a:solidFill>
                <a:latin typeface="Aptos"/>
                <a:ea typeface="Aptos"/>
              </a:rPr>
              <a:t>3</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Post-generation review queue</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audit + correlation only</a:t>
            </a:r>
            <a:endParaRPr b="0" lang="en-US" sz="1150" spc="-1" strike="noStrike">
              <a:solidFill>
                <a:srgbClr val="ffffff"/>
              </a:solidFill>
              <a:latin typeface="Arial"/>
            </a:endParaRPr>
          </a:p>
        </p:txBody>
      </p:sp>
      <p:sp>
        <p:nvSpPr>
          <p:cNvPr id="82" name="Shape 13"/>
          <p:cNvSpPr/>
          <p:nvPr/>
        </p:nvSpPr>
        <p:spPr>
          <a:xfrm>
            <a:off x="3629880" y="5047200"/>
            <a:ext cx="987840" cy="360"/>
          </a:xfrm>
          <a:prstGeom prst="line">
            <a:avLst/>
          </a:prstGeom>
          <a:ln w="2032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83" name="Shape 14"/>
          <p:cNvSpPr/>
          <p:nvPr/>
        </p:nvSpPr>
        <p:spPr>
          <a:xfrm>
            <a:off x="7498080" y="5047200"/>
            <a:ext cx="978120" cy="360"/>
          </a:xfrm>
          <a:prstGeom prst="line">
            <a:avLst/>
          </a:prstGeom>
          <a:ln w="2032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84" name="Text 15"/>
          <p:cNvSpPr/>
          <p:nvPr/>
        </p:nvSpPr>
        <p:spPr>
          <a:xfrm>
            <a:off x="2057400" y="5788080"/>
            <a:ext cx="7954920" cy="43848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No fourth interface is invented. That is the main retrofit discipline.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85"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C4 VIEW — SIDECAR POSITION</a:t>
            </a:r>
            <a:endParaRPr b="0" lang="en-US" sz="820" spc="-1" strike="noStrike">
              <a:solidFill>
                <a:srgbClr val="ffffff"/>
              </a:solidFill>
              <a:latin typeface="Arial"/>
            </a:endParaRPr>
          </a:p>
        </p:txBody>
      </p:sp>
      <p:sp>
        <p:nvSpPr>
          <p:cNvPr id="87"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C4 System Architecture</a:t>
            </a:r>
            <a:endParaRPr b="0" lang="en-US" sz="2350" spc="-1" strike="noStrike">
              <a:solidFill>
                <a:srgbClr val="ffffff"/>
              </a:solidFill>
              <a:latin typeface="Arial"/>
            </a:endParaRPr>
          </a:p>
        </p:txBody>
      </p:sp>
      <p:sp>
        <p:nvSpPr>
          <p:cNvPr id="88"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Place AI outside the ordering critical path.</a:t>
            </a:r>
            <a:endParaRPr b="0" lang="en-US" sz="1150" spc="-1" strike="noStrike">
              <a:solidFill>
                <a:srgbClr val="ffffff"/>
              </a:solidFill>
              <a:latin typeface="Arial"/>
            </a:endParaRPr>
          </a:p>
        </p:txBody>
      </p:sp>
      <p:sp>
        <p:nvSpPr>
          <p:cNvPr id="89"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90"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05</a:t>
            </a:r>
            <a:endParaRPr b="0" lang="en-US" sz="850" spc="-1" strike="noStrike">
              <a:solidFill>
                <a:srgbClr val="ffffff"/>
              </a:solidFill>
              <a:latin typeface="Arial"/>
            </a:endParaRPr>
          </a:p>
        </p:txBody>
      </p:sp>
      <p:sp>
        <p:nvSpPr>
          <p:cNvPr id="91" name="Text 6"/>
          <p:cNvSpPr/>
          <p:nvPr/>
        </p:nvSpPr>
        <p:spPr>
          <a:xfrm>
            <a:off x="594360" y="2148840"/>
            <a:ext cx="1828440" cy="65808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Stores + POS</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transaction signals</a:t>
            </a:r>
            <a:endParaRPr b="0" lang="en-US" sz="1050" spc="-1" strike="noStrike">
              <a:solidFill>
                <a:srgbClr val="ffffff"/>
              </a:solidFill>
              <a:latin typeface="Arial"/>
            </a:endParaRPr>
          </a:p>
        </p:txBody>
      </p:sp>
      <p:sp>
        <p:nvSpPr>
          <p:cNvPr id="92" name="Text 7"/>
          <p:cNvSpPr/>
          <p:nvPr/>
        </p:nvSpPr>
        <p:spPr>
          <a:xfrm>
            <a:off x="2788920" y="2148840"/>
            <a:ext cx="1874160" cy="65808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Nightly snapshot</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read-only feed</a:t>
            </a:r>
            <a:endParaRPr b="0" lang="en-US" sz="1050" spc="-1" strike="noStrike">
              <a:solidFill>
                <a:srgbClr val="ffffff"/>
              </a:solidFill>
              <a:latin typeface="Arial"/>
            </a:endParaRPr>
          </a:p>
        </p:txBody>
      </p:sp>
      <p:sp>
        <p:nvSpPr>
          <p:cNvPr id="93" name="Text 8"/>
          <p:cNvSpPr/>
          <p:nvPr/>
        </p:nvSpPr>
        <p:spPr>
          <a:xfrm>
            <a:off x="5120640" y="1600200"/>
            <a:ext cx="2057040" cy="1755360"/>
          </a:xfrm>
          <a:prstGeom prst="rect">
            <a:avLst/>
          </a:prstGeom>
          <a:solidFill>
            <a:srgbClr val="102a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350" spc="-1" strike="noStrike">
                <a:solidFill>
                  <a:srgbClr val="ffffff"/>
                </a:solidFill>
                <a:latin typeface="Aptos"/>
                <a:ea typeface="Aptos"/>
              </a:rPr>
              <a:t>AI Sidecar</a:t>
            </a:r>
            <a:endParaRPr b="0" lang="en-US" sz="1350" spc="-1" strike="noStrike">
              <a:solidFill>
                <a:srgbClr val="ffffff"/>
              </a:solidFill>
              <a:latin typeface="Arial"/>
            </a:endParaRPr>
          </a:p>
          <a:p>
            <a:pPr algn="ctr" defTabSz="914400">
              <a:lnSpc>
                <a:spcPct val="100000"/>
              </a:lnSpc>
              <a:tabLst>
                <a:tab algn="l" pos="0"/>
              </a:tabLst>
            </a:pPr>
            <a:r>
              <a:rPr b="1" lang="en-US" sz="1350" spc="-1" strike="noStrike">
                <a:solidFill>
                  <a:srgbClr val="ffffff"/>
                </a:solidFill>
                <a:latin typeface="Aptos"/>
                <a:ea typeface="Aptos"/>
              </a:rPr>
              <a:t>forecast + optimize</a:t>
            </a:r>
            <a:endParaRPr b="0" lang="en-US" sz="1350" spc="-1" strike="noStrike">
              <a:solidFill>
                <a:srgbClr val="ffffff"/>
              </a:solidFill>
              <a:latin typeface="Arial"/>
            </a:endParaRPr>
          </a:p>
        </p:txBody>
      </p:sp>
      <p:sp>
        <p:nvSpPr>
          <p:cNvPr id="94" name="Text 9"/>
          <p:cNvSpPr/>
          <p:nvPr/>
        </p:nvSpPr>
        <p:spPr>
          <a:xfrm>
            <a:off x="7662600" y="2148840"/>
            <a:ext cx="1828440" cy="65808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Override table</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bounded rows</a:t>
            </a:r>
            <a:endParaRPr b="0" lang="en-US" sz="1050" spc="-1" strike="noStrike">
              <a:solidFill>
                <a:srgbClr val="ffffff"/>
              </a:solidFill>
              <a:latin typeface="Arial"/>
            </a:endParaRPr>
          </a:p>
        </p:txBody>
      </p:sp>
      <p:sp>
        <p:nvSpPr>
          <p:cNvPr id="95" name="Text 10"/>
          <p:cNvSpPr/>
          <p:nvPr/>
        </p:nvSpPr>
        <p:spPr>
          <a:xfrm>
            <a:off x="9930240" y="1901880"/>
            <a:ext cx="1737000" cy="115164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30" spc="-1" strike="noStrike">
                <a:solidFill>
                  <a:srgbClr val="ffffff"/>
                </a:solidFill>
                <a:latin typeface="Aptos"/>
                <a:ea typeface="Aptos"/>
              </a:rPr>
              <a:t>MERLIN</a:t>
            </a:r>
            <a:endParaRPr b="0" lang="en-US" sz="1230" spc="-1" strike="noStrike">
              <a:solidFill>
                <a:srgbClr val="ffffff"/>
              </a:solidFill>
              <a:latin typeface="Arial"/>
            </a:endParaRPr>
          </a:p>
          <a:p>
            <a:pPr algn="ctr" defTabSz="914400">
              <a:lnSpc>
                <a:spcPct val="100000"/>
              </a:lnSpc>
              <a:tabLst>
                <a:tab algn="l" pos="0"/>
              </a:tabLst>
            </a:pPr>
            <a:r>
              <a:rPr b="1" lang="en-US" sz="1230" spc="-1" strike="noStrike">
                <a:solidFill>
                  <a:srgbClr val="ffffff"/>
                </a:solidFill>
                <a:latin typeface="Aptos"/>
                <a:ea typeface="Aptos"/>
              </a:rPr>
              <a:t>unchanged engine</a:t>
            </a:r>
            <a:endParaRPr b="0" lang="en-US" sz="1230" spc="-1" strike="noStrike">
              <a:solidFill>
                <a:srgbClr val="ffffff"/>
              </a:solidFill>
              <a:latin typeface="Arial"/>
            </a:endParaRPr>
          </a:p>
        </p:txBody>
      </p:sp>
      <p:sp>
        <p:nvSpPr>
          <p:cNvPr id="96" name="Shape 11"/>
          <p:cNvSpPr/>
          <p:nvPr/>
        </p:nvSpPr>
        <p:spPr>
          <a:xfrm>
            <a:off x="2432160" y="2477880"/>
            <a:ext cx="31104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97" name="Shape 12"/>
          <p:cNvSpPr/>
          <p:nvPr/>
        </p:nvSpPr>
        <p:spPr>
          <a:xfrm>
            <a:off x="4699800" y="2477880"/>
            <a:ext cx="36576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98" name="Shape 13"/>
          <p:cNvSpPr/>
          <p:nvPr/>
        </p:nvSpPr>
        <p:spPr>
          <a:xfrm>
            <a:off x="7214400" y="2477880"/>
            <a:ext cx="39312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99" name="Shape 14"/>
          <p:cNvSpPr/>
          <p:nvPr/>
        </p:nvSpPr>
        <p:spPr>
          <a:xfrm>
            <a:off x="9537120" y="2477880"/>
            <a:ext cx="33840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0" name="Text 15"/>
          <p:cNvSpPr/>
          <p:nvPr/>
        </p:nvSpPr>
        <p:spPr>
          <a:xfrm>
            <a:off x="9930240" y="3749040"/>
            <a:ext cx="1737000" cy="49356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EDI → Suppliers</a:t>
            </a:r>
            <a:endParaRPr b="0" lang="en-US" sz="1060" spc="-1" strike="noStrike">
              <a:solidFill>
                <a:srgbClr val="ffffff"/>
              </a:solidFill>
              <a:latin typeface="Arial"/>
            </a:endParaRPr>
          </a:p>
        </p:txBody>
      </p:sp>
      <p:sp>
        <p:nvSpPr>
          <p:cNvPr id="101" name="Shape 16"/>
          <p:cNvSpPr/>
          <p:nvPr/>
        </p:nvSpPr>
        <p:spPr>
          <a:xfrm>
            <a:off x="10789920" y="3072240"/>
            <a:ext cx="360" cy="631080"/>
          </a:xfrm>
          <a:prstGeom prst="line">
            <a:avLst/>
          </a:prstGeom>
          <a:ln w="1905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2" name="Text 17"/>
          <p:cNvSpPr/>
          <p:nvPr/>
        </p:nvSpPr>
        <p:spPr>
          <a:xfrm>
            <a:off x="731520" y="4160520"/>
            <a:ext cx="2834280" cy="127980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r>
              <a:rPr b="1" lang="en-US" sz="1220" spc="-1" strike="noStrike">
                <a:solidFill>
                  <a:srgbClr val="ffffff"/>
                </a:solidFill>
                <a:latin typeface="Aptos"/>
                <a:ea typeface="Aptos"/>
              </a:rPr>
              <a:t>Hard boundaries</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POS</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EDI</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Supplier</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Copilot ↛ Ordering</a:t>
            </a:r>
            <a:endParaRPr b="0" lang="en-US" sz="1220" spc="-1" strike="noStrike">
              <a:solidFill>
                <a:srgbClr val="ffffff"/>
              </a:solidFill>
              <a:latin typeface="Arial"/>
            </a:endParaRPr>
          </a:p>
        </p:txBody>
      </p:sp>
      <p:sp>
        <p:nvSpPr>
          <p:cNvPr id="103" name="Text 18"/>
          <p:cNvSpPr/>
          <p:nvPr/>
        </p:nvSpPr>
        <p:spPr>
          <a:xfrm>
            <a:off x="4206240" y="4160520"/>
            <a:ext cx="3337200" cy="127980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r>
              <a:rPr b="1" lang="en-US" sz="1220" spc="-1" strike="noStrike">
                <a:solidFill>
                  <a:srgbClr val="ffffff"/>
                </a:solidFill>
                <a:latin typeface="Aptos"/>
                <a:ea typeface="Aptos"/>
              </a:rPr>
              <a:t>Associate copilot</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Read-only evidence only. No order-writing path and no food-safety advice beyond approved evidence.</a:t>
            </a:r>
            <a:endParaRPr b="0" lang="en-US" sz="1220" spc="-1" strike="noStrike">
              <a:solidFill>
                <a:srgbClr val="ffffff"/>
              </a:solidFill>
              <a:latin typeface="Arial"/>
            </a:endParaRPr>
          </a:p>
        </p:txBody>
      </p:sp>
      <p:sp>
        <p:nvSpPr>
          <p:cNvPr id="104" name="Text 19"/>
          <p:cNvSpPr/>
          <p:nvPr/>
        </p:nvSpPr>
        <p:spPr>
          <a:xfrm>
            <a:off x="8229600" y="4572000"/>
            <a:ext cx="3245760" cy="105120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160" spc="-1" strike="noStrike">
                <a:solidFill>
                  <a:srgbClr val="ffffff"/>
                </a:solidFill>
                <a:latin typeface="Aptos"/>
                <a:ea typeface="Aptos"/>
              </a:rPr>
              <a:t>MERLIN autonomy</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If the sidecar is missing or disabled, MERLIN still generates supplier orders through the established path.</a:t>
            </a:r>
            <a:endParaRPr b="0" lang="en-US" sz="11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05"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CONTAINER — ENVIRONMENT ISOLATION</a:t>
            </a:r>
            <a:endParaRPr b="0" lang="en-US" sz="820" spc="-1" strike="noStrike">
              <a:solidFill>
                <a:srgbClr val="ffffff"/>
              </a:solidFill>
              <a:latin typeface="Arial"/>
            </a:endParaRPr>
          </a:p>
        </p:txBody>
      </p:sp>
      <p:sp>
        <p:nvSpPr>
          <p:cNvPr id="107"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C4 System Architecture</a:t>
            </a:r>
            <a:endParaRPr b="0" lang="en-US" sz="2350" spc="-1" strike="noStrike">
              <a:solidFill>
                <a:srgbClr val="ffffff"/>
              </a:solidFill>
              <a:latin typeface="Arial"/>
            </a:endParaRPr>
          </a:p>
        </p:txBody>
      </p:sp>
      <p:sp>
        <p:nvSpPr>
          <p:cNvPr id="108"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Isolate runtime risk and certify every write.</a:t>
            </a:r>
            <a:endParaRPr b="0" lang="en-US" sz="1150" spc="-1" strike="noStrike">
              <a:solidFill>
                <a:srgbClr val="ffffff"/>
              </a:solidFill>
              <a:latin typeface="Arial"/>
            </a:endParaRPr>
          </a:p>
        </p:txBody>
      </p:sp>
      <p:sp>
        <p:nvSpPr>
          <p:cNvPr id="109"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10"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06</a:t>
            </a:r>
            <a:endParaRPr b="0" lang="en-US" sz="850" spc="-1" strike="noStrike">
              <a:solidFill>
                <a:srgbClr val="ffffff"/>
              </a:solidFill>
              <a:latin typeface="Arial"/>
            </a:endParaRPr>
          </a:p>
        </p:txBody>
      </p:sp>
      <p:sp>
        <p:nvSpPr>
          <p:cNvPr id="111" name="Shape 6"/>
          <p:cNvSpPr/>
          <p:nvPr/>
        </p:nvSpPr>
        <p:spPr>
          <a:xfrm>
            <a:off x="19659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2" name="Shape 7"/>
          <p:cNvSpPr/>
          <p:nvPr/>
        </p:nvSpPr>
        <p:spPr>
          <a:xfrm>
            <a:off x="37947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3" name="Shape 8"/>
          <p:cNvSpPr/>
          <p:nvPr/>
        </p:nvSpPr>
        <p:spPr>
          <a:xfrm>
            <a:off x="56235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4" name="Shape 9"/>
          <p:cNvSpPr/>
          <p:nvPr/>
        </p:nvSpPr>
        <p:spPr>
          <a:xfrm>
            <a:off x="74523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5" name="Shape 10"/>
          <p:cNvSpPr/>
          <p:nvPr/>
        </p:nvSpPr>
        <p:spPr>
          <a:xfrm>
            <a:off x="92811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6" name="Text 11"/>
          <p:cNvSpPr/>
          <p:nvPr/>
        </p:nvSpPr>
        <p:spPr>
          <a:xfrm>
            <a:off x="594360" y="2331720"/>
            <a:ext cx="1416960" cy="91404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Snapshot</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validation</a:t>
            </a:r>
            <a:endParaRPr b="0" lang="en-US" sz="1060" spc="-1" strike="noStrike">
              <a:solidFill>
                <a:srgbClr val="ffffff"/>
              </a:solidFill>
              <a:latin typeface="Arial"/>
            </a:endParaRPr>
          </a:p>
        </p:txBody>
      </p:sp>
      <p:sp>
        <p:nvSpPr>
          <p:cNvPr id="117" name="Text 12"/>
          <p:cNvSpPr/>
          <p:nvPr/>
        </p:nvSpPr>
        <p:spPr>
          <a:xfrm>
            <a:off x="2423160" y="2331720"/>
            <a:ext cx="1416960" cy="914040"/>
          </a:xfrm>
          <a:prstGeom prst="rect">
            <a:avLst/>
          </a:prstGeom>
          <a:solidFill>
            <a:srgbClr val="101827"/>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Forecast ML</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quantiles</a:t>
            </a:r>
            <a:endParaRPr b="0" lang="en-US" sz="1060" spc="-1" strike="noStrike">
              <a:solidFill>
                <a:srgbClr val="ffffff"/>
              </a:solidFill>
              <a:latin typeface="Arial"/>
            </a:endParaRPr>
          </a:p>
        </p:txBody>
      </p:sp>
      <p:sp>
        <p:nvSpPr>
          <p:cNvPr id="118" name="Text 13"/>
          <p:cNvSpPr/>
          <p:nvPr/>
        </p:nvSpPr>
        <p:spPr>
          <a:xfrm>
            <a:off x="4251960" y="2331720"/>
            <a:ext cx="1416960" cy="914040"/>
          </a:xfrm>
          <a:prstGeom prst="rect">
            <a:avLst/>
          </a:prstGeom>
          <a:solidFill>
            <a:srgbClr val="101827"/>
          </a:solidFill>
          <a:ln w="15240">
            <a:solidFill>
              <a:srgbClr val="a78b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Deterministic</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optimizer</a:t>
            </a:r>
            <a:endParaRPr b="0" lang="en-US" sz="1060" spc="-1" strike="noStrike">
              <a:solidFill>
                <a:srgbClr val="ffffff"/>
              </a:solidFill>
              <a:latin typeface="Arial"/>
            </a:endParaRPr>
          </a:p>
        </p:txBody>
      </p:sp>
      <p:sp>
        <p:nvSpPr>
          <p:cNvPr id="119" name="Text 14"/>
          <p:cNvSpPr/>
          <p:nvPr/>
        </p:nvSpPr>
        <p:spPr>
          <a:xfrm>
            <a:off x="6080760" y="2331720"/>
            <a:ext cx="1416960" cy="91404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Certified</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adapter</a:t>
            </a:r>
            <a:endParaRPr b="0" lang="en-US" sz="1060" spc="-1" strike="noStrike">
              <a:solidFill>
                <a:srgbClr val="ffffff"/>
              </a:solidFill>
              <a:latin typeface="Arial"/>
            </a:endParaRPr>
          </a:p>
        </p:txBody>
      </p:sp>
      <p:sp>
        <p:nvSpPr>
          <p:cNvPr id="120" name="Text 15"/>
          <p:cNvSpPr/>
          <p:nvPr/>
        </p:nvSpPr>
        <p:spPr>
          <a:xfrm>
            <a:off x="7909560" y="2331720"/>
            <a:ext cx="1416960" cy="914040"/>
          </a:xfrm>
          <a:prstGeom prst="rect">
            <a:avLst/>
          </a:prstGeom>
          <a:solidFill>
            <a:srgbClr val="101827"/>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Override</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table</a:t>
            </a:r>
            <a:endParaRPr b="0" lang="en-US" sz="1060" spc="-1" strike="noStrike">
              <a:solidFill>
                <a:srgbClr val="ffffff"/>
              </a:solidFill>
              <a:latin typeface="Arial"/>
            </a:endParaRPr>
          </a:p>
        </p:txBody>
      </p:sp>
      <p:sp>
        <p:nvSpPr>
          <p:cNvPr id="121" name="Text 16"/>
          <p:cNvSpPr/>
          <p:nvPr/>
        </p:nvSpPr>
        <p:spPr>
          <a:xfrm>
            <a:off x="9738360" y="2331720"/>
            <a:ext cx="1416960" cy="914040"/>
          </a:xfrm>
          <a:prstGeom prst="rect">
            <a:avLst/>
          </a:prstGeom>
          <a:solidFill>
            <a:srgbClr val="101827"/>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MERLIN</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engine</a:t>
            </a:r>
            <a:endParaRPr b="0" lang="en-US" sz="1060" spc="-1" strike="noStrike">
              <a:solidFill>
                <a:srgbClr val="ffffff"/>
              </a:solidFill>
              <a:latin typeface="Arial"/>
            </a:endParaRPr>
          </a:p>
        </p:txBody>
      </p:sp>
      <p:sp>
        <p:nvSpPr>
          <p:cNvPr id="122" name="Text 17"/>
          <p:cNvSpPr/>
          <p:nvPr/>
        </p:nvSpPr>
        <p:spPr>
          <a:xfrm>
            <a:off x="685800" y="3977640"/>
            <a:ext cx="3337200" cy="1051200"/>
          </a:xfrm>
          <a:prstGeom prst="rect">
            <a:avLst/>
          </a:prstGeom>
          <a:solidFill>
            <a:srgbClr val="101827">
              <a:alpha val="98000"/>
            </a:srgbClr>
          </a:solidFill>
          <a:ln w="15240">
            <a:solidFill>
              <a:srgbClr val="60a5fa">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Forecast ML outputs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Expected demand, uncertainty bands, promotion signals — never an order.</a:t>
            </a:r>
            <a:endParaRPr b="0" lang="en-US" sz="1200" spc="-1" strike="noStrike">
              <a:solidFill>
                <a:srgbClr val="ffffff"/>
              </a:solidFill>
              <a:latin typeface="Arial"/>
            </a:endParaRPr>
          </a:p>
        </p:txBody>
      </p:sp>
      <p:sp>
        <p:nvSpPr>
          <p:cNvPr id="123" name="Text 18"/>
          <p:cNvSpPr/>
          <p:nvPr/>
        </p:nvSpPr>
        <p:spPr>
          <a:xfrm>
            <a:off x="4434840" y="3977640"/>
            <a:ext cx="3337200" cy="105120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Optimizer enforces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Case pack, shelf life, DC capacity, inventory interval, category caps.</a:t>
            </a:r>
            <a:endParaRPr b="0" lang="en-US" sz="1200" spc="-1" strike="noStrike">
              <a:solidFill>
                <a:srgbClr val="ffffff"/>
              </a:solidFill>
              <a:latin typeface="Arial"/>
            </a:endParaRPr>
          </a:p>
        </p:txBody>
      </p:sp>
      <p:sp>
        <p:nvSpPr>
          <p:cNvPr id="124" name="Text 19"/>
          <p:cNvSpPr/>
          <p:nvPr/>
        </p:nvSpPr>
        <p:spPr>
          <a:xfrm>
            <a:off x="8183880" y="3977640"/>
            <a:ext cx="3337200" cy="105120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Adapter certifies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Current-run rows only, schema-valid, bounded, auditable, and kill-switch aware.</a:t>
            </a:r>
            <a:endParaRPr b="0" lang="en-US" sz="1200" spc="-1" strike="noStrike">
              <a:solidFill>
                <a:srgbClr val="ffffff"/>
              </a:solidFill>
              <a:latin typeface="Arial"/>
            </a:endParaRPr>
          </a:p>
        </p:txBody>
      </p:sp>
      <p:sp>
        <p:nvSpPr>
          <p:cNvPr id="125" name="Text 20"/>
          <p:cNvSpPr/>
          <p:nvPr/>
        </p:nvSpPr>
        <p:spPr>
          <a:xfrm>
            <a:off x="1005840" y="5541120"/>
            <a:ext cx="10058040" cy="52992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Container boundary = protection boundary. Compute can scale, fail, or be killed without degrading MERLIN source-system performance.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26"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7"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SYSTEM ARCHITECTURE SIMULATION</a:t>
            </a:r>
            <a:endParaRPr b="0" lang="en-US" sz="820" spc="-1" strike="noStrike">
              <a:solidFill>
                <a:srgbClr val="ffffff"/>
              </a:solidFill>
              <a:latin typeface="Arial"/>
            </a:endParaRPr>
          </a:p>
        </p:txBody>
      </p:sp>
      <p:sp>
        <p:nvSpPr>
          <p:cNvPr id="128"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Nightly Batch &amp; Fail-Open Processing</a:t>
            </a:r>
            <a:endParaRPr b="0" lang="en-US" sz="2350" spc="-1" strike="noStrike">
              <a:solidFill>
                <a:srgbClr val="ffffff"/>
              </a:solidFill>
              <a:latin typeface="Arial"/>
            </a:endParaRPr>
          </a:p>
        </p:txBody>
      </p:sp>
      <p:sp>
        <p:nvSpPr>
          <p:cNvPr id="129"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Fail-open gates protect the 04:00 deadline.</a:t>
            </a:r>
            <a:endParaRPr b="0" lang="en-US" sz="1150" spc="-1" strike="noStrike">
              <a:solidFill>
                <a:srgbClr val="ffffff"/>
              </a:solidFill>
              <a:latin typeface="Arial"/>
            </a:endParaRPr>
          </a:p>
        </p:txBody>
      </p:sp>
      <p:sp>
        <p:nvSpPr>
          <p:cNvPr id="130"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31"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07</a:t>
            </a:r>
            <a:endParaRPr b="0" lang="en-US" sz="850" spc="-1" strike="noStrike">
              <a:solidFill>
                <a:srgbClr val="ffffff"/>
              </a:solidFill>
              <a:latin typeface="Arial"/>
            </a:endParaRPr>
          </a:p>
        </p:txBody>
      </p:sp>
      <p:sp>
        <p:nvSpPr>
          <p:cNvPr id="132" name="Shape 6"/>
          <p:cNvSpPr/>
          <p:nvPr/>
        </p:nvSpPr>
        <p:spPr>
          <a:xfrm>
            <a:off x="777240" y="2788920"/>
            <a:ext cx="10469880" cy="360"/>
          </a:xfrm>
          <a:prstGeom prst="line">
            <a:avLst/>
          </a:prstGeom>
          <a:ln w="31750">
            <a:solidFill>
              <a:srgbClr val="334155"/>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33" name="Shape 7"/>
          <p:cNvSpPr/>
          <p:nvPr/>
        </p:nvSpPr>
        <p:spPr>
          <a:xfrm>
            <a:off x="704160" y="2715840"/>
            <a:ext cx="145800" cy="14580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 name="Text 8"/>
          <p:cNvSpPr/>
          <p:nvPr/>
        </p:nvSpPr>
        <p:spPr>
          <a:xfrm>
            <a:off x="47556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22:00</a:t>
            </a:r>
            <a:endParaRPr b="0" lang="en-US" sz="870" spc="-1" strike="noStrike">
              <a:solidFill>
                <a:srgbClr val="ffffff"/>
              </a:solidFill>
              <a:latin typeface="Arial"/>
            </a:endParaRPr>
          </a:p>
        </p:txBody>
      </p:sp>
      <p:sp>
        <p:nvSpPr>
          <p:cNvPr id="135" name="Text 9"/>
          <p:cNvSpPr/>
          <p:nvPr/>
        </p:nvSpPr>
        <p:spPr>
          <a:xfrm>
            <a:off x="33840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Start batch</a:t>
            </a:r>
            <a:endParaRPr b="0" lang="en-US" sz="839" spc="-1" strike="noStrike">
              <a:solidFill>
                <a:srgbClr val="ffffff"/>
              </a:solidFill>
              <a:latin typeface="Arial"/>
            </a:endParaRPr>
          </a:p>
        </p:txBody>
      </p:sp>
      <p:sp>
        <p:nvSpPr>
          <p:cNvPr id="136" name="Shape 10"/>
          <p:cNvSpPr/>
          <p:nvPr/>
        </p:nvSpPr>
        <p:spPr>
          <a:xfrm>
            <a:off x="1984320" y="2715840"/>
            <a:ext cx="145800" cy="14580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Text 11"/>
          <p:cNvSpPr/>
          <p:nvPr/>
        </p:nvSpPr>
        <p:spPr>
          <a:xfrm>
            <a:off x="175572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22:20</a:t>
            </a:r>
            <a:endParaRPr b="0" lang="en-US" sz="870" spc="-1" strike="noStrike">
              <a:solidFill>
                <a:srgbClr val="ffffff"/>
              </a:solidFill>
              <a:latin typeface="Arial"/>
            </a:endParaRPr>
          </a:p>
        </p:txBody>
      </p:sp>
      <p:sp>
        <p:nvSpPr>
          <p:cNvPr id="138" name="Text 12"/>
          <p:cNvSpPr/>
          <p:nvPr/>
        </p:nvSpPr>
        <p:spPr>
          <a:xfrm>
            <a:off x="161856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Validation done</a:t>
            </a:r>
            <a:endParaRPr b="0" lang="en-US" sz="839" spc="-1" strike="noStrike">
              <a:solidFill>
                <a:srgbClr val="ffffff"/>
              </a:solidFill>
              <a:latin typeface="Arial"/>
            </a:endParaRPr>
          </a:p>
        </p:txBody>
      </p:sp>
      <p:sp>
        <p:nvSpPr>
          <p:cNvPr id="139" name="Shape 13"/>
          <p:cNvSpPr/>
          <p:nvPr/>
        </p:nvSpPr>
        <p:spPr>
          <a:xfrm>
            <a:off x="3355920" y="2715840"/>
            <a:ext cx="145800" cy="14580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0" name="Text 14"/>
          <p:cNvSpPr/>
          <p:nvPr/>
        </p:nvSpPr>
        <p:spPr>
          <a:xfrm>
            <a:off x="312732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00:20</a:t>
            </a:r>
            <a:endParaRPr b="0" lang="en-US" sz="870" spc="-1" strike="noStrike">
              <a:solidFill>
                <a:srgbClr val="ffffff"/>
              </a:solidFill>
              <a:latin typeface="Arial"/>
            </a:endParaRPr>
          </a:p>
        </p:txBody>
      </p:sp>
      <p:sp>
        <p:nvSpPr>
          <p:cNvPr id="141" name="Text 15"/>
          <p:cNvSpPr/>
          <p:nvPr/>
        </p:nvSpPr>
        <p:spPr>
          <a:xfrm>
            <a:off x="299016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Forecast done</a:t>
            </a:r>
            <a:endParaRPr b="0" lang="en-US" sz="839" spc="-1" strike="noStrike">
              <a:solidFill>
                <a:srgbClr val="ffffff"/>
              </a:solidFill>
              <a:latin typeface="Arial"/>
            </a:endParaRPr>
          </a:p>
        </p:txBody>
      </p:sp>
      <p:sp>
        <p:nvSpPr>
          <p:cNvPr id="142" name="Shape 16"/>
          <p:cNvSpPr/>
          <p:nvPr/>
        </p:nvSpPr>
        <p:spPr>
          <a:xfrm>
            <a:off x="4727520" y="2715840"/>
            <a:ext cx="145800" cy="14580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3" name="Text 17"/>
          <p:cNvSpPr/>
          <p:nvPr/>
        </p:nvSpPr>
        <p:spPr>
          <a:xfrm>
            <a:off x="449892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01:20</a:t>
            </a:r>
            <a:endParaRPr b="0" lang="en-US" sz="870" spc="-1" strike="noStrike">
              <a:solidFill>
                <a:srgbClr val="ffffff"/>
              </a:solidFill>
              <a:latin typeface="Arial"/>
            </a:endParaRPr>
          </a:p>
        </p:txBody>
      </p:sp>
      <p:sp>
        <p:nvSpPr>
          <p:cNvPr id="144" name="Text 18"/>
          <p:cNvSpPr/>
          <p:nvPr/>
        </p:nvSpPr>
        <p:spPr>
          <a:xfrm>
            <a:off x="436176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Optimize done</a:t>
            </a:r>
            <a:endParaRPr b="0" lang="en-US" sz="839" spc="-1" strike="noStrike">
              <a:solidFill>
                <a:srgbClr val="ffffff"/>
              </a:solidFill>
              <a:latin typeface="Arial"/>
            </a:endParaRPr>
          </a:p>
        </p:txBody>
      </p:sp>
      <p:sp>
        <p:nvSpPr>
          <p:cNvPr id="145" name="Shape 19"/>
          <p:cNvSpPr/>
          <p:nvPr/>
        </p:nvSpPr>
        <p:spPr>
          <a:xfrm>
            <a:off x="5916240" y="2715840"/>
            <a:ext cx="145800" cy="14580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 name="Text 20"/>
          <p:cNvSpPr/>
          <p:nvPr/>
        </p:nvSpPr>
        <p:spPr>
          <a:xfrm>
            <a:off x="568764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01:30</a:t>
            </a:r>
            <a:endParaRPr b="0" lang="en-US" sz="870" spc="-1" strike="noStrike">
              <a:solidFill>
                <a:srgbClr val="ffffff"/>
              </a:solidFill>
              <a:latin typeface="Arial"/>
            </a:endParaRPr>
          </a:p>
        </p:txBody>
      </p:sp>
      <p:sp>
        <p:nvSpPr>
          <p:cNvPr id="147" name="Text 21"/>
          <p:cNvSpPr/>
          <p:nvPr/>
        </p:nvSpPr>
        <p:spPr>
          <a:xfrm>
            <a:off x="555048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Retry stop</a:t>
            </a:r>
            <a:endParaRPr b="0" lang="en-US" sz="839" spc="-1" strike="noStrike">
              <a:solidFill>
                <a:srgbClr val="ffffff"/>
              </a:solidFill>
              <a:latin typeface="Arial"/>
            </a:endParaRPr>
          </a:p>
        </p:txBody>
      </p:sp>
      <p:sp>
        <p:nvSpPr>
          <p:cNvPr id="148" name="Shape 22"/>
          <p:cNvSpPr/>
          <p:nvPr/>
        </p:nvSpPr>
        <p:spPr>
          <a:xfrm>
            <a:off x="7104960" y="2715840"/>
            <a:ext cx="145800" cy="14580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 name="Text 23"/>
          <p:cNvSpPr/>
          <p:nvPr/>
        </p:nvSpPr>
        <p:spPr>
          <a:xfrm>
            <a:off x="687636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01:45</a:t>
            </a:r>
            <a:endParaRPr b="0" lang="en-US" sz="870" spc="-1" strike="noStrike">
              <a:solidFill>
                <a:srgbClr val="ffffff"/>
              </a:solidFill>
              <a:latin typeface="Arial"/>
            </a:endParaRPr>
          </a:p>
        </p:txBody>
      </p:sp>
      <p:sp>
        <p:nvSpPr>
          <p:cNvPr id="150" name="Text 24"/>
          <p:cNvSpPr/>
          <p:nvPr/>
        </p:nvSpPr>
        <p:spPr>
          <a:xfrm>
            <a:off x="673920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Complete-set gate</a:t>
            </a:r>
            <a:endParaRPr b="0" lang="en-US" sz="839" spc="-1" strike="noStrike">
              <a:solidFill>
                <a:srgbClr val="ffffff"/>
              </a:solidFill>
              <a:latin typeface="Arial"/>
            </a:endParaRPr>
          </a:p>
        </p:txBody>
      </p:sp>
      <p:sp>
        <p:nvSpPr>
          <p:cNvPr id="151" name="Shape 25"/>
          <p:cNvSpPr/>
          <p:nvPr/>
        </p:nvSpPr>
        <p:spPr>
          <a:xfrm>
            <a:off x="8266320" y="2715840"/>
            <a:ext cx="145800" cy="14580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Text 26"/>
          <p:cNvSpPr/>
          <p:nvPr/>
        </p:nvSpPr>
        <p:spPr>
          <a:xfrm>
            <a:off x="803772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02:00</a:t>
            </a:r>
            <a:endParaRPr b="0" lang="en-US" sz="870" spc="-1" strike="noStrike">
              <a:solidFill>
                <a:srgbClr val="ffffff"/>
              </a:solidFill>
              <a:latin typeface="Arial"/>
            </a:endParaRPr>
          </a:p>
        </p:txBody>
      </p:sp>
      <p:sp>
        <p:nvSpPr>
          <p:cNvPr id="153" name="Text 27"/>
          <p:cNvSpPr/>
          <p:nvPr/>
        </p:nvSpPr>
        <p:spPr>
          <a:xfrm>
            <a:off x="790056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AI write close</a:t>
            </a:r>
            <a:endParaRPr b="0" lang="en-US" sz="839" spc="-1" strike="noStrike">
              <a:solidFill>
                <a:srgbClr val="ffffff"/>
              </a:solidFill>
              <a:latin typeface="Arial"/>
            </a:endParaRPr>
          </a:p>
        </p:txBody>
      </p:sp>
      <p:sp>
        <p:nvSpPr>
          <p:cNvPr id="154" name="Shape 28"/>
          <p:cNvSpPr/>
          <p:nvPr/>
        </p:nvSpPr>
        <p:spPr>
          <a:xfrm>
            <a:off x="10899720" y="2715840"/>
            <a:ext cx="145800" cy="145800"/>
          </a:xfrm>
          <a:prstGeom prst="ellipse">
            <a:avLst/>
          </a:prstGeom>
          <a:solidFill>
            <a:srgbClr val="f87171"/>
          </a:solidFill>
          <a:ln w="12700">
            <a:solidFill>
              <a:srgbClr val="f8717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Text 29"/>
          <p:cNvSpPr/>
          <p:nvPr/>
        </p:nvSpPr>
        <p:spPr>
          <a:xfrm>
            <a:off x="10671120" y="2121480"/>
            <a:ext cx="603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87171"/>
                </a:solidFill>
                <a:latin typeface="Aptos"/>
                <a:ea typeface="Aptos"/>
              </a:rPr>
              <a:t>04:00</a:t>
            </a:r>
            <a:endParaRPr b="0" lang="en-US" sz="870" spc="-1" strike="noStrike">
              <a:solidFill>
                <a:srgbClr val="ffffff"/>
              </a:solidFill>
              <a:latin typeface="Arial"/>
            </a:endParaRPr>
          </a:p>
        </p:txBody>
      </p:sp>
      <p:sp>
        <p:nvSpPr>
          <p:cNvPr id="156" name="Text 30"/>
          <p:cNvSpPr/>
          <p:nvPr/>
        </p:nvSpPr>
        <p:spPr>
          <a:xfrm>
            <a:off x="10533960" y="2999160"/>
            <a:ext cx="87732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EDI deadline</a:t>
            </a:r>
            <a:endParaRPr b="0" lang="en-US" sz="839" spc="-1" strike="noStrike">
              <a:solidFill>
                <a:srgbClr val="ffffff"/>
              </a:solidFill>
              <a:latin typeface="Arial"/>
            </a:endParaRPr>
          </a:p>
        </p:txBody>
      </p:sp>
      <p:sp>
        <p:nvSpPr>
          <p:cNvPr id="157" name="Text 31"/>
          <p:cNvSpPr/>
          <p:nvPr/>
        </p:nvSpPr>
        <p:spPr>
          <a:xfrm>
            <a:off x="777240" y="4160520"/>
            <a:ext cx="3245760" cy="86832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01:30 — retry stop</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No new retry starts. Avoid recovery storms inside the deadline window.</a:t>
            </a:r>
            <a:endParaRPr b="0" lang="en-US" sz="1150" spc="-1" strike="noStrike">
              <a:solidFill>
                <a:srgbClr val="ffffff"/>
              </a:solidFill>
              <a:latin typeface="Arial"/>
            </a:endParaRPr>
          </a:p>
        </p:txBody>
      </p:sp>
      <p:sp>
        <p:nvSpPr>
          <p:cNvPr id="158" name="Text 32"/>
          <p:cNvSpPr/>
          <p:nvPr/>
        </p:nvSpPr>
        <p:spPr>
          <a:xfrm>
            <a:off x="4480560" y="4160520"/>
            <a:ext cx="3245760" cy="86832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01:45 — complete-set gate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Missing partition means publish nothing for that run.</a:t>
            </a:r>
            <a:endParaRPr b="0" lang="en-US" sz="1150" spc="-1" strike="noStrike">
              <a:solidFill>
                <a:srgbClr val="ffffff"/>
              </a:solidFill>
              <a:latin typeface="Arial"/>
            </a:endParaRPr>
          </a:p>
        </p:txBody>
      </p:sp>
      <p:sp>
        <p:nvSpPr>
          <p:cNvPr id="159" name="Text 33"/>
          <p:cNvSpPr/>
          <p:nvPr/>
        </p:nvSpPr>
        <p:spPr>
          <a:xfrm>
            <a:off x="8183880" y="4160520"/>
            <a:ext cx="3245760" cy="86832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02:00 — absolute write close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No late publication and no emergency rerun after the safety gate.</a:t>
            </a:r>
            <a:endParaRPr b="0" lang="en-US" sz="1150" spc="-1" strike="noStrike">
              <a:solidFill>
                <a:srgbClr val="ffffff"/>
              </a:solidFill>
              <a:latin typeface="Arial"/>
            </a:endParaRPr>
          </a:p>
        </p:txBody>
      </p:sp>
      <p:sp>
        <p:nvSpPr>
          <p:cNvPr id="160" name="Text 34"/>
          <p:cNvSpPr/>
          <p:nvPr/>
        </p:nvSpPr>
        <p:spPr>
          <a:xfrm>
            <a:off x="932760" y="5687640"/>
            <a:ext cx="10286640" cy="51156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Gate condition: 02:00 is valid only if measured MERLIN P99 order generation ≤ 90 minutes; otherwise the AI close gate moves earlier.</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61"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2"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163"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NFR Targets &amp; Business Goals</a:t>
            </a:r>
            <a:endParaRPr b="0" lang="en-US" sz="2350" spc="-1" strike="noStrike">
              <a:solidFill>
                <a:srgbClr val="ffffff"/>
              </a:solidFill>
              <a:latin typeface="Arial"/>
            </a:endParaRPr>
          </a:p>
        </p:txBody>
      </p:sp>
      <p:sp>
        <p:nvSpPr>
          <p:cNvPr id="164"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NFRs convert architecture into evidence.</a:t>
            </a:r>
            <a:endParaRPr b="0" lang="en-US" sz="1150" spc="-1" strike="noStrike">
              <a:solidFill>
                <a:srgbClr val="ffffff"/>
              </a:solidFill>
              <a:latin typeface="Arial"/>
            </a:endParaRPr>
          </a:p>
        </p:txBody>
      </p:sp>
      <p:sp>
        <p:nvSpPr>
          <p:cNvPr id="165"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66"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08</a:t>
            </a:r>
            <a:endParaRPr b="0" lang="en-US" sz="850" spc="-1" strike="noStrike">
              <a:solidFill>
                <a:srgbClr val="ffffff"/>
              </a:solidFill>
              <a:latin typeface="Arial"/>
            </a:endParaRPr>
          </a:p>
        </p:txBody>
      </p:sp>
      <p:sp>
        <p:nvSpPr>
          <p:cNvPr id="167" name="Text 6"/>
          <p:cNvSpPr/>
          <p:nvPr/>
        </p:nvSpPr>
        <p:spPr>
          <a:xfrm>
            <a:off x="640080" y="1417320"/>
            <a:ext cx="2422800" cy="107856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r>
              <a:rPr b="1" lang="en-US" sz="1300" spc="-1" strike="noStrike">
                <a:solidFill>
                  <a:srgbClr val="ffffff"/>
                </a:solidFill>
                <a:latin typeface="Aptos"/>
                <a:ea typeface="Aptos"/>
              </a:rPr>
              <a:t>27M</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forecasts / night</a:t>
            </a:r>
            <a:endParaRPr b="0" lang="en-US" sz="1300" spc="-1" strike="noStrike">
              <a:solidFill>
                <a:srgbClr val="ffffff"/>
              </a:solidFill>
              <a:latin typeface="Arial"/>
            </a:endParaRPr>
          </a:p>
        </p:txBody>
      </p:sp>
      <p:sp>
        <p:nvSpPr>
          <p:cNvPr id="168" name="Text 7"/>
          <p:cNvSpPr/>
          <p:nvPr/>
        </p:nvSpPr>
        <p:spPr>
          <a:xfrm>
            <a:off x="3520440" y="1417320"/>
            <a:ext cx="2422800" cy="1078560"/>
          </a:xfrm>
          <a:prstGeom prst="rect">
            <a:avLst/>
          </a:prstGeom>
          <a:solidFill>
            <a:srgbClr val="101827">
              <a:alpha val="98000"/>
            </a:srgbClr>
          </a:solidFill>
          <a:ln w="15240">
            <a:solidFill>
              <a:srgbClr val="38bdf8">
                <a:alpha val="80000"/>
              </a:srgbClr>
            </a:solidFill>
            <a:round/>
          </a:ln>
        </p:spPr>
        <p:style>
          <a:lnRef idx="0"/>
          <a:fillRef idx="0"/>
          <a:effectRef idx="0"/>
          <a:fontRef idx="minor"/>
        </p:style>
        <p:txBody>
          <a:bodyPr lIns="1440" rIns="1440" tIns="1440" bIns="1440" anchor="t">
            <a:normAutofit/>
          </a:bodyPr>
          <a:p>
            <a:r>
              <a:rPr b="1" lang="en-US" sz="1300" spc="-1" strike="noStrike">
                <a:solidFill>
                  <a:srgbClr val="ffffff"/>
                </a:solidFill>
                <a:latin typeface="Aptos"/>
                <a:ea typeface="Aptos"/>
              </a:rPr>
              <a:t>7.04M</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optimized candidates</a:t>
            </a:r>
            <a:endParaRPr b="0" lang="en-US" sz="1300" spc="-1" strike="noStrike">
              <a:solidFill>
                <a:srgbClr val="ffffff"/>
              </a:solidFill>
              <a:latin typeface="Arial"/>
            </a:endParaRPr>
          </a:p>
        </p:txBody>
      </p:sp>
      <p:sp>
        <p:nvSpPr>
          <p:cNvPr id="169" name="Text 8"/>
          <p:cNvSpPr/>
          <p:nvPr/>
        </p:nvSpPr>
        <p:spPr>
          <a:xfrm>
            <a:off x="6400800" y="1417320"/>
            <a:ext cx="2422800" cy="107856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300" spc="-1" strike="noStrike">
                <a:solidFill>
                  <a:srgbClr val="ffffff"/>
                </a:solidFill>
                <a:latin typeface="Aptos"/>
                <a:ea typeface="Aptos"/>
              </a:rPr>
              <a:t>6× peak</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162M forecasts</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42.24M optimization</a:t>
            </a:r>
            <a:endParaRPr b="0" lang="en-US" sz="1300" spc="-1" strike="noStrike">
              <a:solidFill>
                <a:srgbClr val="ffffff"/>
              </a:solidFill>
              <a:latin typeface="Arial"/>
            </a:endParaRPr>
          </a:p>
        </p:txBody>
      </p:sp>
      <p:sp>
        <p:nvSpPr>
          <p:cNvPr id="170" name="Text 9"/>
          <p:cNvSpPr/>
          <p:nvPr/>
        </p:nvSpPr>
        <p:spPr>
          <a:xfrm>
            <a:off x="9281160" y="1417320"/>
            <a:ext cx="2422800" cy="107856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300" spc="-1" strike="noStrike">
                <a:solidFill>
                  <a:srgbClr val="ffffff"/>
                </a:solidFill>
                <a:latin typeface="Aptos"/>
                <a:ea typeface="Aptos"/>
              </a:rPr>
              <a:t>198.7 min</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target runtime</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inside 240 min</a:t>
            </a:r>
            <a:endParaRPr b="0" lang="en-US" sz="1300" spc="-1" strike="noStrike">
              <a:solidFill>
                <a:srgbClr val="ffffff"/>
              </a:solidFill>
              <a:latin typeface="Arial"/>
            </a:endParaRPr>
          </a:p>
        </p:txBody>
      </p:sp>
      <p:sp>
        <p:nvSpPr>
          <p:cNvPr id="171" name="Text 10"/>
          <p:cNvSpPr/>
          <p:nvPr/>
        </p:nvSpPr>
        <p:spPr>
          <a:xfrm>
            <a:off x="658440" y="306324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Aptos Display"/>
                <a:ea typeface="Aptos Display"/>
              </a:rPr>
              <a:t>Business targets</a:t>
            </a:r>
            <a:endParaRPr b="0" lang="en-US" sz="1700" spc="-1" strike="noStrike">
              <a:solidFill>
                <a:srgbClr val="ffffff"/>
              </a:solidFill>
              <a:latin typeface="Arial"/>
            </a:endParaRPr>
          </a:p>
        </p:txBody>
      </p:sp>
      <p:sp>
        <p:nvSpPr>
          <p:cNvPr id="172" name="Text 11"/>
          <p:cNvSpPr/>
          <p:nvPr/>
        </p:nvSpPr>
        <p:spPr>
          <a:xfrm>
            <a:off x="868680" y="3657600"/>
            <a:ext cx="2057040" cy="68544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Out-of-stock</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7.2% → 3%</a:t>
            </a:r>
            <a:endParaRPr b="0" lang="en-US" sz="1200" spc="-1" strike="noStrike">
              <a:solidFill>
                <a:srgbClr val="ffffff"/>
              </a:solidFill>
              <a:latin typeface="Arial"/>
            </a:endParaRPr>
          </a:p>
        </p:txBody>
      </p:sp>
      <p:sp>
        <p:nvSpPr>
          <p:cNvPr id="173" name="Text 12"/>
          <p:cNvSpPr/>
          <p:nvPr/>
        </p:nvSpPr>
        <p:spPr>
          <a:xfrm>
            <a:off x="3383280" y="3657600"/>
            <a:ext cx="2057040" cy="685440"/>
          </a:xfrm>
          <a:prstGeom prst="rect">
            <a:avLst/>
          </a:prstGeom>
          <a:solidFill>
            <a:srgbClr val="101827"/>
          </a:solidFill>
          <a:ln w="15240">
            <a:solidFill>
              <a:srgbClr val="22c55e"/>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Fresh waste</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4.8% → 3%</a:t>
            </a:r>
            <a:endParaRPr b="0" lang="en-US" sz="1200" spc="-1" strike="noStrike">
              <a:solidFill>
                <a:srgbClr val="ffffff"/>
              </a:solidFill>
              <a:latin typeface="Arial"/>
            </a:endParaRPr>
          </a:p>
        </p:txBody>
      </p:sp>
      <p:sp>
        <p:nvSpPr>
          <p:cNvPr id="174" name="Text 13"/>
          <p:cNvSpPr/>
          <p:nvPr/>
        </p:nvSpPr>
        <p:spPr>
          <a:xfrm>
            <a:off x="5897880" y="3657600"/>
            <a:ext cx="2057040" cy="685440"/>
          </a:xfrm>
          <a:prstGeom prst="rect">
            <a:avLst/>
          </a:prstGeom>
          <a:solidFill>
            <a:srgbClr val="101827"/>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Forecast WAPE</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41% → ≤25%</a:t>
            </a:r>
            <a:endParaRPr b="0" lang="en-US" sz="1200" spc="-1" strike="noStrike">
              <a:solidFill>
                <a:srgbClr val="ffffff"/>
              </a:solidFill>
              <a:latin typeface="Arial"/>
            </a:endParaRPr>
          </a:p>
        </p:txBody>
      </p:sp>
      <p:sp>
        <p:nvSpPr>
          <p:cNvPr id="175" name="Text 14"/>
          <p:cNvSpPr/>
          <p:nvPr/>
        </p:nvSpPr>
        <p:spPr>
          <a:xfrm>
            <a:off x="8183880" y="3429000"/>
            <a:ext cx="3245760" cy="114264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Inventory uncertainty</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78% accuracy means inventory is an interval, not truth. Suppress recommendations when uncertainty is too high.</a:t>
            </a:r>
            <a:endParaRPr b="0" lang="en-US" sz="1150" spc="-1" strike="noStrike">
              <a:solidFill>
                <a:srgbClr val="ffffff"/>
              </a:solidFill>
              <a:latin typeface="Arial"/>
            </a:endParaRPr>
          </a:p>
        </p:txBody>
      </p:sp>
      <p:sp>
        <p:nvSpPr>
          <p:cNvPr id="176" name="Text 15"/>
          <p:cNvSpPr/>
          <p:nvPr/>
        </p:nvSpPr>
        <p:spPr>
          <a:xfrm>
            <a:off x="8183880" y="4846320"/>
            <a:ext cx="3245760" cy="95976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r>
              <a:rPr b="1" lang="en-US" sz="1150" spc="-1" strike="noStrike">
                <a:solidFill>
                  <a:srgbClr val="ffffff"/>
                </a:solidFill>
                <a:latin typeface="Aptos"/>
                <a:ea typeface="Aptos"/>
              </a:rPr>
              <a:t>Cost gate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Target ≈ $3.8M / year; hard ceiling $4M / year. Requires benchmark and production evidence.</a:t>
            </a:r>
            <a:endParaRPr b="0" lang="en-US" sz="1150" spc="-1" strike="noStrike">
              <a:solidFill>
                <a:srgbClr val="ffffff"/>
              </a:solidFill>
              <a:latin typeface="Arial"/>
            </a:endParaRPr>
          </a:p>
        </p:txBody>
      </p:sp>
      <p:sp>
        <p:nvSpPr>
          <p:cNvPr id="177" name="Text 16"/>
          <p:cNvSpPr/>
          <p:nvPr/>
        </p:nvSpPr>
        <p:spPr>
          <a:xfrm>
            <a:off x="960120" y="5815440"/>
            <a:ext cx="6720480" cy="38376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These are release gates and design targets — not claimed benchmark results.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78"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9"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180"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Design Decisions &amp; ADR Matrix</a:t>
            </a:r>
            <a:endParaRPr b="0" lang="en-US" sz="2350" spc="-1" strike="noStrike">
              <a:solidFill>
                <a:srgbClr val="ffffff"/>
              </a:solidFill>
              <a:latin typeface="Arial"/>
            </a:endParaRPr>
          </a:p>
        </p:txBody>
      </p:sp>
      <p:sp>
        <p:nvSpPr>
          <p:cNvPr id="181"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Every decision answers a rejection risk.</a:t>
            </a:r>
            <a:endParaRPr b="0" lang="en-US" sz="1150" spc="-1" strike="noStrike">
              <a:solidFill>
                <a:srgbClr val="ffffff"/>
              </a:solidFill>
              <a:latin typeface="Arial"/>
            </a:endParaRPr>
          </a:p>
        </p:txBody>
      </p:sp>
      <p:sp>
        <p:nvSpPr>
          <p:cNvPr id="182"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83"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09</a:t>
            </a:r>
            <a:endParaRPr b="0" lang="en-US" sz="850" spc="-1" strike="noStrike">
              <a:solidFill>
                <a:srgbClr val="ffffff"/>
              </a:solidFill>
              <a:latin typeface="Arial"/>
            </a:endParaRPr>
          </a:p>
        </p:txBody>
      </p:sp>
      <p:sp>
        <p:nvSpPr>
          <p:cNvPr id="184" name="Text 6"/>
          <p:cNvSpPr/>
          <p:nvPr/>
        </p:nvSpPr>
        <p:spPr>
          <a:xfrm>
            <a:off x="685800" y="1417320"/>
            <a:ext cx="3520080" cy="114264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r>
              <a:rPr b="1" lang="en-US" sz="1160" spc="-1" strike="noStrike">
                <a:solidFill>
                  <a:srgbClr val="ffffff"/>
                </a:solidFill>
                <a:latin typeface="Aptos"/>
                <a:ea typeface="Aptos"/>
              </a:rPr>
              <a:t>ADR-01: External async sidecar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to protect MERLIN availability. Rejected embedded AI because model latency could affect the order path.</a:t>
            </a:r>
            <a:endParaRPr b="0" lang="en-US" sz="1160" spc="-1" strike="noStrike">
              <a:solidFill>
                <a:srgbClr val="ffffff"/>
              </a:solidFill>
              <a:latin typeface="Arial"/>
            </a:endParaRPr>
          </a:p>
        </p:txBody>
      </p:sp>
      <p:sp>
        <p:nvSpPr>
          <p:cNvPr id="185" name="Text 7"/>
          <p:cNvSpPr/>
          <p:nvPr/>
        </p:nvSpPr>
        <p:spPr>
          <a:xfrm>
            <a:off x="4343400" y="1417320"/>
            <a:ext cx="3520080" cy="114264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r>
              <a:rPr b="1" lang="en-US" sz="1160" spc="-1" strike="noStrike">
                <a:solidFill>
                  <a:srgbClr val="ffffff"/>
                </a:solidFill>
                <a:latin typeface="Aptos"/>
                <a:ea typeface="Aptos"/>
              </a:rPr>
              <a:t>ADR-02: Deterministic optimizer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because constraints must be explainable, bounded, and auditable before MERLIN reads recommendations.</a:t>
            </a:r>
            <a:endParaRPr b="0" lang="en-US" sz="1160" spc="-1" strike="noStrike">
              <a:solidFill>
                <a:srgbClr val="ffffff"/>
              </a:solidFill>
              <a:latin typeface="Arial"/>
            </a:endParaRPr>
          </a:p>
        </p:txBody>
      </p:sp>
      <p:sp>
        <p:nvSpPr>
          <p:cNvPr id="186" name="Text 8"/>
          <p:cNvSpPr/>
          <p:nvPr/>
        </p:nvSpPr>
        <p:spPr>
          <a:xfrm>
            <a:off x="8001000" y="1417320"/>
            <a:ext cx="3520080" cy="114264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r>
              <a:rPr b="1" lang="en-US" sz="1160" spc="-1" strike="noStrike">
                <a:solidFill>
                  <a:srgbClr val="ffffff"/>
                </a:solidFill>
                <a:latin typeface="Aptos"/>
                <a:ea typeface="Aptos"/>
              </a:rPr>
              <a:t>ADR-03: Certified adapter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to make the write path narrow, versioned, schema-valid, and kill-switch aware.</a:t>
            </a:r>
            <a:endParaRPr b="0" lang="en-US" sz="1160" spc="-1" strike="noStrike">
              <a:solidFill>
                <a:srgbClr val="ffffff"/>
              </a:solidFill>
              <a:latin typeface="Arial"/>
            </a:endParaRPr>
          </a:p>
        </p:txBody>
      </p:sp>
      <p:sp>
        <p:nvSpPr>
          <p:cNvPr id="187" name="Text 9"/>
          <p:cNvSpPr/>
          <p:nvPr/>
        </p:nvSpPr>
        <p:spPr>
          <a:xfrm>
            <a:off x="685800" y="324612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50" spc="-1" strike="noStrike">
                <a:solidFill>
                  <a:srgbClr val="ffffff"/>
                </a:solidFill>
                <a:latin typeface="Aptos Display"/>
                <a:ea typeface="Aptos Display"/>
              </a:rPr>
              <a:t>Top risk controls</a:t>
            </a:r>
            <a:endParaRPr b="0" lang="en-US" sz="1750" spc="-1" strike="noStrike">
              <a:solidFill>
                <a:srgbClr val="ffffff"/>
              </a:solidFill>
              <a:latin typeface="Arial"/>
            </a:endParaRPr>
          </a:p>
        </p:txBody>
      </p:sp>
      <p:sp>
        <p:nvSpPr>
          <p:cNvPr id="188" name="Text 10"/>
          <p:cNvSpPr/>
          <p:nvPr/>
        </p:nvSpPr>
        <p:spPr>
          <a:xfrm>
            <a:off x="822960" y="3703320"/>
            <a:ext cx="2102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Deadline miss</a:t>
            </a:r>
            <a:endParaRPr b="0" lang="en-US" sz="1020" spc="-1" strike="noStrike">
              <a:solidFill>
                <a:srgbClr val="ffffff"/>
              </a:solidFill>
              <a:latin typeface="Arial"/>
            </a:endParaRPr>
          </a:p>
        </p:txBody>
      </p:sp>
      <p:sp>
        <p:nvSpPr>
          <p:cNvPr id="189" name="Text 11"/>
          <p:cNvSpPr/>
          <p:nvPr/>
        </p:nvSpPr>
        <p:spPr>
          <a:xfrm>
            <a:off x="2971800" y="3703320"/>
            <a:ext cx="8046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Earlier close gates + publish-nothing fallback</a:t>
            </a:r>
            <a:endParaRPr b="0" lang="en-US" sz="1020" spc="-1" strike="noStrike">
              <a:solidFill>
                <a:srgbClr val="ffffff"/>
              </a:solidFill>
              <a:latin typeface="Arial"/>
            </a:endParaRPr>
          </a:p>
        </p:txBody>
      </p:sp>
      <p:sp>
        <p:nvSpPr>
          <p:cNvPr id="190" name="Text 12"/>
          <p:cNvSpPr/>
          <p:nvPr/>
        </p:nvSpPr>
        <p:spPr>
          <a:xfrm>
            <a:off x="822960" y="4096440"/>
            <a:ext cx="2102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Inventory error</a:t>
            </a:r>
            <a:endParaRPr b="0" lang="en-US" sz="1020" spc="-1" strike="noStrike">
              <a:solidFill>
                <a:srgbClr val="ffffff"/>
              </a:solidFill>
              <a:latin typeface="Arial"/>
            </a:endParaRPr>
          </a:p>
        </p:txBody>
      </p:sp>
      <p:sp>
        <p:nvSpPr>
          <p:cNvPr id="191" name="Text 13"/>
          <p:cNvSpPr/>
          <p:nvPr/>
        </p:nvSpPr>
        <p:spPr>
          <a:xfrm>
            <a:off x="2971800" y="4096440"/>
            <a:ext cx="8046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Interval-based suppression and audit evidence</a:t>
            </a:r>
            <a:endParaRPr b="0" lang="en-US" sz="1020" spc="-1" strike="noStrike">
              <a:solidFill>
                <a:srgbClr val="ffffff"/>
              </a:solidFill>
              <a:latin typeface="Arial"/>
            </a:endParaRPr>
          </a:p>
        </p:txBody>
      </p:sp>
      <p:sp>
        <p:nvSpPr>
          <p:cNvPr id="192" name="Text 14"/>
          <p:cNvSpPr/>
          <p:nvPr/>
        </p:nvSpPr>
        <p:spPr>
          <a:xfrm>
            <a:off x="822960" y="4489560"/>
            <a:ext cx="2102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Peak capacity</a:t>
            </a:r>
            <a:endParaRPr b="0" lang="en-US" sz="1020" spc="-1" strike="noStrike">
              <a:solidFill>
                <a:srgbClr val="ffffff"/>
              </a:solidFill>
              <a:latin typeface="Arial"/>
            </a:endParaRPr>
          </a:p>
        </p:txBody>
      </p:sp>
      <p:sp>
        <p:nvSpPr>
          <p:cNvPr id="193" name="Text 15"/>
          <p:cNvSpPr/>
          <p:nvPr/>
        </p:nvSpPr>
        <p:spPr>
          <a:xfrm>
            <a:off x="2971800" y="4489560"/>
            <a:ext cx="8046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Benchmark at 6× before rollout</a:t>
            </a:r>
            <a:endParaRPr b="0" lang="en-US" sz="1020" spc="-1" strike="noStrike">
              <a:solidFill>
                <a:srgbClr val="ffffff"/>
              </a:solidFill>
              <a:latin typeface="Arial"/>
            </a:endParaRPr>
          </a:p>
        </p:txBody>
      </p:sp>
      <p:sp>
        <p:nvSpPr>
          <p:cNvPr id="194" name="Text 16"/>
          <p:cNvSpPr/>
          <p:nvPr/>
        </p:nvSpPr>
        <p:spPr>
          <a:xfrm>
            <a:off x="822960" y="4883040"/>
            <a:ext cx="2102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Food-safety liability</a:t>
            </a:r>
            <a:endParaRPr b="0" lang="en-US" sz="1020" spc="-1" strike="noStrike">
              <a:solidFill>
                <a:srgbClr val="ffffff"/>
              </a:solidFill>
              <a:latin typeface="Arial"/>
            </a:endParaRPr>
          </a:p>
        </p:txBody>
      </p:sp>
      <p:sp>
        <p:nvSpPr>
          <p:cNvPr id="195" name="Text 17"/>
          <p:cNvSpPr/>
          <p:nvPr/>
        </p:nvSpPr>
        <p:spPr>
          <a:xfrm>
            <a:off x="2971800" y="4883040"/>
            <a:ext cx="8046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Read-only approved evidence; no write path</a:t>
            </a:r>
            <a:endParaRPr b="0" lang="en-US" sz="1020" spc="-1" strike="noStrike">
              <a:solidFill>
                <a:srgbClr val="ffffff"/>
              </a:solidFill>
              <a:latin typeface="Arial"/>
            </a:endParaRPr>
          </a:p>
        </p:txBody>
      </p:sp>
      <p:sp>
        <p:nvSpPr>
          <p:cNvPr id="196" name="Text 18"/>
          <p:cNvSpPr/>
          <p:nvPr/>
        </p:nvSpPr>
        <p:spPr>
          <a:xfrm>
            <a:off x="822960" y="5276160"/>
            <a:ext cx="2102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Kill-switch realism</a:t>
            </a:r>
            <a:endParaRPr b="0" lang="en-US" sz="1020" spc="-1" strike="noStrike">
              <a:solidFill>
                <a:srgbClr val="ffffff"/>
              </a:solidFill>
              <a:latin typeface="Arial"/>
            </a:endParaRPr>
          </a:p>
        </p:txBody>
      </p:sp>
      <p:sp>
        <p:nvSpPr>
          <p:cNvPr id="197" name="Text 19"/>
          <p:cNvSpPr/>
          <p:nvPr/>
        </p:nvSpPr>
        <p:spPr>
          <a:xfrm>
            <a:off x="2971800" y="5276160"/>
            <a:ext cx="8046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Epoch-based disable, independent revoke, short-lived permit</a:t>
            </a:r>
            <a:endParaRPr b="0" lang="en-US" sz="1020" spc="-1" strike="noStrike">
              <a:solidFill>
                <a:srgbClr val="ffffff"/>
              </a:solidFill>
              <a:latin typeface="Arial"/>
            </a:endParaRPr>
          </a:p>
        </p:txBody>
      </p:sp>
      <p:sp>
        <p:nvSpPr>
          <p:cNvPr id="198" name="Text 20"/>
          <p:cNvSpPr/>
          <p:nvPr/>
        </p:nvSpPr>
        <p:spPr>
          <a:xfrm>
            <a:off x="914400" y="5989320"/>
            <a:ext cx="10149480" cy="383760"/>
          </a:xfrm>
          <a:prstGeom prst="rect">
            <a:avLst/>
          </a:prstGeom>
          <a:solidFill>
            <a:srgbClr val="1f2937"/>
          </a:solidFill>
          <a:ln w="13970">
            <a:solidFill>
              <a:srgbClr val="22c55e"/>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A risk register is credible only when each mitigation changes runtime behavior, not just documentation.</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99" name="Shape 0"/>
          <p:cNvSpPr/>
          <p:nvPr/>
        </p:nvSpPr>
        <p:spPr>
          <a:xfrm>
            <a:off x="0" y="0"/>
            <a:ext cx="12191400" cy="12780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0" name="Text 1"/>
          <p:cNvSpPr/>
          <p:nvPr/>
        </p:nvSpPr>
        <p:spPr>
          <a:xfrm>
            <a:off x="502920" y="347400"/>
            <a:ext cx="4388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201" name="Text 2"/>
          <p:cNvSpPr/>
          <p:nvPr/>
        </p:nvSpPr>
        <p:spPr>
          <a:xfrm>
            <a:off x="502920" y="640080"/>
            <a:ext cx="1088100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5-Stage Rollout Roadmap</a:t>
            </a:r>
            <a:endParaRPr b="0" lang="en-US" sz="2350" spc="-1" strike="noStrike">
              <a:solidFill>
                <a:srgbClr val="ffffff"/>
              </a:solidFill>
              <a:latin typeface="Arial"/>
            </a:endParaRPr>
          </a:p>
        </p:txBody>
      </p:sp>
      <p:sp>
        <p:nvSpPr>
          <p:cNvPr id="202" name="Text 3"/>
          <p:cNvSpPr/>
          <p:nvPr/>
        </p:nvSpPr>
        <p:spPr>
          <a:xfrm>
            <a:off x="511920" y="1078920"/>
            <a:ext cx="108810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Modernize without risking daily operations.</a:t>
            </a:r>
            <a:endParaRPr b="0" lang="en-US" sz="1150" spc="-1" strike="noStrike">
              <a:solidFill>
                <a:srgbClr val="ffffff"/>
              </a:solidFill>
              <a:latin typeface="Arial"/>
            </a:endParaRPr>
          </a:p>
        </p:txBody>
      </p:sp>
      <p:sp>
        <p:nvSpPr>
          <p:cNvPr id="203" name="Text 4"/>
          <p:cNvSpPr/>
          <p:nvPr/>
        </p:nvSpPr>
        <p:spPr>
          <a:xfrm>
            <a:off x="502920" y="6656760"/>
            <a:ext cx="676620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204" name="Text 5"/>
          <p:cNvSpPr/>
          <p:nvPr/>
        </p:nvSpPr>
        <p:spPr>
          <a:xfrm>
            <a:off x="11292840" y="6565320"/>
            <a:ext cx="41112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10</a:t>
            </a:r>
            <a:endParaRPr b="0" lang="en-US" sz="850" spc="-1" strike="noStrike">
              <a:solidFill>
                <a:srgbClr val="ffffff"/>
              </a:solidFill>
              <a:latin typeface="Arial"/>
            </a:endParaRPr>
          </a:p>
        </p:txBody>
      </p:sp>
      <p:sp>
        <p:nvSpPr>
          <p:cNvPr id="205" name="Text 6"/>
          <p:cNvSpPr/>
          <p:nvPr/>
        </p:nvSpPr>
        <p:spPr>
          <a:xfrm>
            <a:off x="713160" y="1828800"/>
            <a:ext cx="502560" cy="50256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1</a:t>
            </a:r>
            <a:endParaRPr b="0" lang="en-US" sz="1500" spc="-1" strike="noStrike">
              <a:solidFill>
                <a:srgbClr val="ffffff"/>
              </a:solidFill>
              <a:latin typeface="Arial"/>
            </a:endParaRPr>
          </a:p>
        </p:txBody>
      </p:sp>
      <p:sp>
        <p:nvSpPr>
          <p:cNvPr id="206" name="Text 7"/>
          <p:cNvSpPr/>
          <p:nvPr/>
        </p:nvSpPr>
        <p:spPr>
          <a:xfrm>
            <a:off x="1307520" y="1901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Discovery</a:t>
            </a:r>
            <a:endParaRPr b="0" lang="en-US" sz="1300" spc="-1" strike="noStrike">
              <a:solidFill>
                <a:srgbClr val="ffffff"/>
              </a:solidFill>
              <a:latin typeface="Arial"/>
            </a:endParaRPr>
          </a:p>
        </p:txBody>
      </p:sp>
      <p:sp>
        <p:nvSpPr>
          <p:cNvPr id="207" name="Shape 8"/>
          <p:cNvSpPr/>
          <p:nvPr/>
        </p:nvSpPr>
        <p:spPr>
          <a:xfrm>
            <a:off x="128016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8" name="Text 9"/>
          <p:cNvSpPr/>
          <p:nvPr/>
        </p:nvSpPr>
        <p:spPr>
          <a:xfrm>
            <a:off x="2953440" y="1828800"/>
            <a:ext cx="502560" cy="50256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2</a:t>
            </a:r>
            <a:endParaRPr b="0" lang="en-US" sz="1500" spc="-1" strike="noStrike">
              <a:solidFill>
                <a:srgbClr val="ffffff"/>
              </a:solidFill>
              <a:latin typeface="Arial"/>
            </a:endParaRPr>
          </a:p>
        </p:txBody>
      </p:sp>
      <p:sp>
        <p:nvSpPr>
          <p:cNvPr id="209" name="Text 10"/>
          <p:cNvSpPr/>
          <p:nvPr/>
        </p:nvSpPr>
        <p:spPr>
          <a:xfrm>
            <a:off x="3547800" y="1901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Replay</a:t>
            </a:r>
            <a:endParaRPr b="0" lang="en-US" sz="1300" spc="-1" strike="noStrike">
              <a:solidFill>
                <a:srgbClr val="ffffff"/>
              </a:solidFill>
              <a:latin typeface="Arial"/>
            </a:endParaRPr>
          </a:p>
        </p:txBody>
      </p:sp>
      <p:sp>
        <p:nvSpPr>
          <p:cNvPr id="210" name="Shape 11"/>
          <p:cNvSpPr/>
          <p:nvPr/>
        </p:nvSpPr>
        <p:spPr>
          <a:xfrm>
            <a:off x="352044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1" name="Text 12"/>
          <p:cNvSpPr/>
          <p:nvPr/>
        </p:nvSpPr>
        <p:spPr>
          <a:xfrm>
            <a:off x="5193720" y="1828800"/>
            <a:ext cx="502560" cy="50256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3</a:t>
            </a:r>
            <a:endParaRPr b="0" lang="en-US" sz="1500" spc="-1" strike="noStrike">
              <a:solidFill>
                <a:srgbClr val="ffffff"/>
              </a:solidFill>
              <a:latin typeface="Arial"/>
            </a:endParaRPr>
          </a:p>
        </p:txBody>
      </p:sp>
      <p:sp>
        <p:nvSpPr>
          <p:cNvPr id="212" name="Text 13"/>
          <p:cNvSpPr/>
          <p:nvPr/>
        </p:nvSpPr>
        <p:spPr>
          <a:xfrm>
            <a:off x="5788080" y="1901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Shadow</a:t>
            </a:r>
            <a:endParaRPr b="0" lang="en-US" sz="1300" spc="-1" strike="noStrike">
              <a:solidFill>
                <a:srgbClr val="ffffff"/>
              </a:solidFill>
              <a:latin typeface="Arial"/>
            </a:endParaRPr>
          </a:p>
        </p:txBody>
      </p:sp>
      <p:sp>
        <p:nvSpPr>
          <p:cNvPr id="213" name="Shape 14"/>
          <p:cNvSpPr/>
          <p:nvPr/>
        </p:nvSpPr>
        <p:spPr>
          <a:xfrm>
            <a:off x="576072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4" name="Text 15"/>
          <p:cNvSpPr/>
          <p:nvPr/>
        </p:nvSpPr>
        <p:spPr>
          <a:xfrm>
            <a:off x="7434000" y="1828800"/>
            <a:ext cx="502560" cy="502560"/>
          </a:xfrm>
          <a:prstGeom prst="rect">
            <a:avLst/>
          </a:prstGeom>
          <a:solidFill>
            <a:srgbClr val="101827"/>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4</a:t>
            </a:r>
            <a:endParaRPr b="0" lang="en-US" sz="1500" spc="-1" strike="noStrike">
              <a:solidFill>
                <a:srgbClr val="ffffff"/>
              </a:solidFill>
              <a:latin typeface="Arial"/>
            </a:endParaRPr>
          </a:p>
        </p:txBody>
      </p:sp>
      <p:sp>
        <p:nvSpPr>
          <p:cNvPr id="215" name="Text 16"/>
          <p:cNvSpPr/>
          <p:nvPr/>
        </p:nvSpPr>
        <p:spPr>
          <a:xfrm>
            <a:off x="8028360" y="1901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Pilot</a:t>
            </a:r>
            <a:endParaRPr b="0" lang="en-US" sz="1300" spc="-1" strike="noStrike">
              <a:solidFill>
                <a:srgbClr val="ffffff"/>
              </a:solidFill>
              <a:latin typeface="Arial"/>
            </a:endParaRPr>
          </a:p>
        </p:txBody>
      </p:sp>
      <p:sp>
        <p:nvSpPr>
          <p:cNvPr id="216" name="Shape 17"/>
          <p:cNvSpPr/>
          <p:nvPr/>
        </p:nvSpPr>
        <p:spPr>
          <a:xfrm>
            <a:off x="800100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7" name="Text 18"/>
          <p:cNvSpPr/>
          <p:nvPr/>
        </p:nvSpPr>
        <p:spPr>
          <a:xfrm>
            <a:off x="9674280" y="1828800"/>
            <a:ext cx="502560" cy="502560"/>
          </a:xfrm>
          <a:prstGeom prst="rect">
            <a:avLst/>
          </a:prstGeom>
          <a:solidFill>
            <a:srgbClr val="101827"/>
          </a:solidFill>
          <a:ln w="15240">
            <a:solidFill>
              <a:srgbClr val="22c55e"/>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5</a:t>
            </a:r>
            <a:endParaRPr b="0" lang="en-US" sz="1500" spc="-1" strike="noStrike">
              <a:solidFill>
                <a:srgbClr val="ffffff"/>
              </a:solidFill>
              <a:latin typeface="Arial"/>
            </a:endParaRPr>
          </a:p>
        </p:txBody>
      </p:sp>
      <p:sp>
        <p:nvSpPr>
          <p:cNvPr id="218" name="Text 19"/>
          <p:cNvSpPr/>
          <p:nvPr/>
        </p:nvSpPr>
        <p:spPr>
          <a:xfrm>
            <a:off x="10268640" y="1901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Expansion</a:t>
            </a:r>
            <a:endParaRPr b="0" lang="en-US" sz="1300" spc="-1" strike="noStrike">
              <a:solidFill>
                <a:srgbClr val="ffffff"/>
              </a:solidFill>
              <a:latin typeface="Arial"/>
            </a:endParaRPr>
          </a:p>
        </p:txBody>
      </p:sp>
      <p:sp>
        <p:nvSpPr>
          <p:cNvPr id="219" name="Text 20"/>
          <p:cNvSpPr/>
          <p:nvPr/>
        </p:nvSpPr>
        <p:spPr>
          <a:xfrm>
            <a:off x="822960" y="3063240"/>
            <a:ext cx="3428640" cy="118836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Acceptance criteria</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MERLIN must continue operating normally without AI support. AI must prove value in shadow and pilot before expansion.</a:t>
            </a:r>
            <a:endParaRPr b="0" lang="en-US" sz="1200" spc="-1" strike="noStrike">
              <a:solidFill>
                <a:srgbClr val="ffffff"/>
              </a:solidFill>
              <a:latin typeface="Arial"/>
            </a:endParaRPr>
          </a:p>
        </p:txBody>
      </p:sp>
      <p:sp>
        <p:nvSpPr>
          <p:cNvPr id="220" name="Text 21"/>
          <p:cNvSpPr/>
          <p:nvPr/>
        </p:nvSpPr>
        <p:spPr>
          <a:xfrm>
            <a:off x="4389120" y="3063240"/>
            <a:ext cx="3428640" cy="118836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Kill switch</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Disable sidecar publication immediately during severe incidents. Existing MERLIN path remains available.</a:t>
            </a:r>
            <a:endParaRPr b="0" lang="en-US" sz="1200" spc="-1" strike="noStrike">
              <a:solidFill>
                <a:srgbClr val="ffffff"/>
              </a:solidFill>
              <a:latin typeface="Arial"/>
            </a:endParaRPr>
          </a:p>
        </p:txBody>
      </p:sp>
      <p:sp>
        <p:nvSpPr>
          <p:cNvPr id="221" name="Text 22"/>
          <p:cNvSpPr/>
          <p:nvPr/>
        </p:nvSpPr>
        <p:spPr>
          <a:xfrm>
            <a:off x="7955280" y="3063240"/>
            <a:ext cx="3428640" cy="118836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r>
              <a:rPr b="1" lang="en-US" sz="1200" spc="-1" strike="noStrike">
                <a:solidFill>
                  <a:srgbClr val="ffffff"/>
                </a:solidFill>
                <a:latin typeface="Aptos"/>
                <a:ea typeface="Aptos"/>
              </a:rPr>
              <a:t>Strategic conclusion</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AI accelerates replenishment decisions, while MERLIN remains the irreplaceable operational core.</a:t>
            </a:r>
            <a:endParaRPr b="0" lang="en-US" sz="1200" spc="-1" strike="noStrike">
              <a:solidFill>
                <a:srgbClr val="ffffff"/>
              </a:solidFill>
              <a:latin typeface="Arial"/>
            </a:endParaRPr>
          </a:p>
        </p:txBody>
      </p:sp>
      <p:sp>
        <p:nvSpPr>
          <p:cNvPr id="222" name="Text 23"/>
          <p:cNvSpPr/>
          <p:nvPr/>
        </p:nvSpPr>
        <p:spPr>
          <a:xfrm>
            <a:off x="822960" y="4846320"/>
            <a:ext cx="914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ffffff"/>
                </a:solidFill>
                <a:latin typeface="Aptos Display"/>
                <a:ea typeface="Aptos Display"/>
              </a:rPr>
              <a:t>Close</a:t>
            </a:r>
            <a:endParaRPr b="0" lang="en-US" sz="1800" spc="-1" strike="noStrike">
              <a:solidFill>
                <a:srgbClr val="ffffff"/>
              </a:solidFill>
              <a:latin typeface="Arial"/>
            </a:endParaRPr>
          </a:p>
        </p:txBody>
      </p:sp>
      <p:sp>
        <p:nvSpPr>
          <p:cNvPr id="223" name="Text 24"/>
          <p:cNvSpPr/>
          <p:nvPr/>
        </p:nvSpPr>
        <p:spPr>
          <a:xfrm>
            <a:off x="1691640" y="5440680"/>
            <a:ext cx="9052200" cy="5025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50" spc="-1" strike="noStrike">
                <a:solidFill>
                  <a:srgbClr val="e5e7eb"/>
                </a:solidFill>
                <a:latin typeface="Aptos"/>
                <a:ea typeface="Aptos"/>
              </a:rPr>
              <a:t>This is not an AI-first architecture. It is a MERLIN-safe modernization architecture: narrow interfaces, measurable gates, and no dependency on AI for order completion.</a:t>
            </a:r>
            <a:endParaRPr b="0" lang="en-US" sz="13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LibreOffice/24.2.1.2$MacOSX_AARCH64 LibreOffice_project/db4def46b0453cc22e2d0305797cf981b68ef5ac</Application>
  <AppVersion>15.0000</AppVersion>
  <Words>0</Words>
  <Paragraphs>0</Paragraphs>
  <Company>Group 4</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2026-07-26T04:30:39Z</dcterms:created>
  <dc:creator>OpenAI</dc:creator>
  <dc:description/>
  <dc:language>en-US</dc:language>
  <cp:lastModifiedBy/>
  <dcterms:modified xsi:type="dcterms:W3CDTF">2026-07-26T11:39:17Z</dcterms:modified>
  <cp:revision>3</cp:revision>
  <dc:subject>MERLIN 2026 AI Retrofit Sidecar Architecture</dc:subject>
  <dc:title>Group 4 Workshop 1 — AI Retrofit Sidecar Architecture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