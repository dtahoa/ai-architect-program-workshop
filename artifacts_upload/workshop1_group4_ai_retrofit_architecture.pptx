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Masters/_rels/notesMaster1.xml.rels" ContentType="application/vnd.openxmlformats-package.relationships+xml"/>
  <Override PartName="/ppt/notesMasters/notesMaster1.xml" ContentType="application/vnd.openxmlformats-officedocument.presentationml.notesMaster+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_rels/presentation.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9A080ACD-136B-4A51-87F0-AAFE22D5BB19}"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sldImg"/>
          </p:nvPr>
        </p:nvSpPr>
        <p:spPr>
          <a:xfrm>
            <a:off x="685800" y="1143000"/>
            <a:ext cx="5485680" cy="3085560"/>
          </a:xfrm>
          <a:prstGeom prst="rect">
            <a:avLst/>
          </a:prstGeom>
          <a:ln w="0">
            <a:noFill/>
          </a:ln>
        </p:spPr>
      </p:sp>
      <p:sp>
        <p:nvSpPr>
          <p:cNvPr id="18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The executive message is that MERLIN stays in control. AI is not replacing the replenishment engine. It produces forecasts and bounded recommendations. The certified adapter writes only approved rows. MERLIN reads those rows, runs the unchanged engine, and creates the official order. The key safety test is the 03:30 failure scenario. If AI dies late, we do not chase a recovery that could endanger the 04:00 deadline.</a:t>
            </a:r>
            <a:endParaRPr b="0" lang="en-US" sz="2000" spc="-1" strike="noStrike">
              <a:solidFill>
                <a:srgbClr val="000000"/>
              </a:solidFill>
              <a:latin typeface="Arial"/>
            </a:endParaRPr>
          </a:p>
        </p:txBody>
      </p:sp>
      <p:sp>
        <p:nvSpPr>
          <p:cNvPr id="183" name="PlaceHolder 3"/>
          <p:cNvSpPr>
            <a:spLocks noGrp="1"/>
          </p:cNvSpPr>
          <p:nvPr>
            <p:ph type="sldNum" idx="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E6F21FA-C425-4D04-8A35-533AF216F6C6}" type="slidenum">
              <a:rPr b="0" lang="en-US" sz="1200" spc="-1" strike="noStrike">
                <a:solidFill>
                  <a:schemeClr val="dk1"/>
                </a:solidFill>
                <a:latin typeface="+mn-lt"/>
                <a:ea typeface="+mn-ea"/>
              </a:rPr>
              <a:t>8</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Img"/>
          </p:nvPr>
        </p:nvSpPr>
        <p:spPr>
          <a:xfrm>
            <a:off x="685800" y="1143000"/>
            <a:ext cx="5485680" cy="3085560"/>
          </a:xfrm>
          <a:prstGeom prst="rect">
            <a:avLst/>
          </a:prstGeom>
          <a:ln w="0">
            <a:noFill/>
          </a:ln>
        </p:spPr>
      </p:sp>
      <p:sp>
        <p:nvSpPr>
          <p:cNvPr id="18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The retrofit starts from what we cannot change. We cannot change POS, EDI, the MERLIN engine, the order authority, or the 04:00 deadline. We also avoid undocumented tables and internal scheduling. Therefore, the sidecar has exactly three integration points: a read-only nightly snapshot, a bounded override table before order generation, and a post-generation review queue for audit. There is no invented fourth interface.</a:t>
            </a:r>
            <a:endParaRPr b="0" lang="en-US" sz="2000" spc="-1" strike="noStrike">
              <a:solidFill>
                <a:srgbClr val="000000"/>
              </a:solidFill>
              <a:latin typeface="Arial"/>
            </a:endParaRPr>
          </a:p>
        </p:txBody>
      </p:sp>
      <p:sp>
        <p:nvSpPr>
          <p:cNvPr id="186" name="PlaceHolder 3"/>
          <p:cNvSpPr>
            <a:spLocks noGrp="1"/>
          </p:cNvSpPr>
          <p:nvPr>
            <p:ph type="sldNum" idx="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103B0D1-A8F4-484C-B0D4-81C712C3D0DC}" type="slidenum">
              <a:rPr b="0" lang="en-US" sz="1200" spc="-1" strike="noStrike">
                <a:solidFill>
                  <a:schemeClr val="dk1"/>
                </a:solidFill>
                <a:latin typeface="+mn-lt"/>
                <a:ea typeface="+mn-ea"/>
              </a:rPr>
              <a:t>8</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Img"/>
          </p:nvPr>
        </p:nvSpPr>
        <p:spPr>
          <a:xfrm>
            <a:off x="685800" y="1143000"/>
            <a:ext cx="5485680" cy="3085560"/>
          </a:xfrm>
          <a:prstGeom prst="rect">
            <a:avLst/>
          </a:prstGeom>
          <a:ln w="0">
            <a:noFill/>
          </a:ln>
        </p:spPr>
      </p:sp>
      <p:sp>
        <p:nvSpPr>
          <p:cNvPr id="18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At context level, the AI sidecar is outside the ordering critical path. The sidecar consumes read-only snapshot data, produces recommendations, and writes only bounded rows. MERLIN still owns order generation and EDI. This slide also clarifies non-goals: AI does not call POS, AI does not send EDI, AI does not contact suppliers, and the associate copilot is read-only.</a:t>
            </a:r>
            <a:endParaRPr b="0" lang="en-US" sz="2000" spc="-1" strike="noStrike">
              <a:solidFill>
                <a:srgbClr val="000000"/>
              </a:solidFill>
              <a:latin typeface="Arial"/>
            </a:endParaRPr>
          </a:p>
        </p:txBody>
      </p:sp>
      <p:sp>
        <p:nvSpPr>
          <p:cNvPr id="189" name="PlaceHolder 3"/>
          <p:cNvSpPr>
            <a:spLocks noGrp="1"/>
          </p:cNvSpPr>
          <p:nvPr>
            <p:ph type="sldNum" idx="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43C2087-0131-4024-8968-F5C9E79691A7}" type="slidenum">
              <a:rPr b="0" lang="en-US" sz="1200" spc="-1" strike="noStrike">
                <a:solidFill>
                  <a:schemeClr val="dk1"/>
                </a:solidFill>
                <a:latin typeface="+mn-lt"/>
                <a:ea typeface="+mn-ea"/>
              </a:rPr>
              <a:t>8</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ldImg"/>
          </p:nvPr>
        </p:nvSpPr>
        <p:spPr>
          <a:xfrm>
            <a:off x="685800" y="1143000"/>
            <a:ext cx="5485680" cy="3085560"/>
          </a:xfrm>
          <a:prstGeom prst="rect">
            <a:avLst/>
          </a:prstGeom>
          <a:ln w="0">
            <a:noFill/>
          </a:ln>
        </p:spPr>
      </p:sp>
      <p:sp>
        <p:nvSpPr>
          <p:cNvPr id="19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The container view shows why this is safer than embedding AI into MERLIN. Snapshot validation protects input quality and residency. Forecast ML produces expected demand and quantiles. A deterministic optimizer applies hard constraints such as case pack, shelf life, DC capacity, inventory intervals, and category caps. The certified adapter is the only write path, and it writes only current-run, bounded, validated rows.</a:t>
            </a:r>
            <a:endParaRPr b="0" lang="en-US" sz="2000" spc="-1" strike="noStrike">
              <a:solidFill>
                <a:srgbClr val="000000"/>
              </a:solidFill>
              <a:latin typeface="Arial"/>
            </a:endParaRPr>
          </a:p>
        </p:txBody>
      </p:sp>
      <p:sp>
        <p:nvSpPr>
          <p:cNvPr id="192" name="PlaceHolder 3"/>
          <p:cNvSpPr>
            <a:spLocks noGrp="1"/>
          </p:cNvSpPr>
          <p:nvPr>
            <p:ph type="sldNum" idx="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1C59F98-F82E-435B-B543-D365F6682A3D}" type="slidenum">
              <a:rPr b="0" lang="en-US" sz="1200" spc="-1" strike="noStrike">
                <a:solidFill>
                  <a:schemeClr val="dk1"/>
                </a:solidFill>
                <a:latin typeface="+mn-lt"/>
                <a:ea typeface="+mn-ea"/>
              </a:rPr>
              <a:t>8</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685800" y="1143000"/>
            <a:ext cx="5485680" cy="3085560"/>
          </a:xfrm>
          <a:prstGeom prst="rect">
            <a:avLst/>
          </a:prstGeom>
          <a:ln w="0">
            <a:noFill/>
          </a:ln>
        </p:spPr>
      </p:sp>
      <p:sp>
        <p:nvSpPr>
          <p:cNvPr id="19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The nightly timeline protects delivery. The batch starts at 22:00. Validation, forecasting, and optimization must complete before the late-stage gates. At 01:30, new retries stop. At 01:45, incomplete partitions result in no publication. At 02:00, the AI write window closes. This only works if MERLIN P99 order generation is within 90 minutes. If not, the gate must move earlier.</a:t>
            </a:r>
            <a:endParaRPr b="0" lang="en-US" sz="2000" spc="-1" strike="noStrike">
              <a:solidFill>
                <a:srgbClr val="000000"/>
              </a:solidFill>
              <a:latin typeface="Arial"/>
            </a:endParaRPr>
          </a:p>
        </p:txBody>
      </p:sp>
      <p:sp>
        <p:nvSpPr>
          <p:cNvPr id="195" name="PlaceHolder 3"/>
          <p:cNvSpPr>
            <a:spLocks noGrp="1"/>
          </p:cNvSpPr>
          <p:nvPr>
            <p:ph type="sldNum" idx="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1890996-3121-4EEB-9F95-8F5146F1AFDE}" type="slidenum">
              <a:rPr b="0" lang="en-US" sz="1200" spc="-1" strike="noStrike">
                <a:solidFill>
                  <a:schemeClr val="dk1"/>
                </a:solidFill>
                <a:latin typeface="+mn-lt"/>
                <a:ea typeface="+mn-ea"/>
              </a:rPr>
              <a:t>8</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sldImg"/>
          </p:nvPr>
        </p:nvSpPr>
        <p:spPr>
          <a:xfrm>
            <a:off x="685800" y="1143000"/>
            <a:ext cx="5485680" cy="3085560"/>
          </a:xfrm>
          <a:prstGeom prst="rect">
            <a:avLst/>
          </a:prstGeom>
          <a:ln w="0">
            <a:noFill/>
          </a:ln>
        </p:spPr>
      </p:sp>
      <p:sp>
        <p:nvSpPr>
          <p:cNvPr id="19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The numbers are deliberately framed as release gates, not claimed results. We must process 27 million forecasts per night and around 7.04 million optimized candidates. At six times peak, the system must absorb 162 million forecasts. The target runtime is 198.7 minutes inside a 240-minute window. Business targets include out-of-stock reduction, fresh waste reduction, and WAPE improvement. The risk is inventory accuracy: with 78 percent accuracy, stock is an interval, so high-uncertainty recommendations must be suppressed.</a:t>
            </a:r>
            <a:endParaRPr b="0" lang="en-US" sz="2000" spc="-1" strike="noStrike">
              <a:solidFill>
                <a:srgbClr val="000000"/>
              </a:solidFill>
              <a:latin typeface="Arial"/>
            </a:endParaRPr>
          </a:p>
        </p:txBody>
      </p:sp>
      <p:sp>
        <p:nvSpPr>
          <p:cNvPr id="198" name="PlaceHolder 3"/>
          <p:cNvSpPr>
            <a:spLocks noGrp="1"/>
          </p:cNvSpPr>
          <p:nvPr>
            <p:ph type="sldNum" idx="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0E348AD-E502-4DCE-9BB1-8E3B6AC34460}" type="slidenum">
              <a:rPr b="0" lang="en-US" sz="1200" spc="-1" strike="noStrike">
                <a:solidFill>
                  <a:schemeClr val="dk1"/>
                </a:solidFill>
                <a:latin typeface="+mn-lt"/>
                <a:ea typeface="+mn-ea"/>
              </a:rPr>
              <a:t>8</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sldImg"/>
          </p:nvPr>
        </p:nvSpPr>
        <p:spPr>
          <a:xfrm>
            <a:off x="685800" y="1143000"/>
            <a:ext cx="5485680" cy="3085560"/>
          </a:xfrm>
          <a:prstGeom prst="rect">
            <a:avLst/>
          </a:prstGeom>
          <a:ln w="0">
            <a:noFill/>
          </a:ln>
        </p:spPr>
      </p:sp>
      <p:sp>
        <p:nvSpPr>
          <p:cNvPr id="20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The ADR story is straightforward. The external async sidecar protects availability. The deterministic optimizer makes recommendations explainable and bounded. The certified adapter makes every write controlled and auditable. The risk controls are concrete: gates for deadlines, interval-based suppression for inventory errors, six-times benchmarks for capacity, read-only evidence for food-safety content, and a realistic kill switch with independent revoke.</a:t>
            </a:r>
            <a:endParaRPr b="0" lang="en-US" sz="2000" spc="-1" strike="noStrike">
              <a:solidFill>
                <a:srgbClr val="000000"/>
              </a:solidFill>
              <a:latin typeface="Arial"/>
            </a:endParaRPr>
          </a:p>
        </p:txBody>
      </p:sp>
      <p:sp>
        <p:nvSpPr>
          <p:cNvPr id="201" name="PlaceHolder 3"/>
          <p:cNvSpPr>
            <a:spLocks noGrp="1"/>
          </p:cNvSpPr>
          <p:nvPr>
            <p:ph type="sldNum" idx="1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3756BFD-AB0F-4993-9087-DDDF66F8B4F4}" type="slidenum">
              <a:rPr b="0" lang="en-US" sz="1200" spc="-1" strike="noStrike">
                <a:solidFill>
                  <a:schemeClr val="dk1"/>
                </a:solidFill>
                <a:latin typeface="+mn-lt"/>
                <a:ea typeface="+mn-ea"/>
              </a:rPr>
              <a:t>8</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sldImg"/>
          </p:nvPr>
        </p:nvSpPr>
        <p:spPr>
          <a:xfrm>
            <a:off x="685800" y="1143000"/>
            <a:ext cx="5485680" cy="3085560"/>
          </a:xfrm>
          <a:prstGeom prst="rect">
            <a:avLst/>
          </a:prstGeom>
          <a:ln w="0">
            <a:noFill/>
          </a:ln>
        </p:spPr>
      </p:sp>
      <p:sp>
        <p:nvSpPr>
          <p:cNvPr id="20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The rollout is conservative: discovery, replay, shadow, pilot, then expansion. The acceptance criterion is not only model accuracy. MERLIN must continue to operate normally without AI. That is the strategic conclusion: this is not an AI-first architecture. It is a MERLIN-safe modernization architecture, with narrow interfaces, measurable gates, and no dependency on AI for order completion.</a:t>
            </a:r>
            <a:endParaRPr b="0" lang="en-US" sz="2000" spc="-1" strike="noStrike">
              <a:solidFill>
                <a:srgbClr val="000000"/>
              </a:solidFill>
              <a:latin typeface="Arial"/>
            </a:endParaRPr>
          </a:p>
        </p:txBody>
      </p:sp>
      <p:sp>
        <p:nvSpPr>
          <p:cNvPr id="204" name="PlaceHolder 3"/>
          <p:cNvSpPr>
            <a:spLocks noGrp="1"/>
          </p:cNvSpPr>
          <p:nvPr>
            <p:ph type="sldNum" idx="1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E2CF419-801E-4993-B671-893A6FBDE5FB}" type="slidenum">
              <a:rPr b="0" lang="en-US" sz="1200" spc="-1" strike="noStrike">
                <a:solidFill>
                  <a:schemeClr val="dk1"/>
                </a:solidFill>
                <a:latin typeface="+mn-lt"/>
                <a:ea typeface="+mn-ea"/>
              </a:rPr>
              <a:t>8</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Click to edit the title text format</a:t>
            </a:r>
            <a:endParaRPr b="0" lang="en-US" sz="4400" spc="-1" strike="noStrike">
              <a:solidFill>
                <a:srgbClr val="ffffff"/>
              </a:solidFill>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rgbClr val="ffffff"/>
                </a:solidFill>
                <a:latin typeface="Arial"/>
              </a:rPr>
              <a:t>Click to edit the outline text format</a:t>
            </a:r>
            <a:endParaRPr b="0" lang="en-US" sz="32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n-US" sz="2800" spc="-1" strike="noStrike">
                <a:solidFill>
                  <a:srgbClr val="ffffff"/>
                </a:solidFill>
                <a:latin typeface="Arial"/>
              </a:rPr>
              <a:t>Second Outline Level</a:t>
            </a:r>
            <a:endParaRPr b="0" lang="en-US" sz="2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ffffff"/>
                </a:solidFill>
                <a:latin typeface="Arial"/>
              </a:rPr>
              <a:t>Third Outline Level</a:t>
            </a:r>
            <a:endParaRPr b="0" lang="en-US" sz="24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n-US" sz="2000" spc="-1" strike="noStrike">
                <a:solidFill>
                  <a:srgbClr val="ffffff"/>
                </a:solidFill>
                <a:latin typeface="Arial"/>
              </a:rPr>
              <a:t>Fourth Outline Level</a:t>
            </a:r>
            <a:endParaRPr b="0" lang="en-US" sz="20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ffffff"/>
                </a:solidFill>
                <a:latin typeface="Arial"/>
              </a:rPr>
              <a:t>Fifth Outline Level</a:t>
            </a:r>
            <a:endParaRPr b="0" lang="en-US" sz="20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ffffff"/>
                </a:solidFill>
                <a:latin typeface="Arial"/>
              </a:rPr>
              <a:t>Sixth Outline Level</a:t>
            </a:r>
            <a:endParaRPr b="0" lang="en-US" sz="20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ffffff"/>
                </a:solidFill>
                <a:latin typeface="Arial"/>
              </a:rPr>
              <a:t>Seventh Outline Level</a:t>
            </a:r>
            <a:endParaRPr b="0" lang="en-US" sz="2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8" name="Shape 0"/>
          <p:cNvSpPr/>
          <p:nvPr/>
        </p:nvSpPr>
        <p:spPr>
          <a:xfrm>
            <a:off x="0" y="0"/>
            <a:ext cx="12191040" cy="127440"/>
          </a:xfrm>
          <a:prstGeom prst="rect">
            <a:avLst/>
          </a:prstGeom>
          <a:solidFill>
            <a:srgbClr val="2dd4bf"/>
          </a:solidFill>
          <a:ln w="12700">
            <a:solidFill>
              <a:srgbClr val="2dd4b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9" name="Text 1"/>
          <p:cNvSpPr/>
          <p:nvPr/>
        </p:nvSpPr>
        <p:spPr>
          <a:xfrm>
            <a:off x="502920" y="347400"/>
            <a:ext cx="43884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20" spc="-1" strike="noStrike">
                <a:solidFill>
                  <a:srgbClr val="2dd4bf"/>
                </a:solidFill>
                <a:latin typeface="Aptos"/>
                <a:ea typeface="Aptos"/>
              </a:rPr>
              <a:t>WORKSHOP 1 – GROUP 4 – AI RETROFIT STRATEGY</a:t>
            </a:r>
            <a:endParaRPr b="0" lang="en-US" sz="820" spc="-1" strike="noStrike">
              <a:solidFill>
                <a:srgbClr val="ffffff"/>
              </a:solidFill>
              <a:latin typeface="Arial"/>
            </a:endParaRPr>
          </a:p>
        </p:txBody>
      </p:sp>
      <p:sp>
        <p:nvSpPr>
          <p:cNvPr id="10" name="Text 2"/>
          <p:cNvSpPr/>
          <p:nvPr/>
        </p:nvSpPr>
        <p:spPr>
          <a:xfrm>
            <a:off x="502920" y="640080"/>
            <a:ext cx="10880640" cy="383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50" spc="-1" strike="noStrike">
                <a:solidFill>
                  <a:srgbClr val="ffffff"/>
                </a:solidFill>
                <a:latin typeface="Aptos Display"/>
                <a:ea typeface="Aptos Display"/>
              </a:rPr>
              <a:t>Operating Message &amp; Core Design Principles</a:t>
            </a:r>
            <a:endParaRPr b="0" lang="en-US" sz="2350" spc="-1" strike="noStrike">
              <a:solidFill>
                <a:srgbClr val="ffffff"/>
              </a:solidFill>
              <a:latin typeface="Arial"/>
            </a:endParaRPr>
          </a:p>
        </p:txBody>
      </p:sp>
      <p:sp>
        <p:nvSpPr>
          <p:cNvPr id="11" name="Text 3"/>
          <p:cNvSpPr/>
          <p:nvPr/>
        </p:nvSpPr>
        <p:spPr>
          <a:xfrm>
            <a:off x="511920" y="1078920"/>
            <a:ext cx="10880640" cy="236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pc="-1" strike="noStrike">
                <a:solidFill>
                  <a:srgbClr val="e5e7eb"/>
                </a:solidFill>
                <a:latin typeface="Aptos"/>
                <a:ea typeface="Aptos"/>
              </a:rPr>
              <a:t>Keep MERLIN in control. Let AI fail safely.</a:t>
            </a:r>
            <a:endParaRPr b="0" lang="en-US" sz="1150" spc="-1" strike="noStrike">
              <a:solidFill>
                <a:srgbClr val="ffffff"/>
              </a:solidFill>
              <a:latin typeface="Arial"/>
            </a:endParaRPr>
          </a:p>
        </p:txBody>
      </p:sp>
      <p:sp>
        <p:nvSpPr>
          <p:cNvPr id="12" name="Text 4"/>
          <p:cNvSpPr/>
          <p:nvPr/>
        </p:nvSpPr>
        <p:spPr>
          <a:xfrm>
            <a:off x="502920" y="6656760"/>
            <a:ext cx="676584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80" spc="-1" strike="noStrike">
                <a:solidFill>
                  <a:srgbClr val="94a3b8"/>
                </a:solidFill>
                <a:latin typeface="Aptos"/>
                <a:ea typeface="Aptos"/>
              </a:rPr>
              <a:t>MERLIN 2026 AI Retrofit Sidecar Architecture</a:t>
            </a:r>
            <a:endParaRPr b="0" lang="en-US" sz="780" spc="-1" strike="noStrike">
              <a:solidFill>
                <a:srgbClr val="ffffff"/>
              </a:solidFill>
              <a:latin typeface="Arial"/>
            </a:endParaRPr>
          </a:p>
        </p:txBody>
      </p:sp>
      <p:sp>
        <p:nvSpPr>
          <p:cNvPr id="13" name="Text 5"/>
          <p:cNvSpPr/>
          <p:nvPr/>
        </p:nvSpPr>
        <p:spPr>
          <a:xfrm>
            <a:off x="11292840" y="6565320"/>
            <a:ext cx="410760" cy="218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850" spc="-1" strike="noStrike">
                <a:solidFill>
                  <a:srgbClr val="94a3b8"/>
                </a:solidFill>
                <a:latin typeface="Aptos"/>
                <a:ea typeface="Aptos"/>
              </a:rPr>
              <a:t>03</a:t>
            </a:r>
            <a:endParaRPr b="0" lang="en-US" sz="850" spc="-1" strike="noStrike">
              <a:solidFill>
                <a:srgbClr val="ffffff"/>
              </a:solidFill>
              <a:latin typeface="Arial"/>
            </a:endParaRPr>
          </a:p>
        </p:txBody>
      </p:sp>
      <p:sp>
        <p:nvSpPr>
          <p:cNvPr id="14" name="Text 6"/>
          <p:cNvSpPr/>
          <p:nvPr/>
        </p:nvSpPr>
        <p:spPr>
          <a:xfrm>
            <a:off x="621720" y="1325880"/>
            <a:ext cx="10697760" cy="38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e5e7eb"/>
                </a:solidFill>
                <a:latin typeface="Aptos"/>
                <a:ea typeface="Aptos"/>
              </a:rPr>
              <a:t>Variant B improves forecasting and replenishment recommendations without changing ordering authority.</a:t>
            </a:r>
            <a:endParaRPr b="0" lang="en-US" sz="1500" spc="-1" strike="noStrike">
              <a:solidFill>
                <a:srgbClr val="ffffff"/>
              </a:solidFill>
              <a:latin typeface="Arial"/>
            </a:endParaRPr>
          </a:p>
        </p:txBody>
      </p:sp>
      <p:sp>
        <p:nvSpPr>
          <p:cNvPr id="15" name="Text 7"/>
          <p:cNvSpPr/>
          <p:nvPr/>
        </p:nvSpPr>
        <p:spPr>
          <a:xfrm>
            <a:off x="822960" y="2395800"/>
            <a:ext cx="2376720" cy="822240"/>
          </a:xfrm>
          <a:prstGeom prst="rect">
            <a:avLst/>
          </a:prstGeom>
          <a:solidFill>
            <a:srgbClr val="0f2534"/>
          </a:solidFill>
          <a:ln w="15240">
            <a:solidFill>
              <a:srgbClr val="2dd4bf"/>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250" spc="-1" strike="noStrike">
                <a:solidFill>
                  <a:srgbClr val="ffffff"/>
                </a:solidFill>
                <a:latin typeface="Aptos"/>
                <a:ea typeface="Aptos"/>
              </a:rPr>
              <a:t>AI Sidecar</a:t>
            </a:r>
            <a:endParaRPr b="0" lang="en-US" sz="1250" spc="-1" strike="noStrike">
              <a:solidFill>
                <a:srgbClr val="ffffff"/>
              </a:solidFill>
              <a:latin typeface="Arial"/>
            </a:endParaRPr>
          </a:p>
          <a:p>
            <a:pPr algn="ctr" defTabSz="914400">
              <a:lnSpc>
                <a:spcPct val="100000"/>
              </a:lnSpc>
              <a:tabLst>
                <a:tab algn="l" pos="0"/>
              </a:tabLst>
            </a:pPr>
            <a:r>
              <a:rPr b="1" lang="en-US" sz="1250" spc="-1" strike="noStrike">
                <a:solidFill>
                  <a:srgbClr val="ffffff"/>
                </a:solidFill>
                <a:latin typeface="Aptos"/>
                <a:ea typeface="Aptos"/>
              </a:rPr>
              <a:t>Forecasts + recommendations</a:t>
            </a:r>
            <a:endParaRPr b="0" lang="en-US" sz="1250" spc="-1" strike="noStrike">
              <a:solidFill>
                <a:srgbClr val="ffffff"/>
              </a:solidFill>
              <a:latin typeface="Arial"/>
            </a:endParaRPr>
          </a:p>
        </p:txBody>
      </p:sp>
      <p:sp>
        <p:nvSpPr>
          <p:cNvPr id="16" name="Text 8"/>
          <p:cNvSpPr/>
          <p:nvPr/>
        </p:nvSpPr>
        <p:spPr>
          <a:xfrm>
            <a:off x="3657600" y="2395800"/>
            <a:ext cx="2148120" cy="822240"/>
          </a:xfrm>
          <a:prstGeom prst="rect">
            <a:avLst/>
          </a:prstGeom>
          <a:solidFill>
            <a:srgbClr val="2b2110"/>
          </a:solidFill>
          <a:ln w="15240">
            <a:solidFill>
              <a:srgbClr val="f59e0b"/>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250" spc="-1" strike="noStrike">
                <a:solidFill>
                  <a:srgbClr val="ffffff"/>
                </a:solidFill>
                <a:latin typeface="Aptos"/>
                <a:ea typeface="Aptos"/>
              </a:rPr>
              <a:t>Certified Adapter</a:t>
            </a:r>
            <a:endParaRPr b="0" lang="en-US" sz="1250" spc="-1" strike="noStrike">
              <a:solidFill>
                <a:srgbClr val="ffffff"/>
              </a:solidFill>
              <a:latin typeface="Arial"/>
            </a:endParaRPr>
          </a:p>
          <a:p>
            <a:pPr algn="ctr" defTabSz="914400">
              <a:lnSpc>
                <a:spcPct val="100000"/>
              </a:lnSpc>
              <a:tabLst>
                <a:tab algn="l" pos="0"/>
              </a:tabLst>
            </a:pPr>
            <a:r>
              <a:rPr b="1" lang="en-US" sz="1250" spc="-1" strike="noStrike">
                <a:solidFill>
                  <a:srgbClr val="ffffff"/>
                </a:solidFill>
                <a:latin typeface="Aptos"/>
                <a:ea typeface="Aptos"/>
              </a:rPr>
              <a:t>Bounded rows only</a:t>
            </a:r>
            <a:endParaRPr b="0" lang="en-US" sz="1250" spc="-1" strike="noStrike">
              <a:solidFill>
                <a:srgbClr val="ffffff"/>
              </a:solidFill>
              <a:latin typeface="Arial"/>
            </a:endParaRPr>
          </a:p>
        </p:txBody>
      </p:sp>
      <p:sp>
        <p:nvSpPr>
          <p:cNvPr id="17" name="Text 9"/>
          <p:cNvSpPr/>
          <p:nvPr/>
        </p:nvSpPr>
        <p:spPr>
          <a:xfrm>
            <a:off x="6309360" y="2395800"/>
            <a:ext cx="1965240" cy="822240"/>
          </a:xfrm>
          <a:prstGeom prst="rect">
            <a:avLst/>
          </a:prstGeom>
          <a:solidFill>
            <a:srgbClr val="102a3a"/>
          </a:solidFill>
          <a:ln w="15240">
            <a:solidFill>
              <a:srgbClr val="38bdf8"/>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300" spc="-1" strike="noStrike">
                <a:solidFill>
                  <a:srgbClr val="ffffff"/>
                </a:solidFill>
                <a:latin typeface="Aptos"/>
                <a:ea typeface="Aptos"/>
              </a:rPr>
              <a:t>MERLIN</a:t>
            </a:r>
            <a:endParaRPr b="0" lang="en-US" sz="1300" spc="-1" strike="noStrike">
              <a:solidFill>
                <a:srgbClr val="ffffff"/>
              </a:solidFill>
              <a:latin typeface="Arial"/>
            </a:endParaRPr>
          </a:p>
          <a:p>
            <a:pPr algn="ctr" defTabSz="914400">
              <a:lnSpc>
                <a:spcPct val="100000"/>
              </a:lnSpc>
              <a:tabLst>
                <a:tab algn="l" pos="0"/>
              </a:tabLst>
            </a:pPr>
            <a:r>
              <a:rPr b="1" lang="en-US" sz="1300" spc="-1" strike="noStrike">
                <a:solidFill>
                  <a:srgbClr val="ffffff"/>
                </a:solidFill>
                <a:latin typeface="Aptos"/>
                <a:ea typeface="Aptos"/>
              </a:rPr>
              <a:t>Order authority</a:t>
            </a:r>
            <a:endParaRPr b="0" lang="en-US" sz="1300" spc="-1" strike="noStrike">
              <a:solidFill>
                <a:srgbClr val="ffffff"/>
              </a:solidFill>
              <a:latin typeface="Arial"/>
            </a:endParaRPr>
          </a:p>
        </p:txBody>
      </p:sp>
      <p:sp>
        <p:nvSpPr>
          <p:cNvPr id="18" name="Text 10"/>
          <p:cNvSpPr/>
          <p:nvPr/>
        </p:nvSpPr>
        <p:spPr>
          <a:xfrm>
            <a:off x="8796600" y="2395800"/>
            <a:ext cx="2102400" cy="822240"/>
          </a:xfrm>
          <a:prstGeom prst="rect">
            <a:avLst/>
          </a:prstGeom>
          <a:solidFill>
            <a:srgbClr val="10243a"/>
          </a:solidFill>
          <a:ln w="15240">
            <a:solidFill>
              <a:srgbClr val="60a5f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250" spc="-1" strike="noStrike">
                <a:solidFill>
                  <a:srgbClr val="ffffff"/>
                </a:solidFill>
                <a:latin typeface="Aptos"/>
                <a:ea typeface="Aptos"/>
              </a:rPr>
              <a:t>EDI → Suppliers</a:t>
            </a:r>
            <a:endParaRPr b="0" lang="en-US" sz="1250" spc="-1" strike="noStrike">
              <a:solidFill>
                <a:srgbClr val="ffffff"/>
              </a:solidFill>
              <a:latin typeface="Arial"/>
            </a:endParaRPr>
          </a:p>
          <a:p>
            <a:pPr algn="ctr" defTabSz="914400">
              <a:lnSpc>
                <a:spcPct val="100000"/>
              </a:lnSpc>
              <a:tabLst>
                <a:tab algn="l" pos="0"/>
              </a:tabLst>
            </a:pPr>
            <a:r>
              <a:rPr b="1" lang="en-US" sz="1250" spc="-1" strike="noStrike">
                <a:solidFill>
                  <a:srgbClr val="ffffff"/>
                </a:solidFill>
                <a:latin typeface="Aptos"/>
                <a:ea typeface="Aptos"/>
              </a:rPr>
              <a:t>Existing contract</a:t>
            </a:r>
            <a:endParaRPr b="0" lang="en-US" sz="1250" spc="-1" strike="noStrike">
              <a:solidFill>
                <a:srgbClr val="ffffff"/>
              </a:solidFill>
              <a:latin typeface="Arial"/>
            </a:endParaRPr>
          </a:p>
        </p:txBody>
      </p:sp>
      <p:sp>
        <p:nvSpPr>
          <p:cNvPr id="19" name="Shape 11"/>
          <p:cNvSpPr/>
          <p:nvPr/>
        </p:nvSpPr>
        <p:spPr>
          <a:xfrm>
            <a:off x="3227760" y="2806920"/>
            <a:ext cx="374760" cy="360"/>
          </a:xfrm>
          <a:prstGeom prst="line">
            <a:avLst/>
          </a:prstGeom>
          <a:ln w="2032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0" name="Shape 12"/>
          <p:cNvSpPr/>
          <p:nvPr/>
        </p:nvSpPr>
        <p:spPr>
          <a:xfrm>
            <a:off x="5852160" y="2806920"/>
            <a:ext cx="420480" cy="360"/>
          </a:xfrm>
          <a:prstGeom prst="line">
            <a:avLst/>
          </a:prstGeom>
          <a:ln w="2032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1" name="Shape 13"/>
          <p:cNvSpPr/>
          <p:nvPr/>
        </p:nvSpPr>
        <p:spPr>
          <a:xfrm>
            <a:off x="8302680" y="2806920"/>
            <a:ext cx="457200" cy="360"/>
          </a:xfrm>
          <a:prstGeom prst="line">
            <a:avLst/>
          </a:prstGeom>
          <a:ln w="2032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2" name="Text 14"/>
          <p:cNvSpPr/>
          <p:nvPr/>
        </p:nvSpPr>
        <p:spPr>
          <a:xfrm>
            <a:off x="841320" y="3968640"/>
            <a:ext cx="3153960" cy="803880"/>
          </a:xfrm>
          <a:prstGeom prst="rect">
            <a:avLst/>
          </a:prstGeom>
          <a:solidFill>
            <a:srgbClr val="101827">
              <a:alpha val="98000"/>
            </a:srgbClr>
          </a:solidFill>
          <a:ln w="15240">
            <a:solidFill>
              <a:srgbClr val="2dd4bf">
                <a:alpha val="80000"/>
              </a:srgbClr>
            </a:solidFill>
            <a:round/>
          </a:ln>
        </p:spPr>
        <p:style>
          <a:lnRef idx="0"/>
          <a:fillRef idx="0"/>
          <a:effectRef idx="0"/>
          <a:fontRef idx="minor"/>
        </p:style>
        <p:txBody>
          <a:bodyPr lIns="1440" rIns="1440" tIns="1440" bIns="1440" anchor="t">
            <a:normAutofit/>
          </a:bodyPr>
          <a:p>
            <a:pPr>
              <a:lnSpc>
                <a:spcPct val="100000"/>
              </a:lnSpc>
            </a:pPr>
            <a:r>
              <a:rPr b="1" lang="en-US" sz="1150" spc="-1" strike="noStrike">
                <a:solidFill>
                  <a:srgbClr val="ffffff"/>
                </a:solidFill>
                <a:latin typeface="Aptos"/>
                <a:ea typeface="Aptos"/>
              </a:rPr>
              <a:t>Not a MERLIN replacement</a:t>
            </a:r>
            <a:endParaRPr b="0" lang="en-US" sz="1150" spc="-1" strike="noStrike">
              <a:solidFill>
                <a:srgbClr val="ffffff"/>
              </a:solidFill>
              <a:latin typeface="Arial"/>
            </a:endParaRPr>
          </a:p>
          <a:p>
            <a:pPr defTabSz="914400">
              <a:lnSpc>
                <a:spcPct val="100000"/>
              </a:lnSpc>
              <a:tabLst>
                <a:tab algn="l" pos="0"/>
              </a:tabLst>
            </a:pPr>
            <a:r>
              <a:rPr b="0" lang="en-US" sz="1150" spc="-1" strike="noStrike">
                <a:solidFill>
                  <a:srgbClr val="e5e7eb"/>
                </a:solidFill>
                <a:latin typeface="Aptos"/>
                <a:ea typeface="Aptos"/>
              </a:rPr>
              <a:t>AI never owns supplier-order creation.</a:t>
            </a:r>
            <a:endParaRPr b="0" lang="en-US" sz="1150" spc="-1" strike="noStrike">
              <a:solidFill>
                <a:srgbClr val="ffffff"/>
              </a:solidFill>
              <a:latin typeface="Arial"/>
            </a:endParaRPr>
          </a:p>
        </p:txBody>
      </p:sp>
      <p:sp>
        <p:nvSpPr>
          <p:cNvPr id="23" name="Text 15"/>
          <p:cNvSpPr/>
          <p:nvPr/>
        </p:nvSpPr>
        <p:spPr>
          <a:xfrm>
            <a:off x="4526280" y="3968640"/>
            <a:ext cx="3153960" cy="803880"/>
          </a:xfrm>
          <a:prstGeom prst="rect">
            <a:avLst/>
          </a:prstGeom>
          <a:solidFill>
            <a:srgbClr val="101827">
              <a:alpha val="98000"/>
            </a:srgbClr>
          </a:solidFill>
          <a:ln w="15240">
            <a:solidFill>
              <a:srgbClr val="22c55e">
                <a:alpha val="80000"/>
              </a:srgbClr>
            </a:solidFill>
            <a:round/>
          </a:ln>
        </p:spPr>
        <p:style>
          <a:lnRef idx="0"/>
          <a:fillRef idx="0"/>
          <a:effectRef idx="0"/>
          <a:fontRef idx="minor"/>
        </p:style>
        <p:txBody>
          <a:bodyPr lIns="1440" rIns="1440" tIns="1440" bIns="1440" anchor="t">
            <a:normAutofit/>
          </a:bodyPr>
          <a:p>
            <a:pPr>
              <a:lnSpc>
                <a:spcPct val="100000"/>
              </a:lnSpc>
            </a:pPr>
            <a:r>
              <a:rPr b="1" lang="en-US" sz="1150" spc="-1" strike="noStrike">
                <a:solidFill>
                  <a:srgbClr val="ffffff"/>
                </a:solidFill>
                <a:latin typeface="Aptos"/>
                <a:ea typeface="Aptos"/>
              </a:rPr>
              <a:t>Not in the critical path</a:t>
            </a:r>
            <a:endParaRPr b="0" lang="en-US" sz="1150" spc="-1" strike="noStrike">
              <a:solidFill>
                <a:srgbClr val="ffffff"/>
              </a:solidFill>
              <a:latin typeface="Arial"/>
            </a:endParaRPr>
          </a:p>
          <a:p>
            <a:pPr defTabSz="914400">
              <a:lnSpc>
                <a:spcPct val="100000"/>
              </a:lnSpc>
              <a:tabLst>
                <a:tab algn="l" pos="0"/>
              </a:tabLst>
            </a:pPr>
            <a:r>
              <a:rPr b="0" lang="en-US" sz="1150" spc="-1" strike="noStrike">
                <a:solidFill>
                  <a:srgbClr val="e5e7eb"/>
                </a:solidFill>
                <a:latin typeface="Aptos"/>
                <a:ea typeface="Aptos"/>
              </a:rPr>
              <a:t>MERLIN can complete the night without AI.</a:t>
            </a:r>
            <a:endParaRPr b="0" lang="en-US" sz="1150" spc="-1" strike="noStrike">
              <a:solidFill>
                <a:srgbClr val="ffffff"/>
              </a:solidFill>
              <a:latin typeface="Arial"/>
            </a:endParaRPr>
          </a:p>
        </p:txBody>
      </p:sp>
      <p:sp>
        <p:nvSpPr>
          <p:cNvPr id="24" name="Text 16"/>
          <p:cNvSpPr/>
          <p:nvPr/>
        </p:nvSpPr>
        <p:spPr>
          <a:xfrm>
            <a:off x="8211240" y="3968640"/>
            <a:ext cx="3153960" cy="803880"/>
          </a:xfrm>
          <a:prstGeom prst="rect">
            <a:avLst/>
          </a:prstGeom>
          <a:solidFill>
            <a:srgbClr val="101827">
              <a:alpha val="98000"/>
            </a:srgbClr>
          </a:solidFill>
          <a:ln w="15240">
            <a:solidFill>
              <a:srgbClr val="f59e0b">
                <a:alpha val="80000"/>
              </a:srgbClr>
            </a:solidFill>
            <a:round/>
          </a:ln>
        </p:spPr>
        <p:style>
          <a:lnRef idx="0"/>
          <a:fillRef idx="0"/>
          <a:effectRef idx="0"/>
          <a:fontRef idx="minor"/>
        </p:style>
        <p:txBody>
          <a:bodyPr lIns="1440" rIns="1440" tIns="1440" bIns="1440" anchor="t">
            <a:normAutofit/>
          </a:bodyPr>
          <a:p>
            <a:pPr>
              <a:lnSpc>
                <a:spcPct val="100000"/>
              </a:lnSpc>
            </a:pPr>
            <a:r>
              <a:rPr b="1" lang="en-US" sz="1150" spc="-1" strike="noStrike">
                <a:solidFill>
                  <a:srgbClr val="ffffff"/>
                </a:solidFill>
                <a:latin typeface="Aptos"/>
                <a:ea typeface="Aptos"/>
              </a:rPr>
              <a:t>Fail-open by default</a:t>
            </a:r>
            <a:endParaRPr b="0" lang="en-US" sz="1150" spc="-1" strike="noStrike">
              <a:solidFill>
                <a:srgbClr val="ffffff"/>
              </a:solidFill>
              <a:latin typeface="Arial"/>
            </a:endParaRPr>
          </a:p>
          <a:p>
            <a:pPr defTabSz="914400">
              <a:lnSpc>
                <a:spcPct val="100000"/>
              </a:lnSpc>
              <a:tabLst>
                <a:tab algn="l" pos="0"/>
              </a:tabLst>
            </a:pPr>
            <a:r>
              <a:rPr b="0" lang="en-US" sz="1150" spc="-1" strike="noStrike">
                <a:solidFill>
                  <a:srgbClr val="e5e7eb"/>
                </a:solidFill>
                <a:latin typeface="Aptos"/>
                <a:ea typeface="Aptos"/>
              </a:rPr>
              <a:t>Unsafe AI output is treated as no output.</a:t>
            </a:r>
            <a:endParaRPr b="0" lang="en-US" sz="1150" spc="-1" strike="noStrike">
              <a:solidFill>
                <a:srgbClr val="ffffff"/>
              </a:solidFill>
              <a:latin typeface="Arial"/>
            </a:endParaRPr>
          </a:p>
        </p:txBody>
      </p:sp>
      <p:sp>
        <p:nvSpPr>
          <p:cNvPr id="25" name="Text 17"/>
          <p:cNvSpPr/>
          <p:nvPr/>
        </p:nvSpPr>
        <p:spPr>
          <a:xfrm>
            <a:off x="1051560" y="5532120"/>
            <a:ext cx="10011960" cy="511200"/>
          </a:xfrm>
          <a:prstGeom prst="rect">
            <a:avLst/>
          </a:prstGeom>
          <a:solidFill>
            <a:srgbClr val="1f2937"/>
          </a:solidFill>
          <a:ln w="13970">
            <a:solidFill>
              <a:srgbClr val="f87171"/>
            </a:solidFill>
            <a:round/>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100" spc="-1" strike="noStrike">
                <a:solidFill>
                  <a:srgbClr val="ffffff"/>
                </a:solidFill>
                <a:latin typeface="Aptos"/>
                <a:ea typeface="Aptos"/>
              </a:rPr>
              <a:t>Decision test: if AI dies at 03:30, there is no emergency rerun. MERLIN proceeds through the existing min/max path.</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26" name="Shape 0"/>
          <p:cNvSpPr/>
          <p:nvPr/>
        </p:nvSpPr>
        <p:spPr>
          <a:xfrm>
            <a:off x="0" y="0"/>
            <a:ext cx="12191040" cy="127440"/>
          </a:xfrm>
          <a:prstGeom prst="rect">
            <a:avLst/>
          </a:prstGeom>
          <a:solidFill>
            <a:srgbClr val="2dd4bf"/>
          </a:solidFill>
          <a:ln w="12700">
            <a:solidFill>
              <a:srgbClr val="2dd4b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7" name="Text 1"/>
          <p:cNvSpPr/>
          <p:nvPr/>
        </p:nvSpPr>
        <p:spPr>
          <a:xfrm>
            <a:off x="502920" y="347400"/>
            <a:ext cx="43884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20" spc="-1" strike="noStrike">
                <a:solidFill>
                  <a:srgbClr val="2dd4bf"/>
                </a:solidFill>
                <a:latin typeface="Aptos"/>
                <a:ea typeface="Aptos"/>
              </a:rPr>
              <a:t>MERLIN SIDECAR SYSTEM 2026</a:t>
            </a:r>
            <a:endParaRPr b="0" lang="en-US" sz="820" spc="-1" strike="noStrike">
              <a:solidFill>
                <a:srgbClr val="ffffff"/>
              </a:solidFill>
              <a:latin typeface="Arial"/>
            </a:endParaRPr>
          </a:p>
        </p:txBody>
      </p:sp>
      <p:sp>
        <p:nvSpPr>
          <p:cNvPr id="28" name="Text 2"/>
          <p:cNvSpPr/>
          <p:nvPr/>
        </p:nvSpPr>
        <p:spPr>
          <a:xfrm>
            <a:off x="502920" y="640080"/>
            <a:ext cx="10880640" cy="383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50" spc="-1" strike="noStrike">
                <a:solidFill>
                  <a:srgbClr val="ffffff"/>
                </a:solidFill>
                <a:latin typeface="Aptos Display"/>
                <a:ea typeface="Aptos Display"/>
              </a:rPr>
              <a:t>Legacy System Assessment &amp; Extension Points</a:t>
            </a:r>
            <a:endParaRPr b="0" lang="en-US" sz="2350" spc="-1" strike="noStrike">
              <a:solidFill>
                <a:srgbClr val="ffffff"/>
              </a:solidFill>
              <a:latin typeface="Arial"/>
            </a:endParaRPr>
          </a:p>
        </p:txBody>
      </p:sp>
      <p:sp>
        <p:nvSpPr>
          <p:cNvPr id="29" name="Text 3"/>
          <p:cNvSpPr/>
          <p:nvPr/>
        </p:nvSpPr>
        <p:spPr>
          <a:xfrm>
            <a:off x="511920" y="1078920"/>
            <a:ext cx="10880640" cy="236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pc="-1" strike="noStrike">
                <a:solidFill>
                  <a:srgbClr val="e5e7eb"/>
                </a:solidFill>
                <a:latin typeface="Aptos"/>
                <a:ea typeface="Aptos"/>
              </a:rPr>
              <a:t>Integrate only where MERLIN already allows it.</a:t>
            </a:r>
            <a:endParaRPr b="0" lang="en-US" sz="1150" spc="-1" strike="noStrike">
              <a:solidFill>
                <a:srgbClr val="ffffff"/>
              </a:solidFill>
              <a:latin typeface="Arial"/>
            </a:endParaRPr>
          </a:p>
        </p:txBody>
      </p:sp>
      <p:sp>
        <p:nvSpPr>
          <p:cNvPr id="30" name="Text 4"/>
          <p:cNvSpPr/>
          <p:nvPr/>
        </p:nvSpPr>
        <p:spPr>
          <a:xfrm>
            <a:off x="502920" y="6656760"/>
            <a:ext cx="676584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80" spc="-1" strike="noStrike">
                <a:solidFill>
                  <a:srgbClr val="94a3b8"/>
                </a:solidFill>
                <a:latin typeface="Aptos"/>
                <a:ea typeface="Aptos"/>
              </a:rPr>
              <a:t>MERLIN 2026 AI Retrofit Sidecar Architecture</a:t>
            </a:r>
            <a:endParaRPr b="0" lang="en-US" sz="780" spc="-1" strike="noStrike">
              <a:solidFill>
                <a:srgbClr val="ffffff"/>
              </a:solidFill>
              <a:latin typeface="Arial"/>
            </a:endParaRPr>
          </a:p>
        </p:txBody>
      </p:sp>
      <p:sp>
        <p:nvSpPr>
          <p:cNvPr id="31" name="Text 5"/>
          <p:cNvSpPr/>
          <p:nvPr/>
        </p:nvSpPr>
        <p:spPr>
          <a:xfrm>
            <a:off x="11292840" y="6565320"/>
            <a:ext cx="410760" cy="218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850" spc="-1" strike="noStrike">
                <a:solidFill>
                  <a:srgbClr val="94a3b8"/>
                </a:solidFill>
                <a:latin typeface="Aptos"/>
                <a:ea typeface="Aptos"/>
              </a:rPr>
              <a:t>04</a:t>
            </a:r>
            <a:endParaRPr b="0" lang="en-US" sz="850" spc="-1" strike="noStrike">
              <a:solidFill>
                <a:srgbClr val="ffffff"/>
              </a:solidFill>
              <a:latin typeface="Arial"/>
            </a:endParaRPr>
          </a:p>
        </p:txBody>
      </p:sp>
      <p:sp>
        <p:nvSpPr>
          <p:cNvPr id="32" name="Text 6"/>
          <p:cNvSpPr/>
          <p:nvPr/>
        </p:nvSpPr>
        <p:spPr>
          <a:xfrm>
            <a:off x="640080" y="1554480"/>
            <a:ext cx="3245400" cy="1828080"/>
          </a:xfrm>
          <a:prstGeom prst="rect">
            <a:avLst/>
          </a:prstGeom>
          <a:solidFill>
            <a:srgbClr val="101827">
              <a:alpha val="98000"/>
            </a:srgbClr>
          </a:solidFill>
          <a:ln w="15240">
            <a:solidFill>
              <a:srgbClr val="22c55e">
                <a:alpha val="80000"/>
              </a:srgbClr>
            </a:solidFill>
            <a:round/>
          </a:ln>
        </p:spPr>
        <p:style>
          <a:lnRef idx="0"/>
          <a:fillRef idx="0"/>
          <a:effectRef idx="0"/>
          <a:fontRef idx="minor"/>
        </p:style>
        <p:txBody>
          <a:bodyPr lIns="1440" rIns="1440" tIns="1440" bIns="1440" anchor="t">
            <a:normAutofit/>
          </a:bodyPr>
          <a:p>
            <a:pPr>
              <a:lnSpc>
                <a:spcPct val="100000"/>
              </a:lnSpc>
            </a:pPr>
            <a:r>
              <a:rPr b="1" lang="en-US" sz="1200" spc="-1" strike="noStrike">
                <a:solidFill>
                  <a:srgbClr val="ffffff"/>
                </a:solidFill>
                <a:latin typeface="Aptos"/>
                <a:ea typeface="Aptos"/>
              </a:rPr>
              <a:t>Can change</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External AI sidecar</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Certified adapters</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Monitoring and audit</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Disable controls</a:t>
            </a:r>
            <a:endParaRPr b="0" lang="en-US" sz="1200" spc="-1" strike="noStrike">
              <a:solidFill>
                <a:srgbClr val="ffffff"/>
              </a:solidFill>
              <a:latin typeface="Arial"/>
            </a:endParaRPr>
          </a:p>
        </p:txBody>
      </p:sp>
      <p:sp>
        <p:nvSpPr>
          <p:cNvPr id="33" name="Text 7"/>
          <p:cNvSpPr/>
          <p:nvPr/>
        </p:nvSpPr>
        <p:spPr>
          <a:xfrm>
            <a:off x="4480560" y="1554480"/>
            <a:ext cx="3245400" cy="1828080"/>
          </a:xfrm>
          <a:prstGeom prst="rect">
            <a:avLst/>
          </a:prstGeom>
          <a:solidFill>
            <a:srgbClr val="101827">
              <a:alpha val="98000"/>
            </a:srgbClr>
          </a:solidFill>
          <a:ln w="15240">
            <a:solidFill>
              <a:srgbClr val="f59e0b">
                <a:alpha val="80000"/>
              </a:srgbClr>
            </a:solidFill>
            <a:round/>
          </a:ln>
        </p:spPr>
        <p:style>
          <a:lnRef idx="0"/>
          <a:fillRef idx="0"/>
          <a:effectRef idx="0"/>
          <a:fontRef idx="minor"/>
        </p:style>
        <p:txBody>
          <a:bodyPr lIns="1440" rIns="1440" tIns="1440" bIns="1440" anchor="t">
            <a:normAutofit/>
          </a:bodyPr>
          <a:p>
            <a:pPr>
              <a:lnSpc>
                <a:spcPct val="100000"/>
              </a:lnSpc>
            </a:pPr>
            <a:r>
              <a:rPr b="1" lang="en-US" sz="1200" spc="-1" strike="noStrike">
                <a:solidFill>
                  <a:srgbClr val="ffffff"/>
                </a:solidFill>
                <a:latin typeface="Aptos"/>
                <a:ea typeface="Aptos"/>
              </a:rPr>
              <a:t>Cannot change</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MERLIN engine</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Order creation authority</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POS</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Fixed EDI format</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04:00 deadline</a:t>
            </a:r>
            <a:endParaRPr b="0" lang="en-US" sz="1200" spc="-1" strike="noStrike">
              <a:solidFill>
                <a:srgbClr val="ffffff"/>
              </a:solidFill>
              <a:latin typeface="Arial"/>
            </a:endParaRPr>
          </a:p>
        </p:txBody>
      </p:sp>
      <p:sp>
        <p:nvSpPr>
          <p:cNvPr id="34" name="Text 8"/>
          <p:cNvSpPr/>
          <p:nvPr/>
        </p:nvSpPr>
        <p:spPr>
          <a:xfrm>
            <a:off x="8321040" y="1554480"/>
            <a:ext cx="3245400" cy="1828080"/>
          </a:xfrm>
          <a:prstGeom prst="rect">
            <a:avLst/>
          </a:prstGeom>
          <a:solidFill>
            <a:srgbClr val="101827">
              <a:alpha val="98000"/>
            </a:srgbClr>
          </a:solidFill>
          <a:ln w="15240">
            <a:solidFill>
              <a:srgbClr val="f87171">
                <a:alpha val="80000"/>
              </a:srgbClr>
            </a:solidFill>
            <a:round/>
          </a:ln>
        </p:spPr>
        <p:style>
          <a:lnRef idx="0"/>
          <a:fillRef idx="0"/>
          <a:effectRef idx="0"/>
          <a:fontRef idx="minor"/>
        </p:style>
        <p:txBody>
          <a:bodyPr lIns="1440" rIns="1440" tIns="1440" bIns="1440" anchor="t">
            <a:normAutofit/>
          </a:bodyPr>
          <a:p>
            <a:pPr>
              <a:lnSpc>
                <a:spcPct val="100000"/>
              </a:lnSpc>
            </a:pPr>
            <a:r>
              <a:rPr b="1" lang="en-US" sz="1200" spc="-1" strike="noStrike">
                <a:solidFill>
                  <a:srgbClr val="ffffff"/>
                </a:solidFill>
                <a:latin typeface="Aptos"/>
                <a:ea typeface="Aptos"/>
              </a:rPr>
              <a:t>Unsafe to touch</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Undocumented MERLIN tables</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Internal scheduler</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Manual row ownership</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Inventory as shelf truth</a:t>
            </a:r>
            <a:endParaRPr b="0" lang="en-US" sz="1200" spc="-1" strike="noStrike">
              <a:solidFill>
                <a:srgbClr val="ffffff"/>
              </a:solidFill>
              <a:latin typeface="Arial"/>
            </a:endParaRPr>
          </a:p>
        </p:txBody>
      </p:sp>
      <p:sp>
        <p:nvSpPr>
          <p:cNvPr id="35" name="Text 9"/>
          <p:cNvSpPr/>
          <p:nvPr/>
        </p:nvSpPr>
        <p:spPr>
          <a:xfrm>
            <a:off x="658440" y="4069080"/>
            <a:ext cx="45712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ffffff"/>
                </a:solidFill>
                <a:latin typeface="Aptos Display"/>
                <a:ea typeface="Aptos Display"/>
              </a:rPr>
              <a:t>Three supported extension points</a:t>
            </a:r>
            <a:endParaRPr b="0" lang="en-US" sz="1800" spc="-1" strike="noStrike">
              <a:solidFill>
                <a:srgbClr val="ffffff"/>
              </a:solidFill>
              <a:latin typeface="Arial"/>
            </a:endParaRPr>
          </a:p>
        </p:txBody>
      </p:sp>
      <p:sp>
        <p:nvSpPr>
          <p:cNvPr id="36" name="Text 10"/>
          <p:cNvSpPr/>
          <p:nvPr/>
        </p:nvSpPr>
        <p:spPr>
          <a:xfrm>
            <a:off x="822960" y="4617720"/>
            <a:ext cx="2742480" cy="867960"/>
          </a:xfrm>
          <a:prstGeom prst="rect">
            <a:avLst/>
          </a:prstGeom>
          <a:solidFill>
            <a:srgbClr val="0f2534"/>
          </a:solidFill>
          <a:ln w="15240">
            <a:solidFill>
              <a:srgbClr val="2dd4bf"/>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200" spc="-1" strike="noStrike">
                <a:solidFill>
                  <a:srgbClr val="ffffff"/>
                </a:solidFill>
                <a:latin typeface="Aptos"/>
                <a:ea typeface="Aptos"/>
              </a:rPr>
              <a:t>1</a:t>
            </a:r>
            <a:endParaRPr b="0" lang="en-US" sz="1200" spc="-1" strike="noStrike">
              <a:solidFill>
                <a:srgbClr val="ffffff"/>
              </a:solidFill>
              <a:latin typeface="Arial"/>
            </a:endParaRPr>
          </a:p>
          <a:p>
            <a:pPr algn="ctr" defTabSz="914400">
              <a:lnSpc>
                <a:spcPct val="100000"/>
              </a:lnSpc>
              <a:tabLst>
                <a:tab algn="l" pos="0"/>
              </a:tabLst>
            </a:pPr>
            <a:r>
              <a:rPr b="1" lang="en-US" sz="1200" spc="-1" strike="noStrike">
                <a:solidFill>
                  <a:srgbClr val="ffffff"/>
                </a:solidFill>
                <a:latin typeface="Aptos"/>
                <a:ea typeface="Aptos"/>
              </a:rPr>
              <a:t>Nightly snapshot</a:t>
            </a:r>
            <a:endParaRPr b="0" lang="en-US" sz="1200" spc="-1" strike="noStrike">
              <a:solidFill>
                <a:srgbClr val="ffffff"/>
              </a:solidFill>
              <a:latin typeface="Arial"/>
            </a:endParaRPr>
          </a:p>
          <a:p>
            <a:pPr algn="ctr" defTabSz="914400">
              <a:lnSpc>
                <a:spcPct val="100000"/>
              </a:lnSpc>
              <a:tabLst>
                <a:tab algn="l" pos="0"/>
              </a:tabLst>
            </a:pPr>
            <a:r>
              <a:rPr b="1" lang="en-US" sz="1200" spc="-1" strike="noStrike">
                <a:solidFill>
                  <a:srgbClr val="ffffff"/>
                </a:solidFill>
                <a:latin typeface="Aptos"/>
                <a:ea typeface="Aptos"/>
              </a:rPr>
              <a:t>read-only input</a:t>
            </a:r>
            <a:endParaRPr b="0" lang="en-US" sz="1200" spc="-1" strike="noStrike">
              <a:solidFill>
                <a:srgbClr val="ffffff"/>
              </a:solidFill>
              <a:latin typeface="Arial"/>
            </a:endParaRPr>
          </a:p>
        </p:txBody>
      </p:sp>
      <p:sp>
        <p:nvSpPr>
          <p:cNvPr id="37" name="Text 11"/>
          <p:cNvSpPr/>
          <p:nvPr/>
        </p:nvSpPr>
        <p:spPr>
          <a:xfrm>
            <a:off x="4681800" y="4617720"/>
            <a:ext cx="2742480" cy="867960"/>
          </a:xfrm>
          <a:prstGeom prst="rect">
            <a:avLst/>
          </a:prstGeom>
          <a:solidFill>
            <a:srgbClr val="2b2110"/>
          </a:solidFill>
          <a:ln w="15240">
            <a:solidFill>
              <a:srgbClr val="f59e0b"/>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150" spc="-1" strike="noStrike">
                <a:solidFill>
                  <a:srgbClr val="ffffff"/>
                </a:solidFill>
                <a:latin typeface="Aptos"/>
                <a:ea typeface="Aptos"/>
              </a:rPr>
              <a:t>2</a:t>
            </a:r>
            <a:endParaRPr b="0" lang="en-US" sz="1150" spc="-1" strike="noStrike">
              <a:solidFill>
                <a:srgbClr val="ffffff"/>
              </a:solidFill>
              <a:latin typeface="Arial"/>
            </a:endParaRPr>
          </a:p>
          <a:p>
            <a:pPr algn="ctr" defTabSz="914400">
              <a:lnSpc>
                <a:spcPct val="100000"/>
              </a:lnSpc>
              <a:tabLst>
                <a:tab algn="l" pos="0"/>
              </a:tabLst>
            </a:pPr>
            <a:r>
              <a:rPr b="1" lang="en-US" sz="1150" spc="-1" strike="noStrike">
                <a:solidFill>
                  <a:srgbClr val="ffffff"/>
                </a:solidFill>
                <a:latin typeface="Aptos"/>
                <a:ea typeface="Aptos"/>
              </a:rPr>
              <a:t>Override table</a:t>
            </a:r>
            <a:endParaRPr b="0" lang="en-US" sz="1150" spc="-1" strike="noStrike">
              <a:solidFill>
                <a:srgbClr val="ffffff"/>
              </a:solidFill>
              <a:latin typeface="Arial"/>
            </a:endParaRPr>
          </a:p>
          <a:p>
            <a:pPr algn="ctr" defTabSz="914400">
              <a:lnSpc>
                <a:spcPct val="100000"/>
              </a:lnSpc>
              <a:tabLst>
                <a:tab algn="l" pos="0"/>
              </a:tabLst>
            </a:pPr>
            <a:r>
              <a:rPr b="1" lang="en-US" sz="1150" spc="-1" strike="noStrike">
                <a:solidFill>
                  <a:srgbClr val="ffffff"/>
                </a:solidFill>
                <a:latin typeface="Aptos"/>
                <a:ea typeface="Aptos"/>
              </a:rPr>
              <a:t>bounded rows before order generation</a:t>
            </a:r>
            <a:endParaRPr b="0" lang="en-US" sz="1150" spc="-1" strike="noStrike">
              <a:solidFill>
                <a:srgbClr val="ffffff"/>
              </a:solidFill>
              <a:latin typeface="Arial"/>
            </a:endParaRPr>
          </a:p>
        </p:txBody>
      </p:sp>
      <p:sp>
        <p:nvSpPr>
          <p:cNvPr id="38" name="Text 12"/>
          <p:cNvSpPr/>
          <p:nvPr/>
        </p:nvSpPr>
        <p:spPr>
          <a:xfrm>
            <a:off x="8531280" y="4617720"/>
            <a:ext cx="2742480" cy="867960"/>
          </a:xfrm>
          <a:prstGeom prst="rect">
            <a:avLst/>
          </a:prstGeom>
          <a:solidFill>
            <a:srgbClr val="102a3a"/>
          </a:solidFill>
          <a:ln w="15240">
            <a:solidFill>
              <a:srgbClr val="38bdf8"/>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150" spc="-1" strike="noStrike">
                <a:solidFill>
                  <a:srgbClr val="ffffff"/>
                </a:solidFill>
                <a:latin typeface="Aptos"/>
                <a:ea typeface="Aptos"/>
              </a:rPr>
              <a:t>3</a:t>
            </a:r>
            <a:endParaRPr b="0" lang="en-US" sz="1150" spc="-1" strike="noStrike">
              <a:solidFill>
                <a:srgbClr val="ffffff"/>
              </a:solidFill>
              <a:latin typeface="Arial"/>
            </a:endParaRPr>
          </a:p>
          <a:p>
            <a:pPr algn="ctr" defTabSz="914400">
              <a:lnSpc>
                <a:spcPct val="100000"/>
              </a:lnSpc>
              <a:tabLst>
                <a:tab algn="l" pos="0"/>
              </a:tabLst>
            </a:pPr>
            <a:r>
              <a:rPr b="1" lang="en-US" sz="1150" spc="-1" strike="noStrike">
                <a:solidFill>
                  <a:srgbClr val="ffffff"/>
                </a:solidFill>
                <a:latin typeface="Aptos"/>
                <a:ea typeface="Aptos"/>
              </a:rPr>
              <a:t>Post-generation review queue</a:t>
            </a:r>
            <a:endParaRPr b="0" lang="en-US" sz="1150" spc="-1" strike="noStrike">
              <a:solidFill>
                <a:srgbClr val="ffffff"/>
              </a:solidFill>
              <a:latin typeface="Arial"/>
            </a:endParaRPr>
          </a:p>
          <a:p>
            <a:pPr algn="ctr" defTabSz="914400">
              <a:lnSpc>
                <a:spcPct val="100000"/>
              </a:lnSpc>
              <a:tabLst>
                <a:tab algn="l" pos="0"/>
              </a:tabLst>
            </a:pPr>
            <a:r>
              <a:rPr b="1" lang="en-US" sz="1150" spc="-1" strike="noStrike">
                <a:solidFill>
                  <a:srgbClr val="ffffff"/>
                </a:solidFill>
                <a:latin typeface="Aptos"/>
                <a:ea typeface="Aptos"/>
              </a:rPr>
              <a:t>audit + correlation only</a:t>
            </a:r>
            <a:endParaRPr b="0" lang="en-US" sz="1150" spc="-1" strike="noStrike">
              <a:solidFill>
                <a:srgbClr val="ffffff"/>
              </a:solidFill>
              <a:latin typeface="Arial"/>
            </a:endParaRPr>
          </a:p>
        </p:txBody>
      </p:sp>
      <p:sp>
        <p:nvSpPr>
          <p:cNvPr id="39" name="Shape 13"/>
          <p:cNvSpPr/>
          <p:nvPr/>
        </p:nvSpPr>
        <p:spPr>
          <a:xfrm>
            <a:off x="3629880" y="5047200"/>
            <a:ext cx="987840" cy="360"/>
          </a:xfrm>
          <a:prstGeom prst="line">
            <a:avLst/>
          </a:prstGeom>
          <a:ln w="2032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40" name="Shape 14"/>
          <p:cNvSpPr/>
          <p:nvPr/>
        </p:nvSpPr>
        <p:spPr>
          <a:xfrm>
            <a:off x="7498080" y="5047200"/>
            <a:ext cx="978120" cy="360"/>
          </a:xfrm>
          <a:prstGeom prst="line">
            <a:avLst/>
          </a:prstGeom>
          <a:ln w="2032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41" name="Text 15"/>
          <p:cNvSpPr/>
          <p:nvPr/>
        </p:nvSpPr>
        <p:spPr>
          <a:xfrm>
            <a:off x="2057400" y="5788080"/>
            <a:ext cx="7954560" cy="438120"/>
          </a:xfrm>
          <a:prstGeom prst="rect">
            <a:avLst/>
          </a:prstGeom>
          <a:solidFill>
            <a:srgbClr val="1f2937"/>
          </a:solidFill>
          <a:ln w="13970">
            <a:solidFill>
              <a:srgbClr val="2dd4bf"/>
            </a:solidFill>
            <a:round/>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100" spc="-1" strike="noStrike">
                <a:solidFill>
                  <a:srgbClr val="ffffff"/>
                </a:solidFill>
                <a:latin typeface="Aptos"/>
                <a:ea typeface="Aptos"/>
              </a:rPr>
              <a:t>No fourth interface is invented. That is the main retrofit discipline.</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42" name="Shape 0"/>
          <p:cNvSpPr/>
          <p:nvPr/>
        </p:nvSpPr>
        <p:spPr>
          <a:xfrm>
            <a:off x="0" y="0"/>
            <a:ext cx="12191040" cy="127440"/>
          </a:xfrm>
          <a:prstGeom prst="rect">
            <a:avLst/>
          </a:prstGeom>
          <a:solidFill>
            <a:srgbClr val="2dd4bf"/>
          </a:solidFill>
          <a:ln w="12700">
            <a:solidFill>
              <a:srgbClr val="2dd4b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3" name="Text 1"/>
          <p:cNvSpPr/>
          <p:nvPr/>
        </p:nvSpPr>
        <p:spPr>
          <a:xfrm>
            <a:off x="502920" y="347400"/>
            <a:ext cx="43884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20" spc="-1" strike="noStrike">
                <a:solidFill>
                  <a:srgbClr val="2dd4bf"/>
                </a:solidFill>
                <a:latin typeface="Aptos"/>
                <a:ea typeface="Aptos"/>
              </a:rPr>
              <a:t>C4 VIEW — SIDECAR POSITION</a:t>
            </a:r>
            <a:endParaRPr b="0" lang="en-US" sz="820" spc="-1" strike="noStrike">
              <a:solidFill>
                <a:srgbClr val="ffffff"/>
              </a:solidFill>
              <a:latin typeface="Arial"/>
            </a:endParaRPr>
          </a:p>
        </p:txBody>
      </p:sp>
      <p:sp>
        <p:nvSpPr>
          <p:cNvPr id="44" name="Text 2"/>
          <p:cNvSpPr/>
          <p:nvPr/>
        </p:nvSpPr>
        <p:spPr>
          <a:xfrm>
            <a:off x="502920" y="640080"/>
            <a:ext cx="10880640" cy="383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50" spc="-1" strike="noStrike">
                <a:solidFill>
                  <a:srgbClr val="ffffff"/>
                </a:solidFill>
                <a:latin typeface="Aptos Display"/>
                <a:ea typeface="Aptos Display"/>
              </a:rPr>
              <a:t>C4 System Architecture</a:t>
            </a:r>
            <a:endParaRPr b="0" lang="en-US" sz="2350" spc="-1" strike="noStrike">
              <a:solidFill>
                <a:srgbClr val="ffffff"/>
              </a:solidFill>
              <a:latin typeface="Arial"/>
            </a:endParaRPr>
          </a:p>
        </p:txBody>
      </p:sp>
      <p:sp>
        <p:nvSpPr>
          <p:cNvPr id="45" name="Text 3"/>
          <p:cNvSpPr/>
          <p:nvPr/>
        </p:nvSpPr>
        <p:spPr>
          <a:xfrm>
            <a:off x="511920" y="1078920"/>
            <a:ext cx="10880640" cy="236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pc="-1" strike="noStrike">
                <a:solidFill>
                  <a:srgbClr val="e5e7eb"/>
                </a:solidFill>
                <a:latin typeface="Aptos"/>
                <a:ea typeface="Aptos"/>
              </a:rPr>
              <a:t>Place AI outside the ordering critical path.</a:t>
            </a:r>
            <a:endParaRPr b="0" lang="en-US" sz="1150" spc="-1" strike="noStrike">
              <a:solidFill>
                <a:srgbClr val="ffffff"/>
              </a:solidFill>
              <a:latin typeface="Arial"/>
            </a:endParaRPr>
          </a:p>
        </p:txBody>
      </p:sp>
      <p:sp>
        <p:nvSpPr>
          <p:cNvPr id="46" name="Text 4"/>
          <p:cNvSpPr/>
          <p:nvPr/>
        </p:nvSpPr>
        <p:spPr>
          <a:xfrm>
            <a:off x="502920" y="6656760"/>
            <a:ext cx="676584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80" spc="-1" strike="noStrike">
                <a:solidFill>
                  <a:srgbClr val="94a3b8"/>
                </a:solidFill>
                <a:latin typeface="Aptos"/>
                <a:ea typeface="Aptos"/>
              </a:rPr>
              <a:t>MERLIN 2026 AI Retrofit Sidecar Architecture</a:t>
            </a:r>
            <a:endParaRPr b="0" lang="en-US" sz="780" spc="-1" strike="noStrike">
              <a:solidFill>
                <a:srgbClr val="ffffff"/>
              </a:solidFill>
              <a:latin typeface="Arial"/>
            </a:endParaRPr>
          </a:p>
        </p:txBody>
      </p:sp>
      <p:sp>
        <p:nvSpPr>
          <p:cNvPr id="47" name="Text 5"/>
          <p:cNvSpPr/>
          <p:nvPr/>
        </p:nvSpPr>
        <p:spPr>
          <a:xfrm>
            <a:off x="11292840" y="6565320"/>
            <a:ext cx="410760" cy="218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850" spc="-1" strike="noStrike">
                <a:solidFill>
                  <a:srgbClr val="94a3b8"/>
                </a:solidFill>
                <a:latin typeface="Aptos"/>
                <a:ea typeface="Aptos"/>
              </a:rPr>
              <a:t>05</a:t>
            </a:r>
            <a:endParaRPr b="0" lang="en-US" sz="850" spc="-1" strike="noStrike">
              <a:solidFill>
                <a:srgbClr val="ffffff"/>
              </a:solidFill>
              <a:latin typeface="Arial"/>
            </a:endParaRPr>
          </a:p>
        </p:txBody>
      </p:sp>
      <p:sp>
        <p:nvSpPr>
          <p:cNvPr id="48" name="Text 6"/>
          <p:cNvSpPr/>
          <p:nvPr/>
        </p:nvSpPr>
        <p:spPr>
          <a:xfrm>
            <a:off x="594360" y="2148840"/>
            <a:ext cx="1828080" cy="657720"/>
          </a:xfrm>
          <a:prstGeom prst="rect">
            <a:avLst/>
          </a:prstGeom>
          <a:solidFill>
            <a:srgbClr val="10243a"/>
          </a:solidFill>
          <a:ln w="15240">
            <a:solidFill>
              <a:srgbClr val="60a5f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050" spc="-1" strike="noStrike">
                <a:solidFill>
                  <a:srgbClr val="ffffff"/>
                </a:solidFill>
                <a:latin typeface="Aptos"/>
                <a:ea typeface="Aptos"/>
              </a:rPr>
              <a:t>Stores + POS</a:t>
            </a:r>
            <a:endParaRPr b="0" lang="en-US" sz="1050" spc="-1" strike="noStrike">
              <a:solidFill>
                <a:srgbClr val="ffffff"/>
              </a:solidFill>
              <a:latin typeface="Arial"/>
            </a:endParaRPr>
          </a:p>
          <a:p>
            <a:pPr algn="ctr" defTabSz="914400">
              <a:lnSpc>
                <a:spcPct val="100000"/>
              </a:lnSpc>
              <a:tabLst>
                <a:tab algn="l" pos="0"/>
              </a:tabLst>
            </a:pPr>
            <a:r>
              <a:rPr b="1" lang="en-US" sz="1050" spc="-1" strike="noStrike">
                <a:solidFill>
                  <a:srgbClr val="ffffff"/>
                </a:solidFill>
                <a:latin typeface="Aptos"/>
                <a:ea typeface="Aptos"/>
              </a:rPr>
              <a:t>transaction signals</a:t>
            </a:r>
            <a:endParaRPr b="0" lang="en-US" sz="1050" spc="-1" strike="noStrike">
              <a:solidFill>
                <a:srgbClr val="ffffff"/>
              </a:solidFill>
              <a:latin typeface="Arial"/>
            </a:endParaRPr>
          </a:p>
        </p:txBody>
      </p:sp>
      <p:sp>
        <p:nvSpPr>
          <p:cNvPr id="49" name="Text 7"/>
          <p:cNvSpPr/>
          <p:nvPr/>
        </p:nvSpPr>
        <p:spPr>
          <a:xfrm>
            <a:off x="2788920" y="2148840"/>
            <a:ext cx="1873800" cy="657720"/>
          </a:xfrm>
          <a:prstGeom prst="rect">
            <a:avLst/>
          </a:prstGeom>
          <a:solidFill>
            <a:srgbClr val="0f2534"/>
          </a:solidFill>
          <a:ln w="15240">
            <a:solidFill>
              <a:srgbClr val="2dd4bf"/>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050" spc="-1" strike="noStrike">
                <a:solidFill>
                  <a:srgbClr val="ffffff"/>
                </a:solidFill>
                <a:latin typeface="Aptos"/>
                <a:ea typeface="Aptos"/>
              </a:rPr>
              <a:t>Nightly snapshot</a:t>
            </a:r>
            <a:endParaRPr b="0" lang="en-US" sz="1050" spc="-1" strike="noStrike">
              <a:solidFill>
                <a:srgbClr val="ffffff"/>
              </a:solidFill>
              <a:latin typeface="Arial"/>
            </a:endParaRPr>
          </a:p>
          <a:p>
            <a:pPr algn="ctr" defTabSz="914400">
              <a:lnSpc>
                <a:spcPct val="100000"/>
              </a:lnSpc>
              <a:tabLst>
                <a:tab algn="l" pos="0"/>
              </a:tabLst>
            </a:pPr>
            <a:r>
              <a:rPr b="1" lang="en-US" sz="1050" spc="-1" strike="noStrike">
                <a:solidFill>
                  <a:srgbClr val="ffffff"/>
                </a:solidFill>
                <a:latin typeface="Aptos"/>
                <a:ea typeface="Aptos"/>
              </a:rPr>
              <a:t>read-only feed</a:t>
            </a:r>
            <a:endParaRPr b="0" lang="en-US" sz="1050" spc="-1" strike="noStrike">
              <a:solidFill>
                <a:srgbClr val="ffffff"/>
              </a:solidFill>
              <a:latin typeface="Arial"/>
            </a:endParaRPr>
          </a:p>
        </p:txBody>
      </p:sp>
      <p:sp>
        <p:nvSpPr>
          <p:cNvPr id="50" name="Text 8"/>
          <p:cNvSpPr/>
          <p:nvPr/>
        </p:nvSpPr>
        <p:spPr>
          <a:xfrm>
            <a:off x="5120640" y="1600200"/>
            <a:ext cx="2056680" cy="1755000"/>
          </a:xfrm>
          <a:prstGeom prst="rect">
            <a:avLst/>
          </a:prstGeom>
          <a:solidFill>
            <a:srgbClr val="102a34"/>
          </a:solidFill>
          <a:ln w="15240">
            <a:solidFill>
              <a:srgbClr val="2dd4bf"/>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350" spc="-1" strike="noStrike">
                <a:solidFill>
                  <a:srgbClr val="ffffff"/>
                </a:solidFill>
                <a:latin typeface="Aptos"/>
                <a:ea typeface="Aptos"/>
              </a:rPr>
              <a:t>AI Sidecar</a:t>
            </a:r>
            <a:endParaRPr b="0" lang="en-US" sz="1350" spc="-1" strike="noStrike">
              <a:solidFill>
                <a:srgbClr val="ffffff"/>
              </a:solidFill>
              <a:latin typeface="Arial"/>
            </a:endParaRPr>
          </a:p>
          <a:p>
            <a:pPr algn="ctr" defTabSz="914400">
              <a:lnSpc>
                <a:spcPct val="100000"/>
              </a:lnSpc>
              <a:tabLst>
                <a:tab algn="l" pos="0"/>
              </a:tabLst>
            </a:pPr>
            <a:r>
              <a:rPr b="1" lang="en-US" sz="1350" spc="-1" strike="noStrike">
                <a:solidFill>
                  <a:srgbClr val="ffffff"/>
                </a:solidFill>
                <a:latin typeface="Aptos"/>
                <a:ea typeface="Aptos"/>
              </a:rPr>
              <a:t>forecast + optimize</a:t>
            </a:r>
            <a:endParaRPr b="0" lang="en-US" sz="1350" spc="-1" strike="noStrike">
              <a:solidFill>
                <a:srgbClr val="ffffff"/>
              </a:solidFill>
              <a:latin typeface="Arial"/>
            </a:endParaRPr>
          </a:p>
        </p:txBody>
      </p:sp>
      <p:sp>
        <p:nvSpPr>
          <p:cNvPr id="51" name="Text 9"/>
          <p:cNvSpPr/>
          <p:nvPr/>
        </p:nvSpPr>
        <p:spPr>
          <a:xfrm>
            <a:off x="7662600" y="2148840"/>
            <a:ext cx="1828080" cy="657720"/>
          </a:xfrm>
          <a:prstGeom prst="rect">
            <a:avLst/>
          </a:prstGeom>
          <a:solidFill>
            <a:srgbClr val="2b2110"/>
          </a:solidFill>
          <a:ln w="15240">
            <a:solidFill>
              <a:srgbClr val="f59e0b"/>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050" spc="-1" strike="noStrike">
                <a:solidFill>
                  <a:srgbClr val="ffffff"/>
                </a:solidFill>
                <a:latin typeface="Aptos"/>
                <a:ea typeface="Aptos"/>
              </a:rPr>
              <a:t>Override table</a:t>
            </a:r>
            <a:endParaRPr b="0" lang="en-US" sz="1050" spc="-1" strike="noStrike">
              <a:solidFill>
                <a:srgbClr val="ffffff"/>
              </a:solidFill>
              <a:latin typeface="Arial"/>
            </a:endParaRPr>
          </a:p>
          <a:p>
            <a:pPr algn="ctr" defTabSz="914400">
              <a:lnSpc>
                <a:spcPct val="100000"/>
              </a:lnSpc>
              <a:tabLst>
                <a:tab algn="l" pos="0"/>
              </a:tabLst>
            </a:pPr>
            <a:r>
              <a:rPr b="1" lang="en-US" sz="1050" spc="-1" strike="noStrike">
                <a:solidFill>
                  <a:srgbClr val="ffffff"/>
                </a:solidFill>
                <a:latin typeface="Aptos"/>
                <a:ea typeface="Aptos"/>
              </a:rPr>
              <a:t>bounded rows</a:t>
            </a:r>
            <a:endParaRPr b="0" lang="en-US" sz="1050" spc="-1" strike="noStrike">
              <a:solidFill>
                <a:srgbClr val="ffffff"/>
              </a:solidFill>
              <a:latin typeface="Arial"/>
            </a:endParaRPr>
          </a:p>
        </p:txBody>
      </p:sp>
      <p:sp>
        <p:nvSpPr>
          <p:cNvPr id="52" name="Text 10"/>
          <p:cNvSpPr/>
          <p:nvPr/>
        </p:nvSpPr>
        <p:spPr>
          <a:xfrm>
            <a:off x="9930240" y="1901880"/>
            <a:ext cx="1736640" cy="1151280"/>
          </a:xfrm>
          <a:prstGeom prst="rect">
            <a:avLst/>
          </a:prstGeom>
          <a:solidFill>
            <a:srgbClr val="102a3a"/>
          </a:solidFill>
          <a:ln w="15240">
            <a:solidFill>
              <a:srgbClr val="38bdf8"/>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230" spc="-1" strike="noStrike">
                <a:solidFill>
                  <a:srgbClr val="ffffff"/>
                </a:solidFill>
                <a:latin typeface="Aptos"/>
                <a:ea typeface="Aptos"/>
              </a:rPr>
              <a:t>MERLIN</a:t>
            </a:r>
            <a:endParaRPr b="0" lang="en-US" sz="1230" spc="-1" strike="noStrike">
              <a:solidFill>
                <a:srgbClr val="ffffff"/>
              </a:solidFill>
              <a:latin typeface="Arial"/>
            </a:endParaRPr>
          </a:p>
          <a:p>
            <a:pPr algn="ctr" defTabSz="914400">
              <a:lnSpc>
                <a:spcPct val="100000"/>
              </a:lnSpc>
              <a:tabLst>
                <a:tab algn="l" pos="0"/>
              </a:tabLst>
            </a:pPr>
            <a:r>
              <a:rPr b="1" lang="en-US" sz="1230" spc="-1" strike="noStrike">
                <a:solidFill>
                  <a:srgbClr val="ffffff"/>
                </a:solidFill>
                <a:latin typeface="Aptos"/>
                <a:ea typeface="Aptos"/>
              </a:rPr>
              <a:t>unchanged engine</a:t>
            </a:r>
            <a:endParaRPr b="0" lang="en-US" sz="1230" spc="-1" strike="noStrike">
              <a:solidFill>
                <a:srgbClr val="ffffff"/>
              </a:solidFill>
              <a:latin typeface="Arial"/>
            </a:endParaRPr>
          </a:p>
        </p:txBody>
      </p:sp>
      <p:sp>
        <p:nvSpPr>
          <p:cNvPr id="53" name="Shape 11"/>
          <p:cNvSpPr/>
          <p:nvPr/>
        </p:nvSpPr>
        <p:spPr>
          <a:xfrm>
            <a:off x="2432160" y="2477880"/>
            <a:ext cx="311040" cy="360"/>
          </a:xfrm>
          <a:prstGeom prst="line">
            <a:avLst/>
          </a:prstGeom>
          <a:ln w="1905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54" name="Shape 12"/>
          <p:cNvSpPr/>
          <p:nvPr/>
        </p:nvSpPr>
        <p:spPr>
          <a:xfrm>
            <a:off x="4699800" y="2477880"/>
            <a:ext cx="365760" cy="360"/>
          </a:xfrm>
          <a:prstGeom prst="line">
            <a:avLst/>
          </a:prstGeom>
          <a:ln w="1905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55" name="Shape 13"/>
          <p:cNvSpPr/>
          <p:nvPr/>
        </p:nvSpPr>
        <p:spPr>
          <a:xfrm>
            <a:off x="7214400" y="2477880"/>
            <a:ext cx="393120" cy="360"/>
          </a:xfrm>
          <a:prstGeom prst="line">
            <a:avLst/>
          </a:prstGeom>
          <a:ln w="1905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56" name="Shape 14"/>
          <p:cNvSpPr/>
          <p:nvPr/>
        </p:nvSpPr>
        <p:spPr>
          <a:xfrm>
            <a:off x="9537120" y="2477880"/>
            <a:ext cx="338400" cy="360"/>
          </a:xfrm>
          <a:prstGeom prst="line">
            <a:avLst/>
          </a:prstGeom>
          <a:ln w="1905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57" name="Text 15"/>
          <p:cNvSpPr/>
          <p:nvPr/>
        </p:nvSpPr>
        <p:spPr>
          <a:xfrm>
            <a:off x="9930240" y="3749040"/>
            <a:ext cx="1736640" cy="493200"/>
          </a:xfrm>
          <a:prstGeom prst="rect">
            <a:avLst/>
          </a:prstGeom>
          <a:solidFill>
            <a:srgbClr val="10243a"/>
          </a:solidFill>
          <a:ln w="15240">
            <a:solidFill>
              <a:srgbClr val="60a5f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060" spc="-1" strike="noStrike">
                <a:solidFill>
                  <a:srgbClr val="ffffff"/>
                </a:solidFill>
                <a:latin typeface="Aptos"/>
                <a:ea typeface="Aptos"/>
              </a:rPr>
              <a:t>EDI → Suppliers</a:t>
            </a:r>
            <a:endParaRPr b="0" lang="en-US" sz="1060" spc="-1" strike="noStrike">
              <a:solidFill>
                <a:srgbClr val="ffffff"/>
              </a:solidFill>
              <a:latin typeface="Arial"/>
            </a:endParaRPr>
          </a:p>
        </p:txBody>
      </p:sp>
      <p:sp>
        <p:nvSpPr>
          <p:cNvPr id="58" name="Shape 16"/>
          <p:cNvSpPr/>
          <p:nvPr/>
        </p:nvSpPr>
        <p:spPr>
          <a:xfrm>
            <a:off x="10789920" y="3072240"/>
            <a:ext cx="360" cy="631080"/>
          </a:xfrm>
          <a:prstGeom prst="line">
            <a:avLst/>
          </a:prstGeom>
          <a:ln w="19050">
            <a:solidFill>
              <a:srgbClr val="94a3b8"/>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59" name="Text 17"/>
          <p:cNvSpPr/>
          <p:nvPr/>
        </p:nvSpPr>
        <p:spPr>
          <a:xfrm>
            <a:off x="731520" y="4160520"/>
            <a:ext cx="2833920" cy="1279440"/>
          </a:xfrm>
          <a:prstGeom prst="rect">
            <a:avLst/>
          </a:prstGeom>
          <a:solidFill>
            <a:srgbClr val="101827">
              <a:alpha val="98000"/>
            </a:srgbClr>
          </a:solidFill>
          <a:ln w="15240">
            <a:solidFill>
              <a:srgbClr val="f87171">
                <a:alpha val="80000"/>
              </a:srgbClr>
            </a:solidFill>
            <a:round/>
          </a:ln>
        </p:spPr>
        <p:style>
          <a:lnRef idx="0"/>
          <a:fillRef idx="0"/>
          <a:effectRef idx="0"/>
          <a:fontRef idx="minor"/>
        </p:style>
        <p:txBody>
          <a:bodyPr lIns="1440" rIns="1440" tIns="1440" bIns="1440" anchor="t">
            <a:normAutofit/>
          </a:bodyPr>
          <a:p>
            <a:pPr>
              <a:lnSpc>
                <a:spcPct val="100000"/>
              </a:lnSpc>
            </a:pPr>
            <a:r>
              <a:rPr b="1" lang="en-US" sz="1220" spc="-1" strike="noStrike">
                <a:solidFill>
                  <a:srgbClr val="ffffff"/>
                </a:solidFill>
                <a:latin typeface="Aptos"/>
                <a:ea typeface="Aptos"/>
              </a:rPr>
              <a:t>Hard boundaries</a:t>
            </a:r>
            <a:endParaRPr b="0" lang="en-US" sz="1220" spc="-1" strike="noStrike">
              <a:solidFill>
                <a:srgbClr val="ffffff"/>
              </a:solidFill>
              <a:latin typeface="Arial"/>
            </a:endParaRPr>
          </a:p>
          <a:p>
            <a:pPr defTabSz="914400">
              <a:lnSpc>
                <a:spcPct val="100000"/>
              </a:lnSpc>
              <a:tabLst>
                <a:tab algn="l" pos="0"/>
              </a:tabLst>
            </a:pPr>
            <a:r>
              <a:rPr b="0" lang="en-US" sz="1220" spc="-1" strike="noStrike">
                <a:solidFill>
                  <a:srgbClr val="e5e7eb"/>
                </a:solidFill>
                <a:latin typeface="Aptos"/>
                <a:ea typeface="Aptos"/>
              </a:rPr>
              <a:t>AI ↛ POS</a:t>
            </a:r>
            <a:endParaRPr b="0" lang="en-US" sz="1220" spc="-1" strike="noStrike">
              <a:solidFill>
                <a:srgbClr val="ffffff"/>
              </a:solidFill>
              <a:latin typeface="Arial"/>
            </a:endParaRPr>
          </a:p>
          <a:p>
            <a:pPr defTabSz="914400">
              <a:lnSpc>
                <a:spcPct val="100000"/>
              </a:lnSpc>
              <a:tabLst>
                <a:tab algn="l" pos="0"/>
              </a:tabLst>
            </a:pPr>
            <a:r>
              <a:rPr b="0" lang="en-US" sz="1220" spc="-1" strike="noStrike">
                <a:solidFill>
                  <a:srgbClr val="e5e7eb"/>
                </a:solidFill>
                <a:latin typeface="Aptos"/>
                <a:ea typeface="Aptos"/>
              </a:rPr>
              <a:t>AI ↛ EDI</a:t>
            </a:r>
            <a:endParaRPr b="0" lang="en-US" sz="1220" spc="-1" strike="noStrike">
              <a:solidFill>
                <a:srgbClr val="ffffff"/>
              </a:solidFill>
              <a:latin typeface="Arial"/>
            </a:endParaRPr>
          </a:p>
          <a:p>
            <a:pPr defTabSz="914400">
              <a:lnSpc>
                <a:spcPct val="100000"/>
              </a:lnSpc>
              <a:tabLst>
                <a:tab algn="l" pos="0"/>
              </a:tabLst>
            </a:pPr>
            <a:r>
              <a:rPr b="0" lang="en-US" sz="1220" spc="-1" strike="noStrike">
                <a:solidFill>
                  <a:srgbClr val="e5e7eb"/>
                </a:solidFill>
                <a:latin typeface="Aptos"/>
                <a:ea typeface="Aptos"/>
              </a:rPr>
              <a:t>AI ↛ Supplier</a:t>
            </a:r>
            <a:endParaRPr b="0" lang="en-US" sz="1220" spc="-1" strike="noStrike">
              <a:solidFill>
                <a:srgbClr val="ffffff"/>
              </a:solidFill>
              <a:latin typeface="Arial"/>
            </a:endParaRPr>
          </a:p>
          <a:p>
            <a:pPr defTabSz="914400">
              <a:lnSpc>
                <a:spcPct val="100000"/>
              </a:lnSpc>
              <a:tabLst>
                <a:tab algn="l" pos="0"/>
              </a:tabLst>
            </a:pPr>
            <a:r>
              <a:rPr b="0" lang="en-US" sz="1220" spc="-1" strike="noStrike">
                <a:solidFill>
                  <a:srgbClr val="e5e7eb"/>
                </a:solidFill>
                <a:latin typeface="Aptos"/>
                <a:ea typeface="Aptos"/>
              </a:rPr>
              <a:t>Copilot ↛ Ordering</a:t>
            </a:r>
            <a:endParaRPr b="0" lang="en-US" sz="1220" spc="-1" strike="noStrike">
              <a:solidFill>
                <a:srgbClr val="ffffff"/>
              </a:solidFill>
              <a:latin typeface="Arial"/>
            </a:endParaRPr>
          </a:p>
        </p:txBody>
      </p:sp>
      <p:sp>
        <p:nvSpPr>
          <p:cNvPr id="60" name="Text 18"/>
          <p:cNvSpPr/>
          <p:nvPr/>
        </p:nvSpPr>
        <p:spPr>
          <a:xfrm>
            <a:off x="4206240" y="4160520"/>
            <a:ext cx="3336840" cy="1279440"/>
          </a:xfrm>
          <a:prstGeom prst="rect">
            <a:avLst/>
          </a:prstGeom>
          <a:solidFill>
            <a:srgbClr val="101827">
              <a:alpha val="98000"/>
            </a:srgbClr>
          </a:solidFill>
          <a:ln w="15240">
            <a:solidFill>
              <a:srgbClr val="a78bfa">
                <a:alpha val="80000"/>
              </a:srgbClr>
            </a:solidFill>
            <a:round/>
          </a:ln>
        </p:spPr>
        <p:style>
          <a:lnRef idx="0"/>
          <a:fillRef idx="0"/>
          <a:effectRef idx="0"/>
          <a:fontRef idx="minor"/>
        </p:style>
        <p:txBody>
          <a:bodyPr lIns="1440" rIns="1440" tIns="1440" bIns="1440" anchor="t">
            <a:normAutofit/>
          </a:bodyPr>
          <a:p>
            <a:pPr>
              <a:lnSpc>
                <a:spcPct val="100000"/>
              </a:lnSpc>
            </a:pPr>
            <a:r>
              <a:rPr b="1" lang="en-US" sz="1220" spc="-1" strike="noStrike">
                <a:solidFill>
                  <a:srgbClr val="ffffff"/>
                </a:solidFill>
                <a:latin typeface="Aptos"/>
                <a:ea typeface="Aptos"/>
              </a:rPr>
              <a:t>Associate copilot</a:t>
            </a:r>
            <a:endParaRPr b="0" lang="en-US" sz="1220" spc="-1" strike="noStrike">
              <a:solidFill>
                <a:srgbClr val="ffffff"/>
              </a:solidFill>
              <a:latin typeface="Arial"/>
            </a:endParaRPr>
          </a:p>
          <a:p>
            <a:pPr defTabSz="914400">
              <a:lnSpc>
                <a:spcPct val="100000"/>
              </a:lnSpc>
              <a:tabLst>
                <a:tab algn="l" pos="0"/>
              </a:tabLst>
            </a:pPr>
            <a:r>
              <a:rPr b="0" lang="en-US" sz="1220" spc="-1" strike="noStrike">
                <a:solidFill>
                  <a:srgbClr val="e5e7eb"/>
                </a:solidFill>
                <a:latin typeface="Aptos"/>
                <a:ea typeface="Aptos"/>
              </a:rPr>
              <a:t>Read-only evidence only. No order-writing path and no food-safety advice beyond approved evidence.</a:t>
            </a:r>
            <a:endParaRPr b="0" lang="en-US" sz="1220" spc="-1" strike="noStrike">
              <a:solidFill>
                <a:srgbClr val="ffffff"/>
              </a:solidFill>
              <a:latin typeface="Arial"/>
            </a:endParaRPr>
          </a:p>
        </p:txBody>
      </p:sp>
      <p:sp>
        <p:nvSpPr>
          <p:cNvPr id="61" name="Text 19"/>
          <p:cNvSpPr/>
          <p:nvPr/>
        </p:nvSpPr>
        <p:spPr>
          <a:xfrm>
            <a:off x="8229600" y="4572000"/>
            <a:ext cx="3245400" cy="1050840"/>
          </a:xfrm>
          <a:prstGeom prst="rect">
            <a:avLst/>
          </a:prstGeom>
          <a:solidFill>
            <a:srgbClr val="101827">
              <a:alpha val="98000"/>
            </a:srgbClr>
          </a:solidFill>
          <a:ln w="15240">
            <a:solidFill>
              <a:srgbClr val="22c55e">
                <a:alpha val="80000"/>
              </a:srgbClr>
            </a:solidFill>
            <a:round/>
          </a:ln>
        </p:spPr>
        <p:style>
          <a:lnRef idx="0"/>
          <a:fillRef idx="0"/>
          <a:effectRef idx="0"/>
          <a:fontRef idx="minor"/>
        </p:style>
        <p:txBody>
          <a:bodyPr lIns="1440" rIns="1440" tIns="1440" bIns="1440" anchor="t">
            <a:normAutofit/>
          </a:bodyPr>
          <a:p>
            <a:pPr>
              <a:lnSpc>
                <a:spcPct val="100000"/>
              </a:lnSpc>
            </a:pPr>
            <a:r>
              <a:rPr b="1" lang="en-US" sz="1160" spc="-1" strike="noStrike">
                <a:solidFill>
                  <a:srgbClr val="ffffff"/>
                </a:solidFill>
                <a:latin typeface="Aptos"/>
                <a:ea typeface="Aptos"/>
              </a:rPr>
              <a:t>MERLIN autonomy</a:t>
            </a:r>
            <a:endParaRPr b="0" lang="en-US" sz="1160" spc="-1" strike="noStrike">
              <a:solidFill>
                <a:srgbClr val="ffffff"/>
              </a:solidFill>
              <a:latin typeface="Arial"/>
            </a:endParaRPr>
          </a:p>
          <a:p>
            <a:pPr defTabSz="914400">
              <a:lnSpc>
                <a:spcPct val="100000"/>
              </a:lnSpc>
              <a:tabLst>
                <a:tab algn="l" pos="0"/>
              </a:tabLst>
            </a:pPr>
            <a:r>
              <a:rPr b="0" lang="en-US" sz="1160" spc="-1" strike="noStrike">
                <a:solidFill>
                  <a:srgbClr val="e5e7eb"/>
                </a:solidFill>
                <a:latin typeface="Aptos"/>
                <a:ea typeface="Aptos"/>
              </a:rPr>
              <a:t>If the sidecar is missing or disabled, MERLIN still generates supplier orders through the established path.</a:t>
            </a:r>
            <a:endParaRPr b="0" lang="en-US" sz="116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62" name="Shape 0"/>
          <p:cNvSpPr/>
          <p:nvPr/>
        </p:nvSpPr>
        <p:spPr>
          <a:xfrm>
            <a:off x="0" y="0"/>
            <a:ext cx="12191040" cy="127440"/>
          </a:xfrm>
          <a:prstGeom prst="rect">
            <a:avLst/>
          </a:prstGeom>
          <a:solidFill>
            <a:srgbClr val="2dd4bf"/>
          </a:solidFill>
          <a:ln w="12700">
            <a:solidFill>
              <a:srgbClr val="2dd4b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3" name="Text 1"/>
          <p:cNvSpPr/>
          <p:nvPr/>
        </p:nvSpPr>
        <p:spPr>
          <a:xfrm>
            <a:off x="502920" y="347400"/>
            <a:ext cx="43884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20" spc="-1" strike="noStrike">
                <a:solidFill>
                  <a:srgbClr val="2dd4bf"/>
                </a:solidFill>
                <a:latin typeface="Aptos"/>
                <a:ea typeface="Aptos"/>
              </a:rPr>
              <a:t>CONTAINER — ENVIRONMENT ISOLATION</a:t>
            </a:r>
            <a:endParaRPr b="0" lang="en-US" sz="820" spc="-1" strike="noStrike">
              <a:solidFill>
                <a:srgbClr val="ffffff"/>
              </a:solidFill>
              <a:latin typeface="Arial"/>
            </a:endParaRPr>
          </a:p>
        </p:txBody>
      </p:sp>
      <p:sp>
        <p:nvSpPr>
          <p:cNvPr id="64" name="Text 2"/>
          <p:cNvSpPr/>
          <p:nvPr/>
        </p:nvSpPr>
        <p:spPr>
          <a:xfrm>
            <a:off x="502920" y="640080"/>
            <a:ext cx="10880640" cy="383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50" spc="-1" strike="noStrike">
                <a:solidFill>
                  <a:srgbClr val="ffffff"/>
                </a:solidFill>
                <a:latin typeface="Aptos Display"/>
                <a:ea typeface="Aptos Display"/>
              </a:rPr>
              <a:t>C4 System Architecture</a:t>
            </a:r>
            <a:endParaRPr b="0" lang="en-US" sz="2350" spc="-1" strike="noStrike">
              <a:solidFill>
                <a:srgbClr val="ffffff"/>
              </a:solidFill>
              <a:latin typeface="Arial"/>
            </a:endParaRPr>
          </a:p>
        </p:txBody>
      </p:sp>
      <p:sp>
        <p:nvSpPr>
          <p:cNvPr id="65" name="Text 3"/>
          <p:cNvSpPr/>
          <p:nvPr/>
        </p:nvSpPr>
        <p:spPr>
          <a:xfrm>
            <a:off x="511920" y="1078920"/>
            <a:ext cx="10880640" cy="236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pc="-1" strike="noStrike">
                <a:solidFill>
                  <a:srgbClr val="e5e7eb"/>
                </a:solidFill>
                <a:latin typeface="Aptos"/>
                <a:ea typeface="Aptos"/>
              </a:rPr>
              <a:t>Isolate runtime risk and certify every write.</a:t>
            </a:r>
            <a:endParaRPr b="0" lang="en-US" sz="1150" spc="-1" strike="noStrike">
              <a:solidFill>
                <a:srgbClr val="ffffff"/>
              </a:solidFill>
              <a:latin typeface="Arial"/>
            </a:endParaRPr>
          </a:p>
        </p:txBody>
      </p:sp>
      <p:sp>
        <p:nvSpPr>
          <p:cNvPr id="66" name="Text 4"/>
          <p:cNvSpPr/>
          <p:nvPr/>
        </p:nvSpPr>
        <p:spPr>
          <a:xfrm>
            <a:off x="502920" y="6656760"/>
            <a:ext cx="676584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80" spc="-1" strike="noStrike">
                <a:solidFill>
                  <a:srgbClr val="94a3b8"/>
                </a:solidFill>
                <a:latin typeface="Aptos"/>
                <a:ea typeface="Aptos"/>
              </a:rPr>
              <a:t>MERLIN 2026 AI Retrofit Sidecar Architecture</a:t>
            </a:r>
            <a:endParaRPr b="0" lang="en-US" sz="780" spc="-1" strike="noStrike">
              <a:solidFill>
                <a:srgbClr val="ffffff"/>
              </a:solidFill>
              <a:latin typeface="Arial"/>
            </a:endParaRPr>
          </a:p>
        </p:txBody>
      </p:sp>
      <p:sp>
        <p:nvSpPr>
          <p:cNvPr id="67" name="Text 5"/>
          <p:cNvSpPr/>
          <p:nvPr/>
        </p:nvSpPr>
        <p:spPr>
          <a:xfrm>
            <a:off x="11292840" y="6565320"/>
            <a:ext cx="410760" cy="218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850" spc="-1" strike="noStrike">
                <a:solidFill>
                  <a:srgbClr val="94a3b8"/>
                </a:solidFill>
                <a:latin typeface="Aptos"/>
                <a:ea typeface="Aptos"/>
              </a:rPr>
              <a:t>06</a:t>
            </a:r>
            <a:endParaRPr b="0" lang="en-US" sz="850" spc="-1" strike="noStrike">
              <a:solidFill>
                <a:srgbClr val="ffffff"/>
              </a:solidFill>
              <a:latin typeface="Arial"/>
            </a:endParaRPr>
          </a:p>
        </p:txBody>
      </p:sp>
      <p:sp>
        <p:nvSpPr>
          <p:cNvPr id="68" name="Shape 6"/>
          <p:cNvSpPr/>
          <p:nvPr/>
        </p:nvSpPr>
        <p:spPr>
          <a:xfrm>
            <a:off x="1965960" y="2788920"/>
            <a:ext cx="383760" cy="360"/>
          </a:xfrm>
          <a:prstGeom prst="line">
            <a:avLst/>
          </a:prstGeom>
          <a:ln w="1651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69" name="Shape 7"/>
          <p:cNvSpPr/>
          <p:nvPr/>
        </p:nvSpPr>
        <p:spPr>
          <a:xfrm>
            <a:off x="3794760" y="2788920"/>
            <a:ext cx="383760" cy="360"/>
          </a:xfrm>
          <a:prstGeom prst="line">
            <a:avLst/>
          </a:prstGeom>
          <a:ln w="1651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70" name="Shape 8"/>
          <p:cNvSpPr/>
          <p:nvPr/>
        </p:nvSpPr>
        <p:spPr>
          <a:xfrm>
            <a:off x="5623560" y="2788920"/>
            <a:ext cx="383760" cy="360"/>
          </a:xfrm>
          <a:prstGeom prst="line">
            <a:avLst/>
          </a:prstGeom>
          <a:ln w="1651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71" name="Shape 9"/>
          <p:cNvSpPr/>
          <p:nvPr/>
        </p:nvSpPr>
        <p:spPr>
          <a:xfrm>
            <a:off x="7452360" y="2788920"/>
            <a:ext cx="383760" cy="360"/>
          </a:xfrm>
          <a:prstGeom prst="line">
            <a:avLst/>
          </a:prstGeom>
          <a:ln w="1651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72" name="Shape 10"/>
          <p:cNvSpPr/>
          <p:nvPr/>
        </p:nvSpPr>
        <p:spPr>
          <a:xfrm>
            <a:off x="9281160" y="2788920"/>
            <a:ext cx="383760" cy="360"/>
          </a:xfrm>
          <a:prstGeom prst="line">
            <a:avLst/>
          </a:prstGeom>
          <a:ln w="1651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73" name="Text 11"/>
          <p:cNvSpPr/>
          <p:nvPr/>
        </p:nvSpPr>
        <p:spPr>
          <a:xfrm>
            <a:off x="594360" y="2331720"/>
            <a:ext cx="1416600" cy="913680"/>
          </a:xfrm>
          <a:prstGeom prst="rect">
            <a:avLst/>
          </a:prstGeom>
          <a:solidFill>
            <a:srgbClr val="101827"/>
          </a:solidFill>
          <a:ln w="15240">
            <a:solidFill>
              <a:srgbClr val="2dd4bf"/>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060" spc="-1" strike="noStrike">
                <a:solidFill>
                  <a:srgbClr val="ffffff"/>
                </a:solidFill>
                <a:latin typeface="Aptos"/>
                <a:ea typeface="Aptos"/>
              </a:rPr>
              <a:t>Snapshot</a:t>
            </a:r>
            <a:endParaRPr b="0" lang="en-US" sz="1060" spc="-1" strike="noStrike">
              <a:solidFill>
                <a:srgbClr val="ffffff"/>
              </a:solidFill>
              <a:latin typeface="Arial"/>
            </a:endParaRPr>
          </a:p>
          <a:p>
            <a:pPr algn="ctr" defTabSz="914400">
              <a:lnSpc>
                <a:spcPct val="100000"/>
              </a:lnSpc>
              <a:tabLst>
                <a:tab algn="l" pos="0"/>
              </a:tabLst>
            </a:pPr>
            <a:r>
              <a:rPr b="1" lang="en-US" sz="1060" spc="-1" strike="noStrike">
                <a:solidFill>
                  <a:srgbClr val="ffffff"/>
                </a:solidFill>
                <a:latin typeface="Aptos"/>
                <a:ea typeface="Aptos"/>
              </a:rPr>
              <a:t>validation</a:t>
            </a:r>
            <a:endParaRPr b="0" lang="en-US" sz="1060" spc="-1" strike="noStrike">
              <a:solidFill>
                <a:srgbClr val="ffffff"/>
              </a:solidFill>
              <a:latin typeface="Arial"/>
            </a:endParaRPr>
          </a:p>
        </p:txBody>
      </p:sp>
      <p:sp>
        <p:nvSpPr>
          <p:cNvPr id="74" name="Text 12"/>
          <p:cNvSpPr/>
          <p:nvPr/>
        </p:nvSpPr>
        <p:spPr>
          <a:xfrm>
            <a:off x="2423160" y="2331720"/>
            <a:ext cx="1416600" cy="913680"/>
          </a:xfrm>
          <a:prstGeom prst="rect">
            <a:avLst/>
          </a:prstGeom>
          <a:solidFill>
            <a:srgbClr val="101827"/>
          </a:solidFill>
          <a:ln w="15240">
            <a:solidFill>
              <a:srgbClr val="60a5f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060" spc="-1" strike="noStrike">
                <a:solidFill>
                  <a:srgbClr val="ffffff"/>
                </a:solidFill>
                <a:latin typeface="Aptos"/>
                <a:ea typeface="Aptos"/>
              </a:rPr>
              <a:t>Forecast ML</a:t>
            </a:r>
            <a:endParaRPr b="0" lang="en-US" sz="1060" spc="-1" strike="noStrike">
              <a:solidFill>
                <a:srgbClr val="ffffff"/>
              </a:solidFill>
              <a:latin typeface="Arial"/>
            </a:endParaRPr>
          </a:p>
          <a:p>
            <a:pPr algn="ctr" defTabSz="914400">
              <a:lnSpc>
                <a:spcPct val="100000"/>
              </a:lnSpc>
              <a:tabLst>
                <a:tab algn="l" pos="0"/>
              </a:tabLst>
            </a:pPr>
            <a:r>
              <a:rPr b="1" lang="en-US" sz="1060" spc="-1" strike="noStrike">
                <a:solidFill>
                  <a:srgbClr val="ffffff"/>
                </a:solidFill>
                <a:latin typeface="Aptos"/>
                <a:ea typeface="Aptos"/>
              </a:rPr>
              <a:t>quantiles</a:t>
            </a:r>
            <a:endParaRPr b="0" lang="en-US" sz="1060" spc="-1" strike="noStrike">
              <a:solidFill>
                <a:srgbClr val="ffffff"/>
              </a:solidFill>
              <a:latin typeface="Arial"/>
            </a:endParaRPr>
          </a:p>
        </p:txBody>
      </p:sp>
      <p:sp>
        <p:nvSpPr>
          <p:cNvPr id="75" name="Text 13"/>
          <p:cNvSpPr/>
          <p:nvPr/>
        </p:nvSpPr>
        <p:spPr>
          <a:xfrm>
            <a:off x="4251960" y="2331720"/>
            <a:ext cx="1416600" cy="913680"/>
          </a:xfrm>
          <a:prstGeom prst="rect">
            <a:avLst/>
          </a:prstGeom>
          <a:solidFill>
            <a:srgbClr val="101827"/>
          </a:solidFill>
          <a:ln w="15240">
            <a:solidFill>
              <a:srgbClr val="a78bf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060" spc="-1" strike="noStrike">
                <a:solidFill>
                  <a:srgbClr val="ffffff"/>
                </a:solidFill>
                <a:latin typeface="Aptos"/>
                <a:ea typeface="Aptos"/>
              </a:rPr>
              <a:t>Deterministic</a:t>
            </a:r>
            <a:endParaRPr b="0" lang="en-US" sz="1060" spc="-1" strike="noStrike">
              <a:solidFill>
                <a:srgbClr val="ffffff"/>
              </a:solidFill>
              <a:latin typeface="Arial"/>
            </a:endParaRPr>
          </a:p>
          <a:p>
            <a:pPr algn="ctr" defTabSz="914400">
              <a:lnSpc>
                <a:spcPct val="100000"/>
              </a:lnSpc>
              <a:tabLst>
                <a:tab algn="l" pos="0"/>
              </a:tabLst>
            </a:pPr>
            <a:r>
              <a:rPr b="1" lang="en-US" sz="1060" spc="-1" strike="noStrike">
                <a:solidFill>
                  <a:srgbClr val="ffffff"/>
                </a:solidFill>
                <a:latin typeface="Aptos"/>
                <a:ea typeface="Aptos"/>
              </a:rPr>
              <a:t>optimizer</a:t>
            </a:r>
            <a:endParaRPr b="0" lang="en-US" sz="1060" spc="-1" strike="noStrike">
              <a:solidFill>
                <a:srgbClr val="ffffff"/>
              </a:solidFill>
              <a:latin typeface="Arial"/>
            </a:endParaRPr>
          </a:p>
        </p:txBody>
      </p:sp>
      <p:sp>
        <p:nvSpPr>
          <p:cNvPr id="76" name="Text 14"/>
          <p:cNvSpPr/>
          <p:nvPr/>
        </p:nvSpPr>
        <p:spPr>
          <a:xfrm>
            <a:off x="6080760" y="2331720"/>
            <a:ext cx="1416600" cy="913680"/>
          </a:xfrm>
          <a:prstGeom prst="rect">
            <a:avLst/>
          </a:prstGeom>
          <a:solidFill>
            <a:srgbClr val="2b2110"/>
          </a:solidFill>
          <a:ln w="15240">
            <a:solidFill>
              <a:srgbClr val="f59e0b"/>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060" spc="-1" strike="noStrike">
                <a:solidFill>
                  <a:srgbClr val="ffffff"/>
                </a:solidFill>
                <a:latin typeface="Aptos"/>
                <a:ea typeface="Aptos"/>
              </a:rPr>
              <a:t>Certified</a:t>
            </a:r>
            <a:endParaRPr b="0" lang="en-US" sz="1060" spc="-1" strike="noStrike">
              <a:solidFill>
                <a:srgbClr val="ffffff"/>
              </a:solidFill>
              <a:latin typeface="Arial"/>
            </a:endParaRPr>
          </a:p>
          <a:p>
            <a:pPr algn="ctr" defTabSz="914400">
              <a:lnSpc>
                <a:spcPct val="100000"/>
              </a:lnSpc>
              <a:tabLst>
                <a:tab algn="l" pos="0"/>
              </a:tabLst>
            </a:pPr>
            <a:r>
              <a:rPr b="1" lang="en-US" sz="1060" spc="-1" strike="noStrike">
                <a:solidFill>
                  <a:srgbClr val="ffffff"/>
                </a:solidFill>
                <a:latin typeface="Aptos"/>
                <a:ea typeface="Aptos"/>
              </a:rPr>
              <a:t>adapter</a:t>
            </a:r>
            <a:endParaRPr b="0" lang="en-US" sz="1060" spc="-1" strike="noStrike">
              <a:solidFill>
                <a:srgbClr val="ffffff"/>
              </a:solidFill>
              <a:latin typeface="Arial"/>
            </a:endParaRPr>
          </a:p>
        </p:txBody>
      </p:sp>
      <p:sp>
        <p:nvSpPr>
          <p:cNvPr id="77" name="Text 15"/>
          <p:cNvSpPr/>
          <p:nvPr/>
        </p:nvSpPr>
        <p:spPr>
          <a:xfrm>
            <a:off x="7909560" y="2331720"/>
            <a:ext cx="1416600" cy="913680"/>
          </a:xfrm>
          <a:prstGeom prst="rect">
            <a:avLst/>
          </a:prstGeom>
          <a:solidFill>
            <a:srgbClr val="101827"/>
          </a:solidFill>
          <a:ln w="15240">
            <a:solidFill>
              <a:srgbClr val="f59e0b"/>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060" spc="-1" strike="noStrike">
                <a:solidFill>
                  <a:srgbClr val="ffffff"/>
                </a:solidFill>
                <a:latin typeface="Aptos"/>
                <a:ea typeface="Aptos"/>
              </a:rPr>
              <a:t>Override</a:t>
            </a:r>
            <a:endParaRPr b="0" lang="en-US" sz="1060" spc="-1" strike="noStrike">
              <a:solidFill>
                <a:srgbClr val="ffffff"/>
              </a:solidFill>
              <a:latin typeface="Arial"/>
            </a:endParaRPr>
          </a:p>
          <a:p>
            <a:pPr algn="ctr" defTabSz="914400">
              <a:lnSpc>
                <a:spcPct val="100000"/>
              </a:lnSpc>
              <a:tabLst>
                <a:tab algn="l" pos="0"/>
              </a:tabLst>
            </a:pPr>
            <a:r>
              <a:rPr b="1" lang="en-US" sz="1060" spc="-1" strike="noStrike">
                <a:solidFill>
                  <a:srgbClr val="ffffff"/>
                </a:solidFill>
                <a:latin typeface="Aptos"/>
                <a:ea typeface="Aptos"/>
              </a:rPr>
              <a:t>table</a:t>
            </a:r>
            <a:endParaRPr b="0" lang="en-US" sz="1060" spc="-1" strike="noStrike">
              <a:solidFill>
                <a:srgbClr val="ffffff"/>
              </a:solidFill>
              <a:latin typeface="Arial"/>
            </a:endParaRPr>
          </a:p>
        </p:txBody>
      </p:sp>
      <p:sp>
        <p:nvSpPr>
          <p:cNvPr id="78" name="Text 16"/>
          <p:cNvSpPr/>
          <p:nvPr/>
        </p:nvSpPr>
        <p:spPr>
          <a:xfrm>
            <a:off x="9738360" y="2331720"/>
            <a:ext cx="1416600" cy="913680"/>
          </a:xfrm>
          <a:prstGeom prst="rect">
            <a:avLst/>
          </a:prstGeom>
          <a:solidFill>
            <a:srgbClr val="101827"/>
          </a:solidFill>
          <a:ln w="15240">
            <a:solidFill>
              <a:srgbClr val="38bdf8"/>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060" spc="-1" strike="noStrike">
                <a:solidFill>
                  <a:srgbClr val="ffffff"/>
                </a:solidFill>
                <a:latin typeface="Aptos"/>
                <a:ea typeface="Aptos"/>
              </a:rPr>
              <a:t>MERLIN</a:t>
            </a:r>
            <a:endParaRPr b="0" lang="en-US" sz="1060" spc="-1" strike="noStrike">
              <a:solidFill>
                <a:srgbClr val="ffffff"/>
              </a:solidFill>
              <a:latin typeface="Arial"/>
            </a:endParaRPr>
          </a:p>
          <a:p>
            <a:pPr algn="ctr" defTabSz="914400">
              <a:lnSpc>
                <a:spcPct val="100000"/>
              </a:lnSpc>
              <a:tabLst>
                <a:tab algn="l" pos="0"/>
              </a:tabLst>
            </a:pPr>
            <a:r>
              <a:rPr b="1" lang="en-US" sz="1060" spc="-1" strike="noStrike">
                <a:solidFill>
                  <a:srgbClr val="ffffff"/>
                </a:solidFill>
                <a:latin typeface="Aptos"/>
                <a:ea typeface="Aptos"/>
              </a:rPr>
              <a:t>engine</a:t>
            </a:r>
            <a:endParaRPr b="0" lang="en-US" sz="1060" spc="-1" strike="noStrike">
              <a:solidFill>
                <a:srgbClr val="ffffff"/>
              </a:solidFill>
              <a:latin typeface="Arial"/>
            </a:endParaRPr>
          </a:p>
        </p:txBody>
      </p:sp>
      <p:sp>
        <p:nvSpPr>
          <p:cNvPr id="79" name="Text 17"/>
          <p:cNvSpPr/>
          <p:nvPr/>
        </p:nvSpPr>
        <p:spPr>
          <a:xfrm>
            <a:off x="685800" y="3977640"/>
            <a:ext cx="3336840" cy="1050840"/>
          </a:xfrm>
          <a:prstGeom prst="rect">
            <a:avLst/>
          </a:prstGeom>
          <a:solidFill>
            <a:srgbClr val="101827">
              <a:alpha val="98000"/>
            </a:srgbClr>
          </a:solidFill>
          <a:ln w="15240">
            <a:solidFill>
              <a:srgbClr val="60a5fa">
                <a:alpha val="80000"/>
              </a:srgbClr>
            </a:solidFill>
            <a:round/>
          </a:ln>
        </p:spPr>
        <p:style>
          <a:lnRef idx="0"/>
          <a:fillRef idx="0"/>
          <a:effectRef idx="0"/>
          <a:fontRef idx="minor"/>
        </p:style>
        <p:txBody>
          <a:bodyPr lIns="1440" rIns="1440" tIns="1440" bIns="1440" anchor="t">
            <a:normAutofit/>
          </a:bodyPr>
          <a:p>
            <a:pPr>
              <a:lnSpc>
                <a:spcPct val="100000"/>
              </a:lnSpc>
            </a:pPr>
            <a:r>
              <a:rPr b="1" lang="en-US" sz="1200" spc="-1" strike="noStrike">
                <a:solidFill>
                  <a:srgbClr val="ffffff"/>
                </a:solidFill>
                <a:latin typeface="Aptos"/>
                <a:ea typeface="Aptos"/>
              </a:rPr>
              <a:t>Forecast ML outputs</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Expected demand, uncertainty bands, promotion signals — never an order.</a:t>
            </a:r>
            <a:endParaRPr b="0" lang="en-US" sz="1200" spc="-1" strike="noStrike">
              <a:solidFill>
                <a:srgbClr val="ffffff"/>
              </a:solidFill>
              <a:latin typeface="Arial"/>
            </a:endParaRPr>
          </a:p>
        </p:txBody>
      </p:sp>
      <p:sp>
        <p:nvSpPr>
          <p:cNvPr id="80" name="Text 18"/>
          <p:cNvSpPr/>
          <p:nvPr/>
        </p:nvSpPr>
        <p:spPr>
          <a:xfrm>
            <a:off x="4434840" y="3977640"/>
            <a:ext cx="3336840" cy="1050840"/>
          </a:xfrm>
          <a:prstGeom prst="rect">
            <a:avLst/>
          </a:prstGeom>
          <a:solidFill>
            <a:srgbClr val="101827">
              <a:alpha val="98000"/>
            </a:srgbClr>
          </a:solidFill>
          <a:ln w="15240">
            <a:solidFill>
              <a:srgbClr val="a78bfa">
                <a:alpha val="80000"/>
              </a:srgbClr>
            </a:solidFill>
            <a:round/>
          </a:ln>
        </p:spPr>
        <p:style>
          <a:lnRef idx="0"/>
          <a:fillRef idx="0"/>
          <a:effectRef idx="0"/>
          <a:fontRef idx="minor"/>
        </p:style>
        <p:txBody>
          <a:bodyPr lIns="1440" rIns="1440" tIns="1440" bIns="1440" anchor="t">
            <a:normAutofit/>
          </a:bodyPr>
          <a:p>
            <a:pPr>
              <a:lnSpc>
                <a:spcPct val="100000"/>
              </a:lnSpc>
            </a:pPr>
            <a:r>
              <a:rPr b="1" lang="en-US" sz="1200" spc="-1" strike="noStrike">
                <a:solidFill>
                  <a:srgbClr val="ffffff"/>
                </a:solidFill>
                <a:latin typeface="Aptos"/>
                <a:ea typeface="Aptos"/>
              </a:rPr>
              <a:t>Optimizer enforces</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Case pack, shelf life, DC capacity, inventory interval, category caps.</a:t>
            </a:r>
            <a:endParaRPr b="0" lang="en-US" sz="1200" spc="-1" strike="noStrike">
              <a:solidFill>
                <a:srgbClr val="ffffff"/>
              </a:solidFill>
              <a:latin typeface="Arial"/>
            </a:endParaRPr>
          </a:p>
        </p:txBody>
      </p:sp>
      <p:sp>
        <p:nvSpPr>
          <p:cNvPr id="81" name="Text 19"/>
          <p:cNvSpPr/>
          <p:nvPr/>
        </p:nvSpPr>
        <p:spPr>
          <a:xfrm>
            <a:off x="8183880" y="3977640"/>
            <a:ext cx="3336840" cy="1050840"/>
          </a:xfrm>
          <a:prstGeom prst="rect">
            <a:avLst/>
          </a:prstGeom>
          <a:solidFill>
            <a:srgbClr val="101827">
              <a:alpha val="98000"/>
            </a:srgbClr>
          </a:solidFill>
          <a:ln w="15240">
            <a:solidFill>
              <a:srgbClr val="f59e0b">
                <a:alpha val="80000"/>
              </a:srgbClr>
            </a:solidFill>
            <a:round/>
          </a:ln>
        </p:spPr>
        <p:style>
          <a:lnRef idx="0"/>
          <a:fillRef idx="0"/>
          <a:effectRef idx="0"/>
          <a:fontRef idx="minor"/>
        </p:style>
        <p:txBody>
          <a:bodyPr lIns="1440" rIns="1440" tIns="1440" bIns="1440" anchor="t">
            <a:normAutofit/>
          </a:bodyPr>
          <a:p>
            <a:pPr>
              <a:lnSpc>
                <a:spcPct val="100000"/>
              </a:lnSpc>
            </a:pPr>
            <a:r>
              <a:rPr b="1" lang="en-US" sz="1200" spc="-1" strike="noStrike">
                <a:solidFill>
                  <a:srgbClr val="ffffff"/>
                </a:solidFill>
                <a:latin typeface="Aptos"/>
                <a:ea typeface="Aptos"/>
              </a:rPr>
              <a:t>Adapter certifies</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Current-run rows only, schema-valid, bounded, auditable, and kill-switch aware.</a:t>
            </a:r>
            <a:endParaRPr b="0" lang="en-US" sz="1200" spc="-1" strike="noStrike">
              <a:solidFill>
                <a:srgbClr val="ffffff"/>
              </a:solidFill>
              <a:latin typeface="Arial"/>
            </a:endParaRPr>
          </a:p>
        </p:txBody>
      </p:sp>
      <p:sp>
        <p:nvSpPr>
          <p:cNvPr id="82" name="Text 20"/>
          <p:cNvSpPr/>
          <p:nvPr/>
        </p:nvSpPr>
        <p:spPr>
          <a:xfrm>
            <a:off x="1005840" y="5541120"/>
            <a:ext cx="10057680" cy="529560"/>
          </a:xfrm>
          <a:prstGeom prst="rect">
            <a:avLst/>
          </a:prstGeom>
          <a:solidFill>
            <a:srgbClr val="1f2937"/>
          </a:solidFill>
          <a:ln w="13970">
            <a:solidFill>
              <a:srgbClr val="2dd4bf"/>
            </a:solidFill>
            <a:round/>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100" spc="-1" strike="noStrike">
                <a:solidFill>
                  <a:srgbClr val="ffffff"/>
                </a:solidFill>
                <a:latin typeface="Aptos"/>
                <a:ea typeface="Aptos"/>
              </a:rPr>
              <a:t>Container boundary = protection boundary. Compute can scale, fail, or be killed without degrading MERLIN source-system performance.</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83" name="Shape 0"/>
          <p:cNvSpPr/>
          <p:nvPr/>
        </p:nvSpPr>
        <p:spPr>
          <a:xfrm>
            <a:off x="0" y="0"/>
            <a:ext cx="12191040" cy="127440"/>
          </a:xfrm>
          <a:prstGeom prst="rect">
            <a:avLst/>
          </a:prstGeom>
          <a:solidFill>
            <a:srgbClr val="2dd4bf"/>
          </a:solidFill>
          <a:ln w="12700">
            <a:solidFill>
              <a:srgbClr val="2dd4b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4" name="Text 1"/>
          <p:cNvSpPr/>
          <p:nvPr/>
        </p:nvSpPr>
        <p:spPr>
          <a:xfrm>
            <a:off x="502920" y="347400"/>
            <a:ext cx="43884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20" spc="-1" strike="noStrike">
                <a:solidFill>
                  <a:srgbClr val="2dd4bf"/>
                </a:solidFill>
                <a:latin typeface="Aptos"/>
                <a:ea typeface="Aptos"/>
              </a:rPr>
              <a:t>SYSTEM ARCHITECTURE SIMULATION</a:t>
            </a:r>
            <a:endParaRPr b="0" lang="en-US" sz="820" spc="-1" strike="noStrike">
              <a:solidFill>
                <a:srgbClr val="ffffff"/>
              </a:solidFill>
              <a:latin typeface="Arial"/>
            </a:endParaRPr>
          </a:p>
        </p:txBody>
      </p:sp>
      <p:sp>
        <p:nvSpPr>
          <p:cNvPr id="85" name="Text 2"/>
          <p:cNvSpPr/>
          <p:nvPr/>
        </p:nvSpPr>
        <p:spPr>
          <a:xfrm>
            <a:off x="502920" y="640080"/>
            <a:ext cx="10880640" cy="383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50" spc="-1" strike="noStrike">
                <a:solidFill>
                  <a:srgbClr val="ffffff"/>
                </a:solidFill>
                <a:latin typeface="Aptos Display"/>
                <a:ea typeface="Aptos Display"/>
              </a:rPr>
              <a:t>Nightly Batch &amp; Fail-Open Processing</a:t>
            </a:r>
            <a:endParaRPr b="0" lang="en-US" sz="2350" spc="-1" strike="noStrike">
              <a:solidFill>
                <a:srgbClr val="ffffff"/>
              </a:solidFill>
              <a:latin typeface="Arial"/>
            </a:endParaRPr>
          </a:p>
        </p:txBody>
      </p:sp>
      <p:sp>
        <p:nvSpPr>
          <p:cNvPr id="86" name="Text 3"/>
          <p:cNvSpPr/>
          <p:nvPr/>
        </p:nvSpPr>
        <p:spPr>
          <a:xfrm>
            <a:off x="511920" y="1078920"/>
            <a:ext cx="10880640" cy="236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pc="-1" strike="noStrike">
                <a:solidFill>
                  <a:srgbClr val="e5e7eb"/>
                </a:solidFill>
                <a:latin typeface="Aptos"/>
                <a:ea typeface="Aptos"/>
              </a:rPr>
              <a:t>Fail-open gates protect the 04:00 deadline.</a:t>
            </a:r>
            <a:endParaRPr b="0" lang="en-US" sz="1150" spc="-1" strike="noStrike">
              <a:solidFill>
                <a:srgbClr val="ffffff"/>
              </a:solidFill>
              <a:latin typeface="Arial"/>
            </a:endParaRPr>
          </a:p>
        </p:txBody>
      </p:sp>
      <p:sp>
        <p:nvSpPr>
          <p:cNvPr id="87" name="Text 4"/>
          <p:cNvSpPr/>
          <p:nvPr/>
        </p:nvSpPr>
        <p:spPr>
          <a:xfrm>
            <a:off x="502920" y="6656760"/>
            <a:ext cx="676584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80" spc="-1" strike="noStrike">
                <a:solidFill>
                  <a:srgbClr val="94a3b8"/>
                </a:solidFill>
                <a:latin typeface="Aptos"/>
                <a:ea typeface="Aptos"/>
              </a:rPr>
              <a:t>MERLIN 2026 AI Retrofit Sidecar Architecture</a:t>
            </a:r>
            <a:endParaRPr b="0" lang="en-US" sz="780" spc="-1" strike="noStrike">
              <a:solidFill>
                <a:srgbClr val="ffffff"/>
              </a:solidFill>
              <a:latin typeface="Arial"/>
            </a:endParaRPr>
          </a:p>
        </p:txBody>
      </p:sp>
      <p:sp>
        <p:nvSpPr>
          <p:cNvPr id="88" name="Text 5"/>
          <p:cNvSpPr/>
          <p:nvPr/>
        </p:nvSpPr>
        <p:spPr>
          <a:xfrm>
            <a:off x="11292840" y="6565320"/>
            <a:ext cx="410760" cy="218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850" spc="-1" strike="noStrike">
                <a:solidFill>
                  <a:srgbClr val="94a3b8"/>
                </a:solidFill>
                <a:latin typeface="Aptos"/>
                <a:ea typeface="Aptos"/>
              </a:rPr>
              <a:t>07</a:t>
            </a:r>
            <a:endParaRPr b="0" lang="en-US" sz="850" spc="-1" strike="noStrike">
              <a:solidFill>
                <a:srgbClr val="ffffff"/>
              </a:solidFill>
              <a:latin typeface="Arial"/>
            </a:endParaRPr>
          </a:p>
        </p:txBody>
      </p:sp>
      <p:sp>
        <p:nvSpPr>
          <p:cNvPr id="89" name="Shape 6"/>
          <p:cNvSpPr/>
          <p:nvPr/>
        </p:nvSpPr>
        <p:spPr>
          <a:xfrm>
            <a:off x="777240" y="2788920"/>
            <a:ext cx="10469880" cy="360"/>
          </a:xfrm>
          <a:prstGeom prst="line">
            <a:avLst/>
          </a:prstGeom>
          <a:ln w="31750">
            <a:solidFill>
              <a:srgbClr val="334155"/>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90" name="Shape 7"/>
          <p:cNvSpPr/>
          <p:nvPr/>
        </p:nvSpPr>
        <p:spPr>
          <a:xfrm>
            <a:off x="704160" y="2715840"/>
            <a:ext cx="145440" cy="145440"/>
          </a:xfrm>
          <a:prstGeom prst="ellipse">
            <a:avLst/>
          </a:prstGeom>
          <a:solidFill>
            <a:srgbClr val="2dd4bf"/>
          </a:solidFill>
          <a:ln w="12700">
            <a:solidFill>
              <a:srgbClr val="2dd4bf"/>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91" name="Text 8"/>
          <p:cNvSpPr/>
          <p:nvPr/>
        </p:nvSpPr>
        <p:spPr>
          <a:xfrm>
            <a:off x="475560" y="2121480"/>
            <a:ext cx="60264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70" spc="-1" strike="noStrike">
                <a:solidFill>
                  <a:srgbClr val="2dd4bf"/>
                </a:solidFill>
                <a:latin typeface="Aptos"/>
                <a:ea typeface="Aptos"/>
              </a:rPr>
              <a:t>22:00</a:t>
            </a:r>
            <a:endParaRPr b="0" lang="en-US" sz="870" spc="-1" strike="noStrike">
              <a:solidFill>
                <a:srgbClr val="ffffff"/>
              </a:solidFill>
              <a:latin typeface="Arial"/>
            </a:endParaRPr>
          </a:p>
        </p:txBody>
      </p:sp>
      <p:sp>
        <p:nvSpPr>
          <p:cNvPr id="92" name="Text 9"/>
          <p:cNvSpPr/>
          <p:nvPr/>
        </p:nvSpPr>
        <p:spPr>
          <a:xfrm>
            <a:off x="338400" y="2999160"/>
            <a:ext cx="876960" cy="493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839" spc="-1" strike="noStrike">
                <a:solidFill>
                  <a:srgbClr val="e5e7eb"/>
                </a:solidFill>
                <a:latin typeface="Aptos"/>
                <a:ea typeface="Aptos"/>
              </a:rPr>
              <a:t>Start batch</a:t>
            </a:r>
            <a:endParaRPr b="0" lang="en-US" sz="839" spc="-1" strike="noStrike">
              <a:solidFill>
                <a:srgbClr val="ffffff"/>
              </a:solidFill>
              <a:latin typeface="Arial"/>
            </a:endParaRPr>
          </a:p>
        </p:txBody>
      </p:sp>
      <p:sp>
        <p:nvSpPr>
          <p:cNvPr id="93" name="Shape 10"/>
          <p:cNvSpPr/>
          <p:nvPr/>
        </p:nvSpPr>
        <p:spPr>
          <a:xfrm>
            <a:off x="1984320" y="2715840"/>
            <a:ext cx="145440" cy="145440"/>
          </a:xfrm>
          <a:prstGeom prst="ellipse">
            <a:avLst/>
          </a:prstGeom>
          <a:solidFill>
            <a:srgbClr val="2dd4bf"/>
          </a:solidFill>
          <a:ln w="12700">
            <a:solidFill>
              <a:srgbClr val="2dd4bf"/>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94" name="Text 11"/>
          <p:cNvSpPr/>
          <p:nvPr/>
        </p:nvSpPr>
        <p:spPr>
          <a:xfrm>
            <a:off x="1755720" y="2121480"/>
            <a:ext cx="60264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70" spc="-1" strike="noStrike">
                <a:solidFill>
                  <a:srgbClr val="2dd4bf"/>
                </a:solidFill>
                <a:latin typeface="Aptos"/>
                <a:ea typeface="Aptos"/>
              </a:rPr>
              <a:t>22:20</a:t>
            </a:r>
            <a:endParaRPr b="0" lang="en-US" sz="870" spc="-1" strike="noStrike">
              <a:solidFill>
                <a:srgbClr val="ffffff"/>
              </a:solidFill>
              <a:latin typeface="Arial"/>
            </a:endParaRPr>
          </a:p>
        </p:txBody>
      </p:sp>
      <p:sp>
        <p:nvSpPr>
          <p:cNvPr id="95" name="Text 12"/>
          <p:cNvSpPr/>
          <p:nvPr/>
        </p:nvSpPr>
        <p:spPr>
          <a:xfrm>
            <a:off x="1618560" y="2999160"/>
            <a:ext cx="876960" cy="493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839" spc="-1" strike="noStrike">
                <a:solidFill>
                  <a:srgbClr val="e5e7eb"/>
                </a:solidFill>
                <a:latin typeface="Aptos"/>
                <a:ea typeface="Aptos"/>
              </a:rPr>
              <a:t>Validation done</a:t>
            </a:r>
            <a:endParaRPr b="0" lang="en-US" sz="839" spc="-1" strike="noStrike">
              <a:solidFill>
                <a:srgbClr val="ffffff"/>
              </a:solidFill>
              <a:latin typeface="Arial"/>
            </a:endParaRPr>
          </a:p>
        </p:txBody>
      </p:sp>
      <p:sp>
        <p:nvSpPr>
          <p:cNvPr id="96" name="Shape 13"/>
          <p:cNvSpPr/>
          <p:nvPr/>
        </p:nvSpPr>
        <p:spPr>
          <a:xfrm>
            <a:off x="3355920" y="2715840"/>
            <a:ext cx="145440" cy="145440"/>
          </a:xfrm>
          <a:prstGeom prst="ellipse">
            <a:avLst/>
          </a:prstGeom>
          <a:solidFill>
            <a:srgbClr val="2dd4bf"/>
          </a:solidFill>
          <a:ln w="12700">
            <a:solidFill>
              <a:srgbClr val="2dd4bf"/>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97" name="Text 14"/>
          <p:cNvSpPr/>
          <p:nvPr/>
        </p:nvSpPr>
        <p:spPr>
          <a:xfrm>
            <a:off x="3127320" y="2121480"/>
            <a:ext cx="60264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70" spc="-1" strike="noStrike">
                <a:solidFill>
                  <a:srgbClr val="2dd4bf"/>
                </a:solidFill>
                <a:latin typeface="Aptos"/>
                <a:ea typeface="Aptos"/>
              </a:rPr>
              <a:t>00:20</a:t>
            </a:r>
            <a:endParaRPr b="0" lang="en-US" sz="870" spc="-1" strike="noStrike">
              <a:solidFill>
                <a:srgbClr val="ffffff"/>
              </a:solidFill>
              <a:latin typeface="Arial"/>
            </a:endParaRPr>
          </a:p>
        </p:txBody>
      </p:sp>
      <p:sp>
        <p:nvSpPr>
          <p:cNvPr id="98" name="Text 15"/>
          <p:cNvSpPr/>
          <p:nvPr/>
        </p:nvSpPr>
        <p:spPr>
          <a:xfrm>
            <a:off x="2990160" y="2999160"/>
            <a:ext cx="876960" cy="493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839" spc="-1" strike="noStrike">
                <a:solidFill>
                  <a:srgbClr val="e5e7eb"/>
                </a:solidFill>
                <a:latin typeface="Aptos"/>
                <a:ea typeface="Aptos"/>
              </a:rPr>
              <a:t>Forecast done</a:t>
            </a:r>
            <a:endParaRPr b="0" lang="en-US" sz="839" spc="-1" strike="noStrike">
              <a:solidFill>
                <a:srgbClr val="ffffff"/>
              </a:solidFill>
              <a:latin typeface="Arial"/>
            </a:endParaRPr>
          </a:p>
        </p:txBody>
      </p:sp>
      <p:sp>
        <p:nvSpPr>
          <p:cNvPr id="99" name="Shape 16"/>
          <p:cNvSpPr/>
          <p:nvPr/>
        </p:nvSpPr>
        <p:spPr>
          <a:xfrm>
            <a:off x="4727520" y="2715840"/>
            <a:ext cx="145440" cy="145440"/>
          </a:xfrm>
          <a:prstGeom prst="ellipse">
            <a:avLst/>
          </a:prstGeom>
          <a:solidFill>
            <a:srgbClr val="2dd4bf"/>
          </a:solidFill>
          <a:ln w="12700">
            <a:solidFill>
              <a:srgbClr val="2dd4bf"/>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00" name="Text 17"/>
          <p:cNvSpPr/>
          <p:nvPr/>
        </p:nvSpPr>
        <p:spPr>
          <a:xfrm>
            <a:off x="4498920" y="2121480"/>
            <a:ext cx="60264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70" spc="-1" strike="noStrike">
                <a:solidFill>
                  <a:srgbClr val="2dd4bf"/>
                </a:solidFill>
                <a:latin typeface="Aptos"/>
                <a:ea typeface="Aptos"/>
              </a:rPr>
              <a:t>01:20</a:t>
            </a:r>
            <a:endParaRPr b="0" lang="en-US" sz="870" spc="-1" strike="noStrike">
              <a:solidFill>
                <a:srgbClr val="ffffff"/>
              </a:solidFill>
              <a:latin typeface="Arial"/>
            </a:endParaRPr>
          </a:p>
        </p:txBody>
      </p:sp>
      <p:sp>
        <p:nvSpPr>
          <p:cNvPr id="101" name="Text 18"/>
          <p:cNvSpPr/>
          <p:nvPr/>
        </p:nvSpPr>
        <p:spPr>
          <a:xfrm>
            <a:off x="4361760" y="2999160"/>
            <a:ext cx="876960" cy="493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839" spc="-1" strike="noStrike">
                <a:solidFill>
                  <a:srgbClr val="e5e7eb"/>
                </a:solidFill>
                <a:latin typeface="Aptos"/>
                <a:ea typeface="Aptos"/>
              </a:rPr>
              <a:t>Optimize done</a:t>
            </a:r>
            <a:endParaRPr b="0" lang="en-US" sz="839" spc="-1" strike="noStrike">
              <a:solidFill>
                <a:srgbClr val="ffffff"/>
              </a:solidFill>
              <a:latin typeface="Arial"/>
            </a:endParaRPr>
          </a:p>
        </p:txBody>
      </p:sp>
      <p:sp>
        <p:nvSpPr>
          <p:cNvPr id="102" name="Shape 19"/>
          <p:cNvSpPr/>
          <p:nvPr/>
        </p:nvSpPr>
        <p:spPr>
          <a:xfrm>
            <a:off x="5916240" y="2715840"/>
            <a:ext cx="145440" cy="145440"/>
          </a:xfrm>
          <a:prstGeom prst="ellipse">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03" name="Text 20"/>
          <p:cNvSpPr/>
          <p:nvPr/>
        </p:nvSpPr>
        <p:spPr>
          <a:xfrm>
            <a:off x="5687640" y="2121480"/>
            <a:ext cx="60264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70" spc="-1" strike="noStrike">
                <a:solidFill>
                  <a:srgbClr val="f59e0b"/>
                </a:solidFill>
                <a:latin typeface="Aptos"/>
                <a:ea typeface="Aptos"/>
              </a:rPr>
              <a:t>01:30</a:t>
            </a:r>
            <a:endParaRPr b="0" lang="en-US" sz="870" spc="-1" strike="noStrike">
              <a:solidFill>
                <a:srgbClr val="ffffff"/>
              </a:solidFill>
              <a:latin typeface="Arial"/>
            </a:endParaRPr>
          </a:p>
        </p:txBody>
      </p:sp>
      <p:sp>
        <p:nvSpPr>
          <p:cNvPr id="104" name="Text 21"/>
          <p:cNvSpPr/>
          <p:nvPr/>
        </p:nvSpPr>
        <p:spPr>
          <a:xfrm>
            <a:off x="5550480" y="2999160"/>
            <a:ext cx="876960" cy="493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839" spc="-1" strike="noStrike">
                <a:solidFill>
                  <a:srgbClr val="e5e7eb"/>
                </a:solidFill>
                <a:latin typeface="Aptos"/>
                <a:ea typeface="Aptos"/>
              </a:rPr>
              <a:t>Retry stop</a:t>
            </a:r>
            <a:endParaRPr b="0" lang="en-US" sz="839" spc="-1" strike="noStrike">
              <a:solidFill>
                <a:srgbClr val="ffffff"/>
              </a:solidFill>
              <a:latin typeface="Arial"/>
            </a:endParaRPr>
          </a:p>
        </p:txBody>
      </p:sp>
      <p:sp>
        <p:nvSpPr>
          <p:cNvPr id="105" name="Shape 22"/>
          <p:cNvSpPr/>
          <p:nvPr/>
        </p:nvSpPr>
        <p:spPr>
          <a:xfrm>
            <a:off x="7104960" y="2715840"/>
            <a:ext cx="145440" cy="145440"/>
          </a:xfrm>
          <a:prstGeom prst="ellipse">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06" name="Text 23"/>
          <p:cNvSpPr/>
          <p:nvPr/>
        </p:nvSpPr>
        <p:spPr>
          <a:xfrm>
            <a:off x="6876360" y="2121480"/>
            <a:ext cx="60264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70" spc="-1" strike="noStrike">
                <a:solidFill>
                  <a:srgbClr val="f59e0b"/>
                </a:solidFill>
                <a:latin typeface="Aptos"/>
                <a:ea typeface="Aptos"/>
              </a:rPr>
              <a:t>01:45</a:t>
            </a:r>
            <a:endParaRPr b="0" lang="en-US" sz="870" spc="-1" strike="noStrike">
              <a:solidFill>
                <a:srgbClr val="ffffff"/>
              </a:solidFill>
              <a:latin typeface="Arial"/>
            </a:endParaRPr>
          </a:p>
        </p:txBody>
      </p:sp>
      <p:sp>
        <p:nvSpPr>
          <p:cNvPr id="107" name="Text 24"/>
          <p:cNvSpPr/>
          <p:nvPr/>
        </p:nvSpPr>
        <p:spPr>
          <a:xfrm>
            <a:off x="6739200" y="2999160"/>
            <a:ext cx="876960" cy="493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839" spc="-1" strike="noStrike">
                <a:solidFill>
                  <a:srgbClr val="e5e7eb"/>
                </a:solidFill>
                <a:latin typeface="Aptos"/>
                <a:ea typeface="Aptos"/>
              </a:rPr>
              <a:t>Complete-set gate</a:t>
            </a:r>
            <a:endParaRPr b="0" lang="en-US" sz="839" spc="-1" strike="noStrike">
              <a:solidFill>
                <a:srgbClr val="ffffff"/>
              </a:solidFill>
              <a:latin typeface="Arial"/>
            </a:endParaRPr>
          </a:p>
        </p:txBody>
      </p:sp>
      <p:sp>
        <p:nvSpPr>
          <p:cNvPr id="108" name="Shape 25"/>
          <p:cNvSpPr/>
          <p:nvPr/>
        </p:nvSpPr>
        <p:spPr>
          <a:xfrm>
            <a:off x="8266320" y="2715840"/>
            <a:ext cx="145440" cy="145440"/>
          </a:xfrm>
          <a:prstGeom prst="ellipse">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09" name="Text 26"/>
          <p:cNvSpPr/>
          <p:nvPr/>
        </p:nvSpPr>
        <p:spPr>
          <a:xfrm>
            <a:off x="8037720" y="2121480"/>
            <a:ext cx="60264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70" spc="-1" strike="noStrike">
                <a:solidFill>
                  <a:srgbClr val="f59e0b"/>
                </a:solidFill>
                <a:latin typeface="Aptos"/>
                <a:ea typeface="Aptos"/>
              </a:rPr>
              <a:t>02:00</a:t>
            </a:r>
            <a:endParaRPr b="0" lang="en-US" sz="870" spc="-1" strike="noStrike">
              <a:solidFill>
                <a:srgbClr val="ffffff"/>
              </a:solidFill>
              <a:latin typeface="Arial"/>
            </a:endParaRPr>
          </a:p>
        </p:txBody>
      </p:sp>
      <p:sp>
        <p:nvSpPr>
          <p:cNvPr id="110" name="Text 27"/>
          <p:cNvSpPr/>
          <p:nvPr/>
        </p:nvSpPr>
        <p:spPr>
          <a:xfrm>
            <a:off x="7900560" y="2999160"/>
            <a:ext cx="876960" cy="493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839" spc="-1" strike="noStrike">
                <a:solidFill>
                  <a:srgbClr val="e5e7eb"/>
                </a:solidFill>
                <a:latin typeface="Aptos"/>
                <a:ea typeface="Aptos"/>
              </a:rPr>
              <a:t>AI write close</a:t>
            </a:r>
            <a:endParaRPr b="0" lang="en-US" sz="839" spc="-1" strike="noStrike">
              <a:solidFill>
                <a:srgbClr val="ffffff"/>
              </a:solidFill>
              <a:latin typeface="Arial"/>
            </a:endParaRPr>
          </a:p>
        </p:txBody>
      </p:sp>
      <p:sp>
        <p:nvSpPr>
          <p:cNvPr id="111" name="Shape 28"/>
          <p:cNvSpPr/>
          <p:nvPr/>
        </p:nvSpPr>
        <p:spPr>
          <a:xfrm>
            <a:off x="10899720" y="2715840"/>
            <a:ext cx="145440" cy="145440"/>
          </a:xfrm>
          <a:prstGeom prst="ellipse">
            <a:avLst/>
          </a:prstGeom>
          <a:solidFill>
            <a:srgbClr val="f87171"/>
          </a:solidFill>
          <a:ln w="12700">
            <a:solidFill>
              <a:srgbClr val="f87171"/>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2" name="Text 29"/>
          <p:cNvSpPr/>
          <p:nvPr/>
        </p:nvSpPr>
        <p:spPr>
          <a:xfrm>
            <a:off x="10671120" y="2121480"/>
            <a:ext cx="60264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70" spc="-1" strike="noStrike">
                <a:solidFill>
                  <a:srgbClr val="f87171"/>
                </a:solidFill>
                <a:latin typeface="Aptos"/>
                <a:ea typeface="Aptos"/>
              </a:rPr>
              <a:t>04:00</a:t>
            </a:r>
            <a:endParaRPr b="0" lang="en-US" sz="870" spc="-1" strike="noStrike">
              <a:solidFill>
                <a:srgbClr val="ffffff"/>
              </a:solidFill>
              <a:latin typeface="Arial"/>
            </a:endParaRPr>
          </a:p>
        </p:txBody>
      </p:sp>
      <p:sp>
        <p:nvSpPr>
          <p:cNvPr id="113" name="Text 30"/>
          <p:cNvSpPr/>
          <p:nvPr/>
        </p:nvSpPr>
        <p:spPr>
          <a:xfrm>
            <a:off x="10533960" y="2999160"/>
            <a:ext cx="876960" cy="493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839" spc="-1" strike="noStrike">
                <a:solidFill>
                  <a:srgbClr val="e5e7eb"/>
                </a:solidFill>
                <a:latin typeface="Aptos"/>
                <a:ea typeface="Aptos"/>
              </a:rPr>
              <a:t>EDI deadline</a:t>
            </a:r>
            <a:endParaRPr b="0" lang="en-US" sz="839" spc="-1" strike="noStrike">
              <a:solidFill>
                <a:srgbClr val="ffffff"/>
              </a:solidFill>
              <a:latin typeface="Arial"/>
            </a:endParaRPr>
          </a:p>
        </p:txBody>
      </p:sp>
      <p:sp>
        <p:nvSpPr>
          <p:cNvPr id="114" name="Text 31"/>
          <p:cNvSpPr/>
          <p:nvPr/>
        </p:nvSpPr>
        <p:spPr>
          <a:xfrm>
            <a:off x="777240" y="4160520"/>
            <a:ext cx="3245400" cy="867960"/>
          </a:xfrm>
          <a:prstGeom prst="rect">
            <a:avLst/>
          </a:prstGeom>
          <a:solidFill>
            <a:srgbClr val="101827">
              <a:alpha val="98000"/>
            </a:srgbClr>
          </a:solidFill>
          <a:ln w="15240">
            <a:solidFill>
              <a:srgbClr val="f59e0b">
                <a:alpha val="80000"/>
              </a:srgbClr>
            </a:solidFill>
            <a:round/>
          </a:ln>
        </p:spPr>
        <p:style>
          <a:lnRef idx="0"/>
          <a:fillRef idx="0"/>
          <a:effectRef idx="0"/>
          <a:fontRef idx="minor"/>
        </p:style>
        <p:txBody>
          <a:bodyPr lIns="1440" rIns="1440" tIns="1440" bIns="1440" anchor="t">
            <a:normAutofit/>
          </a:bodyPr>
          <a:p>
            <a:pPr>
              <a:lnSpc>
                <a:spcPct val="100000"/>
              </a:lnSpc>
            </a:pPr>
            <a:r>
              <a:rPr b="1" lang="en-US" sz="1150" spc="-1" strike="noStrike">
                <a:solidFill>
                  <a:srgbClr val="ffffff"/>
                </a:solidFill>
                <a:latin typeface="Aptos"/>
                <a:ea typeface="Aptos"/>
              </a:rPr>
              <a:t>01:30 — retry stop</a:t>
            </a:r>
            <a:endParaRPr b="0" lang="en-US" sz="1150" spc="-1" strike="noStrike">
              <a:solidFill>
                <a:srgbClr val="ffffff"/>
              </a:solidFill>
              <a:latin typeface="Arial"/>
            </a:endParaRPr>
          </a:p>
          <a:p>
            <a:pPr defTabSz="914400">
              <a:lnSpc>
                <a:spcPct val="100000"/>
              </a:lnSpc>
              <a:tabLst>
                <a:tab algn="l" pos="0"/>
              </a:tabLst>
            </a:pPr>
            <a:r>
              <a:rPr b="0" lang="en-US" sz="1150" spc="-1" strike="noStrike">
                <a:solidFill>
                  <a:srgbClr val="e5e7eb"/>
                </a:solidFill>
                <a:latin typeface="Aptos"/>
                <a:ea typeface="Aptos"/>
              </a:rPr>
              <a:t>No new retry starts. Avoid recovery storms inside the deadline window.</a:t>
            </a:r>
            <a:endParaRPr b="0" lang="en-US" sz="1150" spc="-1" strike="noStrike">
              <a:solidFill>
                <a:srgbClr val="ffffff"/>
              </a:solidFill>
              <a:latin typeface="Arial"/>
            </a:endParaRPr>
          </a:p>
        </p:txBody>
      </p:sp>
      <p:sp>
        <p:nvSpPr>
          <p:cNvPr id="115" name="Text 32"/>
          <p:cNvSpPr/>
          <p:nvPr/>
        </p:nvSpPr>
        <p:spPr>
          <a:xfrm>
            <a:off x="4480560" y="4160520"/>
            <a:ext cx="3245400" cy="867960"/>
          </a:xfrm>
          <a:prstGeom prst="rect">
            <a:avLst/>
          </a:prstGeom>
          <a:solidFill>
            <a:srgbClr val="101827">
              <a:alpha val="98000"/>
            </a:srgbClr>
          </a:solidFill>
          <a:ln w="15240">
            <a:solidFill>
              <a:srgbClr val="f59e0b">
                <a:alpha val="80000"/>
              </a:srgbClr>
            </a:solidFill>
            <a:round/>
          </a:ln>
        </p:spPr>
        <p:style>
          <a:lnRef idx="0"/>
          <a:fillRef idx="0"/>
          <a:effectRef idx="0"/>
          <a:fontRef idx="minor"/>
        </p:style>
        <p:txBody>
          <a:bodyPr lIns="1440" rIns="1440" tIns="1440" bIns="1440" anchor="t">
            <a:normAutofit/>
          </a:bodyPr>
          <a:p>
            <a:pPr>
              <a:lnSpc>
                <a:spcPct val="100000"/>
              </a:lnSpc>
            </a:pPr>
            <a:r>
              <a:rPr b="1" lang="en-US" sz="1150" spc="-1" strike="noStrike">
                <a:solidFill>
                  <a:srgbClr val="ffffff"/>
                </a:solidFill>
                <a:latin typeface="Aptos"/>
                <a:ea typeface="Aptos"/>
              </a:rPr>
              <a:t>01:45 — complete-set gate</a:t>
            </a:r>
            <a:endParaRPr b="0" lang="en-US" sz="1150" spc="-1" strike="noStrike">
              <a:solidFill>
                <a:srgbClr val="ffffff"/>
              </a:solidFill>
              <a:latin typeface="Arial"/>
            </a:endParaRPr>
          </a:p>
          <a:p>
            <a:pPr defTabSz="914400">
              <a:lnSpc>
                <a:spcPct val="100000"/>
              </a:lnSpc>
              <a:tabLst>
                <a:tab algn="l" pos="0"/>
              </a:tabLst>
            </a:pPr>
            <a:r>
              <a:rPr b="0" lang="en-US" sz="1150" spc="-1" strike="noStrike">
                <a:solidFill>
                  <a:srgbClr val="e5e7eb"/>
                </a:solidFill>
                <a:latin typeface="Aptos"/>
                <a:ea typeface="Aptos"/>
              </a:rPr>
              <a:t>Missing partition means publish nothing for that run.</a:t>
            </a:r>
            <a:endParaRPr b="0" lang="en-US" sz="1150" spc="-1" strike="noStrike">
              <a:solidFill>
                <a:srgbClr val="ffffff"/>
              </a:solidFill>
              <a:latin typeface="Arial"/>
            </a:endParaRPr>
          </a:p>
        </p:txBody>
      </p:sp>
      <p:sp>
        <p:nvSpPr>
          <p:cNvPr id="116" name="Text 33"/>
          <p:cNvSpPr/>
          <p:nvPr/>
        </p:nvSpPr>
        <p:spPr>
          <a:xfrm>
            <a:off x="8183880" y="4160520"/>
            <a:ext cx="3245400" cy="867960"/>
          </a:xfrm>
          <a:prstGeom prst="rect">
            <a:avLst/>
          </a:prstGeom>
          <a:solidFill>
            <a:srgbClr val="101827">
              <a:alpha val="98000"/>
            </a:srgbClr>
          </a:solidFill>
          <a:ln w="15240">
            <a:solidFill>
              <a:srgbClr val="f87171">
                <a:alpha val="80000"/>
              </a:srgbClr>
            </a:solidFill>
            <a:round/>
          </a:ln>
        </p:spPr>
        <p:style>
          <a:lnRef idx="0"/>
          <a:fillRef idx="0"/>
          <a:effectRef idx="0"/>
          <a:fontRef idx="minor"/>
        </p:style>
        <p:txBody>
          <a:bodyPr lIns="1440" rIns="1440" tIns="1440" bIns="1440" anchor="t">
            <a:normAutofit/>
          </a:bodyPr>
          <a:p>
            <a:pPr>
              <a:lnSpc>
                <a:spcPct val="100000"/>
              </a:lnSpc>
            </a:pPr>
            <a:r>
              <a:rPr b="1" lang="en-US" sz="1150" spc="-1" strike="noStrike">
                <a:solidFill>
                  <a:srgbClr val="ffffff"/>
                </a:solidFill>
                <a:latin typeface="Aptos"/>
                <a:ea typeface="Aptos"/>
              </a:rPr>
              <a:t>02:00 — absolute write close</a:t>
            </a:r>
            <a:endParaRPr b="0" lang="en-US" sz="1150" spc="-1" strike="noStrike">
              <a:solidFill>
                <a:srgbClr val="ffffff"/>
              </a:solidFill>
              <a:latin typeface="Arial"/>
            </a:endParaRPr>
          </a:p>
          <a:p>
            <a:pPr defTabSz="914400">
              <a:lnSpc>
                <a:spcPct val="100000"/>
              </a:lnSpc>
              <a:tabLst>
                <a:tab algn="l" pos="0"/>
              </a:tabLst>
            </a:pPr>
            <a:r>
              <a:rPr b="0" lang="en-US" sz="1150" spc="-1" strike="noStrike">
                <a:solidFill>
                  <a:srgbClr val="e5e7eb"/>
                </a:solidFill>
                <a:latin typeface="Aptos"/>
                <a:ea typeface="Aptos"/>
              </a:rPr>
              <a:t>No late publication and no emergency rerun after the safety gate.</a:t>
            </a:r>
            <a:endParaRPr b="0" lang="en-US" sz="1150" spc="-1" strike="noStrike">
              <a:solidFill>
                <a:srgbClr val="ffffff"/>
              </a:solidFill>
              <a:latin typeface="Arial"/>
            </a:endParaRPr>
          </a:p>
        </p:txBody>
      </p:sp>
      <p:sp>
        <p:nvSpPr>
          <p:cNvPr id="117" name="Text 34"/>
          <p:cNvSpPr/>
          <p:nvPr/>
        </p:nvSpPr>
        <p:spPr>
          <a:xfrm>
            <a:off x="932760" y="5687640"/>
            <a:ext cx="10286280" cy="511200"/>
          </a:xfrm>
          <a:prstGeom prst="rect">
            <a:avLst/>
          </a:prstGeom>
          <a:solidFill>
            <a:srgbClr val="1f2937"/>
          </a:solidFill>
          <a:ln w="13970">
            <a:solidFill>
              <a:srgbClr val="2dd4bf"/>
            </a:solidFill>
            <a:round/>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100" spc="-1" strike="noStrike">
                <a:solidFill>
                  <a:srgbClr val="ffffff"/>
                </a:solidFill>
                <a:latin typeface="Aptos"/>
                <a:ea typeface="Aptos"/>
              </a:rPr>
              <a:t>Gate condition: 02:00 is valid only if measured MERLIN P99 order generation ≤ 90 minutes; otherwise the AI close gate moves earlier.</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118" name="Shape 0"/>
          <p:cNvSpPr/>
          <p:nvPr/>
        </p:nvSpPr>
        <p:spPr>
          <a:xfrm>
            <a:off x="0" y="0"/>
            <a:ext cx="12191040" cy="127440"/>
          </a:xfrm>
          <a:prstGeom prst="rect">
            <a:avLst/>
          </a:prstGeom>
          <a:solidFill>
            <a:srgbClr val="2dd4bf"/>
          </a:solidFill>
          <a:ln w="12700">
            <a:solidFill>
              <a:srgbClr val="2dd4b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19" name="Text 1"/>
          <p:cNvSpPr/>
          <p:nvPr/>
        </p:nvSpPr>
        <p:spPr>
          <a:xfrm>
            <a:off x="502920" y="347400"/>
            <a:ext cx="43884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20" spc="-1" strike="noStrike">
                <a:solidFill>
                  <a:srgbClr val="2dd4bf"/>
                </a:solidFill>
                <a:latin typeface="Aptos"/>
                <a:ea typeface="Aptos"/>
              </a:rPr>
              <a:t>AI RETROFIT STRATEGY</a:t>
            </a:r>
            <a:endParaRPr b="0" lang="en-US" sz="820" spc="-1" strike="noStrike">
              <a:solidFill>
                <a:srgbClr val="ffffff"/>
              </a:solidFill>
              <a:latin typeface="Arial"/>
            </a:endParaRPr>
          </a:p>
        </p:txBody>
      </p:sp>
      <p:sp>
        <p:nvSpPr>
          <p:cNvPr id="120" name="Text 2"/>
          <p:cNvSpPr/>
          <p:nvPr/>
        </p:nvSpPr>
        <p:spPr>
          <a:xfrm>
            <a:off x="502920" y="640080"/>
            <a:ext cx="10880640" cy="383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50" spc="-1" strike="noStrike">
                <a:solidFill>
                  <a:srgbClr val="ffffff"/>
                </a:solidFill>
                <a:latin typeface="Aptos Display"/>
                <a:ea typeface="Aptos Display"/>
              </a:rPr>
              <a:t>NFR Targets &amp; Business Goals</a:t>
            </a:r>
            <a:endParaRPr b="0" lang="en-US" sz="2350" spc="-1" strike="noStrike">
              <a:solidFill>
                <a:srgbClr val="ffffff"/>
              </a:solidFill>
              <a:latin typeface="Arial"/>
            </a:endParaRPr>
          </a:p>
        </p:txBody>
      </p:sp>
      <p:sp>
        <p:nvSpPr>
          <p:cNvPr id="121" name="Text 3"/>
          <p:cNvSpPr/>
          <p:nvPr/>
        </p:nvSpPr>
        <p:spPr>
          <a:xfrm>
            <a:off x="511920" y="1078920"/>
            <a:ext cx="10880640" cy="236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pc="-1" strike="noStrike">
                <a:solidFill>
                  <a:srgbClr val="e5e7eb"/>
                </a:solidFill>
                <a:latin typeface="Aptos"/>
                <a:ea typeface="Aptos"/>
              </a:rPr>
              <a:t>NFRs convert architecture into evidence.</a:t>
            </a:r>
            <a:endParaRPr b="0" lang="en-US" sz="1150" spc="-1" strike="noStrike">
              <a:solidFill>
                <a:srgbClr val="ffffff"/>
              </a:solidFill>
              <a:latin typeface="Arial"/>
            </a:endParaRPr>
          </a:p>
        </p:txBody>
      </p:sp>
      <p:sp>
        <p:nvSpPr>
          <p:cNvPr id="122" name="Text 4"/>
          <p:cNvSpPr/>
          <p:nvPr/>
        </p:nvSpPr>
        <p:spPr>
          <a:xfrm>
            <a:off x="502920" y="6656760"/>
            <a:ext cx="676584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80" spc="-1" strike="noStrike">
                <a:solidFill>
                  <a:srgbClr val="94a3b8"/>
                </a:solidFill>
                <a:latin typeface="Aptos"/>
                <a:ea typeface="Aptos"/>
              </a:rPr>
              <a:t>MERLIN 2026 AI Retrofit Sidecar Architecture</a:t>
            </a:r>
            <a:endParaRPr b="0" lang="en-US" sz="780" spc="-1" strike="noStrike">
              <a:solidFill>
                <a:srgbClr val="ffffff"/>
              </a:solidFill>
              <a:latin typeface="Arial"/>
            </a:endParaRPr>
          </a:p>
        </p:txBody>
      </p:sp>
      <p:sp>
        <p:nvSpPr>
          <p:cNvPr id="123" name="Text 5"/>
          <p:cNvSpPr/>
          <p:nvPr/>
        </p:nvSpPr>
        <p:spPr>
          <a:xfrm>
            <a:off x="11292840" y="6565320"/>
            <a:ext cx="410760" cy="218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850" spc="-1" strike="noStrike">
                <a:solidFill>
                  <a:srgbClr val="94a3b8"/>
                </a:solidFill>
                <a:latin typeface="Aptos"/>
                <a:ea typeface="Aptos"/>
              </a:rPr>
              <a:t>08</a:t>
            </a:r>
            <a:endParaRPr b="0" lang="en-US" sz="850" spc="-1" strike="noStrike">
              <a:solidFill>
                <a:srgbClr val="ffffff"/>
              </a:solidFill>
              <a:latin typeface="Arial"/>
            </a:endParaRPr>
          </a:p>
        </p:txBody>
      </p:sp>
      <p:sp>
        <p:nvSpPr>
          <p:cNvPr id="124" name="Text 6"/>
          <p:cNvSpPr/>
          <p:nvPr/>
        </p:nvSpPr>
        <p:spPr>
          <a:xfrm>
            <a:off x="640080" y="1417320"/>
            <a:ext cx="2422440" cy="1078200"/>
          </a:xfrm>
          <a:prstGeom prst="rect">
            <a:avLst/>
          </a:prstGeom>
          <a:solidFill>
            <a:srgbClr val="101827">
              <a:alpha val="98000"/>
            </a:srgbClr>
          </a:solidFill>
          <a:ln w="15240">
            <a:solidFill>
              <a:srgbClr val="2dd4bf">
                <a:alpha val="80000"/>
              </a:srgbClr>
            </a:solidFill>
            <a:round/>
          </a:ln>
        </p:spPr>
        <p:style>
          <a:lnRef idx="0"/>
          <a:fillRef idx="0"/>
          <a:effectRef idx="0"/>
          <a:fontRef idx="minor"/>
        </p:style>
        <p:txBody>
          <a:bodyPr lIns="1440" rIns="1440" tIns="1440" bIns="1440" anchor="t">
            <a:normAutofit/>
          </a:bodyPr>
          <a:p>
            <a:pPr>
              <a:lnSpc>
                <a:spcPct val="100000"/>
              </a:lnSpc>
            </a:pPr>
            <a:r>
              <a:rPr b="1" lang="en-US" sz="1300" spc="-1" strike="noStrike">
                <a:solidFill>
                  <a:srgbClr val="ffffff"/>
                </a:solidFill>
                <a:latin typeface="Aptos"/>
                <a:ea typeface="Aptos"/>
              </a:rPr>
              <a:t>27M</a:t>
            </a: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5e7eb"/>
                </a:solidFill>
                <a:latin typeface="Aptos"/>
                <a:ea typeface="Aptos"/>
              </a:rPr>
              <a:t>forecasts / night</a:t>
            </a:r>
            <a:endParaRPr b="0" lang="en-US" sz="1300" spc="-1" strike="noStrike">
              <a:solidFill>
                <a:srgbClr val="ffffff"/>
              </a:solidFill>
              <a:latin typeface="Arial"/>
            </a:endParaRPr>
          </a:p>
        </p:txBody>
      </p:sp>
      <p:sp>
        <p:nvSpPr>
          <p:cNvPr id="125" name="Text 7"/>
          <p:cNvSpPr/>
          <p:nvPr/>
        </p:nvSpPr>
        <p:spPr>
          <a:xfrm>
            <a:off x="3520440" y="1417320"/>
            <a:ext cx="2422440" cy="1078200"/>
          </a:xfrm>
          <a:prstGeom prst="rect">
            <a:avLst/>
          </a:prstGeom>
          <a:solidFill>
            <a:srgbClr val="101827">
              <a:alpha val="98000"/>
            </a:srgbClr>
          </a:solidFill>
          <a:ln w="15240">
            <a:solidFill>
              <a:srgbClr val="38bdf8">
                <a:alpha val="80000"/>
              </a:srgbClr>
            </a:solidFill>
            <a:round/>
          </a:ln>
        </p:spPr>
        <p:style>
          <a:lnRef idx="0"/>
          <a:fillRef idx="0"/>
          <a:effectRef idx="0"/>
          <a:fontRef idx="minor"/>
        </p:style>
        <p:txBody>
          <a:bodyPr lIns="1440" rIns="1440" tIns="1440" bIns="1440" anchor="t">
            <a:normAutofit/>
          </a:bodyPr>
          <a:p>
            <a:pPr>
              <a:lnSpc>
                <a:spcPct val="100000"/>
              </a:lnSpc>
            </a:pPr>
            <a:r>
              <a:rPr b="1" lang="en-US" sz="1300" spc="-1" strike="noStrike">
                <a:solidFill>
                  <a:srgbClr val="ffffff"/>
                </a:solidFill>
                <a:latin typeface="Aptos"/>
                <a:ea typeface="Aptos"/>
              </a:rPr>
              <a:t>7.04M</a:t>
            </a: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5e7eb"/>
                </a:solidFill>
                <a:latin typeface="Aptos"/>
                <a:ea typeface="Aptos"/>
              </a:rPr>
              <a:t>optimized candidates</a:t>
            </a:r>
            <a:endParaRPr b="0" lang="en-US" sz="1300" spc="-1" strike="noStrike">
              <a:solidFill>
                <a:srgbClr val="ffffff"/>
              </a:solidFill>
              <a:latin typeface="Arial"/>
            </a:endParaRPr>
          </a:p>
        </p:txBody>
      </p:sp>
      <p:sp>
        <p:nvSpPr>
          <p:cNvPr id="126" name="Text 8"/>
          <p:cNvSpPr/>
          <p:nvPr/>
        </p:nvSpPr>
        <p:spPr>
          <a:xfrm>
            <a:off x="6400800" y="1417320"/>
            <a:ext cx="2422440" cy="1078200"/>
          </a:xfrm>
          <a:prstGeom prst="rect">
            <a:avLst/>
          </a:prstGeom>
          <a:solidFill>
            <a:srgbClr val="101827">
              <a:alpha val="98000"/>
            </a:srgbClr>
          </a:solidFill>
          <a:ln w="15240">
            <a:solidFill>
              <a:srgbClr val="f59e0b">
                <a:alpha val="80000"/>
              </a:srgbClr>
            </a:solidFill>
            <a:round/>
          </a:ln>
        </p:spPr>
        <p:style>
          <a:lnRef idx="0"/>
          <a:fillRef idx="0"/>
          <a:effectRef idx="0"/>
          <a:fontRef idx="minor"/>
        </p:style>
        <p:txBody>
          <a:bodyPr lIns="1440" rIns="1440" tIns="1440" bIns="1440" anchor="t">
            <a:normAutofit/>
          </a:bodyPr>
          <a:p>
            <a:pPr>
              <a:lnSpc>
                <a:spcPct val="100000"/>
              </a:lnSpc>
            </a:pPr>
            <a:r>
              <a:rPr b="1" lang="en-US" sz="1300" spc="-1" strike="noStrike">
                <a:solidFill>
                  <a:srgbClr val="ffffff"/>
                </a:solidFill>
                <a:latin typeface="Aptos"/>
                <a:ea typeface="Aptos"/>
              </a:rPr>
              <a:t>6× peak</a:t>
            </a: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5e7eb"/>
                </a:solidFill>
                <a:latin typeface="Aptos"/>
                <a:ea typeface="Aptos"/>
              </a:rPr>
              <a:t>162M forecasts</a:t>
            </a: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5e7eb"/>
                </a:solidFill>
                <a:latin typeface="Aptos"/>
                <a:ea typeface="Aptos"/>
              </a:rPr>
              <a:t>42.24M optimization</a:t>
            </a:r>
            <a:endParaRPr b="0" lang="en-US" sz="1300" spc="-1" strike="noStrike">
              <a:solidFill>
                <a:srgbClr val="ffffff"/>
              </a:solidFill>
              <a:latin typeface="Arial"/>
            </a:endParaRPr>
          </a:p>
        </p:txBody>
      </p:sp>
      <p:sp>
        <p:nvSpPr>
          <p:cNvPr id="127" name="Text 9"/>
          <p:cNvSpPr/>
          <p:nvPr/>
        </p:nvSpPr>
        <p:spPr>
          <a:xfrm>
            <a:off x="9281160" y="1417320"/>
            <a:ext cx="2422440" cy="1078200"/>
          </a:xfrm>
          <a:prstGeom prst="rect">
            <a:avLst/>
          </a:prstGeom>
          <a:solidFill>
            <a:srgbClr val="101827">
              <a:alpha val="98000"/>
            </a:srgbClr>
          </a:solidFill>
          <a:ln w="15240">
            <a:solidFill>
              <a:srgbClr val="22c55e">
                <a:alpha val="80000"/>
              </a:srgbClr>
            </a:solidFill>
            <a:round/>
          </a:ln>
        </p:spPr>
        <p:style>
          <a:lnRef idx="0"/>
          <a:fillRef idx="0"/>
          <a:effectRef idx="0"/>
          <a:fontRef idx="minor"/>
        </p:style>
        <p:txBody>
          <a:bodyPr lIns="1440" rIns="1440" tIns="1440" bIns="1440" anchor="t">
            <a:normAutofit/>
          </a:bodyPr>
          <a:p>
            <a:pPr>
              <a:lnSpc>
                <a:spcPct val="100000"/>
              </a:lnSpc>
            </a:pPr>
            <a:r>
              <a:rPr b="1" lang="en-US" sz="1300" spc="-1" strike="noStrike">
                <a:solidFill>
                  <a:srgbClr val="ffffff"/>
                </a:solidFill>
                <a:latin typeface="Aptos"/>
                <a:ea typeface="Aptos"/>
              </a:rPr>
              <a:t>198.7 min</a:t>
            </a: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5e7eb"/>
                </a:solidFill>
                <a:latin typeface="Aptos"/>
                <a:ea typeface="Aptos"/>
              </a:rPr>
              <a:t>target runtime</a:t>
            </a: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e5e7eb"/>
                </a:solidFill>
                <a:latin typeface="Aptos"/>
                <a:ea typeface="Aptos"/>
              </a:rPr>
              <a:t>inside 240 min</a:t>
            </a:r>
            <a:endParaRPr b="0" lang="en-US" sz="1300" spc="-1" strike="noStrike">
              <a:solidFill>
                <a:srgbClr val="ffffff"/>
              </a:solidFill>
              <a:latin typeface="Arial"/>
            </a:endParaRPr>
          </a:p>
        </p:txBody>
      </p:sp>
      <p:sp>
        <p:nvSpPr>
          <p:cNvPr id="128" name="Text 10"/>
          <p:cNvSpPr/>
          <p:nvPr/>
        </p:nvSpPr>
        <p:spPr>
          <a:xfrm>
            <a:off x="658440" y="3063240"/>
            <a:ext cx="27424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ffffff"/>
                </a:solidFill>
                <a:latin typeface="Aptos Display"/>
                <a:ea typeface="Aptos Display"/>
              </a:rPr>
              <a:t>Business targets</a:t>
            </a:r>
            <a:endParaRPr b="0" lang="en-US" sz="1700" spc="-1" strike="noStrike">
              <a:solidFill>
                <a:srgbClr val="ffffff"/>
              </a:solidFill>
              <a:latin typeface="Arial"/>
            </a:endParaRPr>
          </a:p>
        </p:txBody>
      </p:sp>
      <p:sp>
        <p:nvSpPr>
          <p:cNvPr id="129" name="Text 11"/>
          <p:cNvSpPr/>
          <p:nvPr/>
        </p:nvSpPr>
        <p:spPr>
          <a:xfrm>
            <a:off x="868680" y="3657600"/>
            <a:ext cx="2056680" cy="685080"/>
          </a:xfrm>
          <a:prstGeom prst="rect">
            <a:avLst/>
          </a:prstGeom>
          <a:solidFill>
            <a:srgbClr val="101827"/>
          </a:solidFill>
          <a:ln w="15240">
            <a:solidFill>
              <a:srgbClr val="2dd4bf"/>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200" spc="-1" strike="noStrike">
                <a:solidFill>
                  <a:srgbClr val="ffffff"/>
                </a:solidFill>
                <a:latin typeface="Aptos"/>
                <a:ea typeface="Aptos"/>
              </a:rPr>
              <a:t>Out-of-stock</a:t>
            </a:r>
            <a:endParaRPr b="0" lang="en-US" sz="1200" spc="-1" strike="noStrike">
              <a:solidFill>
                <a:srgbClr val="ffffff"/>
              </a:solidFill>
              <a:latin typeface="Arial"/>
            </a:endParaRPr>
          </a:p>
          <a:p>
            <a:pPr algn="ctr" defTabSz="914400">
              <a:lnSpc>
                <a:spcPct val="100000"/>
              </a:lnSpc>
              <a:tabLst>
                <a:tab algn="l" pos="0"/>
              </a:tabLst>
            </a:pPr>
            <a:r>
              <a:rPr b="1" lang="en-US" sz="1200" spc="-1" strike="noStrike">
                <a:solidFill>
                  <a:srgbClr val="ffffff"/>
                </a:solidFill>
                <a:latin typeface="Aptos"/>
                <a:ea typeface="Aptos"/>
              </a:rPr>
              <a:t>7.2% → 3%</a:t>
            </a:r>
            <a:endParaRPr b="0" lang="en-US" sz="1200" spc="-1" strike="noStrike">
              <a:solidFill>
                <a:srgbClr val="ffffff"/>
              </a:solidFill>
              <a:latin typeface="Arial"/>
            </a:endParaRPr>
          </a:p>
        </p:txBody>
      </p:sp>
      <p:sp>
        <p:nvSpPr>
          <p:cNvPr id="130" name="Text 12"/>
          <p:cNvSpPr/>
          <p:nvPr/>
        </p:nvSpPr>
        <p:spPr>
          <a:xfrm>
            <a:off x="3383280" y="3657600"/>
            <a:ext cx="2056680" cy="685080"/>
          </a:xfrm>
          <a:prstGeom prst="rect">
            <a:avLst/>
          </a:prstGeom>
          <a:solidFill>
            <a:srgbClr val="101827"/>
          </a:solidFill>
          <a:ln w="15240">
            <a:solidFill>
              <a:srgbClr val="22c55e"/>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200" spc="-1" strike="noStrike">
                <a:solidFill>
                  <a:srgbClr val="ffffff"/>
                </a:solidFill>
                <a:latin typeface="Aptos"/>
                <a:ea typeface="Aptos"/>
              </a:rPr>
              <a:t>Fresh waste</a:t>
            </a:r>
            <a:endParaRPr b="0" lang="en-US" sz="1200" spc="-1" strike="noStrike">
              <a:solidFill>
                <a:srgbClr val="ffffff"/>
              </a:solidFill>
              <a:latin typeface="Arial"/>
            </a:endParaRPr>
          </a:p>
          <a:p>
            <a:pPr algn="ctr" defTabSz="914400">
              <a:lnSpc>
                <a:spcPct val="100000"/>
              </a:lnSpc>
              <a:tabLst>
                <a:tab algn="l" pos="0"/>
              </a:tabLst>
            </a:pPr>
            <a:r>
              <a:rPr b="1" lang="en-US" sz="1200" spc="-1" strike="noStrike">
                <a:solidFill>
                  <a:srgbClr val="ffffff"/>
                </a:solidFill>
                <a:latin typeface="Aptos"/>
                <a:ea typeface="Aptos"/>
              </a:rPr>
              <a:t>4.8% → 3%</a:t>
            </a:r>
            <a:endParaRPr b="0" lang="en-US" sz="1200" spc="-1" strike="noStrike">
              <a:solidFill>
                <a:srgbClr val="ffffff"/>
              </a:solidFill>
              <a:latin typeface="Arial"/>
            </a:endParaRPr>
          </a:p>
        </p:txBody>
      </p:sp>
      <p:sp>
        <p:nvSpPr>
          <p:cNvPr id="131" name="Text 13"/>
          <p:cNvSpPr/>
          <p:nvPr/>
        </p:nvSpPr>
        <p:spPr>
          <a:xfrm>
            <a:off x="5897880" y="3657600"/>
            <a:ext cx="2056680" cy="685080"/>
          </a:xfrm>
          <a:prstGeom prst="rect">
            <a:avLst/>
          </a:prstGeom>
          <a:solidFill>
            <a:srgbClr val="101827"/>
          </a:solidFill>
          <a:ln w="15240">
            <a:solidFill>
              <a:srgbClr val="60a5f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200" spc="-1" strike="noStrike">
                <a:solidFill>
                  <a:srgbClr val="ffffff"/>
                </a:solidFill>
                <a:latin typeface="Aptos"/>
                <a:ea typeface="Aptos"/>
              </a:rPr>
              <a:t>Forecast WAPE</a:t>
            </a:r>
            <a:endParaRPr b="0" lang="en-US" sz="1200" spc="-1" strike="noStrike">
              <a:solidFill>
                <a:srgbClr val="ffffff"/>
              </a:solidFill>
              <a:latin typeface="Arial"/>
            </a:endParaRPr>
          </a:p>
          <a:p>
            <a:pPr algn="ctr" defTabSz="914400">
              <a:lnSpc>
                <a:spcPct val="100000"/>
              </a:lnSpc>
              <a:tabLst>
                <a:tab algn="l" pos="0"/>
              </a:tabLst>
            </a:pPr>
            <a:r>
              <a:rPr b="1" lang="en-US" sz="1200" spc="-1" strike="noStrike">
                <a:solidFill>
                  <a:srgbClr val="ffffff"/>
                </a:solidFill>
                <a:latin typeface="Aptos"/>
                <a:ea typeface="Aptos"/>
              </a:rPr>
              <a:t>41% → ≤25%</a:t>
            </a:r>
            <a:endParaRPr b="0" lang="en-US" sz="1200" spc="-1" strike="noStrike">
              <a:solidFill>
                <a:srgbClr val="ffffff"/>
              </a:solidFill>
              <a:latin typeface="Arial"/>
            </a:endParaRPr>
          </a:p>
        </p:txBody>
      </p:sp>
      <p:sp>
        <p:nvSpPr>
          <p:cNvPr id="132" name="Text 14"/>
          <p:cNvSpPr/>
          <p:nvPr/>
        </p:nvSpPr>
        <p:spPr>
          <a:xfrm>
            <a:off x="8183880" y="3429000"/>
            <a:ext cx="3245400" cy="1142280"/>
          </a:xfrm>
          <a:prstGeom prst="rect">
            <a:avLst/>
          </a:prstGeom>
          <a:solidFill>
            <a:srgbClr val="101827">
              <a:alpha val="98000"/>
            </a:srgbClr>
          </a:solidFill>
          <a:ln w="15240">
            <a:solidFill>
              <a:srgbClr val="f59e0b">
                <a:alpha val="80000"/>
              </a:srgbClr>
            </a:solidFill>
            <a:round/>
          </a:ln>
        </p:spPr>
        <p:style>
          <a:lnRef idx="0"/>
          <a:fillRef idx="0"/>
          <a:effectRef idx="0"/>
          <a:fontRef idx="minor"/>
        </p:style>
        <p:txBody>
          <a:bodyPr lIns="1440" rIns="1440" tIns="1440" bIns="1440" anchor="t">
            <a:normAutofit/>
          </a:bodyPr>
          <a:p>
            <a:pPr>
              <a:lnSpc>
                <a:spcPct val="100000"/>
              </a:lnSpc>
            </a:pPr>
            <a:r>
              <a:rPr b="1" lang="en-US" sz="1150" spc="-1" strike="noStrike">
                <a:solidFill>
                  <a:srgbClr val="ffffff"/>
                </a:solidFill>
                <a:latin typeface="Aptos"/>
                <a:ea typeface="Aptos"/>
              </a:rPr>
              <a:t>Inventory uncertainty</a:t>
            </a:r>
            <a:endParaRPr b="0" lang="en-US" sz="1150" spc="-1" strike="noStrike">
              <a:solidFill>
                <a:srgbClr val="ffffff"/>
              </a:solidFill>
              <a:latin typeface="Arial"/>
            </a:endParaRPr>
          </a:p>
          <a:p>
            <a:pPr defTabSz="914400">
              <a:lnSpc>
                <a:spcPct val="100000"/>
              </a:lnSpc>
              <a:tabLst>
                <a:tab algn="l" pos="0"/>
              </a:tabLst>
            </a:pPr>
            <a:r>
              <a:rPr b="0" lang="en-US" sz="1150" spc="-1" strike="noStrike">
                <a:solidFill>
                  <a:srgbClr val="e5e7eb"/>
                </a:solidFill>
                <a:latin typeface="Aptos"/>
                <a:ea typeface="Aptos"/>
              </a:rPr>
              <a:t>78% accuracy means inventory is an interval, not truth. Suppress recommendations when uncertainty is too high.</a:t>
            </a:r>
            <a:endParaRPr b="0" lang="en-US" sz="1150" spc="-1" strike="noStrike">
              <a:solidFill>
                <a:srgbClr val="ffffff"/>
              </a:solidFill>
              <a:latin typeface="Arial"/>
            </a:endParaRPr>
          </a:p>
        </p:txBody>
      </p:sp>
      <p:sp>
        <p:nvSpPr>
          <p:cNvPr id="133" name="Text 15"/>
          <p:cNvSpPr/>
          <p:nvPr/>
        </p:nvSpPr>
        <p:spPr>
          <a:xfrm>
            <a:off x="8183880" y="4846320"/>
            <a:ext cx="3245400" cy="959400"/>
          </a:xfrm>
          <a:prstGeom prst="rect">
            <a:avLst/>
          </a:prstGeom>
          <a:solidFill>
            <a:srgbClr val="101827">
              <a:alpha val="98000"/>
            </a:srgbClr>
          </a:solidFill>
          <a:ln w="15240">
            <a:solidFill>
              <a:srgbClr val="f87171">
                <a:alpha val="80000"/>
              </a:srgbClr>
            </a:solidFill>
            <a:round/>
          </a:ln>
        </p:spPr>
        <p:style>
          <a:lnRef idx="0"/>
          <a:fillRef idx="0"/>
          <a:effectRef idx="0"/>
          <a:fontRef idx="minor"/>
        </p:style>
        <p:txBody>
          <a:bodyPr lIns="1440" rIns="1440" tIns="1440" bIns="1440" anchor="t">
            <a:normAutofit/>
          </a:bodyPr>
          <a:p>
            <a:pPr>
              <a:lnSpc>
                <a:spcPct val="100000"/>
              </a:lnSpc>
            </a:pPr>
            <a:r>
              <a:rPr b="1" lang="en-US" sz="1150" spc="-1" strike="noStrike">
                <a:solidFill>
                  <a:srgbClr val="ffffff"/>
                </a:solidFill>
                <a:latin typeface="Aptos"/>
                <a:ea typeface="Aptos"/>
              </a:rPr>
              <a:t>Cost gate</a:t>
            </a:r>
            <a:endParaRPr b="0" lang="en-US" sz="1150" spc="-1" strike="noStrike">
              <a:solidFill>
                <a:srgbClr val="ffffff"/>
              </a:solidFill>
              <a:latin typeface="Arial"/>
            </a:endParaRPr>
          </a:p>
          <a:p>
            <a:pPr defTabSz="914400">
              <a:lnSpc>
                <a:spcPct val="100000"/>
              </a:lnSpc>
              <a:tabLst>
                <a:tab algn="l" pos="0"/>
              </a:tabLst>
            </a:pPr>
            <a:r>
              <a:rPr b="0" lang="en-US" sz="1150" spc="-1" strike="noStrike">
                <a:solidFill>
                  <a:srgbClr val="e5e7eb"/>
                </a:solidFill>
                <a:latin typeface="Aptos"/>
                <a:ea typeface="Aptos"/>
              </a:rPr>
              <a:t>Target ≈ $3.8M / year; hard ceiling $4M / year. Requires benchmark and production evidence.</a:t>
            </a:r>
            <a:endParaRPr b="0" lang="en-US" sz="1150" spc="-1" strike="noStrike">
              <a:solidFill>
                <a:srgbClr val="ffffff"/>
              </a:solidFill>
              <a:latin typeface="Arial"/>
            </a:endParaRPr>
          </a:p>
        </p:txBody>
      </p:sp>
      <p:sp>
        <p:nvSpPr>
          <p:cNvPr id="134" name="Text 16"/>
          <p:cNvSpPr/>
          <p:nvPr/>
        </p:nvSpPr>
        <p:spPr>
          <a:xfrm>
            <a:off x="960120" y="5815440"/>
            <a:ext cx="6720120" cy="383400"/>
          </a:xfrm>
          <a:prstGeom prst="rect">
            <a:avLst/>
          </a:prstGeom>
          <a:solidFill>
            <a:srgbClr val="1f2937"/>
          </a:solidFill>
          <a:ln w="13970">
            <a:solidFill>
              <a:srgbClr val="2dd4bf"/>
            </a:solidFill>
            <a:round/>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100" spc="-1" strike="noStrike">
                <a:solidFill>
                  <a:srgbClr val="ffffff"/>
                </a:solidFill>
                <a:latin typeface="Aptos"/>
                <a:ea typeface="Aptos"/>
              </a:rPr>
              <a:t>These are release gates and design targets — not claimed benchmark results.</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135" name="Shape 0"/>
          <p:cNvSpPr/>
          <p:nvPr/>
        </p:nvSpPr>
        <p:spPr>
          <a:xfrm>
            <a:off x="0" y="0"/>
            <a:ext cx="12191040" cy="127440"/>
          </a:xfrm>
          <a:prstGeom prst="rect">
            <a:avLst/>
          </a:prstGeom>
          <a:solidFill>
            <a:srgbClr val="2dd4bf"/>
          </a:solidFill>
          <a:ln w="12700">
            <a:solidFill>
              <a:srgbClr val="2dd4b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36" name="Text 1"/>
          <p:cNvSpPr/>
          <p:nvPr/>
        </p:nvSpPr>
        <p:spPr>
          <a:xfrm>
            <a:off x="502920" y="347400"/>
            <a:ext cx="43884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20" spc="-1" strike="noStrike">
                <a:solidFill>
                  <a:srgbClr val="2dd4bf"/>
                </a:solidFill>
                <a:latin typeface="Aptos"/>
                <a:ea typeface="Aptos"/>
              </a:rPr>
              <a:t>AI RETROFIT STRATEGY</a:t>
            </a:r>
            <a:endParaRPr b="0" lang="en-US" sz="820" spc="-1" strike="noStrike">
              <a:solidFill>
                <a:srgbClr val="ffffff"/>
              </a:solidFill>
              <a:latin typeface="Arial"/>
            </a:endParaRPr>
          </a:p>
        </p:txBody>
      </p:sp>
      <p:sp>
        <p:nvSpPr>
          <p:cNvPr id="137" name="Text 2"/>
          <p:cNvSpPr/>
          <p:nvPr/>
        </p:nvSpPr>
        <p:spPr>
          <a:xfrm>
            <a:off x="502920" y="640080"/>
            <a:ext cx="10880640" cy="383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50" spc="-1" strike="noStrike">
                <a:solidFill>
                  <a:srgbClr val="ffffff"/>
                </a:solidFill>
                <a:latin typeface="Aptos Display"/>
                <a:ea typeface="Aptos Display"/>
              </a:rPr>
              <a:t>Design Decisions &amp; ADR Matrix</a:t>
            </a:r>
            <a:endParaRPr b="0" lang="en-US" sz="2350" spc="-1" strike="noStrike">
              <a:solidFill>
                <a:srgbClr val="ffffff"/>
              </a:solidFill>
              <a:latin typeface="Arial"/>
            </a:endParaRPr>
          </a:p>
        </p:txBody>
      </p:sp>
      <p:sp>
        <p:nvSpPr>
          <p:cNvPr id="138" name="Text 3"/>
          <p:cNvSpPr/>
          <p:nvPr/>
        </p:nvSpPr>
        <p:spPr>
          <a:xfrm>
            <a:off x="511920" y="1078920"/>
            <a:ext cx="10880640" cy="236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pc="-1" strike="noStrike">
                <a:solidFill>
                  <a:srgbClr val="e5e7eb"/>
                </a:solidFill>
                <a:latin typeface="Aptos"/>
                <a:ea typeface="Aptos"/>
              </a:rPr>
              <a:t>Every decision answers a rejection risk.</a:t>
            </a:r>
            <a:endParaRPr b="0" lang="en-US" sz="1150" spc="-1" strike="noStrike">
              <a:solidFill>
                <a:srgbClr val="ffffff"/>
              </a:solidFill>
              <a:latin typeface="Arial"/>
            </a:endParaRPr>
          </a:p>
        </p:txBody>
      </p:sp>
      <p:sp>
        <p:nvSpPr>
          <p:cNvPr id="139" name="Text 4"/>
          <p:cNvSpPr/>
          <p:nvPr/>
        </p:nvSpPr>
        <p:spPr>
          <a:xfrm>
            <a:off x="502920" y="6656760"/>
            <a:ext cx="676584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80" spc="-1" strike="noStrike">
                <a:solidFill>
                  <a:srgbClr val="94a3b8"/>
                </a:solidFill>
                <a:latin typeface="Aptos"/>
                <a:ea typeface="Aptos"/>
              </a:rPr>
              <a:t>MERLIN 2026 AI Retrofit Sidecar Architecture</a:t>
            </a:r>
            <a:endParaRPr b="0" lang="en-US" sz="780" spc="-1" strike="noStrike">
              <a:solidFill>
                <a:srgbClr val="ffffff"/>
              </a:solidFill>
              <a:latin typeface="Arial"/>
            </a:endParaRPr>
          </a:p>
        </p:txBody>
      </p:sp>
      <p:sp>
        <p:nvSpPr>
          <p:cNvPr id="140" name="Text 5"/>
          <p:cNvSpPr/>
          <p:nvPr/>
        </p:nvSpPr>
        <p:spPr>
          <a:xfrm>
            <a:off x="11292840" y="6565320"/>
            <a:ext cx="410760" cy="218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850" spc="-1" strike="noStrike">
                <a:solidFill>
                  <a:srgbClr val="94a3b8"/>
                </a:solidFill>
                <a:latin typeface="Aptos"/>
                <a:ea typeface="Aptos"/>
              </a:rPr>
              <a:t>09</a:t>
            </a:r>
            <a:endParaRPr b="0" lang="en-US" sz="850" spc="-1" strike="noStrike">
              <a:solidFill>
                <a:srgbClr val="ffffff"/>
              </a:solidFill>
              <a:latin typeface="Arial"/>
            </a:endParaRPr>
          </a:p>
        </p:txBody>
      </p:sp>
      <p:sp>
        <p:nvSpPr>
          <p:cNvPr id="141" name="Text 6"/>
          <p:cNvSpPr/>
          <p:nvPr/>
        </p:nvSpPr>
        <p:spPr>
          <a:xfrm>
            <a:off x="685800" y="1417320"/>
            <a:ext cx="3519720" cy="1142280"/>
          </a:xfrm>
          <a:prstGeom prst="rect">
            <a:avLst/>
          </a:prstGeom>
          <a:solidFill>
            <a:srgbClr val="101827">
              <a:alpha val="98000"/>
            </a:srgbClr>
          </a:solidFill>
          <a:ln w="15240">
            <a:solidFill>
              <a:srgbClr val="2dd4bf">
                <a:alpha val="80000"/>
              </a:srgbClr>
            </a:solidFill>
            <a:round/>
          </a:ln>
        </p:spPr>
        <p:style>
          <a:lnRef idx="0"/>
          <a:fillRef idx="0"/>
          <a:effectRef idx="0"/>
          <a:fontRef idx="minor"/>
        </p:style>
        <p:txBody>
          <a:bodyPr lIns="1440" rIns="1440" tIns="1440" bIns="1440" anchor="t">
            <a:normAutofit/>
          </a:bodyPr>
          <a:p>
            <a:pPr>
              <a:lnSpc>
                <a:spcPct val="100000"/>
              </a:lnSpc>
            </a:pPr>
            <a:r>
              <a:rPr b="1" lang="en-US" sz="1160" spc="-1" strike="noStrike">
                <a:solidFill>
                  <a:srgbClr val="ffffff"/>
                </a:solidFill>
                <a:latin typeface="Aptos"/>
                <a:ea typeface="Aptos"/>
              </a:rPr>
              <a:t>ADR-01: External async sidecar</a:t>
            </a:r>
            <a:endParaRPr b="0" lang="en-US" sz="1160" spc="-1" strike="noStrike">
              <a:solidFill>
                <a:srgbClr val="ffffff"/>
              </a:solidFill>
              <a:latin typeface="Arial"/>
            </a:endParaRPr>
          </a:p>
          <a:p>
            <a:pPr defTabSz="914400">
              <a:lnSpc>
                <a:spcPct val="100000"/>
              </a:lnSpc>
              <a:tabLst>
                <a:tab algn="l" pos="0"/>
              </a:tabLst>
            </a:pPr>
            <a:r>
              <a:rPr b="0" lang="en-US" sz="1160" spc="-1" strike="noStrike">
                <a:solidFill>
                  <a:srgbClr val="e5e7eb"/>
                </a:solidFill>
                <a:latin typeface="Aptos"/>
                <a:ea typeface="Aptos"/>
              </a:rPr>
              <a:t>Chosen to protect MERLIN availability. Rejected embedded AI because model latency could affect the order path.</a:t>
            </a:r>
            <a:endParaRPr b="0" lang="en-US" sz="1160" spc="-1" strike="noStrike">
              <a:solidFill>
                <a:srgbClr val="ffffff"/>
              </a:solidFill>
              <a:latin typeface="Arial"/>
            </a:endParaRPr>
          </a:p>
        </p:txBody>
      </p:sp>
      <p:sp>
        <p:nvSpPr>
          <p:cNvPr id="142" name="Text 7"/>
          <p:cNvSpPr/>
          <p:nvPr/>
        </p:nvSpPr>
        <p:spPr>
          <a:xfrm>
            <a:off x="4343400" y="1417320"/>
            <a:ext cx="3519720" cy="1142280"/>
          </a:xfrm>
          <a:prstGeom prst="rect">
            <a:avLst/>
          </a:prstGeom>
          <a:solidFill>
            <a:srgbClr val="101827">
              <a:alpha val="98000"/>
            </a:srgbClr>
          </a:solidFill>
          <a:ln w="15240">
            <a:solidFill>
              <a:srgbClr val="a78bfa">
                <a:alpha val="80000"/>
              </a:srgbClr>
            </a:solidFill>
            <a:round/>
          </a:ln>
        </p:spPr>
        <p:style>
          <a:lnRef idx="0"/>
          <a:fillRef idx="0"/>
          <a:effectRef idx="0"/>
          <a:fontRef idx="minor"/>
        </p:style>
        <p:txBody>
          <a:bodyPr lIns="1440" rIns="1440" tIns="1440" bIns="1440" anchor="t">
            <a:normAutofit/>
          </a:bodyPr>
          <a:p>
            <a:pPr>
              <a:lnSpc>
                <a:spcPct val="100000"/>
              </a:lnSpc>
            </a:pPr>
            <a:r>
              <a:rPr b="1" lang="en-US" sz="1160" spc="-1" strike="noStrike">
                <a:solidFill>
                  <a:srgbClr val="ffffff"/>
                </a:solidFill>
                <a:latin typeface="Aptos"/>
                <a:ea typeface="Aptos"/>
              </a:rPr>
              <a:t>ADR-02: Deterministic optimizer</a:t>
            </a:r>
            <a:endParaRPr b="0" lang="en-US" sz="1160" spc="-1" strike="noStrike">
              <a:solidFill>
                <a:srgbClr val="ffffff"/>
              </a:solidFill>
              <a:latin typeface="Arial"/>
            </a:endParaRPr>
          </a:p>
          <a:p>
            <a:pPr defTabSz="914400">
              <a:lnSpc>
                <a:spcPct val="100000"/>
              </a:lnSpc>
              <a:tabLst>
                <a:tab algn="l" pos="0"/>
              </a:tabLst>
            </a:pPr>
            <a:r>
              <a:rPr b="0" lang="en-US" sz="1160" spc="-1" strike="noStrike">
                <a:solidFill>
                  <a:srgbClr val="e5e7eb"/>
                </a:solidFill>
                <a:latin typeface="Aptos"/>
                <a:ea typeface="Aptos"/>
              </a:rPr>
              <a:t>Chosen because constraints must be explainable, bounded, and auditable before MERLIN reads recommendations.</a:t>
            </a:r>
            <a:endParaRPr b="0" lang="en-US" sz="1160" spc="-1" strike="noStrike">
              <a:solidFill>
                <a:srgbClr val="ffffff"/>
              </a:solidFill>
              <a:latin typeface="Arial"/>
            </a:endParaRPr>
          </a:p>
        </p:txBody>
      </p:sp>
      <p:sp>
        <p:nvSpPr>
          <p:cNvPr id="143" name="Text 8"/>
          <p:cNvSpPr/>
          <p:nvPr/>
        </p:nvSpPr>
        <p:spPr>
          <a:xfrm>
            <a:off x="8001000" y="1417320"/>
            <a:ext cx="3519720" cy="1142280"/>
          </a:xfrm>
          <a:prstGeom prst="rect">
            <a:avLst/>
          </a:prstGeom>
          <a:solidFill>
            <a:srgbClr val="101827">
              <a:alpha val="98000"/>
            </a:srgbClr>
          </a:solidFill>
          <a:ln w="15240">
            <a:solidFill>
              <a:srgbClr val="f59e0b">
                <a:alpha val="80000"/>
              </a:srgbClr>
            </a:solidFill>
            <a:round/>
          </a:ln>
        </p:spPr>
        <p:style>
          <a:lnRef idx="0"/>
          <a:fillRef idx="0"/>
          <a:effectRef idx="0"/>
          <a:fontRef idx="minor"/>
        </p:style>
        <p:txBody>
          <a:bodyPr lIns="1440" rIns="1440" tIns="1440" bIns="1440" anchor="t">
            <a:normAutofit/>
          </a:bodyPr>
          <a:p>
            <a:pPr>
              <a:lnSpc>
                <a:spcPct val="100000"/>
              </a:lnSpc>
            </a:pPr>
            <a:r>
              <a:rPr b="1" lang="en-US" sz="1160" spc="-1" strike="noStrike">
                <a:solidFill>
                  <a:srgbClr val="ffffff"/>
                </a:solidFill>
                <a:latin typeface="Aptos"/>
                <a:ea typeface="Aptos"/>
              </a:rPr>
              <a:t>ADR-03: Certified adapter</a:t>
            </a:r>
            <a:endParaRPr b="0" lang="en-US" sz="1160" spc="-1" strike="noStrike">
              <a:solidFill>
                <a:srgbClr val="ffffff"/>
              </a:solidFill>
              <a:latin typeface="Arial"/>
            </a:endParaRPr>
          </a:p>
          <a:p>
            <a:pPr defTabSz="914400">
              <a:lnSpc>
                <a:spcPct val="100000"/>
              </a:lnSpc>
              <a:tabLst>
                <a:tab algn="l" pos="0"/>
              </a:tabLst>
            </a:pPr>
            <a:r>
              <a:rPr b="0" lang="en-US" sz="1160" spc="-1" strike="noStrike">
                <a:solidFill>
                  <a:srgbClr val="e5e7eb"/>
                </a:solidFill>
                <a:latin typeface="Aptos"/>
                <a:ea typeface="Aptos"/>
              </a:rPr>
              <a:t>Chosen to make the write path narrow, versioned, schema-valid, and kill-switch aware.</a:t>
            </a:r>
            <a:endParaRPr b="0" lang="en-US" sz="1160" spc="-1" strike="noStrike">
              <a:solidFill>
                <a:srgbClr val="ffffff"/>
              </a:solidFill>
              <a:latin typeface="Arial"/>
            </a:endParaRPr>
          </a:p>
        </p:txBody>
      </p:sp>
      <p:sp>
        <p:nvSpPr>
          <p:cNvPr id="144" name="Text 9"/>
          <p:cNvSpPr/>
          <p:nvPr/>
        </p:nvSpPr>
        <p:spPr>
          <a:xfrm>
            <a:off x="685800" y="3246120"/>
            <a:ext cx="27424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50" spc="-1" strike="noStrike">
                <a:solidFill>
                  <a:srgbClr val="ffffff"/>
                </a:solidFill>
                <a:latin typeface="Aptos Display"/>
                <a:ea typeface="Aptos Display"/>
              </a:rPr>
              <a:t>Top risk controls</a:t>
            </a:r>
            <a:endParaRPr b="0" lang="en-US" sz="1750" spc="-1" strike="noStrike">
              <a:solidFill>
                <a:srgbClr val="ffffff"/>
              </a:solidFill>
              <a:latin typeface="Arial"/>
            </a:endParaRPr>
          </a:p>
        </p:txBody>
      </p:sp>
      <p:sp>
        <p:nvSpPr>
          <p:cNvPr id="145" name="Text 10"/>
          <p:cNvSpPr/>
          <p:nvPr/>
        </p:nvSpPr>
        <p:spPr>
          <a:xfrm>
            <a:off x="822960" y="3703320"/>
            <a:ext cx="21024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20" spc="-1" strike="noStrike">
                <a:solidFill>
                  <a:srgbClr val="2dd4bf"/>
                </a:solidFill>
                <a:latin typeface="Aptos"/>
                <a:ea typeface="Aptos"/>
              </a:rPr>
              <a:t>Deadline miss</a:t>
            </a:r>
            <a:endParaRPr b="0" lang="en-US" sz="1020" spc="-1" strike="noStrike">
              <a:solidFill>
                <a:srgbClr val="ffffff"/>
              </a:solidFill>
              <a:latin typeface="Arial"/>
            </a:endParaRPr>
          </a:p>
        </p:txBody>
      </p:sp>
      <p:sp>
        <p:nvSpPr>
          <p:cNvPr id="146" name="Text 11"/>
          <p:cNvSpPr/>
          <p:nvPr/>
        </p:nvSpPr>
        <p:spPr>
          <a:xfrm>
            <a:off x="2971800" y="3703320"/>
            <a:ext cx="804600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20" spc="-1" strike="noStrike">
                <a:solidFill>
                  <a:srgbClr val="e5e7eb"/>
                </a:solidFill>
                <a:latin typeface="Aptos"/>
                <a:ea typeface="Aptos"/>
              </a:rPr>
              <a:t>Earlier close gates + publish-nothing fallback</a:t>
            </a:r>
            <a:endParaRPr b="0" lang="en-US" sz="1020" spc="-1" strike="noStrike">
              <a:solidFill>
                <a:srgbClr val="ffffff"/>
              </a:solidFill>
              <a:latin typeface="Arial"/>
            </a:endParaRPr>
          </a:p>
        </p:txBody>
      </p:sp>
      <p:sp>
        <p:nvSpPr>
          <p:cNvPr id="147" name="Text 12"/>
          <p:cNvSpPr/>
          <p:nvPr/>
        </p:nvSpPr>
        <p:spPr>
          <a:xfrm>
            <a:off x="822960" y="4096440"/>
            <a:ext cx="21024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20" spc="-1" strike="noStrike">
                <a:solidFill>
                  <a:srgbClr val="2dd4bf"/>
                </a:solidFill>
                <a:latin typeface="Aptos"/>
                <a:ea typeface="Aptos"/>
              </a:rPr>
              <a:t>Inventory error</a:t>
            </a:r>
            <a:endParaRPr b="0" lang="en-US" sz="1020" spc="-1" strike="noStrike">
              <a:solidFill>
                <a:srgbClr val="ffffff"/>
              </a:solidFill>
              <a:latin typeface="Arial"/>
            </a:endParaRPr>
          </a:p>
        </p:txBody>
      </p:sp>
      <p:sp>
        <p:nvSpPr>
          <p:cNvPr id="148" name="Text 13"/>
          <p:cNvSpPr/>
          <p:nvPr/>
        </p:nvSpPr>
        <p:spPr>
          <a:xfrm>
            <a:off x="2971800" y="4096440"/>
            <a:ext cx="804600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20" spc="-1" strike="noStrike">
                <a:solidFill>
                  <a:srgbClr val="e5e7eb"/>
                </a:solidFill>
                <a:latin typeface="Aptos"/>
                <a:ea typeface="Aptos"/>
              </a:rPr>
              <a:t>Interval-based suppression and audit evidence</a:t>
            </a:r>
            <a:endParaRPr b="0" lang="en-US" sz="1020" spc="-1" strike="noStrike">
              <a:solidFill>
                <a:srgbClr val="ffffff"/>
              </a:solidFill>
              <a:latin typeface="Arial"/>
            </a:endParaRPr>
          </a:p>
        </p:txBody>
      </p:sp>
      <p:sp>
        <p:nvSpPr>
          <p:cNvPr id="149" name="Text 14"/>
          <p:cNvSpPr/>
          <p:nvPr/>
        </p:nvSpPr>
        <p:spPr>
          <a:xfrm>
            <a:off x="822960" y="4489560"/>
            <a:ext cx="21024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20" spc="-1" strike="noStrike">
                <a:solidFill>
                  <a:srgbClr val="2dd4bf"/>
                </a:solidFill>
                <a:latin typeface="Aptos"/>
                <a:ea typeface="Aptos"/>
              </a:rPr>
              <a:t>Peak capacity</a:t>
            </a:r>
            <a:endParaRPr b="0" lang="en-US" sz="1020" spc="-1" strike="noStrike">
              <a:solidFill>
                <a:srgbClr val="ffffff"/>
              </a:solidFill>
              <a:latin typeface="Arial"/>
            </a:endParaRPr>
          </a:p>
        </p:txBody>
      </p:sp>
      <p:sp>
        <p:nvSpPr>
          <p:cNvPr id="150" name="Text 15"/>
          <p:cNvSpPr/>
          <p:nvPr/>
        </p:nvSpPr>
        <p:spPr>
          <a:xfrm>
            <a:off x="2971800" y="4489560"/>
            <a:ext cx="804600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20" spc="-1" strike="noStrike">
                <a:solidFill>
                  <a:srgbClr val="e5e7eb"/>
                </a:solidFill>
                <a:latin typeface="Aptos"/>
                <a:ea typeface="Aptos"/>
              </a:rPr>
              <a:t>Benchmark at 6× before rollout</a:t>
            </a:r>
            <a:endParaRPr b="0" lang="en-US" sz="1020" spc="-1" strike="noStrike">
              <a:solidFill>
                <a:srgbClr val="ffffff"/>
              </a:solidFill>
              <a:latin typeface="Arial"/>
            </a:endParaRPr>
          </a:p>
        </p:txBody>
      </p:sp>
      <p:sp>
        <p:nvSpPr>
          <p:cNvPr id="151" name="Text 16"/>
          <p:cNvSpPr/>
          <p:nvPr/>
        </p:nvSpPr>
        <p:spPr>
          <a:xfrm>
            <a:off x="822960" y="4883040"/>
            <a:ext cx="21024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20" spc="-1" strike="noStrike">
                <a:solidFill>
                  <a:srgbClr val="2dd4bf"/>
                </a:solidFill>
                <a:latin typeface="Aptos"/>
                <a:ea typeface="Aptos"/>
              </a:rPr>
              <a:t>Food-safety liability</a:t>
            </a:r>
            <a:endParaRPr b="0" lang="en-US" sz="1020" spc="-1" strike="noStrike">
              <a:solidFill>
                <a:srgbClr val="ffffff"/>
              </a:solidFill>
              <a:latin typeface="Arial"/>
            </a:endParaRPr>
          </a:p>
        </p:txBody>
      </p:sp>
      <p:sp>
        <p:nvSpPr>
          <p:cNvPr id="152" name="Text 17"/>
          <p:cNvSpPr/>
          <p:nvPr/>
        </p:nvSpPr>
        <p:spPr>
          <a:xfrm>
            <a:off x="2971800" y="4883040"/>
            <a:ext cx="804600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20" spc="-1" strike="noStrike">
                <a:solidFill>
                  <a:srgbClr val="e5e7eb"/>
                </a:solidFill>
                <a:latin typeface="Aptos"/>
                <a:ea typeface="Aptos"/>
              </a:rPr>
              <a:t>Read-only approved evidence; no write path</a:t>
            </a:r>
            <a:endParaRPr b="0" lang="en-US" sz="1020" spc="-1" strike="noStrike">
              <a:solidFill>
                <a:srgbClr val="ffffff"/>
              </a:solidFill>
              <a:latin typeface="Arial"/>
            </a:endParaRPr>
          </a:p>
        </p:txBody>
      </p:sp>
      <p:sp>
        <p:nvSpPr>
          <p:cNvPr id="153" name="Text 18"/>
          <p:cNvSpPr/>
          <p:nvPr/>
        </p:nvSpPr>
        <p:spPr>
          <a:xfrm>
            <a:off x="822960" y="5276160"/>
            <a:ext cx="21024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20" spc="-1" strike="noStrike">
                <a:solidFill>
                  <a:srgbClr val="2dd4bf"/>
                </a:solidFill>
                <a:latin typeface="Aptos"/>
                <a:ea typeface="Aptos"/>
              </a:rPr>
              <a:t>Kill-switch realism</a:t>
            </a:r>
            <a:endParaRPr b="0" lang="en-US" sz="1020" spc="-1" strike="noStrike">
              <a:solidFill>
                <a:srgbClr val="ffffff"/>
              </a:solidFill>
              <a:latin typeface="Arial"/>
            </a:endParaRPr>
          </a:p>
        </p:txBody>
      </p:sp>
      <p:sp>
        <p:nvSpPr>
          <p:cNvPr id="154" name="Text 19"/>
          <p:cNvSpPr/>
          <p:nvPr/>
        </p:nvSpPr>
        <p:spPr>
          <a:xfrm>
            <a:off x="2971800" y="5276160"/>
            <a:ext cx="804600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20" spc="-1" strike="noStrike">
                <a:solidFill>
                  <a:srgbClr val="e5e7eb"/>
                </a:solidFill>
                <a:latin typeface="Aptos"/>
                <a:ea typeface="Aptos"/>
              </a:rPr>
              <a:t>Epoch-based disable, independent revoke, short-lived permit</a:t>
            </a:r>
            <a:endParaRPr b="0" lang="en-US" sz="1020" spc="-1" strike="noStrike">
              <a:solidFill>
                <a:srgbClr val="ffffff"/>
              </a:solidFill>
              <a:latin typeface="Arial"/>
            </a:endParaRPr>
          </a:p>
        </p:txBody>
      </p:sp>
      <p:sp>
        <p:nvSpPr>
          <p:cNvPr id="155" name="Text 20"/>
          <p:cNvSpPr/>
          <p:nvPr/>
        </p:nvSpPr>
        <p:spPr>
          <a:xfrm>
            <a:off x="914400" y="5989320"/>
            <a:ext cx="10149120" cy="383400"/>
          </a:xfrm>
          <a:prstGeom prst="rect">
            <a:avLst/>
          </a:prstGeom>
          <a:solidFill>
            <a:srgbClr val="1f2937"/>
          </a:solidFill>
          <a:ln w="13970">
            <a:solidFill>
              <a:srgbClr val="22c55e"/>
            </a:solidFill>
            <a:round/>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100" spc="-1" strike="noStrike">
                <a:solidFill>
                  <a:srgbClr val="ffffff"/>
                </a:solidFill>
                <a:latin typeface="Aptos"/>
                <a:ea typeface="Aptos"/>
              </a:rPr>
              <a:t>A risk register is credible only when each mitigation changes runtime behavior, not just documentation.</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156" name="Shape 0"/>
          <p:cNvSpPr/>
          <p:nvPr/>
        </p:nvSpPr>
        <p:spPr>
          <a:xfrm>
            <a:off x="0" y="0"/>
            <a:ext cx="12191040" cy="127440"/>
          </a:xfrm>
          <a:prstGeom prst="rect">
            <a:avLst/>
          </a:prstGeom>
          <a:solidFill>
            <a:srgbClr val="2dd4bf"/>
          </a:solidFill>
          <a:ln w="12700">
            <a:solidFill>
              <a:srgbClr val="2dd4b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7" name="Text 1"/>
          <p:cNvSpPr/>
          <p:nvPr/>
        </p:nvSpPr>
        <p:spPr>
          <a:xfrm>
            <a:off x="502920" y="347400"/>
            <a:ext cx="43884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20" spc="-1" strike="noStrike">
                <a:solidFill>
                  <a:srgbClr val="2dd4bf"/>
                </a:solidFill>
                <a:latin typeface="Aptos"/>
                <a:ea typeface="Aptos"/>
              </a:rPr>
              <a:t>AI RETROFIT STRATEGY</a:t>
            </a:r>
            <a:endParaRPr b="0" lang="en-US" sz="820" spc="-1" strike="noStrike">
              <a:solidFill>
                <a:srgbClr val="ffffff"/>
              </a:solidFill>
              <a:latin typeface="Arial"/>
            </a:endParaRPr>
          </a:p>
        </p:txBody>
      </p:sp>
      <p:sp>
        <p:nvSpPr>
          <p:cNvPr id="158" name="Text 2"/>
          <p:cNvSpPr/>
          <p:nvPr/>
        </p:nvSpPr>
        <p:spPr>
          <a:xfrm>
            <a:off x="502920" y="640080"/>
            <a:ext cx="10880640" cy="383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50" spc="-1" strike="noStrike">
                <a:solidFill>
                  <a:srgbClr val="ffffff"/>
                </a:solidFill>
                <a:latin typeface="Aptos Display"/>
                <a:ea typeface="Aptos Display"/>
              </a:rPr>
              <a:t>5-Stage Rollout Roadmap</a:t>
            </a:r>
            <a:endParaRPr b="0" lang="en-US" sz="2350" spc="-1" strike="noStrike">
              <a:solidFill>
                <a:srgbClr val="ffffff"/>
              </a:solidFill>
              <a:latin typeface="Arial"/>
            </a:endParaRPr>
          </a:p>
        </p:txBody>
      </p:sp>
      <p:sp>
        <p:nvSpPr>
          <p:cNvPr id="159" name="Text 3"/>
          <p:cNvSpPr/>
          <p:nvPr/>
        </p:nvSpPr>
        <p:spPr>
          <a:xfrm>
            <a:off x="511920" y="1078920"/>
            <a:ext cx="10880640" cy="236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pc="-1" strike="noStrike">
                <a:solidFill>
                  <a:srgbClr val="e5e7eb"/>
                </a:solidFill>
                <a:latin typeface="Aptos"/>
                <a:ea typeface="Aptos"/>
              </a:rPr>
              <a:t>Modernize without risking daily operations.</a:t>
            </a:r>
            <a:endParaRPr b="0" lang="en-US" sz="1150" spc="-1" strike="noStrike">
              <a:solidFill>
                <a:srgbClr val="ffffff"/>
              </a:solidFill>
              <a:latin typeface="Arial"/>
            </a:endParaRPr>
          </a:p>
        </p:txBody>
      </p:sp>
      <p:sp>
        <p:nvSpPr>
          <p:cNvPr id="160" name="Text 4"/>
          <p:cNvSpPr/>
          <p:nvPr/>
        </p:nvSpPr>
        <p:spPr>
          <a:xfrm>
            <a:off x="502920" y="6656760"/>
            <a:ext cx="676584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80" spc="-1" strike="noStrike">
                <a:solidFill>
                  <a:srgbClr val="94a3b8"/>
                </a:solidFill>
                <a:latin typeface="Aptos"/>
                <a:ea typeface="Aptos"/>
              </a:rPr>
              <a:t>MERLIN 2026 AI Retrofit Sidecar Architecture</a:t>
            </a:r>
            <a:endParaRPr b="0" lang="en-US" sz="780" spc="-1" strike="noStrike">
              <a:solidFill>
                <a:srgbClr val="ffffff"/>
              </a:solidFill>
              <a:latin typeface="Arial"/>
            </a:endParaRPr>
          </a:p>
        </p:txBody>
      </p:sp>
      <p:sp>
        <p:nvSpPr>
          <p:cNvPr id="161" name="Text 5"/>
          <p:cNvSpPr/>
          <p:nvPr/>
        </p:nvSpPr>
        <p:spPr>
          <a:xfrm>
            <a:off x="11292840" y="6565320"/>
            <a:ext cx="410760" cy="218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850" spc="-1" strike="noStrike">
                <a:solidFill>
                  <a:srgbClr val="94a3b8"/>
                </a:solidFill>
                <a:latin typeface="Aptos"/>
                <a:ea typeface="Aptos"/>
              </a:rPr>
              <a:t>10</a:t>
            </a:r>
            <a:endParaRPr b="0" lang="en-US" sz="850" spc="-1" strike="noStrike">
              <a:solidFill>
                <a:srgbClr val="ffffff"/>
              </a:solidFill>
              <a:latin typeface="Arial"/>
            </a:endParaRPr>
          </a:p>
        </p:txBody>
      </p:sp>
      <p:sp>
        <p:nvSpPr>
          <p:cNvPr id="162" name="Text 6"/>
          <p:cNvSpPr/>
          <p:nvPr/>
        </p:nvSpPr>
        <p:spPr>
          <a:xfrm>
            <a:off x="713160" y="1828800"/>
            <a:ext cx="502200" cy="502200"/>
          </a:xfrm>
          <a:prstGeom prst="rect">
            <a:avLst/>
          </a:prstGeom>
          <a:solidFill>
            <a:srgbClr val="101827"/>
          </a:solidFill>
          <a:ln w="15240">
            <a:solidFill>
              <a:srgbClr val="2dd4bf"/>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500" spc="-1" strike="noStrike">
                <a:solidFill>
                  <a:srgbClr val="ffffff"/>
                </a:solidFill>
                <a:latin typeface="Aptos"/>
                <a:ea typeface="Aptos"/>
              </a:rPr>
              <a:t>1</a:t>
            </a:r>
            <a:endParaRPr b="0" lang="en-US" sz="1500" spc="-1" strike="noStrike">
              <a:solidFill>
                <a:srgbClr val="ffffff"/>
              </a:solidFill>
              <a:latin typeface="Arial"/>
            </a:endParaRPr>
          </a:p>
        </p:txBody>
      </p:sp>
      <p:sp>
        <p:nvSpPr>
          <p:cNvPr id="163" name="Text 7"/>
          <p:cNvSpPr/>
          <p:nvPr/>
        </p:nvSpPr>
        <p:spPr>
          <a:xfrm>
            <a:off x="1307520" y="1901880"/>
            <a:ext cx="14166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ptos Display"/>
                <a:ea typeface="Aptos Display"/>
              </a:rPr>
              <a:t>Discovery</a:t>
            </a:r>
            <a:endParaRPr b="0" lang="en-US" sz="1300" spc="-1" strike="noStrike">
              <a:solidFill>
                <a:srgbClr val="ffffff"/>
              </a:solidFill>
              <a:latin typeface="Arial"/>
            </a:endParaRPr>
          </a:p>
        </p:txBody>
      </p:sp>
      <p:sp>
        <p:nvSpPr>
          <p:cNvPr id="164" name="Shape 8"/>
          <p:cNvSpPr/>
          <p:nvPr/>
        </p:nvSpPr>
        <p:spPr>
          <a:xfrm>
            <a:off x="1280160" y="2111400"/>
            <a:ext cx="1380600" cy="360"/>
          </a:xfrm>
          <a:prstGeom prst="line">
            <a:avLst/>
          </a:prstGeom>
          <a:ln w="1651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65" name="Text 9"/>
          <p:cNvSpPr/>
          <p:nvPr/>
        </p:nvSpPr>
        <p:spPr>
          <a:xfrm>
            <a:off x="2953440" y="1828800"/>
            <a:ext cx="502200" cy="502200"/>
          </a:xfrm>
          <a:prstGeom prst="rect">
            <a:avLst/>
          </a:prstGeom>
          <a:solidFill>
            <a:srgbClr val="101827"/>
          </a:solidFill>
          <a:ln w="15240">
            <a:solidFill>
              <a:srgbClr val="2dd4bf"/>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500" spc="-1" strike="noStrike">
                <a:solidFill>
                  <a:srgbClr val="ffffff"/>
                </a:solidFill>
                <a:latin typeface="Aptos"/>
                <a:ea typeface="Aptos"/>
              </a:rPr>
              <a:t>2</a:t>
            </a:r>
            <a:endParaRPr b="0" lang="en-US" sz="1500" spc="-1" strike="noStrike">
              <a:solidFill>
                <a:srgbClr val="ffffff"/>
              </a:solidFill>
              <a:latin typeface="Arial"/>
            </a:endParaRPr>
          </a:p>
        </p:txBody>
      </p:sp>
      <p:sp>
        <p:nvSpPr>
          <p:cNvPr id="166" name="Text 10"/>
          <p:cNvSpPr/>
          <p:nvPr/>
        </p:nvSpPr>
        <p:spPr>
          <a:xfrm>
            <a:off x="3547800" y="1901880"/>
            <a:ext cx="14166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ptos Display"/>
                <a:ea typeface="Aptos Display"/>
              </a:rPr>
              <a:t>Replay</a:t>
            </a:r>
            <a:endParaRPr b="0" lang="en-US" sz="1300" spc="-1" strike="noStrike">
              <a:solidFill>
                <a:srgbClr val="ffffff"/>
              </a:solidFill>
              <a:latin typeface="Arial"/>
            </a:endParaRPr>
          </a:p>
        </p:txBody>
      </p:sp>
      <p:sp>
        <p:nvSpPr>
          <p:cNvPr id="167" name="Shape 11"/>
          <p:cNvSpPr/>
          <p:nvPr/>
        </p:nvSpPr>
        <p:spPr>
          <a:xfrm>
            <a:off x="3520440" y="2111400"/>
            <a:ext cx="1380600" cy="360"/>
          </a:xfrm>
          <a:prstGeom prst="line">
            <a:avLst/>
          </a:prstGeom>
          <a:ln w="1651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68" name="Text 12"/>
          <p:cNvSpPr/>
          <p:nvPr/>
        </p:nvSpPr>
        <p:spPr>
          <a:xfrm>
            <a:off x="5193720" y="1828800"/>
            <a:ext cx="502200" cy="502200"/>
          </a:xfrm>
          <a:prstGeom prst="rect">
            <a:avLst/>
          </a:prstGeom>
          <a:solidFill>
            <a:srgbClr val="101827"/>
          </a:solidFill>
          <a:ln w="15240">
            <a:solidFill>
              <a:srgbClr val="2dd4bf"/>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500" spc="-1" strike="noStrike">
                <a:solidFill>
                  <a:srgbClr val="ffffff"/>
                </a:solidFill>
                <a:latin typeface="Aptos"/>
                <a:ea typeface="Aptos"/>
              </a:rPr>
              <a:t>3</a:t>
            </a:r>
            <a:endParaRPr b="0" lang="en-US" sz="1500" spc="-1" strike="noStrike">
              <a:solidFill>
                <a:srgbClr val="ffffff"/>
              </a:solidFill>
              <a:latin typeface="Arial"/>
            </a:endParaRPr>
          </a:p>
        </p:txBody>
      </p:sp>
      <p:sp>
        <p:nvSpPr>
          <p:cNvPr id="169" name="Text 13"/>
          <p:cNvSpPr/>
          <p:nvPr/>
        </p:nvSpPr>
        <p:spPr>
          <a:xfrm>
            <a:off x="5788080" y="1901880"/>
            <a:ext cx="14166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ptos Display"/>
                <a:ea typeface="Aptos Display"/>
              </a:rPr>
              <a:t>Shadow</a:t>
            </a:r>
            <a:endParaRPr b="0" lang="en-US" sz="1300" spc="-1" strike="noStrike">
              <a:solidFill>
                <a:srgbClr val="ffffff"/>
              </a:solidFill>
              <a:latin typeface="Arial"/>
            </a:endParaRPr>
          </a:p>
        </p:txBody>
      </p:sp>
      <p:sp>
        <p:nvSpPr>
          <p:cNvPr id="170" name="Shape 14"/>
          <p:cNvSpPr/>
          <p:nvPr/>
        </p:nvSpPr>
        <p:spPr>
          <a:xfrm>
            <a:off x="5760720" y="2111400"/>
            <a:ext cx="1380600" cy="360"/>
          </a:xfrm>
          <a:prstGeom prst="line">
            <a:avLst/>
          </a:prstGeom>
          <a:ln w="1651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71" name="Text 15"/>
          <p:cNvSpPr/>
          <p:nvPr/>
        </p:nvSpPr>
        <p:spPr>
          <a:xfrm>
            <a:off x="7434000" y="1828800"/>
            <a:ext cx="502200" cy="502200"/>
          </a:xfrm>
          <a:prstGeom prst="rect">
            <a:avLst/>
          </a:prstGeom>
          <a:solidFill>
            <a:srgbClr val="101827"/>
          </a:solidFill>
          <a:ln w="15240">
            <a:solidFill>
              <a:srgbClr val="f59e0b"/>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500" spc="-1" strike="noStrike">
                <a:solidFill>
                  <a:srgbClr val="ffffff"/>
                </a:solidFill>
                <a:latin typeface="Aptos"/>
                <a:ea typeface="Aptos"/>
              </a:rPr>
              <a:t>4</a:t>
            </a:r>
            <a:endParaRPr b="0" lang="en-US" sz="1500" spc="-1" strike="noStrike">
              <a:solidFill>
                <a:srgbClr val="ffffff"/>
              </a:solidFill>
              <a:latin typeface="Arial"/>
            </a:endParaRPr>
          </a:p>
        </p:txBody>
      </p:sp>
      <p:sp>
        <p:nvSpPr>
          <p:cNvPr id="172" name="Text 16"/>
          <p:cNvSpPr/>
          <p:nvPr/>
        </p:nvSpPr>
        <p:spPr>
          <a:xfrm>
            <a:off x="8028360" y="1901880"/>
            <a:ext cx="14166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ptos Display"/>
                <a:ea typeface="Aptos Display"/>
              </a:rPr>
              <a:t>Pilot</a:t>
            </a:r>
            <a:endParaRPr b="0" lang="en-US" sz="1300" spc="-1" strike="noStrike">
              <a:solidFill>
                <a:srgbClr val="ffffff"/>
              </a:solidFill>
              <a:latin typeface="Arial"/>
            </a:endParaRPr>
          </a:p>
        </p:txBody>
      </p:sp>
      <p:sp>
        <p:nvSpPr>
          <p:cNvPr id="173" name="Shape 17"/>
          <p:cNvSpPr/>
          <p:nvPr/>
        </p:nvSpPr>
        <p:spPr>
          <a:xfrm>
            <a:off x="8001000" y="2111400"/>
            <a:ext cx="1380600" cy="360"/>
          </a:xfrm>
          <a:prstGeom prst="line">
            <a:avLst/>
          </a:prstGeom>
          <a:ln w="16510">
            <a:solidFill>
              <a:srgbClr val="334155"/>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74" name="Text 18"/>
          <p:cNvSpPr/>
          <p:nvPr/>
        </p:nvSpPr>
        <p:spPr>
          <a:xfrm>
            <a:off x="9674280" y="1828800"/>
            <a:ext cx="502200" cy="502200"/>
          </a:xfrm>
          <a:prstGeom prst="rect">
            <a:avLst/>
          </a:prstGeom>
          <a:solidFill>
            <a:srgbClr val="101827"/>
          </a:solidFill>
          <a:ln w="15240">
            <a:solidFill>
              <a:srgbClr val="22c55e"/>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500" spc="-1" strike="noStrike">
                <a:solidFill>
                  <a:srgbClr val="ffffff"/>
                </a:solidFill>
                <a:latin typeface="Aptos"/>
                <a:ea typeface="Aptos"/>
              </a:rPr>
              <a:t>5</a:t>
            </a:r>
            <a:endParaRPr b="0" lang="en-US" sz="1500" spc="-1" strike="noStrike">
              <a:solidFill>
                <a:srgbClr val="ffffff"/>
              </a:solidFill>
              <a:latin typeface="Arial"/>
            </a:endParaRPr>
          </a:p>
        </p:txBody>
      </p:sp>
      <p:sp>
        <p:nvSpPr>
          <p:cNvPr id="175" name="Text 19"/>
          <p:cNvSpPr/>
          <p:nvPr/>
        </p:nvSpPr>
        <p:spPr>
          <a:xfrm>
            <a:off x="10268640" y="1901880"/>
            <a:ext cx="14166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ptos Display"/>
                <a:ea typeface="Aptos Display"/>
              </a:rPr>
              <a:t>Expansion</a:t>
            </a:r>
            <a:endParaRPr b="0" lang="en-US" sz="1300" spc="-1" strike="noStrike">
              <a:solidFill>
                <a:srgbClr val="ffffff"/>
              </a:solidFill>
              <a:latin typeface="Arial"/>
            </a:endParaRPr>
          </a:p>
        </p:txBody>
      </p:sp>
      <p:sp>
        <p:nvSpPr>
          <p:cNvPr id="176" name="Text 20"/>
          <p:cNvSpPr/>
          <p:nvPr/>
        </p:nvSpPr>
        <p:spPr>
          <a:xfrm>
            <a:off x="822960" y="3063240"/>
            <a:ext cx="3428280" cy="1188000"/>
          </a:xfrm>
          <a:prstGeom prst="rect">
            <a:avLst/>
          </a:prstGeom>
          <a:solidFill>
            <a:srgbClr val="101827">
              <a:alpha val="98000"/>
            </a:srgbClr>
          </a:solidFill>
          <a:ln w="15240">
            <a:solidFill>
              <a:srgbClr val="2dd4bf">
                <a:alpha val="80000"/>
              </a:srgbClr>
            </a:solidFill>
            <a:round/>
          </a:ln>
        </p:spPr>
        <p:style>
          <a:lnRef idx="0"/>
          <a:fillRef idx="0"/>
          <a:effectRef idx="0"/>
          <a:fontRef idx="minor"/>
        </p:style>
        <p:txBody>
          <a:bodyPr lIns="1440" rIns="1440" tIns="1440" bIns="1440" anchor="t">
            <a:normAutofit/>
          </a:bodyPr>
          <a:p>
            <a:pPr>
              <a:lnSpc>
                <a:spcPct val="100000"/>
              </a:lnSpc>
            </a:pPr>
            <a:r>
              <a:rPr b="1" lang="en-US" sz="1200" spc="-1" strike="noStrike">
                <a:solidFill>
                  <a:srgbClr val="ffffff"/>
                </a:solidFill>
                <a:latin typeface="Aptos"/>
                <a:ea typeface="Aptos"/>
              </a:rPr>
              <a:t>Acceptance criteria</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MERLIN must continue operating normally without AI support. AI must prove value in shadow and pilot before expansion.</a:t>
            </a:r>
            <a:endParaRPr b="0" lang="en-US" sz="1200" spc="-1" strike="noStrike">
              <a:solidFill>
                <a:srgbClr val="ffffff"/>
              </a:solidFill>
              <a:latin typeface="Arial"/>
            </a:endParaRPr>
          </a:p>
        </p:txBody>
      </p:sp>
      <p:sp>
        <p:nvSpPr>
          <p:cNvPr id="177" name="Text 21"/>
          <p:cNvSpPr/>
          <p:nvPr/>
        </p:nvSpPr>
        <p:spPr>
          <a:xfrm>
            <a:off x="4389120" y="3063240"/>
            <a:ext cx="3428280" cy="1188000"/>
          </a:xfrm>
          <a:prstGeom prst="rect">
            <a:avLst/>
          </a:prstGeom>
          <a:solidFill>
            <a:srgbClr val="101827">
              <a:alpha val="98000"/>
            </a:srgbClr>
          </a:solidFill>
          <a:ln w="15240">
            <a:solidFill>
              <a:srgbClr val="f87171">
                <a:alpha val="80000"/>
              </a:srgbClr>
            </a:solidFill>
            <a:round/>
          </a:ln>
        </p:spPr>
        <p:style>
          <a:lnRef idx="0"/>
          <a:fillRef idx="0"/>
          <a:effectRef idx="0"/>
          <a:fontRef idx="minor"/>
        </p:style>
        <p:txBody>
          <a:bodyPr lIns="1440" rIns="1440" tIns="1440" bIns="1440" anchor="t">
            <a:normAutofit/>
          </a:bodyPr>
          <a:p>
            <a:pPr>
              <a:lnSpc>
                <a:spcPct val="100000"/>
              </a:lnSpc>
            </a:pPr>
            <a:r>
              <a:rPr b="1" lang="en-US" sz="1200" spc="-1" strike="noStrike">
                <a:solidFill>
                  <a:srgbClr val="ffffff"/>
                </a:solidFill>
                <a:latin typeface="Aptos"/>
                <a:ea typeface="Aptos"/>
              </a:rPr>
              <a:t>Kill switch</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Disable sidecar publication immediately during severe incidents. Existing MERLIN path remains available.</a:t>
            </a:r>
            <a:endParaRPr b="0" lang="en-US" sz="1200" spc="-1" strike="noStrike">
              <a:solidFill>
                <a:srgbClr val="ffffff"/>
              </a:solidFill>
              <a:latin typeface="Arial"/>
            </a:endParaRPr>
          </a:p>
        </p:txBody>
      </p:sp>
      <p:sp>
        <p:nvSpPr>
          <p:cNvPr id="178" name="Text 22"/>
          <p:cNvSpPr/>
          <p:nvPr/>
        </p:nvSpPr>
        <p:spPr>
          <a:xfrm>
            <a:off x="7955280" y="3063240"/>
            <a:ext cx="3428280" cy="1188000"/>
          </a:xfrm>
          <a:prstGeom prst="rect">
            <a:avLst/>
          </a:prstGeom>
          <a:solidFill>
            <a:srgbClr val="101827">
              <a:alpha val="98000"/>
            </a:srgbClr>
          </a:solidFill>
          <a:ln w="15240">
            <a:solidFill>
              <a:srgbClr val="22c55e">
                <a:alpha val="80000"/>
              </a:srgbClr>
            </a:solidFill>
            <a:round/>
          </a:ln>
        </p:spPr>
        <p:style>
          <a:lnRef idx="0"/>
          <a:fillRef idx="0"/>
          <a:effectRef idx="0"/>
          <a:fontRef idx="minor"/>
        </p:style>
        <p:txBody>
          <a:bodyPr lIns="1440" rIns="1440" tIns="1440" bIns="1440" anchor="t">
            <a:normAutofit/>
          </a:bodyPr>
          <a:p>
            <a:pPr>
              <a:lnSpc>
                <a:spcPct val="100000"/>
              </a:lnSpc>
            </a:pPr>
            <a:r>
              <a:rPr b="1" lang="en-US" sz="1200" spc="-1" strike="noStrike">
                <a:solidFill>
                  <a:srgbClr val="ffffff"/>
                </a:solidFill>
                <a:latin typeface="Aptos"/>
                <a:ea typeface="Aptos"/>
              </a:rPr>
              <a:t>Strategic conclusion</a:t>
            </a:r>
            <a:endParaRPr b="0" lang="en-US" sz="1200" spc="-1" strike="noStrike">
              <a:solidFill>
                <a:srgbClr val="ffffff"/>
              </a:solidFill>
              <a:latin typeface="Arial"/>
            </a:endParaRPr>
          </a:p>
          <a:p>
            <a:pPr defTabSz="914400">
              <a:lnSpc>
                <a:spcPct val="100000"/>
              </a:lnSpc>
              <a:tabLst>
                <a:tab algn="l" pos="0"/>
              </a:tabLst>
            </a:pPr>
            <a:r>
              <a:rPr b="0" lang="en-US" sz="1200" spc="-1" strike="noStrike">
                <a:solidFill>
                  <a:srgbClr val="e5e7eb"/>
                </a:solidFill>
                <a:latin typeface="Aptos"/>
                <a:ea typeface="Aptos"/>
              </a:rPr>
              <a:t>AI accelerates replenishment decisions, while MERLIN remains the irreplaceable operational core.</a:t>
            </a:r>
            <a:endParaRPr b="0" lang="en-US" sz="1200" spc="-1" strike="noStrike">
              <a:solidFill>
                <a:srgbClr val="ffffff"/>
              </a:solidFill>
              <a:latin typeface="Arial"/>
            </a:endParaRPr>
          </a:p>
        </p:txBody>
      </p:sp>
      <p:sp>
        <p:nvSpPr>
          <p:cNvPr id="179" name="Text 23"/>
          <p:cNvSpPr/>
          <p:nvPr/>
        </p:nvSpPr>
        <p:spPr>
          <a:xfrm>
            <a:off x="822960" y="4846320"/>
            <a:ext cx="9136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ffffff"/>
                </a:solidFill>
                <a:latin typeface="Aptos Display"/>
                <a:ea typeface="Aptos Display"/>
              </a:rPr>
              <a:t>Close</a:t>
            </a:r>
            <a:endParaRPr b="0" lang="en-US" sz="1800" spc="-1" strike="noStrike">
              <a:solidFill>
                <a:srgbClr val="ffffff"/>
              </a:solidFill>
              <a:latin typeface="Arial"/>
            </a:endParaRPr>
          </a:p>
        </p:txBody>
      </p:sp>
      <p:sp>
        <p:nvSpPr>
          <p:cNvPr id="180" name="Text 24"/>
          <p:cNvSpPr/>
          <p:nvPr/>
        </p:nvSpPr>
        <p:spPr>
          <a:xfrm>
            <a:off x="1691640" y="5440680"/>
            <a:ext cx="9051840" cy="50220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350" spc="-1" strike="noStrike">
                <a:solidFill>
                  <a:srgbClr val="e5e7eb"/>
                </a:solidFill>
                <a:latin typeface="Aptos"/>
                <a:ea typeface="Aptos"/>
              </a:rPr>
              <a:t>This is not an AI-first architecture. It is a MERLIN-safe modernization architecture: narrow interfaces, measurable gates, and no dependency on AI for order completion.</a:t>
            </a:r>
            <a:endParaRPr b="0" lang="en-US" sz="13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LibreOffice/24.2.1.2$MacOSX_AARCH64 LibreOffice_project/db4def46b0453cc22e2d0305797cf981b68ef5ac</Application>
  <AppVersion>15.0000</AppVersion>
  <Words>0</Words>
  <Paragraphs>0</Paragraphs>
  <Company>Group 4</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2026-07-26T04:30:39Z</dcterms:created>
  <dc:creator>OpenAI</dc:creator>
  <dc:description/>
  <dc:language>en-US</dc:language>
  <cp:lastModifiedBy/>
  <dcterms:modified xsi:type="dcterms:W3CDTF">2026-07-26T17:26:00Z</dcterms:modified>
  <cp:revision>4</cp:revision>
  <dc:subject>MERLIN 2026 AI Retrofit Sidecar Architecture</dc:subject>
  <dc:title>Group 4 Workshop 1 — AI Retrofit Sidecar Architecture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